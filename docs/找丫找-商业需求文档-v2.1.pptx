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4158864"/>
            <a:ext cx="4673599" cy="7218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8" y="5509733"/>
            <a:ext cx="46736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7101"/>
            <a:ext cx="46736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3530996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75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2024/5/14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Freeform: Shape 11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4697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4158864"/>
            <a:ext cx="4673599" cy="7218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3645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495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7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8" y="5509733"/>
            <a:ext cx="46736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7101"/>
            <a:ext cx="46736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81452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2024/5/14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找丫找 APP</a:t>
            </a:r>
            <a:endParaRPr lang="zh-CN" alt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商业需求文档（BRD）v2.1 评审版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2026-08-19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578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9E57BB-D324-3B5A-C0B8-E80AD7F5E81D}"/>
              </a:ext>
            </a:extLst>
          </p:cNvPr>
          <p:cNvGrpSpPr/>
          <p:nvPr/>
        </p:nvGrpSpPr>
        <p:grpSpPr>
          <a:xfrm>
            <a:off x="747483" y="1150565"/>
            <a:ext cx="11024001" cy="4418632"/>
            <a:chOff x="747483" y="1150565"/>
            <a:chExt cx="11024001" cy="44186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DB636B5-2BF5-C616-7542-D43CF93DCCAC}"/>
                </a:ext>
              </a:extLst>
            </p:cNvPr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832FC0-C829-EE28-6F76-5A086ECCB3DE}"/>
                  </a:ext>
                </a:extLst>
              </p:cNvPr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Agenda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C58426E-6455-FBCD-7D0D-4016FFFECAA5}"/>
                </a:ext>
              </a:extLst>
            </p:cNvPr>
            <p:cNvGrpSpPr/>
            <p:nvPr/>
          </p:nvGrpSpPr>
          <p:grpSpPr>
            <a:xfrm>
              <a:off x="747483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F9D0BAE1-6294-D1EB-8362-5992655B24BD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16BFC9B-EC3E-1DA4-440F-C91E26A7E57C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产品定义与目标用户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D42D270-9694-A607-F9F3-992E0BC681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5km 生活圈双向供需信息撮合</a:t>
                  </a: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B289B1-FC12-C897-4C63-39F075B2BBB6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40CEB9-7CA2-AE49-CF9C-CD2991F56ACE}"/>
                </a:ext>
              </a:extLst>
            </p:cNvPr>
            <p:cNvGrpSpPr/>
            <p:nvPr/>
          </p:nvGrpSpPr>
          <p:grpSpPr>
            <a:xfrm>
              <a:off x="2906583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F6C926D-FB9B-7607-43C3-99F6B023755A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A4BEA30-F4C1-1C23-99B8-195942EE83D4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市场机会与产品定位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118D6F7-EA71-8571-1623-69401187F332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空白地带与核心价值主张</a:t>
                  </a:r>
                </a:p>
              </p:txBody>
            </p: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548C8C-ABD4-1D7D-5BC5-8DA28A34100D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D9FF9C-F168-79FB-23C6-4BA4D7499643}"/>
                </a:ext>
              </a:extLst>
            </p:cNvPr>
            <p:cNvGrpSpPr/>
            <p:nvPr/>
          </p:nvGrpSpPr>
          <p:grpSpPr>
            <a:xfrm>
              <a:off x="50656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4E1ECFA-4707-C772-6481-3769FF7D9992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039AACF-831C-AA65-3040-794023AE8380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竞品与差异化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B7596DD0-6638-A08B-C15E-8C494751FCBA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错位竞争与商业护城河</a:t>
                  </a:r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3ADE2C3-5AAD-877F-6B10-C99EB356ACB5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7D34E02-AC74-A07A-E0ED-2FDFDF397E34}"/>
                </a:ext>
              </a:extLst>
            </p:cNvPr>
            <p:cNvGrpSpPr/>
            <p:nvPr/>
          </p:nvGrpSpPr>
          <p:grpSpPr>
            <a:xfrm>
              <a:off x="7224782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17B5766-583F-0579-017F-0F6433B51888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EACA6E4-5A16-2865-647B-E429DBB692A9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269953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北极星与成功指标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57DB35-931E-3AB8-63A5-71C44AA3D3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三乘积等权硬线 0.216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E0C6C9-F9F8-1C93-49A0-84E8671AEAF1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70D9C2B-D69A-600E-AA55-423BD1CAE90B}"/>
                </a:ext>
              </a:extLst>
            </p:cNvPr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4D5156D-855D-F292-7E13-B813BE4DC4FF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F2A3734-7271-FC7A-A027-DD4FA0A11E95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滚动 MVP 路线图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E802780-948C-BF85-C6E9-91F7088B7688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三批交付与风险应对</a:t>
                  </a: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82A5C25-0438-127C-E2C3-F1667AE53572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1132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01.产品定义与目标用户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5km 生活圈双向供需信息撮合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281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60398" y="1439733"/>
            <a:ext cx="10858502" cy="4696675"/>
            <a:chOff x="660398" y="1439733"/>
            <a:chExt cx="10858502" cy="46966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5AD924-CF0A-4C8B-BCDE-5BAF69638CDD}"/>
                </a:ext>
              </a:extLst>
            </p:cNvPr>
            <p:cNvSpPr/>
            <p:nvPr/>
          </p:nvSpPr>
          <p:spPr>
            <a:xfrm>
              <a:off x="660398" y="1439733"/>
              <a:ext cx="2818961" cy="4696674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6DD23C-040D-47C9-9264-ACE433584AE2}"/>
                </a:ext>
              </a:extLst>
            </p:cNvPr>
            <p:cNvSpPr/>
            <p:nvPr/>
          </p:nvSpPr>
          <p:spPr>
            <a:xfrm>
              <a:off x="7558811" y="1439733"/>
              <a:ext cx="3960089" cy="22184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3FEED2-53D4-40A2-AEDF-DC6D64357435}"/>
                </a:ext>
              </a:extLst>
            </p:cNvPr>
            <p:cNvSpPr/>
            <p:nvPr/>
          </p:nvSpPr>
          <p:spPr>
            <a:xfrm>
              <a:off x="7558811" y="3918008"/>
              <a:ext cx="3960089" cy="22184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DC50D-D05A-4419-950D-37B5A5619032}"/>
                </a:ext>
              </a:extLst>
            </p:cNvPr>
            <p:cNvSpPr/>
            <p:nvPr/>
          </p:nvSpPr>
          <p:spPr>
            <a:xfrm>
              <a:off x="3707245" y="1439733"/>
              <a:ext cx="3623679" cy="4696674"/>
            </a:xfrm>
            <a:prstGeom prst="rect">
              <a:avLst/>
            </a:prstGeom>
            <a:blipFill rotWithShape="0">
              <a:blip r:embed="rId3"/>
              <a:srcRect/>
              <a:stretch>
                <a:fillRect l="-47360" r="-47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3789A5-0704-461C-B26B-873A2893719E}"/>
                </a:ext>
              </a:extLst>
            </p:cNvPr>
            <p:cNvSpPr txBox="1"/>
            <p:nvPr/>
          </p:nvSpPr>
          <p:spPr>
            <a:xfrm>
              <a:off x="800939" y="1654391"/>
              <a:ext cx="2012843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产品核心定义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16E618-3B8F-4507-9ABF-1BB07300577D}"/>
                </a:ext>
              </a:extLst>
            </p:cNvPr>
            <p:cNvSpPr/>
            <p:nvPr/>
          </p:nvSpPr>
          <p:spPr>
            <a:xfrm flipH="1">
              <a:off x="800939" y="2700045"/>
              <a:ext cx="2510588" cy="516423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聚焦 5 公里生活圈的双向供需撮合 APP，就近解决本地需求。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21E570-BEC3-49B0-BA96-7CEEB9349841}"/>
                </a:ext>
              </a:extLst>
            </p:cNvPr>
            <p:cNvGrpSpPr/>
            <p:nvPr/>
          </p:nvGrpSpPr>
          <p:grpSpPr>
            <a:xfrm>
              <a:off x="800940" y="4671305"/>
              <a:ext cx="2510588" cy="807234"/>
              <a:chOff x="8371294" y="5043630"/>
              <a:chExt cx="2906306" cy="80723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E168C04-BC29-4A59-AFCF-286967B45E9B}"/>
                  </a:ext>
                </a:extLst>
              </p:cNvPr>
              <p:cNvSpPr/>
              <p:nvPr/>
            </p:nvSpPr>
            <p:spPr>
              <a:xfrm flipH="1">
                <a:off x="8371294" y="5325399"/>
                <a:ext cx="2906306" cy="52546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默认 5 公里可调，把「近」做成第一差异化。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F266F8-9DC0-49EE-BDB6-1B896538DBAD}"/>
                  </a:ext>
                </a:extLst>
              </p:cNvPr>
              <p:cNvSpPr txBox="1"/>
              <p:nvPr/>
            </p:nvSpPr>
            <p:spPr>
              <a:xfrm>
                <a:off x="8371294" y="5043630"/>
                <a:ext cx="290630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>
                    <a:solidFill>
                      <a:schemeClr val="accent1"/>
                    </a:solidFill>
                  </a:rPr>
                  <a:t>5km 生活圈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57397E8-9A24-4FFC-8E31-C5484CC06B2B}"/>
                </a:ext>
              </a:extLst>
            </p:cNvPr>
            <p:cNvGrpSpPr/>
            <p:nvPr/>
          </p:nvGrpSpPr>
          <p:grpSpPr>
            <a:xfrm>
              <a:off x="7767471" y="1999276"/>
              <a:ext cx="3500892" cy="637842"/>
              <a:chOff x="7767471" y="1887722"/>
              <a:chExt cx="3500892" cy="63784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8CA907-42ED-43FB-AC39-33C66795A67B}"/>
                  </a:ext>
                </a:extLst>
              </p:cNvPr>
              <p:cNvSpPr/>
              <p:nvPr/>
            </p:nvSpPr>
            <p:spPr>
              <a:xfrm flipH="1">
                <a:off x="8162350" y="2230740"/>
                <a:ext cx="3106009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资源与需求同池双向发布，互为猎手。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B712FE-53CF-4EC7-ACAF-6BB22D2B5DBA}"/>
                  </a:ext>
                </a:extLst>
              </p:cNvPr>
              <p:cNvSpPr txBox="1"/>
              <p:nvPr/>
            </p:nvSpPr>
            <p:spPr>
              <a:xfrm>
                <a:off x="8162354" y="1898837"/>
                <a:ext cx="310600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双向供需</a:t>
                </a: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92DC08E-FF7D-49F8-BE24-604E17398245}"/>
                  </a:ext>
                </a:extLst>
              </p:cNvPr>
              <p:cNvSpPr/>
              <p:nvPr/>
            </p:nvSpPr>
            <p:spPr bwMode="auto">
              <a:xfrm>
                <a:off x="7767471" y="1887722"/>
                <a:ext cx="281765" cy="343018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4C8AC30-5A0A-4B1E-A71B-4E9836042616}"/>
                </a:ext>
              </a:extLst>
            </p:cNvPr>
            <p:cNvGrpSpPr/>
            <p:nvPr/>
          </p:nvGrpSpPr>
          <p:grpSpPr>
            <a:xfrm>
              <a:off x="7768854" y="4477551"/>
              <a:ext cx="3522164" cy="637842"/>
              <a:chOff x="7768854" y="4395905"/>
              <a:chExt cx="3522164" cy="637842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4D2447E-F758-49FB-95D3-EE64D5D0DA47}"/>
                  </a:ext>
                </a:extLst>
              </p:cNvPr>
              <p:cNvSpPr/>
              <p:nvPr/>
            </p:nvSpPr>
            <p:spPr bwMode="auto">
              <a:xfrm>
                <a:off x="7768854" y="4395905"/>
                <a:ext cx="324308" cy="343018"/>
              </a:xfrm>
              <a:custGeom>
                <a:avLst/>
                <a:gdLst>
                  <a:gd name="connsiteX0" fmla="*/ 372211 w 495300"/>
                  <a:gd name="connsiteY0" fmla="*/ 621 h 523875"/>
                  <a:gd name="connsiteX1" fmla="*/ 372211 w 495300"/>
                  <a:gd name="connsiteY1" fmla="*/ 19671 h 523875"/>
                  <a:gd name="connsiteX2" fmla="*/ 334111 w 495300"/>
                  <a:gd name="connsiteY2" fmla="*/ 19671 h 523875"/>
                  <a:gd name="connsiteX3" fmla="*/ 334111 w 495300"/>
                  <a:gd name="connsiteY3" fmla="*/ 143877 h 523875"/>
                  <a:gd name="connsiteX4" fmla="*/ 496036 w 495300"/>
                  <a:gd name="connsiteY4" fmla="*/ 486587 h 523875"/>
                  <a:gd name="connsiteX5" fmla="*/ 481749 w 495300"/>
                  <a:gd name="connsiteY5" fmla="*/ 524496 h 523875"/>
                  <a:gd name="connsiteX6" fmla="*/ 15024 w 495300"/>
                  <a:gd name="connsiteY6" fmla="*/ 524496 h 523875"/>
                  <a:gd name="connsiteX7" fmla="*/ 736 w 495300"/>
                  <a:gd name="connsiteY7" fmla="*/ 486587 h 523875"/>
                  <a:gd name="connsiteX8" fmla="*/ 162661 w 495300"/>
                  <a:gd name="connsiteY8" fmla="*/ 143877 h 523875"/>
                  <a:gd name="connsiteX9" fmla="*/ 162661 w 495300"/>
                  <a:gd name="connsiteY9" fmla="*/ 19671 h 523875"/>
                  <a:gd name="connsiteX10" fmla="*/ 124561 w 495300"/>
                  <a:gd name="connsiteY10" fmla="*/ 19671 h 523875"/>
                  <a:gd name="connsiteX11" fmla="*/ 124561 w 495300"/>
                  <a:gd name="connsiteY11" fmla="*/ 621 h 523875"/>
                  <a:gd name="connsiteX12" fmla="*/ 372211 w 495300"/>
                  <a:gd name="connsiteY12" fmla="*/ 621 h 523875"/>
                  <a:gd name="connsiteX13" fmla="*/ 259435 w 495300"/>
                  <a:gd name="connsiteY13" fmla="*/ 404767 h 523875"/>
                  <a:gd name="connsiteX14" fmla="*/ 256577 w 495300"/>
                  <a:gd name="connsiteY14" fmla="*/ 406576 h 523875"/>
                  <a:gd name="connsiteX15" fmla="*/ 251053 w 495300"/>
                  <a:gd name="connsiteY15" fmla="*/ 410291 h 523875"/>
                  <a:gd name="connsiteX16" fmla="*/ 59220 w 495300"/>
                  <a:gd name="connsiteY16" fmla="*/ 416864 h 523875"/>
                  <a:gd name="connsiteX17" fmla="*/ 55409 w 495300"/>
                  <a:gd name="connsiteY17" fmla="*/ 415339 h 523875"/>
                  <a:gd name="connsiteX18" fmla="*/ 21310 w 495300"/>
                  <a:gd name="connsiteY18" fmla="*/ 487444 h 523875"/>
                  <a:gd name="connsiteX19" fmla="*/ 28073 w 495300"/>
                  <a:gd name="connsiteY19" fmla="*/ 505446 h 523875"/>
                  <a:gd name="connsiteX20" fmla="*/ 468414 w 495300"/>
                  <a:gd name="connsiteY20" fmla="*/ 505446 h 523875"/>
                  <a:gd name="connsiteX21" fmla="*/ 475176 w 495300"/>
                  <a:gd name="connsiteY21" fmla="*/ 487444 h 523875"/>
                  <a:gd name="connsiteX22" fmla="*/ 428313 w 495300"/>
                  <a:gd name="connsiteY22" fmla="*/ 388289 h 523875"/>
                  <a:gd name="connsiteX23" fmla="*/ 259435 w 495300"/>
                  <a:gd name="connsiteY23" fmla="*/ 404767 h 523875"/>
                  <a:gd name="connsiteX24" fmla="*/ 310299 w 495300"/>
                  <a:gd name="connsiteY24" fmla="*/ 257796 h 523875"/>
                  <a:gd name="connsiteX25" fmla="*/ 276961 w 495300"/>
                  <a:gd name="connsiteY25" fmla="*/ 291134 h 523875"/>
                  <a:gd name="connsiteX26" fmla="*/ 310299 w 495300"/>
                  <a:gd name="connsiteY26" fmla="*/ 324471 h 523875"/>
                  <a:gd name="connsiteX27" fmla="*/ 343636 w 495300"/>
                  <a:gd name="connsiteY27" fmla="*/ 291134 h 523875"/>
                  <a:gd name="connsiteX28" fmla="*/ 310299 w 495300"/>
                  <a:gd name="connsiteY28" fmla="*/ 257796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95300" h="523875">
                    <a:moveTo>
                      <a:pt x="372211" y="621"/>
                    </a:moveTo>
                    <a:lnTo>
                      <a:pt x="372211" y="19671"/>
                    </a:lnTo>
                    <a:lnTo>
                      <a:pt x="334111" y="19671"/>
                    </a:lnTo>
                    <a:lnTo>
                      <a:pt x="334111" y="143877"/>
                    </a:lnTo>
                    <a:lnTo>
                      <a:pt x="496036" y="486587"/>
                    </a:lnTo>
                    <a:lnTo>
                      <a:pt x="481749" y="524496"/>
                    </a:lnTo>
                    <a:lnTo>
                      <a:pt x="15024" y="524496"/>
                    </a:lnTo>
                    <a:lnTo>
                      <a:pt x="736" y="486587"/>
                    </a:lnTo>
                    <a:lnTo>
                      <a:pt x="162661" y="143877"/>
                    </a:lnTo>
                    <a:lnTo>
                      <a:pt x="162661" y="19671"/>
                    </a:lnTo>
                    <a:lnTo>
                      <a:pt x="124561" y="19671"/>
                    </a:lnTo>
                    <a:lnTo>
                      <a:pt x="124561" y="621"/>
                    </a:lnTo>
                    <a:lnTo>
                      <a:pt x="372211" y="621"/>
                    </a:lnTo>
                    <a:close/>
                    <a:moveTo>
                      <a:pt x="259435" y="404767"/>
                    </a:moveTo>
                    <a:lnTo>
                      <a:pt x="256577" y="406576"/>
                    </a:lnTo>
                    <a:lnTo>
                      <a:pt x="251053" y="410291"/>
                    </a:lnTo>
                    <a:cubicBezTo>
                      <a:pt x="203809" y="441628"/>
                      <a:pt x="124275" y="442581"/>
                      <a:pt x="59220" y="416864"/>
                    </a:cubicBezTo>
                    <a:lnTo>
                      <a:pt x="55409" y="415339"/>
                    </a:lnTo>
                    <a:lnTo>
                      <a:pt x="21310" y="487444"/>
                    </a:lnTo>
                    <a:lnTo>
                      <a:pt x="28073" y="505446"/>
                    </a:lnTo>
                    <a:lnTo>
                      <a:pt x="468414" y="505446"/>
                    </a:lnTo>
                    <a:lnTo>
                      <a:pt x="475176" y="487444"/>
                    </a:lnTo>
                    <a:lnTo>
                      <a:pt x="428313" y="388289"/>
                    </a:lnTo>
                    <a:cubicBezTo>
                      <a:pt x="370211" y="373810"/>
                      <a:pt x="300774" y="379335"/>
                      <a:pt x="259435" y="404767"/>
                    </a:cubicBezTo>
                    <a:close/>
                    <a:moveTo>
                      <a:pt x="310299" y="257796"/>
                    </a:moveTo>
                    <a:cubicBezTo>
                      <a:pt x="291915" y="257796"/>
                      <a:pt x="276961" y="272750"/>
                      <a:pt x="276961" y="291134"/>
                    </a:cubicBezTo>
                    <a:cubicBezTo>
                      <a:pt x="276961" y="309517"/>
                      <a:pt x="291915" y="324471"/>
                      <a:pt x="310299" y="324471"/>
                    </a:cubicBezTo>
                    <a:cubicBezTo>
                      <a:pt x="328682" y="324471"/>
                      <a:pt x="343636" y="309517"/>
                      <a:pt x="343636" y="291134"/>
                    </a:cubicBezTo>
                    <a:cubicBezTo>
                      <a:pt x="343636" y="272750"/>
                      <a:pt x="328682" y="257796"/>
                      <a:pt x="310299" y="2577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16697A4-F047-45FE-B063-CF26730C3B91}"/>
                  </a:ext>
                </a:extLst>
              </p:cNvPr>
              <p:cNvSpPr/>
              <p:nvPr/>
            </p:nvSpPr>
            <p:spPr>
              <a:xfrm flipH="1">
                <a:off x="8185005" y="4738923"/>
                <a:ext cx="3106009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线下成交，不做支付结算与履约。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B4CE66-E409-40BB-8175-435581234307}"/>
                  </a:ext>
                </a:extLst>
              </p:cNvPr>
              <p:cNvSpPr txBox="1"/>
              <p:nvPr/>
            </p:nvSpPr>
            <p:spPr>
              <a:xfrm>
                <a:off x="8185009" y="4407020"/>
                <a:ext cx="310600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纯信息撮合</a:t>
                </a:r>
              </a:p>
            </p:txBody>
          </p:sp>
        </p:grp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产品核心定义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048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C5220B-6CA0-49AC-9213-8BE20F37E7D4}"/>
              </a:ext>
            </a:extLst>
          </p:cNvPr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 dirty="0">
                <a:solidFill>
                  <a:schemeClr val="tx1"/>
                </a:solidFill>
              </a:rPr>
              <a:t>目标用户分层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D0497-265B-4D1C-A6D0-F2CDBD94262E}"/>
              </a:ext>
            </a:extLst>
          </p:cNvPr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四类用户构成 5km 生活圈的供需两端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4BD50-DFB7-420F-ACAE-FA75D9C2E8BD}"/>
              </a:ext>
            </a:extLst>
          </p:cNvPr>
          <p:cNvGrpSpPr/>
          <p:nvPr/>
        </p:nvGrpSpPr>
        <p:grpSpPr>
          <a:xfrm>
            <a:off x="1206498" y="2932918"/>
            <a:ext cx="2070102" cy="1783876"/>
            <a:chOff x="1206498" y="2932918"/>
            <a:chExt cx="2070102" cy="178387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BF135C-A559-4A3B-88CF-80550DC0AA08}"/>
                </a:ext>
              </a:extLst>
            </p:cNvPr>
            <p:cNvSpPr/>
            <p:nvPr/>
          </p:nvSpPr>
          <p:spPr bwMode="auto">
            <a:xfrm flipH="1">
              <a:off x="12064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3"/>
              <a:srcRect/>
              <a:stretch>
                <a:fillRect l="-23860" r="-238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EC004E0-BC69-4EAD-9F76-0D75FEA624AE}"/>
                </a:ext>
              </a:extLst>
            </p:cNvPr>
            <p:cNvSpPr/>
            <p:nvPr/>
          </p:nvSpPr>
          <p:spPr>
            <a:xfrm>
              <a:off x="2743200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01</a:t>
              </a:r>
              <a:endParaRPr lang="zh-CN" altLang="en-US" sz="1200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2C4339C-C706-4333-9347-BE250A5A2976}"/>
              </a:ext>
            </a:extLst>
          </p:cNvPr>
          <p:cNvGrpSpPr/>
          <p:nvPr/>
        </p:nvGrpSpPr>
        <p:grpSpPr>
          <a:xfrm>
            <a:off x="5054598" y="2932918"/>
            <a:ext cx="2082801" cy="1783876"/>
            <a:chOff x="5054598" y="2932918"/>
            <a:chExt cx="2082801" cy="178387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7042634-4D93-4D69-A113-A576262D0FD5}"/>
                </a:ext>
              </a:extLst>
            </p:cNvPr>
            <p:cNvSpPr/>
            <p:nvPr/>
          </p:nvSpPr>
          <p:spPr bwMode="auto">
            <a:xfrm flipH="1">
              <a:off x="50545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4"/>
              <a:srcRect/>
              <a:stretch>
                <a:fillRect l="-23860" r="-238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440F513-A569-47F5-8FB3-0AC3FDC9DD3E}"/>
                </a:ext>
              </a:extLst>
            </p:cNvPr>
            <p:cNvSpPr/>
            <p:nvPr/>
          </p:nvSpPr>
          <p:spPr>
            <a:xfrm>
              <a:off x="6603999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02</a:t>
              </a:r>
              <a:endParaRPr lang="zh-CN" altLang="en-US" sz="1200" b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C416BE-04E4-4644-8E12-0EA6BE524A88}"/>
              </a:ext>
            </a:extLst>
          </p:cNvPr>
          <p:cNvGrpSpPr/>
          <p:nvPr/>
        </p:nvGrpSpPr>
        <p:grpSpPr>
          <a:xfrm>
            <a:off x="8902698" y="2932918"/>
            <a:ext cx="2001160" cy="1783876"/>
            <a:chOff x="8902698" y="2932918"/>
            <a:chExt cx="2001160" cy="178387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ED11D45-48E7-47A6-B77D-F96D14917533}"/>
                </a:ext>
              </a:extLst>
            </p:cNvPr>
            <p:cNvSpPr/>
            <p:nvPr/>
          </p:nvSpPr>
          <p:spPr bwMode="auto">
            <a:xfrm flipH="1">
              <a:off x="89026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5"/>
              <a:srcRect/>
              <a:stretch>
                <a:fillRect t="-25970" b="-2597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7EF4B3A-4E95-410D-99CA-92AAC3C156F8}"/>
                </a:ext>
              </a:extLst>
            </p:cNvPr>
            <p:cNvSpPr/>
            <p:nvPr/>
          </p:nvSpPr>
          <p:spPr>
            <a:xfrm>
              <a:off x="10370458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03</a:t>
              </a:r>
              <a:endParaRPr lang="zh-CN" altLang="en-US" sz="1200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C5984F-6734-4AFC-9796-CFE24719D730}"/>
              </a:ext>
            </a:extLst>
          </p:cNvPr>
          <p:cNvGrpSpPr/>
          <p:nvPr/>
        </p:nvGrpSpPr>
        <p:grpSpPr>
          <a:xfrm>
            <a:off x="1206498" y="5216948"/>
            <a:ext cx="1957039" cy="1070692"/>
            <a:chOff x="1206498" y="5216948"/>
            <a:chExt cx="1957039" cy="10706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849493-9608-4BEE-ACBF-7D8C5A8805D4}"/>
                </a:ext>
              </a:extLst>
            </p:cNvPr>
            <p:cNvSpPr/>
            <p:nvPr/>
          </p:nvSpPr>
          <p:spPr>
            <a:xfrm>
              <a:off x="12064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本地居民 60%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D71BA6-CD17-4692-A1F2-2E5FE671F395}"/>
                </a:ext>
              </a:extLst>
            </p:cNvPr>
            <p:cNvSpPr/>
            <p:nvPr/>
          </p:nvSpPr>
          <p:spPr>
            <a:xfrm>
              <a:off x="1206498" y="5549617"/>
              <a:ext cx="1957039" cy="7380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25-45 岁社区居住人群，核心诉求为借物、拼车、二手与找帮手。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574AA7-3094-49CC-983A-BBB65D6F8F5C}"/>
              </a:ext>
            </a:extLst>
          </p:cNvPr>
          <p:cNvGrpSpPr/>
          <p:nvPr/>
        </p:nvGrpSpPr>
        <p:grpSpPr>
          <a:xfrm>
            <a:off x="5054598" y="5216948"/>
            <a:ext cx="1957039" cy="1070692"/>
            <a:chOff x="5054598" y="5216948"/>
            <a:chExt cx="1957039" cy="107069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1F4B8C-F844-4173-AB21-1141B82AFC52}"/>
                </a:ext>
              </a:extLst>
            </p:cNvPr>
            <p:cNvSpPr/>
            <p:nvPr/>
          </p:nvSpPr>
          <p:spPr>
            <a:xfrm>
              <a:off x="50545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本地服务者 25%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30F6A6-B653-4186-9BB4-DC103F6CC8AB}"/>
                </a:ext>
              </a:extLst>
            </p:cNvPr>
            <p:cNvSpPr/>
            <p:nvPr/>
          </p:nvSpPr>
          <p:spPr>
            <a:xfrm>
              <a:off x="5054598" y="5549617"/>
              <a:ext cx="1957039" cy="7380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家政、维修、教学、咨询个体，诉求为接本地订单、就近服务。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37A402-3044-4756-9B72-2E143A9AA188}"/>
              </a:ext>
            </a:extLst>
          </p:cNvPr>
          <p:cNvGrpSpPr/>
          <p:nvPr/>
        </p:nvGrpSpPr>
        <p:grpSpPr>
          <a:xfrm>
            <a:off x="8902698" y="5216948"/>
            <a:ext cx="1957039" cy="1292291"/>
            <a:chOff x="8902698" y="5216948"/>
            <a:chExt cx="1957039" cy="129229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8B61E8-0230-4784-833F-908E54205A27}"/>
                </a:ext>
              </a:extLst>
            </p:cNvPr>
            <p:cNvSpPr/>
            <p:nvPr/>
          </p:nvSpPr>
          <p:spPr>
            <a:xfrm>
              <a:off x="89026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小微商家 10%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DEE011-AC35-47B6-8FFC-A15DCE2F17E7}"/>
                </a:ext>
              </a:extLst>
            </p:cNvPr>
            <p:cNvSpPr/>
            <p:nvPr/>
          </p:nvSpPr>
          <p:spPr>
            <a:xfrm>
              <a:off x="8902698" y="5549617"/>
              <a:ext cx="1957039" cy="9596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房东、二手车、招聘小店，诉求为本地信息发布与精准曝光。</a:t>
              </a:r>
            </a:p>
          </p:txBody>
        </p: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目标用户与场景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60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276554"/>
            <a:chOff x="660400" y="1222633"/>
            <a:chExt cx="10858500" cy="4276554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E77DC51-C006-4B0A-BDE6-9F066A4D0CCC}"/>
                </a:ext>
              </a:extLst>
            </p:cNvPr>
            <p:cNvSpPr/>
            <p:nvPr/>
          </p:nvSpPr>
          <p:spPr>
            <a:xfrm>
              <a:off x="660400" y="4139960"/>
              <a:ext cx="2344400" cy="1359227"/>
            </a:xfrm>
            <a:prstGeom prst="roundRect">
              <a:avLst>
                <a:gd name="adj" fmla="val 7172"/>
              </a:avLst>
            </a:prstGeom>
            <a:blipFill rotWithShape="0">
              <a:blip r:embed="rId3"/>
              <a:srcRect/>
              <a:stretch>
                <a:fillRect t="-7710" b="-77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7EC5CD3-3F5C-4190-B968-7BDC99C010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660400" y="1222633"/>
              <a:ext cx="5540926" cy="1013716"/>
              <a:chOff x="2492016" y="4214586"/>
              <a:chExt cx="2974766" cy="1013716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16E6B59-185C-4DAA-AF12-ABC10E343EA0}"/>
                  </a:ext>
                </a:extLst>
              </p:cNvPr>
              <p:cNvSpPr/>
              <p:nvPr/>
            </p:nvSpPr>
            <p:spPr>
              <a:xfrm>
                <a:off x="2492017" y="4807701"/>
                <a:ext cx="2974765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按落地节奏把 AI 能力拆为绿黄红三档，为研发提供明确入场券。</a:t>
                </a: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35534C8-3FA3-4933-A938-49F1235056CA}"/>
                  </a:ext>
                </a:extLst>
              </p:cNvPr>
              <p:cNvSpPr/>
              <p:nvPr/>
            </p:nvSpPr>
            <p:spPr>
              <a:xfrm>
                <a:off x="2492016" y="4214586"/>
                <a:ext cx="297476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AI 能力三色清单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F8F480-BF0A-4905-8872-2749E8C5D9DC}"/>
                </a:ext>
              </a:extLst>
            </p:cNvPr>
            <p:cNvGrpSpPr/>
            <p:nvPr/>
          </p:nvGrpSpPr>
          <p:grpSpPr>
            <a:xfrm>
              <a:off x="3498433" y="2932604"/>
              <a:ext cx="8020467" cy="2411348"/>
              <a:chOff x="3498433" y="2932604"/>
              <a:chExt cx="8020467" cy="2411348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90CCED40-D660-4B11-86A8-6AB5CA96C0BA}"/>
                  </a:ext>
                </a:extLst>
              </p:cNvPr>
              <p:cNvGrpSpPr/>
              <p:nvPr/>
            </p:nvGrpSpPr>
            <p:grpSpPr>
              <a:xfrm>
                <a:off x="9174499" y="2932604"/>
                <a:ext cx="2344401" cy="2411348"/>
                <a:chOff x="4381398" y="2932604"/>
                <a:chExt cx="3068301" cy="241134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8FC710FC-CA31-4919-8852-4D13C2D9A99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2A47F4AB-9522-4A2C-828D-19AFA8BC131E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2D1D808E-48A2-4012-9DAC-3FAD63941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红清单｜不做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12113F2F-F9D0-415F-A77B-F7148A35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重型算法群、70B 端到端 LLM、交易担保、AI 平台担责。</a:t>
                      </a:r>
                    </a:p>
                  </p:txBody>
                </p:sp>
              </p:grp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81A9EDED-9B0F-4828-B65D-B2E77D231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C54383C-E544-46D1-838C-C53AEAFA2BC7}"/>
                    </a:ext>
                  </a:extLst>
                </p:cNvPr>
                <p:cNvSpPr txBox="1"/>
                <p:nvPr/>
              </p:nvSpPr>
              <p:spPr>
                <a:xfrm>
                  <a:off x="4381398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03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DE2A22E-2740-41E4-A7A0-9443A6A304C0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F083F46B-5F21-491D-AC81-7D4ADDEB4F3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79082DD3-4B9C-4B81-B3C1-095C91F98EC2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16" name="Rectangle 115">
                      <a:extLst>
                        <a:ext uri="{FF2B5EF4-FFF2-40B4-BE49-F238E27FC236}">
                          <a16:creationId xmlns:a16="http://schemas.microsoft.com/office/drawing/2014/main" id="{CE875014-6D52-447D-A118-09562293E0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绿清单｜立刻做</a:t>
                      </a:r>
                    </a:p>
                  </p:txBody>
                </p:sp>
                <p:sp>
                  <p:nvSpPr>
                    <p:cNvPr id="117" name="Rectangle 116">
                      <a:extLst>
                        <a:ext uri="{FF2B5EF4-FFF2-40B4-BE49-F238E27FC236}">
                          <a16:creationId xmlns:a16="http://schemas.microsoft.com/office/drawing/2014/main" id="{0DCDFEB6-271D-4D18-99B1-157799D87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冷启动三阶段匹配、3B 发布辅助、信息健康分、查询加权。</a:t>
                      </a:r>
                    </a:p>
                  </p:txBody>
                </p:sp>
              </p:grp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7E7F2112-1F31-4050-ADAC-1789C2CA9F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3AEC1BE-31CB-4948-B129-41FC6D5B1B8C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01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6F426DF-A3EC-429E-80B9-0D0A7C320651}"/>
                  </a:ext>
                </a:extLst>
              </p:cNvPr>
              <p:cNvGrpSpPr/>
              <p:nvPr/>
            </p:nvGrpSpPr>
            <p:grpSpPr>
              <a:xfrm>
                <a:off x="6336466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5B1B385-436D-4800-816D-6976275A7AEB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47462C5C-0266-49FA-9123-70404C7B0B3D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04F178EE-E21F-41B9-84B4-18F96792A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黄清单｜待验证</a:t>
                      </a:r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2B635E04-121A-457F-A3C5-26D697F9D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端侧离线 3B、多智能体代撮合、街景 Pin 视频，验证后再进。</a:t>
                      </a:r>
                    </a:p>
                  </p:txBody>
                </p:sp>
              </p:grp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D4AC9934-C29A-484C-BC6C-AA476B57E9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83AB63C-4858-44EC-AD4B-374290A691AD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02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AI 能力边界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55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02.市场机会与产品定位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空白地带与核心价值主张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443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342918"/>
            <a:chOff x="660400" y="1222633"/>
            <a:chExt cx="10858500" cy="43429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7A26CE9-6C8E-4CAA-BB16-B08EF0DF0AD1}"/>
                </a:ext>
              </a:extLst>
            </p:cNvPr>
            <p:cNvGrpSpPr/>
            <p:nvPr/>
          </p:nvGrpSpPr>
          <p:grpSpPr>
            <a:xfrm>
              <a:off x="660400" y="2932604"/>
              <a:ext cx="10858500" cy="2632947"/>
              <a:chOff x="660400" y="2932604"/>
              <a:chExt cx="10858500" cy="2632947"/>
            </a:xfrm>
          </p:grpSpPr>
          <p:sp>
            <p:nvSpPr>
              <p:cNvPr id="93" name="Rectangle: Diagonal Corners Rounded 92">
                <a:extLst>
                  <a:ext uri="{FF2B5EF4-FFF2-40B4-BE49-F238E27FC236}">
                    <a16:creationId xmlns:a16="http://schemas.microsoft.com/office/drawing/2014/main" id="{CE77DC51-C006-4B0A-BDE6-9F066A4D0CCC}"/>
                  </a:ext>
                </a:extLst>
              </p:cNvPr>
              <p:cNvSpPr/>
              <p:nvPr/>
            </p:nvSpPr>
            <p:spPr>
              <a:xfrm>
                <a:off x="660400" y="4139960"/>
                <a:ext cx="2344400" cy="1359227"/>
              </a:xfrm>
              <a:prstGeom prst="round2DiagRect">
                <a:avLst>
                  <a:gd name="adj1" fmla="val 40493"/>
                  <a:gd name="adj2" fmla="val 0"/>
                </a:avLst>
              </a:prstGeom>
              <a:blipFill rotWithShape="0">
                <a:blip r:embed="rId3"/>
                <a:srcRect/>
                <a:stretch>
                  <a:fillRect l="-1200" r="-12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AF8F480-BF0A-4905-8872-2749E8C5D9DC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8020467" cy="2632947"/>
                <a:chOff x="3498433" y="2932604"/>
                <a:chExt cx="8020467" cy="2632947"/>
              </a:xfrm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90CCED40-D660-4B11-86A8-6AB5CA96C0BA}"/>
                    </a:ext>
                  </a:extLst>
                </p:cNvPr>
                <p:cNvGrpSpPr/>
                <p:nvPr/>
              </p:nvGrpSpPr>
              <p:grpSpPr>
                <a:xfrm>
                  <a:off x="9174499" y="2932604"/>
                  <a:ext cx="2344401" cy="2411348"/>
                  <a:chOff x="4381398" y="2932604"/>
                  <a:chExt cx="3068301" cy="2411348"/>
                </a:xfrm>
              </p:grpSpPr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8FC710FC-CA31-4919-8852-4D13C2D9A995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203992"/>
                    <a:chOff x="2926262" y="3947957"/>
                    <a:chExt cx="2806761" cy="1203992"/>
                  </a:xfrm>
                </p:grpSpPr>
                <p:grpSp>
                  <p:nvGrpSpPr>
                    <p:cNvPr id="157" name="Group 156">
                      <a:extLst>
                        <a:ext uri="{FF2B5EF4-FFF2-40B4-BE49-F238E27FC236}">
                          <a16:creationId xmlns:a16="http://schemas.microsoft.com/office/drawing/2014/main" id="{2A47F4AB-9522-4A2C-828D-19AFA8BC13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112205"/>
                      <a:chOff x="2492017" y="2712768"/>
                      <a:chExt cx="2806761" cy="1112205"/>
                    </a:xfrm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2D1D808E-48A2-4012-9DAC-3FAD63941B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双向用户痛点</a:t>
                        </a:r>
                      </a:p>
                    </p:txBody>
                  </p:sp>
                  <p:sp>
                    <p:nvSpPr>
                      <p:cNvPr id="160" name="Rectangle 159">
                        <a:extLst>
                          <a:ext uri="{FF2B5EF4-FFF2-40B4-BE49-F238E27FC236}">
                            <a16:creationId xmlns:a16="http://schemas.microsoft.com/office/drawing/2014/main" id="{12113F2F-F9D0-415F-A77B-F7148A354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64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同时是资源方与需求方，被迫在多个平台之间反复切换。</a:t>
                        </a:r>
                      </a:p>
                    </p:txBody>
                  </p:sp>
                </p:grpSp>
                <p:cxnSp>
                  <p:nvCxnSpPr>
                    <p:cNvPr id="158" name="Straight Arrow Connector 157">
                      <a:extLst>
                        <a:ext uri="{FF2B5EF4-FFF2-40B4-BE49-F238E27FC236}">
                          <a16:creationId xmlns:a16="http://schemas.microsoft.com/office/drawing/2014/main" id="{81A9EDED-9B0F-4828-B65D-B2E77D2314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2C54383C-E544-46D1-838C-C53AEAFA2BC7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8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squar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03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0DE2A22E-2740-41E4-A7A0-9443A6A304C0}"/>
                    </a:ext>
                  </a:extLst>
                </p:cNvPr>
                <p:cNvGrpSpPr/>
                <p:nvPr/>
              </p:nvGrpSpPr>
              <p:grpSpPr>
                <a:xfrm>
                  <a:off x="3498433" y="2932604"/>
                  <a:ext cx="2344400" cy="2632947"/>
                  <a:chOff x="4381399" y="2932604"/>
                  <a:chExt cx="3068300" cy="2632947"/>
                </a:xfrm>
              </p:grpSpPr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F083F46B-5F21-491D-AC81-7D4ADDEB4F35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425591"/>
                    <a:chOff x="2926262" y="3947957"/>
                    <a:chExt cx="2806761" cy="1425591"/>
                  </a:xfrm>
                </p:grpSpPr>
                <p:grpSp>
                  <p:nvGrpSpPr>
                    <p:cNvPr id="114" name="Group 113">
                      <a:extLst>
                        <a:ext uri="{FF2B5EF4-FFF2-40B4-BE49-F238E27FC236}">
                          <a16:creationId xmlns:a16="http://schemas.microsoft.com/office/drawing/2014/main" id="{79082DD3-4B9C-4B81-B3C1-095C91F98E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333804"/>
                      <a:chOff x="2492017" y="2712768"/>
                      <a:chExt cx="2806761" cy="1333804"/>
                    </a:xfrm>
                  </p:grpSpPr>
                  <p:sp>
                    <p:nvSpPr>
                      <p:cNvPr id="116" name="Rectangle 115">
                        <a:extLst>
                          <a:ext uri="{FF2B5EF4-FFF2-40B4-BE49-F238E27FC236}">
                            <a16:creationId xmlns:a16="http://schemas.microsoft.com/office/drawing/2014/main" id="{CE875014-6D52-447D-A118-09562293E0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资源方痛点</a:t>
                        </a:r>
                      </a:p>
                    </p:txBody>
                  </p:sp>
                  <p:sp>
                    <p:nvSpPr>
                      <p:cNvPr id="117" name="Rectangle 116">
                        <a:extLst>
                          <a:ext uri="{FF2B5EF4-FFF2-40B4-BE49-F238E27FC236}">
                            <a16:creationId xmlns:a16="http://schemas.microsoft.com/office/drawing/2014/main" id="{0DCDFEB6-271D-4D18-99B1-157799D87D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86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发布成本高、曝光范围不可控、难以直接找到需求方。</a:t>
                        </a:r>
                      </a:p>
                    </p:txBody>
                  </p:sp>
                </p:grpSp>
                <p:cxnSp>
                  <p:nvCxnSpPr>
                    <p:cNvPr id="115" name="Straight Arrow Connector 114">
                      <a:extLst>
                        <a:ext uri="{FF2B5EF4-FFF2-40B4-BE49-F238E27FC236}">
                          <a16:creationId xmlns:a16="http://schemas.microsoft.com/office/drawing/2014/main" id="{7E7F2112-1F31-4050-ADAC-1789C2CA9F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E3AEC1BE-31CB-4948-B129-41FC6D5B1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squar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01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6F426DF-A3EC-429E-80B9-0D0A7C320651}"/>
                    </a:ext>
                  </a:extLst>
                </p:cNvPr>
                <p:cNvGrpSpPr/>
                <p:nvPr/>
              </p:nvGrpSpPr>
              <p:grpSpPr>
                <a:xfrm>
                  <a:off x="6336466" y="2932604"/>
                  <a:ext cx="2344400" cy="2632947"/>
                  <a:chOff x="4381399" y="2932604"/>
                  <a:chExt cx="3068300" cy="2632947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25B1B385-436D-4800-816D-6976275A7AEB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425591"/>
                    <a:chOff x="2926262" y="3947957"/>
                    <a:chExt cx="2806761" cy="1425591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47462C5C-0266-49FA-9123-70404C7B0B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333804"/>
                      <a:chOff x="2492017" y="2712768"/>
                      <a:chExt cx="2806761" cy="1333804"/>
                    </a:xfrm>
                  </p:grpSpPr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04F178EE-E21F-41B9-84B4-18F96792AB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需求方痛点</a:t>
                        </a:r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2B635E04-121A-457F-A3C5-26D697F9D6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86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找就近资源难、信息真伪难辨、响应即时性差。</a:t>
                        </a:r>
                      </a:p>
                    </p:txBody>
                  </p:sp>
                </p:grpSp>
                <p:cxnSp>
                  <p:nvCxnSpPr>
                    <p:cNvPr id="31" name="Straight Arrow Connector 30">
                      <a:extLst>
                        <a:ext uri="{FF2B5EF4-FFF2-40B4-BE49-F238E27FC236}">
                          <a16:creationId xmlns:a16="http://schemas.microsoft.com/office/drawing/2014/main" id="{D4AC9934-C29A-484C-BC6C-AA476B57E9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83AB63C-4858-44EC-AD4B-374290A691AD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squar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02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</p:grp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64A089-5D4B-47CD-B734-31A1B6B64CFF}"/>
                </a:ext>
              </a:extLst>
            </p:cNvPr>
            <p:cNvSpPr/>
            <p:nvPr/>
          </p:nvSpPr>
          <p:spPr>
            <a:xfrm>
              <a:off x="660402" y="1815748"/>
              <a:ext cx="5540924" cy="642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市场机会 = 5km 生活圈 × 双向供需 × 轻信任，三者交叉处仍是空白。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B70C394-5A47-4B7C-BC1A-DD0184D58E9E}"/>
                </a:ext>
              </a:extLst>
            </p:cNvPr>
            <p:cNvSpPr/>
            <p:nvPr/>
          </p:nvSpPr>
          <p:spPr>
            <a:xfrm>
              <a:off x="660400" y="1222633"/>
              <a:ext cx="5540924" cy="5874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b" anchorCtr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sz="2400" b="1" dirty="0">
                  <a:solidFill>
                    <a:schemeClr val="tx1"/>
                  </a:solidFill>
                </a:rPr>
                <a:t>市场机会判断</a:t>
              </a:r>
            </a:p>
          </p:txBody>
        </p: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市场机会与用户痛点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44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FF369C5-4B2E-D9C5-C899-455D33CAA99B}"/>
              </a:ext>
            </a:extLst>
          </p:cNvPr>
          <p:cNvGrpSpPr/>
          <p:nvPr/>
        </p:nvGrpSpPr>
        <p:grpSpPr>
          <a:xfrm>
            <a:off x="636956" y="1179443"/>
            <a:ext cx="10881944" cy="4626718"/>
            <a:chOff x="636956" y="1179443"/>
            <a:chExt cx="10881944" cy="46267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EC2789-C52B-B40A-1D3A-FB9BB2B778FA}"/>
                </a:ext>
              </a:extLst>
            </p:cNvPr>
            <p:cNvGrpSpPr/>
            <p:nvPr/>
          </p:nvGrpSpPr>
          <p:grpSpPr>
            <a:xfrm>
              <a:off x="636956" y="4010540"/>
              <a:ext cx="10881944" cy="1795621"/>
              <a:chOff x="636956" y="4010540"/>
              <a:chExt cx="10881944" cy="179562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7BECCEA-FC26-D7E6-C218-C7363D904A9A}"/>
                  </a:ext>
                </a:extLst>
              </p:cNvPr>
              <p:cNvGrpSpPr/>
              <p:nvPr/>
            </p:nvGrpSpPr>
            <p:grpSpPr>
              <a:xfrm>
                <a:off x="636956" y="4010540"/>
                <a:ext cx="1969192" cy="1574021"/>
                <a:chOff x="8756125" y="4020076"/>
                <a:chExt cx="1969192" cy="157402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3D4A7F6-5FC8-184E-C424-DF34E992D0F1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近场优先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DD9ADEF-F222-A0FD-1398-748618ABF95C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默认 5km，可调 1/3/5/10/全城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ADF9E4D-3D17-47FE-9D2C-4551451FB2FF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01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6E564B5-92DD-93CF-B67C-3DC0ACC87712}"/>
                  </a:ext>
                </a:extLst>
              </p:cNvPr>
              <p:cNvGrpSpPr/>
              <p:nvPr/>
            </p:nvGrpSpPr>
            <p:grpSpPr>
              <a:xfrm>
                <a:off x="2865144" y="4010540"/>
                <a:ext cx="1969192" cy="1574021"/>
                <a:chOff x="8756125" y="4020076"/>
                <a:chExt cx="1969192" cy="1574021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EC0BEC1-9DC2-9C2A-6338-07754DC49D55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双向撮合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330A7A6-9AC3-6B1E-BD77-46C361CCF4AD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既能发资源也能发需求，互为猎手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614E8E1-51A6-B581-C20A-1B7450B118D8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chemeClr val="bg2"/>
                      </a:solidFill>
                    </a:rPr>
                    <a:t>02</a:t>
                  </a:r>
                  <a:endParaRPr kumimoji="1" lang="zh-CN" altLang="en-US" sz="2000" b="1" dirty="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B57DC0B-F62F-232F-CAF3-2F13BCC9CE90}"/>
                  </a:ext>
                </a:extLst>
              </p:cNvPr>
              <p:cNvGrpSpPr/>
              <p:nvPr/>
            </p:nvGrpSpPr>
            <p:grpSpPr>
              <a:xfrm>
                <a:off x="5093332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BECAA3F-CB95-97E1-F120-BDF2540FD701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极简丝滑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7EA501C-463F-C7DD-E89D-8E865A89C94B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3 秒发布、一指发现、模板化提效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12A6A11-38A1-040C-4B6A-B019D1789EAE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03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71380ED-5AB5-FA0E-6022-F2D89514675F}"/>
                  </a:ext>
                </a:extLst>
              </p:cNvPr>
              <p:cNvGrpSpPr/>
              <p:nvPr/>
            </p:nvGrpSpPr>
            <p:grpSpPr>
              <a:xfrm>
                <a:off x="7321520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52105DB-E45B-B74C-3E98-578DA83CDA6B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本地实名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67CC95B-0EB2-B822-4031-7BC94BE0089C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实名 + 资质认证，本地可验证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4D27680-3287-1D79-F879-4D0F74C6CE67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chemeClr val="bg2"/>
                      </a:solidFill>
                    </a:rPr>
                    <a:t>04</a:t>
                  </a:r>
                  <a:endParaRPr kumimoji="1" lang="zh-CN" altLang="en-US" sz="2000" b="1" dirty="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D0F0C63-216C-ECE6-82DF-BDF9150CEF55}"/>
                  </a:ext>
                </a:extLst>
              </p:cNvPr>
              <p:cNvGrpSpPr/>
              <p:nvPr/>
            </p:nvGrpSpPr>
            <p:grpSpPr>
              <a:xfrm>
                <a:off x="9549708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FAD5D97-10E4-EC93-0DF9-F86AF0276D19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纯线下成交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9C6EA33-DEC2-3F8F-E7E6-A79DB61B5425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避开金融合规与履约纠纷成本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EB727A3-4AE3-CAA7-F1EA-B0B41D5C8234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05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C6AB889-C198-D629-1829-A29F5EDA8B6C}"/>
                </a:ext>
              </a:extLst>
            </p:cNvPr>
            <p:cNvSpPr/>
            <p:nvPr/>
          </p:nvSpPr>
          <p:spPr>
            <a:xfrm>
              <a:off x="2721035" y="1179443"/>
              <a:ext cx="6749931" cy="1126067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核心价值主张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E096E-1C49-79A3-21CF-FDA2EA9CCBA3}"/>
                </a:ext>
              </a:extLst>
            </p:cNvPr>
            <p:cNvSpPr/>
            <p:nvPr/>
          </p:nvSpPr>
          <p:spPr>
            <a:xfrm>
              <a:off x="2996400" y="2322729"/>
              <a:ext cx="6199200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五条价值主张构成产品的差异化竞争力，其中双向撮合是单一核心差异点。</a:t>
              </a:r>
            </a:p>
          </p:txBody>
        </p:sp>
      </p:grpSp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核心价值主张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284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AB57178-167B-84BA-BB51-730939FA9C83}"/>
              </a:ext>
            </a:extLst>
          </p:cNvPr>
          <p:cNvGrpSpPr/>
          <p:nvPr/>
        </p:nvGrpSpPr>
        <p:grpSpPr>
          <a:xfrm>
            <a:off x="881908" y="1347546"/>
            <a:ext cx="9652625" cy="4753224"/>
            <a:chOff x="881908" y="1347546"/>
            <a:chExt cx="9652625" cy="475322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2180687-5F4C-F377-7EEA-849776A69917}"/>
                </a:ext>
              </a:extLst>
            </p:cNvPr>
            <p:cNvCxnSpPr>
              <a:cxnSpLocks/>
            </p:cNvCxnSpPr>
            <p:nvPr/>
          </p:nvCxnSpPr>
          <p:spPr>
            <a:xfrm>
              <a:off x="4883209" y="1347546"/>
              <a:ext cx="42352" cy="4627526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40AF83-8694-1B94-8D40-E7316A62878C}"/>
                </a:ext>
              </a:extLst>
            </p:cNvPr>
            <p:cNvGrpSpPr/>
            <p:nvPr/>
          </p:nvGrpSpPr>
          <p:grpSpPr>
            <a:xfrm>
              <a:off x="4694639" y="1682157"/>
              <a:ext cx="5839894" cy="1061814"/>
              <a:chOff x="4694639" y="1682157"/>
              <a:chExt cx="5839894" cy="1061814"/>
            </a:xfrm>
          </p:grpSpPr>
          <p:sp>
            <p:nvSpPr>
              <p:cNvPr id="2" name="Rectangle: Top Corners Rounded 1">
                <a:extLst>
                  <a:ext uri="{FF2B5EF4-FFF2-40B4-BE49-F238E27FC236}">
                    <a16:creationId xmlns:a16="http://schemas.microsoft.com/office/drawing/2014/main" id="{B240F297-BF5B-4D85-281C-0B36E2BF782C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3"/>
                <a:srcRect/>
                <a:stretch>
                  <a:fillRect l="-1329" r="-1329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91B91B0-E055-B95D-6AB9-D98A2B794BAA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03DE4B9-E6B1-0DCA-4D39-C174FA583BA7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01</a:t>
                  </a: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F876E45-EA74-243C-B518-03176821553D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squar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不做支付结算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468237-DAE7-11F6-5C8F-E2744B5E16DC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合规与履约成本高，不在本期焦点。</a:t>
                  </a:r>
                </a:p>
              </p:txBody>
            </p:sp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976179-5248-EC18-E589-1FEFB7757B85}"/>
                </a:ext>
              </a:extLst>
            </p:cNvPr>
            <p:cNvSpPr/>
            <p:nvPr/>
          </p:nvSpPr>
          <p:spPr>
            <a:xfrm>
              <a:off x="881908" y="2830312"/>
              <a:ext cx="2553845" cy="830997"/>
            </a:xfrm>
            <a:prstGeom prst="rect">
              <a:avLst/>
            </a:prstGeom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产品边界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52B913-15B5-ECB5-C204-B234F9566F5D}"/>
                </a:ext>
              </a:extLst>
            </p:cNvPr>
            <p:cNvSpPr/>
            <p:nvPr/>
          </p:nvSpPr>
          <p:spPr>
            <a:xfrm>
              <a:off x="881910" y="4012566"/>
              <a:ext cx="2418466" cy="5164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>
                      <a:alpha val="80000"/>
                    </a:schemeClr>
                  </a:solidFill>
                </a:rPr>
                <a:t>明确不做高成本路径，把有限资源集中投入信息撮合深度。</a:t>
              </a:r>
              <a:endParaRPr kumimoji="1" lang="en-US" altLang="zh-CN" sz="1000" dirty="0">
                <a:solidFill>
                  <a:schemeClr val="tx1">
                    <a:alpha val="80000"/>
                  </a:schemeClr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2236ACD-B25C-770D-907D-06303E15EE1E}"/>
                </a:ext>
              </a:extLst>
            </p:cNvPr>
            <p:cNvGrpSpPr/>
            <p:nvPr/>
          </p:nvGrpSpPr>
          <p:grpSpPr>
            <a:xfrm>
              <a:off x="4694639" y="3360556"/>
              <a:ext cx="5839894" cy="1061814"/>
              <a:chOff x="4694639" y="1682157"/>
              <a:chExt cx="5839894" cy="1061814"/>
            </a:xfrm>
          </p:grpSpPr>
          <p:sp>
            <p:nvSpPr>
              <p:cNvPr id="25" name="Rectangle: Top Corners Rounded 24">
                <a:extLst>
                  <a:ext uri="{FF2B5EF4-FFF2-40B4-BE49-F238E27FC236}">
                    <a16:creationId xmlns:a16="http://schemas.microsoft.com/office/drawing/2014/main" id="{2E602D7A-F055-9372-F9B0-564F7246037C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4"/>
                <a:srcRect/>
                <a:stretch>
                  <a:fillRect t="-27730" b="-2773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F9964AE-382E-DB96-F814-C303ABD92A3D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A5E8D5B-22C4-BCCE-5A4B-77473658CD52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02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5AC85FE-6F3D-FA3E-38CF-1920BACF4D55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squar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不做站内 IM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B0E782C-43FD-E17C-1C4F-C8BBB536C055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改为联系方式跳转，降低运营成本。</a:t>
                  </a: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7A2554B-3DAD-C4C2-252E-8092F6E9FB16}"/>
                </a:ext>
              </a:extLst>
            </p:cNvPr>
            <p:cNvGrpSpPr/>
            <p:nvPr/>
          </p:nvGrpSpPr>
          <p:grpSpPr>
            <a:xfrm>
              <a:off x="4694639" y="5038956"/>
              <a:ext cx="5839894" cy="1061814"/>
              <a:chOff x="4694639" y="1682157"/>
              <a:chExt cx="5839894" cy="1061814"/>
            </a:xfrm>
          </p:grpSpPr>
          <p:sp>
            <p:nvSpPr>
              <p:cNvPr id="39" name="Rectangle: Top Corners Rounded 38">
                <a:extLst>
                  <a:ext uri="{FF2B5EF4-FFF2-40B4-BE49-F238E27FC236}">
                    <a16:creationId xmlns:a16="http://schemas.microsoft.com/office/drawing/2014/main" id="{A346B648-0F70-F4C3-770A-F68986BDD06A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5"/>
                <a:srcRect/>
                <a:stretch>
                  <a:fillRect t="-8330" b="-833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759A42B-B9DA-5B50-1C59-272C61B49F51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F89B1A29-E3C5-EF49-84ED-E08EA6A385F5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03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0D262DB-3EC2-A6E6-1922-596D8246EFE3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squar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不售卖信任资产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69F8B17-D226-D478-70F6-D3F3E37808E8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完整度角标与实名徽章不可商业化。</a:t>
                  </a:r>
                </a:p>
              </p:txBody>
            </p:sp>
          </p:grpSp>
        </p:grpSp>
      </p:grpSp>
      <p:sp>
        <p:nvSpPr>
          <p:cNvPr id="45" name="Title 4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产品边界与合规红线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281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03.竞品与差异化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错位竞争与商业护城河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457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0053" y="-2"/>
            <a:ext cx="11954641" cy="6858002"/>
            <a:chOff x="240053" y="-2"/>
            <a:chExt cx="11954641" cy="6858002"/>
          </a:xfrm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1105CA6F-EB20-41AB-8B68-CF93FCABF71A}"/>
                </a:ext>
              </a:extLst>
            </p:cNvPr>
            <p:cNvSpPr/>
            <p:nvPr/>
          </p:nvSpPr>
          <p:spPr>
            <a:xfrm rot="10800000">
              <a:off x="891614" y="-2"/>
              <a:ext cx="1643975" cy="5594450"/>
            </a:xfrm>
            <a:prstGeom prst="round2SameRect">
              <a:avLst>
                <a:gd name="adj1" fmla="val 4698"/>
                <a:gd name="adj2" fmla="val 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  <a:alpha val="10000"/>
                  </a:schemeClr>
                </a:gs>
                <a:gs pos="6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AA9583B5-F61D-4604-B5C8-9DDEEF06E857}"/>
                </a:ext>
              </a:extLst>
            </p:cNvPr>
            <p:cNvSpPr/>
            <p:nvPr/>
          </p:nvSpPr>
          <p:spPr>
            <a:xfrm rot="10800000" flipV="1">
              <a:off x="11546394" y="0"/>
              <a:ext cx="648300" cy="6858000"/>
            </a:xfrm>
            <a:prstGeom prst="round2SameRect">
              <a:avLst>
                <a:gd name="adj1" fmla="val 4698"/>
                <a:gd name="adj2" fmla="val 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  <a:alpha val="10000"/>
                  </a:schemeClr>
                </a:gs>
                <a:gs pos="6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75D447CD-814E-4C97-AE52-4DB4BF9C5D32}"/>
                </a:ext>
              </a:extLst>
            </p:cNvPr>
            <p:cNvGrpSpPr/>
            <p:nvPr/>
          </p:nvGrpSpPr>
          <p:grpSpPr>
            <a:xfrm>
              <a:off x="240053" y="2882522"/>
              <a:ext cx="4348838" cy="2915912"/>
              <a:chOff x="3122150" y="2240870"/>
              <a:chExt cx="4348838" cy="2915912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7242B4EB-AB02-4E1B-A32D-123DAD85FDAB}"/>
                  </a:ext>
                </a:extLst>
              </p:cNvPr>
              <p:cNvSpPr/>
              <p:nvPr/>
            </p:nvSpPr>
            <p:spPr bwMode="auto">
              <a:xfrm>
                <a:off x="3388333" y="3977233"/>
                <a:ext cx="789736" cy="1179316"/>
              </a:xfrm>
              <a:custGeom>
                <a:avLst/>
                <a:gdLst>
                  <a:gd name="T0" fmla="*/ 113 w 136"/>
                  <a:gd name="T1" fmla="*/ 160 h 203"/>
                  <a:gd name="T2" fmla="*/ 83 w 136"/>
                  <a:gd name="T3" fmla="*/ 69 h 203"/>
                  <a:gd name="T4" fmla="*/ 18 w 136"/>
                  <a:gd name="T5" fmla="*/ 0 h 203"/>
                  <a:gd name="T6" fmla="*/ 32 w 136"/>
                  <a:gd name="T7" fmla="*/ 138 h 203"/>
                  <a:gd name="T8" fmla="*/ 32 w 136"/>
                  <a:gd name="T9" fmla="*/ 203 h 203"/>
                  <a:gd name="T10" fmla="*/ 110 w 136"/>
                  <a:gd name="T11" fmla="*/ 203 h 203"/>
                  <a:gd name="T12" fmla="*/ 113 w 136"/>
                  <a:gd name="T13" fmla="*/ 16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" h="203">
                    <a:moveTo>
                      <a:pt x="113" y="160"/>
                    </a:moveTo>
                    <a:cubicBezTo>
                      <a:pt x="113" y="160"/>
                      <a:pt x="136" y="109"/>
                      <a:pt x="83" y="69"/>
                    </a:cubicBezTo>
                    <a:cubicBezTo>
                      <a:pt x="30" y="29"/>
                      <a:pt x="18" y="0"/>
                      <a:pt x="18" y="0"/>
                    </a:cubicBezTo>
                    <a:cubicBezTo>
                      <a:pt x="18" y="0"/>
                      <a:pt x="0" y="93"/>
                      <a:pt x="32" y="138"/>
                    </a:cubicBezTo>
                    <a:cubicBezTo>
                      <a:pt x="32" y="203"/>
                      <a:pt x="32" y="203"/>
                      <a:pt x="32" y="203"/>
                    </a:cubicBezTo>
                    <a:cubicBezTo>
                      <a:pt x="110" y="203"/>
                      <a:pt x="110" y="203"/>
                      <a:pt x="110" y="203"/>
                    </a:cubicBezTo>
                    <a:lnTo>
                      <a:pt x="113" y="160"/>
                    </a:lnTo>
                    <a:close/>
                  </a:path>
                </a:pathLst>
              </a:custGeom>
              <a:solidFill>
                <a:srgbClr val="4E8F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7B17FF7F-6A87-446B-9196-38D07B9C81F0}"/>
                  </a:ext>
                </a:extLst>
              </p:cNvPr>
              <p:cNvSpPr/>
              <p:nvPr/>
            </p:nvSpPr>
            <p:spPr bwMode="auto">
              <a:xfrm>
                <a:off x="3747945" y="4529224"/>
                <a:ext cx="574674" cy="627558"/>
              </a:xfrm>
              <a:custGeom>
                <a:avLst/>
                <a:gdLst>
                  <a:gd name="T0" fmla="*/ 3 w 99"/>
                  <a:gd name="T1" fmla="*/ 108 h 108"/>
                  <a:gd name="T2" fmla="*/ 36 w 99"/>
                  <a:gd name="T3" fmla="*/ 48 h 108"/>
                  <a:gd name="T4" fmla="*/ 72 w 99"/>
                  <a:gd name="T5" fmla="*/ 0 h 108"/>
                  <a:gd name="T6" fmla="*/ 64 w 99"/>
                  <a:gd name="T7" fmla="*/ 108 h 108"/>
                  <a:gd name="T8" fmla="*/ 3 w 99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108">
                    <a:moveTo>
                      <a:pt x="3" y="108"/>
                    </a:moveTo>
                    <a:cubicBezTo>
                      <a:pt x="3" y="108"/>
                      <a:pt x="0" y="72"/>
                      <a:pt x="36" y="48"/>
                    </a:cubicBezTo>
                    <a:cubicBezTo>
                      <a:pt x="72" y="24"/>
                      <a:pt x="72" y="0"/>
                      <a:pt x="72" y="0"/>
                    </a:cubicBezTo>
                    <a:cubicBezTo>
                      <a:pt x="72" y="0"/>
                      <a:pt x="99" y="68"/>
                      <a:pt x="64" y="108"/>
                    </a:cubicBezTo>
                    <a:lnTo>
                      <a:pt x="3" y="108"/>
                    </a:lnTo>
                    <a:close/>
                  </a:path>
                </a:pathLst>
              </a:cu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8E856AE-5B65-4832-8577-61595D9742B3}"/>
                  </a:ext>
                </a:extLst>
              </p:cNvPr>
              <p:cNvSpPr/>
              <p:nvPr/>
            </p:nvSpPr>
            <p:spPr bwMode="auto">
              <a:xfrm>
                <a:off x="3122150" y="4377623"/>
                <a:ext cx="724513" cy="779159"/>
              </a:xfrm>
              <a:custGeom>
                <a:avLst/>
                <a:gdLst>
                  <a:gd name="T0" fmla="*/ 119 w 125"/>
                  <a:gd name="T1" fmla="*/ 134 h 134"/>
                  <a:gd name="T2" fmla="*/ 79 w 125"/>
                  <a:gd name="T3" fmla="*/ 60 h 134"/>
                  <a:gd name="T4" fmla="*/ 25 w 125"/>
                  <a:gd name="T5" fmla="*/ 0 h 134"/>
                  <a:gd name="T6" fmla="*/ 41 w 125"/>
                  <a:gd name="T7" fmla="*/ 134 h 134"/>
                  <a:gd name="T8" fmla="*/ 119 w 125"/>
                  <a:gd name="T9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134">
                    <a:moveTo>
                      <a:pt x="119" y="134"/>
                    </a:moveTo>
                    <a:cubicBezTo>
                      <a:pt x="119" y="134"/>
                      <a:pt x="125" y="86"/>
                      <a:pt x="79" y="60"/>
                    </a:cubicBezTo>
                    <a:cubicBezTo>
                      <a:pt x="34" y="34"/>
                      <a:pt x="25" y="0"/>
                      <a:pt x="25" y="0"/>
                    </a:cubicBezTo>
                    <a:cubicBezTo>
                      <a:pt x="25" y="0"/>
                      <a:pt x="0" y="85"/>
                      <a:pt x="41" y="134"/>
                    </a:cubicBezTo>
                    <a:lnTo>
                      <a:pt x="119" y="134"/>
                    </a:ln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363CC9B7-78B4-4E2D-AA8D-38AAA61DB9B6}"/>
                  </a:ext>
                </a:extLst>
              </p:cNvPr>
              <p:cNvSpPr/>
              <p:nvPr/>
            </p:nvSpPr>
            <p:spPr bwMode="auto">
              <a:xfrm>
                <a:off x="5122932" y="4460241"/>
                <a:ext cx="676917" cy="638135"/>
              </a:xfrm>
              <a:custGeom>
                <a:avLst/>
                <a:gdLst>
                  <a:gd name="T0" fmla="*/ 55 w 117"/>
                  <a:gd name="T1" fmla="*/ 19 h 110"/>
                  <a:gd name="T2" fmla="*/ 0 w 117"/>
                  <a:gd name="T3" fmla="*/ 86 h 110"/>
                  <a:gd name="T4" fmla="*/ 0 w 117"/>
                  <a:gd name="T5" fmla="*/ 110 h 110"/>
                  <a:gd name="T6" fmla="*/ 54 w 117"/>
                  <a:gd name="T7" fmla="*/ 110 h 110"/>
                  <a:gd name="T8" fmla="*/ 105 w 117"/>
                  <a:gd name="T9" fmla="*/ 74 h 110"/>
                  <a:gd name="T10" fmla="*/ 55 w 117"/>
                  <a:gd name="T11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7" h="110">
                    <a:moveTo>
                      <a:pt x="55" y="19"/>
                    </a:moveTo>
                    <a:cubicBezTo>
                      <a:pt x="41" y="42"/>
                      <a:pt x="22" y="64"/>
                      <a:pt x="0" y="86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54" y="110"/>
                      <a:pt x="54" y="110"/>
                      <a:pt x="54" y="110"/>
                    </a:cubicBezTo>
                    <a:cubicBezTo>
                      <a:pt x="54" y="110"/>
                      <a:pt x="71" y="101"/>
                      <a:pt x="105" y="74"/>
                    </a:cubicBezTo>
                    <a:cubicBezTo>
                      <a:pt x="105" y="74"/>
                      <a:pt x="117" y="0"/>
                      <a:pt x="55" y="19"/>
                    </a:cubicBezTo>
                    <a:close/>
                  </a:path>
                </a:pathLst>
              </a:custGeom>
              <a:solidFill>
                <a:srgbClr val="F49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61109D37-030D-4695-8315-85CE0AB857E9}"/>
                  </a:ext>
                </a:extLst>
              </p:cNvPr>
              <p:cNvSpPr/>
              <p:nvPr/>
            </p:nvSpPr>
            <p:spPr bwMode="auto">
              <a:xfrm>
                <a:off x="6936858" y="4617130"/>
                <a:ext cx="475957" cy="534130"/>
              </a:xfrm>
              <a:custGeom>
                <a:avLst/>
                <a:gdLst>
                  <a:gd name="T0" fmla="*/ 82 w 82"/>
                  <a:gd name="T1" fmla="*/ 38 h 92"/>
                  <a:gd name="T2" fmla="*/ 67 w 82"/>
                  <a:gd name="T3" fmla="*/ 89 h 92"/>
                  <a:gd name="T4" fmla="*/ 6 w 82"/>
                  <a:gd name="T5" fmla="*/ 47 h 92"/>
                  <a:gd name="T6" fmla="*/ 0 w 82"/>
                  <a:gd name="T7" fmla="*/ 26 h 92"/>
                  <a:gd name="T8" fmla="*/ 37 w 82"/>
                  <a:gd name="T9" fmla="*/ 0 h 92"/>
                  <a:gd name="T10" fmla="*/ 82 w 82"/>
                  <a:gd name="T11" fmla="*/ 3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92">
                    <a:moveTo>
                      <a:pt x="82" y="38"/>
                    </a:moveTo>
                    <a:cubicBezTo>
                      <a:pt x="82" y="38"/>
                      <a:pt x="79" y="86"/>
                      <a:pt x="67" y="89"/>
                    </a:cubicBezTo>
                    <a:cubicBezTo>
                      <a:pt x="55" y="92"/>
                      <a:pt x="6" y="47"/>
                      <a:pt x="6" y="4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80" y="13"/>
                      <a:pt x="82" y="38"/>
                    </a:cubicBezTo>
                    <a:close/>
                  </a:path>
                </a:pathLst>
              </a:custGeom>
              <a:solidFill>
                <a:srgbClr val="F49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BE661A9-DBF2-4C73-9812-DFC73F513ADA}"/>
                  </a:ext>
                </a:extLst>
              </p:cNvPr>
              <p:cNvSpPr/>
              <p:nvPr/>
            </p:nvSpPr>
            <p:spPr bwMode="auto">
              <a:xfrm>
                <a:off x="5417321" y="3379641"/>
                <a:ext cx="2053667" cy="1718734"/>
              </a:xfrm>
              <a:custGeom>
                <a:avLst/>
                <a:gdLst>
                  <a:gd name="T0" fmla="*/ 344 w 354"/>
                  <a:gd name="T1" fmla="*/ 251 h 296"/>
                  <a:gd name="T2" fmla="*/ 261 w 354"/>
                  <a:gd name="T3" fmla="*/ 245 h 296"/>
                  <a:gd name="T4" fmla="*/ 312 w 354"/>
                  <a:gd name="T5" fmla="*/ 296 h 296"/>
                  <a:gd name="T6" fmla="*/ 84 w 354"/>
                  <a:gd name="T7" fmla="*/ 296 h 296"/>
                  <a:gd name="T8" fmla="*/ 88 w 354"/>
                  <a:gd name="T9" fmla="*/ 206 h 296"/>
                  <a:gd name="T10" fmla="*/ 87 w 354"/>
                  <a:gd name="T11" fmla="*/ 207 h 296"/>
                  <a:gd name="T12" fmla="*/ 70 w 354"/>
                  <a:gd name="T13" fmla="*/ 246 h 296"/>
                  <a:gd name="T14" fmla="*/ 54 w 354"/>
                  <a:gd name="T15" fmla="*/ 260 h 296"/>
                  <a:gd name="T16" fmla="*/ 47 w 354"/>
                  <a:gd name="T17" fmla="*/ 232 h 296"/>
                  <a:gd name="T18" fmla="*/ 4 w 354"/>
                  <a:gd name="T19" fmla="*/ 205 h 296"/>
                  <a:gd name="T20" fmla="*/ 18 w 354"/>
                  <a:gd name="T21" fmla="*/ 185 h 296"/>
                  <a:gd name="T22" fmla="*/ 69 w 354"/>
                  <a:gd name="T23" fmla="*/ 39 h 296"/>
                  <a:gd name="T24" fmla="*/ 149 w 354"/>
                  <a:gd name="T25" fmla="*/ 3 h 296"/>
                  <a:gd name="T26" fmla="*/ 201 w 354"/>
                  <a:gd name="T27" fmla="*/ 0 h 296"/>
                  <a:gd name="T28" fmla="*/ 321 w 354"/>
                  <a:gd name="T29" fmla="*/ 54 h 296"/>
                  <a:gd name="T30" fmla="*/ 338 w 354"/>
                  <a:gd name="T31" fmla="*/ 219 h 296"/>
                  <a:gd name="T32" fmla="*/ 344 w 354"/>
                  <a:gd name="T33" fmla="*/ 25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4" h="296">
                    <a:moveTo>
                      <a:pt x="344" y="251"/>
                    </a:moveTo>
                    <a:cubicBezTo>
                      <a:pt x="332" y="229"/>
                      <a:pt x="261" y="245"/>
                      <a:pt x="261" y="245"/>
                    </a:cubicBezTo>
                    <a:cubicBezTo>
                      <a:pt x="312" y="296"/>
                      <a:pt x="312" y="296"/>
                      <a:pt x="312" y="296"/>
                    </a:cubicBezTo>
                    <a:cubicBezTo>
                      <a:pt x="84" y="296"/>
                      <a:pt x="84" y="296"/>
                      <a:pt x="84" y="296"/>
                    </a:cubicBezTo>
                    <a:cubicBezTo>
                      <a:pt x="92" y="270"/>
                      <a:pt x="88" y="206"/>
                      <a:pt x="88" y="206"/>
                    </a:cubicBezTo>
                    <a:cubicBezTo>
                      <a:pt x="87" y="206"/>
                      <a:pt x="87" y="207"/>
                      <a:pt x="87" y="207"/>
                    </a:cubicBezTo>
                    <a:cubicBezTo>
                      <a:pt x="84" y="233"/>
                      <a:pt x="70" y="246"/>
                      <a:pt x="70" y="246"/>
                    </a:cubicBezTo>
                    <a:cubicBezTo>
                      <a:pt x="70" y="260"/>
                      <a:pt x="54" y="260"/>
                      <a:pt x="54" y="260"/>
                    </a:cubicBezTo>
                    <a:cubicBezTo>
                      <a:pt x="53" y="248"/>
                      <a:pt x="50" y="239"/>
                      <a:pt x="47" y="232"/>
                    </a:cubicBezTo>
                    <a:cubicBezTo>
                      <a:pt x="32" y="201"/>
                      <a:pt x="4" y="205"/>
                      <a:pt x="4" y="205"/>
                    </a:cubicBezTo>
                    <a:cubicBezTo>
                      <a:pt x="0" y="189"/>
                      <a:pt x="18" y="185"/>
                      <a:pt x="18" y="185"/>
                    </a:cubicBezTo>
                    <a:cubicBezTo>
                      <a:pt x="18" y="185"/>
                      <a:pt x="38" y="63"/>
                      <a:pt x="69" y="39"/>
                    </a:cubicBezTo>
                    <a:cubicBezTo>
                      <a:pt x="100" y="15"/>
                      <a:pt x="149" y="3"/>
                      <a:pt x="149" y="3"/>
                    </a:cubicBezTo>
                    <a:cubicBezTo>
                      <a:pt x="201" y="0"/>
                      <a:pt x="201" y="0"/>
                      <a:pt x="201" y="0"/>
                    </a:cubicBezTo>
                    <a:cubicBezTo>
                      <a:pt x="201" y="0"/>
                      <a:pt x="301" y="20"/>
                      <a:pt x="321" y="54"/>
                    </a:cubicBezTo>
                    <a:cubicBezTo>
                      <a:pt x="341" y="88"/>
                      <a:pt x="338" y="219"/>
                      <a:pt x="338" y="219"/>
                    </a:cubicBezTo>
                    <a:cubicBezTo>
                      <a:pt x="354" y="232"/>
                      <a:pt x="344" y="251"/>
                      <a:pt x="344" y="2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BF54"/>
                  </a:gs>
                  <a:gs pos="100000">
                    <a:srgbClr val="F7983D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038FAA0-C379-49CC-909C-1A149DBBD9AC}"/>
                  </a:ext>
                </a:extLst>
              </p:cNvPr>
              <p:cNvSpPr/>
              <p:nvPr/>
            </p:nvSpPr>
            <p:spPr bwMode="auto">
              <a:xfrm>
                <a:off x="5893278" y="4000148"/>
                <a:ext cx="1089413" cy="1133484"/>
              </a:xfrm>
              <a:custGeom>
                <a:avLst/>
                <a:gdLst>
                  <a:gd name="T0" fmla="*/ 179 w 188"/>
                  <a:gd name="T1" fmla="*/ 138 h 195"/>
                  <a:gd name="T2" fmla="*/ 160 w 188"/>
                  <a:gd name="T3" fmla="*/ 0 h 195"/>
                  <a:gd name="T4" fmla="*/ 125 w 188"/>
                  <a:gd name="T5" fmla="*/ 125 h 195"/>
                  <a:gd name="T6" fmla="*/ 0 w 188"/>
                  <a:gd name="T7" fmla="*/ 195 h 195"/>
                  <a:gd name="T8" fmla="*/ 150 w 188"/>
                  <a:gd name="T9" fmla="*/ 194 h 195"/>
                  <a:gd name="T10" fmla="*/ 179 w 188"/>
                  <a:gd name="T11" fmla="*/ 138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8" h="195">
                    <a:moveTo>
                      <a:pt x="179" y="138"/>
                    </a:moveTo>
                    <a:cubicBezTo>
                      <a:pt x="179" y="138"/>
                      <a:pt x="188" y="64"/>
                      <a:pt x="160" y="0"/>
                    </a:cubicBezTo>
                    <a:cubicBezTo>
                      <a:pt x="160" y="0"/>
                      <a:pt x="165" y="98"/>
                      <a:pt x="125" y="125"/>
                    </a:cubicBezTo>
                    <a:cubicBezTo>
                      <a:pt x="85" y="153"/>
                      <a:pt x="17" y="147"/>
                      <a:pt x="0" y="195"/>
                    </a:cubicBezTo>
                    <a:cubicBezTo>
                      <a:pt x="150" y="194"/>
                      <a:pt x="150" y="194"/>
                      <a:pt x="150" y="194"/>
                    </a:cubicBezTo>
                    <a:lnTo>
                      <a:pt x="179" y="138"/>
                    </a:lnTo>
                    <a:close/>
                  </a:path>
                </a:pathLst>
              </a:custGeom>
              <a:solidFill>
                <a:srgbClr val="F6613A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90BE83E-156A-4A1D-86EE-B4211D6FE3E7}"/>
                  </a:ext>
                </a:extLst>
              </p:cNvPr>
              <p:cNvSpPr/>
              <p:nvPr/>
            </p:nvSpPr>
            <p:spPr bwMode="auto">
              <a:xfrm>
                <a:off x="5690555" y="4070661"/>
                <a:ext cx="232690" cy="817941"/>
              </a:xfrm>
              <a:custGeom>
                <a:avLst/>
                <a:gdLst>
                  <a:gd name="T0" fmla="*/ 40 w 40"/>
                  <a:gd name="T1" fmla="*/ 88 h 141"/>
                  <a:gd name="T2" fmla="*/ 23 w 40"/>
                  <a:gd name="T3" fmla="*/ 127 h 141"/>
                  <a:gd name="T4" fmla="*/ 7 w 40"/>
                  <a:gd name="T5" fmla="*/ 141 h 141"/>
                  <a:gd name="T6" fmla="*/ 0 w 40"/>
                  <a:gd name="T7" fmla="*/ 113 h 141"/>
                  <a:gd name="T8" fmla="*/ 22 w 40"/>
                  <a:gd name="T9" fmla="*/ 76 h 141"/>
                  <a:gd name="T10" fmla="*/ 25 w 40"/>
                  <a:gd name="T11" fmla="*/ 0 h 141"/>
                  <a:gd name="T12" fmla="*/ 40 w 40"/>
                  <a:gd name="T13" fmla="*/ 88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41">
                    <a:moveTo>
                      <a:pt x="40" y="88"/>
                    </a:moveTo>
                    <a:cubicBezTo>
                      <a:pt x="37" y="114"/>
                      <a:pt x="23" y="127"/>
                      <a:pt x="23" y="127"/>
                    </a:cubicBezTo>
                    <a:cubicBezTo>
                      <a:pt x="23" y="141"/>
                      <a:pt x="7" y="141"/>
                      <a:pt x="7" y="141"/>
                    </a:cubicBezTo>
                    <a:cubicBezTo>
                      <a:pt x="6" y="129"/>
                      <a:pt x="3" y="120"/>
                      <a:pt x="0" y="113"/>
                    </a:cubicBezTo>
                    <a:cubicBezTo>
                      <a:pt x="8" y="105"/>
                      <a:pt x="17" y="93"/>
                      <a:pt x="22" y="76"/>
                    </a:cubicBezTo>
                    <a:cubicBezTo>
                      <a:pt x="33" y="41"/>
                      <a:pt x="26" y="3"/>
                      <a:pt x="25" y="0"/>
                    </a:cubicBezTo>
                    <a:cubicBezTo>
                      <a:pt x="34" y="33"/>
                      <a:pt x="39" y="73"/>
                      <a:pt x="40" y="88"/>
                    </a:cubicBezTo>
                    <a:close/>
                  </a:path>
                </a:pathLst>
              </a:custGeom>
              <a:solidFill>
                <a:srgbClr val="F6613A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A387B40-E529-45BE-A4F9-3FF91A6A31E6}"/>
                  </a:ext>
                </a:extLst>
              </p:cNvPr>
              <p:cNvSpPr/>
              <p:nvPr/>
            </p:nvSpPr>
            <p:spPr bwMode="auto">
              <a:xfrm>
                <a:off x="6554329" y="4721136"/>
                <a:ext cx="886691" cy="412496"/>
              </a:xfrm>
              <a:custGeom>
                <a:avLst/>
                <a:gdLst>
                  <a:gd name="T0" fmla="*/ 0 w 153"/>
                  <a:gd name="T1" fmla="*/ 40 h 71"/>
                  <a:gd name="T2" fmla="*/ 105 w 153"/>
                  <a:gd name="T3" fmla="*/ 16 h 71"/>
                  <a:gd name="T4" fmla="*/ 133 w 153"/>
                  <a:gd name="T5" fmla="*/ 71 h 71"/>
                  <a:gd name="T6" fmla="*/ 13 w 153"/>
                  <a:gd name="T7" fmla="*/ 71 h 71"/>
                  <a:gd name="T8" fmla="*/ 0 w 153"/>
                  <a:gd name="T9" fmla="*/ 4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" h="71">
                    <a:moveTo>
                      <a:pt x="0" y="40"/>
                    </a:moveTo>
                    <a:cubicBezTo>
                      <a:pt x="0" y="40"/>
                      <a:pt x="57" y="0"/>
                      <a:pt x="105" y="16"/>
                    </a:cubicBezTo>
                    <a:cubicBezTo>
                      <a:pt x="153" y="32"/>
                      <a:pt x="149" y="65"/>
                      <a:pt x="133" y="71"/>
                    </a:cubicBezTo>
                    <a:cubicBezTo>
                      <a:pt x="13" y="71"/>
                      <a:pt x="13" y="71"/>
                      <a:pt x="13" y="71"/>
                    </a:cubicBez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1E19F8A-8C20-46BE-89A2-75689ECA1359}"/>
                  </a:ext>
                </a:extLst>
              </p:cNvPr>
              <p:cNvSpPr/>
              <p:nvPr/>
            </p:nvSpPr>
            <p:spPr bwMode="auto">
              <a:xfrm>
                <a:off x="6177089" y="2977722"/>
                <a:ext cx="463618" cy="796787"/>
              </a:xfrm>
              <a:custGeom>
                <a:avLst/>
                <a:gdLst>
                  <a:gd name="T0" fmla="*/ 80 w 80"/>
                  <a:gd name="T1" fmla="*/ 70 h 137"/>
                  <a:gd name="T2" fmla="*/ 33 w 80"/>
                  <a:gd name="T3" fmla="*/ 137 h 137"/>
                  <a:gd name="T4" fmla="*/ 12 w 80"/>
                  <a:gd name="T5" fmla="*/ 87 h 137"/>
                  <a:gd name="T6" fmla="*/ 13 w 80"/>
                  <a:gd name="T7" fmla="*/ 84 h 137"/>
                  <a:gd name="T8" fmla="*/ 0 w 80"/>
                  <a:gd name="T9" fmla="*/ 36 h 137"/>
                  <a:gd name="T10" fmla="*/ 67 w 80"/>
                  <a:gd name="T11" fmla="*/ 0 h 137"/>
                  <a:gd name="T12" fmla="*/ 69 w 80"/>
                  <a:gd name="T13" fmla="*/ 8 h 137"/>
                  <a:gd name="T14" fmla="*/ 69 w 80"/>
                  <a:gd name="T15" fmla="*/ 8 h 137"/>
                  <a:gd name="T16" fmla="*/ 80 w 80"/>
                  <a:gd name="T17" fmla="*/ 7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137">
                    <a:moveTo>
                      <a:pt x="80" y="70"/>
                    </a:moveTo>
                    <a:cubicBezTo>
                      <a:pt x="80" y="70"/>
                      <a:pt x="68" y="136"/>
                      <a:pt x="33" y="137"/>
                    </a:cubicBezTo>
                    <a:cubicBezTo>
                      <a:pt x="3" y="137"/>
                      <a:pt x="10" y="97"/>
                      <a:pt x="12" y="87"/>
                    </a:cubicBezTo>
                    <a:cubicBezTo>
                      <a:pt x="12" y="85"/>
                      <a:pt x="13" y="84"/>
                      <a:pt x="13" y="8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lnTo>
                      <a:pt x="80" y="70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5F640386-3AEC-4664-94BA-0747F3B376B8}"/>
                  </a:ext>
                </a:extLst>
              </p:cNvPr>
              <p:cNvSpPr/>
              <p:nvPr/>
            </p:nvSpPr>
            <p:spPr bwMode="auto">
              <a:xfrm>
                <a:off x="6177089" y="2977722"/>
                <a:ext cx="453041" cy="505925"/>
              </a:xfrm>
              <a:custGeom>
                <a:avLst/>
                <a:gdLst>
                  <a:gd name="T0" fmla="*/ 12 w 78"/>
                  <a:gd name="T1" fmla="*/ 87 h 87"/>
                  <a:gd name="T2" fmla="*/ 13 w 78"/>
                  <a:gd name="T3" fmla="*/ 84 h 87"/>
                  <a:gd name="T4" fmla="*/ 0 w 78"/>
                  <a:gd name="T5" fmla="*/ 36 h 87"/>
                  <a:gd name="T6" fmla="*/ 67 w 78"/>
                  <a:gd name="T7" fmla="*/ 0 h 87"/>
                  <a:gd name="T8" fmla="*/ 69 w 78"/>
                  <a:gd name="T9" fmla="*/ 8 h 87"/>
                  <a:gd name="T10" fmla="*/ 69 w 78"/>
                  <a:gd name="T11" fmla="*/ 8 h 87"/>
                  <a:gd name="T12" fmla="*/ 12 w 78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87">
                    <a:moveTo>
                      <a:pt x="12" y="87"/>
                    </a:moveTo>
                    <a:cubicBezTo>
                      <a:pt x="12" y="85"/>
                      <a:pt x="13" y="84"/>
                      <a:pt x="13" y="8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8" y="87"/>
                      <a:pt x="13" y="87"/>
                      <a:pt x="12" y="87"/>
                    </a:cubicBezTo>
                    <a:close/>
                  </a:path>
                </a:pathLst>
              </a:custGeom>
              <a:solidFill>
                <a:srgbClr val="FF85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E17B8358-E2A5-4899-8F7D-89F6A452AC46}"/>
                  </a:ext>
                </a:extLst>
              </p:cNvPr>
              <p:cNvSpPr/>
              <p:nvPr/>
            </p:nvSpPr>
            <p:spPr bwMode="auto">
              <a:xfrm>
                <a:off x="5678216" y="2240870"/>
                <a:ext cx="1015375" cy="754480"/>
              </a:xfrm>
              <a:custGeom>
                <a:avLst/>
                <a:gdLst>
                  <a:gd name="T0" fmla="*/ 162 w 175"/>
                  <a:gd name="T1" fmla="*/ 104 h 130"/>
                  <a:gd name="T2" fmla="*/ 173 w 175"/>
                  <a:gd name="T3" fmla="*/ 65 h 130"/>
                  <a:gd name="T4" fmla="*/ 161 w 175"/>
                  <a:gd name="T5" fmla="*/ 39 h 130"/>
                  <a:gd name="T6" fmla="*/ 146 w 175"/>
                  <a:gd name="T7" fmla="*/ 8 h 130"/>
                  <a:gd name="T8" fmla="*/ 75 w 175"/>
                  <a:gd name="T9" fmla="*/ 22 h 130"/>
                  <a:gd name="T10" fmla="*/ 38 w 175"/>
                  <a:gd name="T11" fmla="*/ 5 h 130"/>
                  <a:gd name="T12" fmla="*/ 35 w 175"/>
                  <a:gd name="T13" fmla="*/ 37 h 130"/>
                  <a:gd name="T14" fmla="*/ 18 w 175"/>
                  <a:gd name="T15" fmla="*/ 22 h 130"/>
                  <a:gd name="T16" fmla="*/ 6 w 175"/>
                  <a:gd name="T17" fmla="*/ 58 h 130"/>
                  <a:gd name="T18" fmla="*/ 25 w 175"/>
                  <a:gd name="T19" fmla="*/ 91 h 130"/>
                  <a:gd name="T20" fmla="*/ 53 w 175"/>
                  <a:gd name="T21" fmla="*/ 126 h 130"/>
                  <a:gd name="T22" fmla="*/ 147 w 175"/>
                  <a:gd name="T23" fmla="*/ 124 h 130"/>
                  <a:gd name="T24" fmla="*/ 162 w 175"/>
                  <a:gd name="T25" fmla="*/ 104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5" h="130">
                    <a:moveTo>
                      <a:pt x="162" y="104"/>
                    </a:moveTo>
                    <a:cubicBezTo>
                      <a:pt x="162" y="104"/>
                      <a:pt x="171" y="87"/>
                      <a:pt x="173" y="65"/>
                    </a:cubicBezTo>
                    <a:cubicBezTo>
                      <a:pt x="175" y="44"/>
                      <a:pt x="170" y="39"/>
                      <a:pt x="161" y="39"/>
                    </a:cubicBezTo>
                    <a:cubicBezTo>
                      <a:pt x="161" y="39"/>
                      <a:pt x="157" y="16"/>
                      <a:pt x="146" y="8"/>
                    </a:cubicBezTo>
                    <a:cubicBezTo>
                      <a:pt x="135" y="0"/>
                      <a:pt x="91" y="12"/>
                      <a:pt x="75" y="22"/>
                    </a:cubicBezTo>
                    <a:cubicBezTo>
                      <a:pt x="58" y="32"/>
                      <a:pt x="46" y="4"/>
                      <a:pt x="38" y="5"/>
                    </a:cubicBezTo>
                    <a:cubicBezTo>
                      <a:pt x="30" y="7"/>
                      <a:pt x="29" y="28"/>
                      <a:pt x="35" y="37"/>
                    </a:cubicBezTo>
                    <a:cubicBezTo>
                      <a:pt x="35" y="37"/>
                      <a:pt x="21" y="30"/>
                      <a:pt x="18" y="22"/>
                    </a:cubicBezTo>
                    <a:cubicBezTo>
                      <a:pt x="16" y="14"/>
                      <a:pt x="0" y="28"/>
                      <a:pt x="6" y="58"/>
                    </a:cubicBezTo>
                    <a:cubicBezTo>
                      <a:pt x="12" y="88"/>
                      <a:pt x="25" y="91"/>
                      <a:pt x="25" y="91"/>
                    </a:cubicBezTo>
                    <a:cubicBezTo>
                      <a:pt x="25" y="91"/>
                      <a:pt x="27" y="123"/>
                      <a:pt x="53" y="126"/>
                    </a:cubicBezTo>
                    <a:cubicBezTo>
                      <a:pt x="79" y="130"/>
                      <a:pt x="147" y="124"/>
                      <a:pt x="147" y="124"/>
                    </a:cubicBezTo>
                    <a:lnTo>
                      <a:pt x="162" y="104"/>
                    </a:lnTo>
                    <a:close/>
                  </a:path>
                </a:pathLst>
              </a:custGeom>
              <a:solidFill>
                <a:srgbClr val="59313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01D3A52D-AFA7-4E05-BA8D-223D1C678151}"/>
                  </a:ext>
                </a:extLst>
              </p:cNvPr>
              <p:cNvSpPr/>
              <p:nvPr/>
            </p:nvSpPr>
            <p:spPr bwMode="auto">
              <a:xfrm>
                <a:off x="5928534" y="2693911"/>
                <a:ext cx="719224" cy="708647"/>
              </a:xfrm>
              <a:custGeom>
                <a:avLst/>
                <a:gdLst>
                  <a:gd name="T0" fmla="*/ 0 w 124"/>
                  <a:gd name="T1" fmla="*/ 15 h 122"/>
                  <a:gd name="T2" fmla="*/ 44 w 124"/>
                  <a:gd name="T3" fmla="*/ 111 h 122"/>
                  <a:gd name="T4" fmla="*/ 105 w 124"/>
                  <a:gd name="T5" fmla="*/ 79 h 122"/>
                  <a:gd name="T6" fmla="*/ 111 w 124"/>
                  <a:gd name="T7" fmla="*/ 52 h 122"/>
                  <a:gd name="T8" fmla="*/ 123 w 124"/>
                  <a:gd name="T9" fmla="*/ 35 h 122"/>
                  <a:gd name="T10" fmla="*/ 104 w 124"/>
                  <a:gd name="T11" fmla="*/ 38 h 122"/>
                  <a:gd name="T12" fmla="*/ 93 w 124"/>
                  <a:gd name="T13" fmla="*/ 0 h 122"/>
                  <a:gd name="T14" fmla="*/ 51 w 124"/>
                  <a:gd name="T15" fmla="*/ 17 h 122"/>
                  <a:gd name="T16" fmla="*/ 47 w 124"/>
                  <a:gd name="T17" fmla="*/ 0 h 122"/>
                  <a:gd name="T18" fmla="*/ 0 w 124"/>
                  <a:gd name="T19" fmla="*/ 15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4" h="122">
                    <a:moveTo>
                      <a:pt x="0" y="15"/>
                    </a:moveTo>
                    <a:cubicBezTo>
                      <a:pt x="0" y="15"/>
                      <a:pt x="12" y="100"/>
                      <a:pt x="44" y="111"/>
                    </a:cubicBezTo>
                    <a:cubicBezTo>
                      <a:pt x="75" y="122"/>
                      <a:pt x="101" y="88"/>
                      <a:pt x="105" y="79"/>
                    </a:cubicBezTo>
                    <a:cubicBezTo>
                      <a:pt x="109" y="70"/>
                      <a:pt x="111" y="52"/>
                      <a:pt x="111" y="52"/>
                    </a:cubicBezTo>
                    <a:cubicBezTo>
                      <a:pt x="111" y="52"/>
                      <a:pt x="122" y="54"/>
                      <a:pt x="123" y="35"/>
                    </a:cubicBezTo>
                    <a:cubicBezTo>
                      <a:pt x="124" y="16"/>
                      <a:pt x="108" y="5"/>
                      <a:pt x="104" y="38"/>
                    </a:cubicBezTo>
                    <a:cubicBezTo>
                      <a:pt x="104" y="38"/>
                      <a:pt x="88" y="29"/>
                      <a:pt x="93" y="0"/>
                    </a:cubicBezTo>
                    <a:cubicBezTo>
                      <a:pt x="93" y="0"/>
                      <a:pt x="75" y="17"/>
                      <a:pt x="51" y="17"/>
                    </a:cubicBezTo>
                    <a:cubicBezTo>
                      <a:pt x="26" y="17"/>
                      <a:pt x="47" y="0"/>
                      <a:pt x="47" y="0"/>
                    </a:cubicBezTo>
                    <a:cubicBezTo>
                      <a:pt x="47" y="0"/>
                      <a:pt x="30" y="16"/>
                      <a:pt x="0" y="15"/>
                    </a:cubicBez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ADBB54AD-357E-40B1-A6FB-085A97613870}"/>
                  </a:ext>
                </a:extLst>
              </p:cNvPr>
              <p:cNvSpPr/>
              <p:nvPr/>
            </p:nvSpPr>
            <p:spPr bwMode="auto">
              <a:xfrm>
                <a:off x="5875650" y="5070171"/>
                <a:ext cx="1188130" cy="63461"/>
              </a:xfrm>
              <a:prstGeom prst="rect">
                <a:avLst/>
              </a:pr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E8AF93C6-F105-461B-A816-BC3387F3C587}"/>
                  </a:ext>
                </a:extLst>
              </p:cNvPr>
              <p:cNvSpPr/>
              <p:nvPr/>
            </p:nvSpPr>
            <p:spPr bwMode="auto">
              <a:xfrm>
                <a:off x="6698879" y="5070171"/>
                <a:ext cx="364901" cy="63461"/>
              </a:xfrm>
              <a:prstGeom prst="rect">
                <a:avLst/>
              </a:pr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E9DB34A-4B92-40A1-BB39-C117B8686ECA}"/>
                  </a:ext>
                </a:extLst>
              </p:cNvPr>
              <p:cNvSpPr/>
              <p:nvPr/>
            </p:nvSpPr>
            <p:spPr bwMode="auto">
              <a:xfrm>
                <a:off x="6397440" y="4913281"/>
                <a:ext cx="470669" cy="156890"/>
              </a:xfrm>
              <a:custGeom>
                <a:avLst/>
                <a:gdLst>
                  <a:gd name="T0" fmla="*/ 81 w 81"/>
                  <a:gd name="T1" fmla="*/ 27 h 27"/>
                  <a:gd name="T2" fmla="*/ 35 w 81"/>
                  <a:gd name="T3" fmla="*/ 1 h 27"/>
                  <a:gd name="T4" fmla="*/ 14 w 81"/>
                  <a:gd name="T5" fmla="*/ 14 h 27"/>
                  <a:gd name="T6" fmla="*/ 0 w 81"/>
                  <a:gd name="T7" fmla="*/ 27 h 27"/>
                  <a:gd name="T8" fmla="*/ 81 w 81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7">
                    <a:moveTo>
                      <a:pt x="81" y="27"/>
                    </a:moveTo>
                    <a:cubicBezTo>
                      <a:pt x="81" y="27"/>
                      <a:pt x="63" y="0"/>
                      <a:pt x="35" y="1"/>
                    </a:cubicBezTo>
                    <a:cubicBezTo>
                      <a:pt x="15" y="1"/>
                      <a:pt x="14" y="14"/>
                      <a:pt x="14" y="14"/>
                    </a:cubicBezTo>
                    <a:cubicBezTo>
                      <a:pt x="14" y="14"/>
                      <a:pt x="0" y="12"/>
                      <a:pt x="0" y="27"/>
                    </a:cubicBezTo>
                    <a:lnTo>
                      <a:pt x="81" y="27"/>
                    </a:lnTo>
                    <a:close/>
                  </a:path>
                </a:pathLst>
              </a:custGeom>
              <a:solidFill>
                <a:srgbClr val="FFC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6FABDB6-9771-4A6B-94C8-7731E388E64D}"/>
                  </a:ext>
                </a:extLst>
              </p:cNvPr>
              <p:cNvSpPr/>
              <p:nvPr/>
            </p:nvSpPr>
            <p:spPr bwMode="auto">
              <a:xfrm>
                <a:off x="4844409" y="4848058"/>
                <a:ext cx="544707" cy="215062"/>
              </a:xfrm>
              <a:custGeom>
                <a:avLst/>
                <a:gdLst>
                  <a:gd name="T0" fmla="*/ 93 w 94"/>
                  <a:gd name="T1" fmla="*/ 37 h 37"/>
                  <a:gd name="T2" fmla="*/ 88 w 94"/>
                  <a:gd name="T3" fmla="*/ 20 h 37"/>
                  <a:gd name="T4" fmla="*/ 76 w 94"/>
                  <a:gd name="T5" fmla="*/ 23 h 37"/>
                  <a:gd name="T6" fmla="*/ 52 w 94"/>
                  <a:gd name="T7" fmla="*/ 1 h 37"/>
                  <a:gd name="T8" fmla="*/ 21 w 94"/>
                  <a:gd name="T9" fmla="*/ 37 h 37"/>
                  <a:gd name="T10" fmla="*/ 93 w 94"/>
                  <a:gd name="T1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7">
                    <a:moveTo>
                      <a:pt x="93" y="37"/>
                    </a:moveTo>
                    <a:cubicBezTo>
                      <a:pt x="93" y="37"/>
                      <a:pt x="94" y="22"/>
                      <a:pt x="88" y="20"/>
                    </a:cubicBezTo>
                    <a:cubicBezTo>
                      <a:pt x="81" y="18"/>
                      <a:pt x="76" y="23"/>
                      <a:pt x="76" y="23"/>
                    </a:cubicBezTo>
                    <a:cubicBezTo>
                      <a:pt x="76" y="23"/>
                      <a:pt x="71" y="1"/>
                      <a:pt x="52" y="1"/>
                    </a:cubicBezTo>
                    <a:cubicBezTo>
                      <a:pt x="34" y="0"/>
                      <a:pt x="0" y="19"/>
                      <a:pt x="21" y="37"/>
                    </a:cubicBezTo>
                    <a:lnTo>
                      <a:pt x="93" y="37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B08E4CDA-8407-49C7-B5E8-6D7B68163B01}"/>
                  </a:ext>
                </a:extLst>
              </p:cNvPr>
              <p:cNvSpPr/>
              <p:nvPr/>
            </p:nvSpPr>
            <p:spPr bwMode="auto">
              <a:xfrm>
                <a:off x="4943126" y="5063120"/>
                <a:ext cx="719224" cy="70512"/>
              </a:xfrm>
              <a:custGeom>
                <a:avLst/>
                <a:gdLst>
                  <a:gd name="T0" fmla="*/ 124 w 124"/>
                  <a:gd name="T1" fmla="*/ 6 h 12"/>
                  <a:gd name="T2" fmla="*/ 118 w 124"/>
                  <a:gd name="T3" fmla="*/ 12 h 12"/>
                  <a:gd name="T4" fmla="*/ 6 w 124"/>
                  <a:gd name="T5" fmla="*/ 12 h 12"/>
                  <a:gd name="T6" fmla="*/ 0 w 124"/>
                  <a:gd name="T7" fmla="*/ 6 h 12"/>
                  <a:gd name="T8" fmla="*/ 6 w 124"/>
                  <a:gd name="T9" fmla="*/ 0 h 12"/>
                  <a:gd name="T10" fmla="*/ 118 w 124"/>
                  <a:gd name="T11" fmla="*/ 0 h 12"/>
                  <a:gd name="T12" fmla="*/ 124 w 124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12">
                    <a:moveTo>
                      <a:pt x="124" y="6"/>
                    </a:moveTo>
                    <a:cubicBezTo>
                      <a:pt x="124" y="9"/>
                      <a:pt x="122" y="12"/>
                      <a:pt x="118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22" y="0"/>
                      <a:pt x="124" y="2"/>
                      <a:pt x="124" y="6"/>
                    </a:cubicBezTo>
                    <a:close/>
                  </a:path>
                </a:pathLst>
              </a:cu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95238C92-9A93-44C8-AD92-A0B79A750564}"/>
                  </a:ext>
                </a:extLst>
              </p:cNvPr>
              <p:cNvSpPr/>
              <p:nvPr/>
            </p:nvSpPr>
            <p:spPr bwMode="auto">
              <a:xfrm>
                <a:off x="4943126" y="5063120"/>
                <a:ext cx="527079" cy="70512"/>
              </a:xfrm>
              <a:custGeom>
                <a:avLst/>
                <a:gdLst>
                  <a:gd name="T0" fmla="*/ 91 w 91"/>
                  <a:gd name="T1" fmla="*/ 6 h 12"/>
                  <a:gd name="T2" fmla="*/ 85 w 91"/>
                  <a:gd name="T3" fmla="*/ 12 h 12"/>
                  <a:gd name="T4" fmla="*/ 6 w 91"/>
                  <a:gd name="T5" fmla="*/ 12 h 12"/>
                  <a:gd name="T6" fmla="*/ 0 w 91"/>
                  <a:gd name="T7" fmla="*/ 6 h 12"/>
                  <a:gd name="T8" fmla="*/ 6 w 91"/>
                  <a:gd name="T9" fmla="*/ 0 h 12"/>
                  <a:gd name="T10" fmla="*/ 85 w 91"/>
                  <a:gd name="T11" fmla="*/ 0 h 12"/>
                  <a:gd name="T12" fmla="*/ 91 w 91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2">
                    <a:moveTo>
                      <a:pt x="91" y="6"/>
                    </a:moveTo>
                    <a:cubicBezTo>
                      <a:pt x="91" y="9"/>
                      <a:pt x="88" y="12"/>
                      <a:pt x="8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8" y="0"/>
                      <a:pt x="91" y="2"/>
                      <a:pt x="91" y="6"/>
                    </a:cubicBez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2FDA8D3-ED5F-4DBD-95F9-C750DE7B8A74}"/>
                  </a:ext>
                </a:extLst>
              </p:cNvPr>
              <p:cNvSpPr/>
              <p:nvPr/>
            </p:nvSpPr>
            <p:spPr bwMode="auto">
              <a:xfrm>
                <a:off x="5115881" y="4599502"/>
                <a:ext cx="186857" cy="428362"/>
              </a:xfrm>
              <a:custGeom>
                <a:avLst/>
                <a:gdLst>
                  <a:gd name="T0" fmla="*/ 32 w 32"/>
                  <a:gd name="T1" fmla="*/ 70 h 74"/>
                  <a:gd name="T2" fmla="*/ 12 w 32"/>
                  <a:gd name="T3" fmla="*/ 5 h 74"/>
                  <a:gd name="T4" fmla="*/ 5 w 32"/>
                  <a:gd name="T5" fmla="*/ 1 h 74"/>
                  <a:gd name="T6" fmla="*/ 5 w 32"/>
                  <a:gd name="T7" fmla="*/ 1 h 74"/>
                  <a:gd name="T8" fmla="*/ 1 w 32"/>
                  <a:gd name="T9" fmla="*/ 8 h 74"/>
                  <a:gd name="T10" fmla="*/ 25 w 32"/>
                  <a:gd name="T11" fmla="*/ 72 h 74"/>
                  <a:gd name="T12" fmla="*/ 32 w 32"/>
                  <a:gd name="T13" fmla="*/ 7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74">
                    <a:moveTo>
                      <a:pt x="32" y="70"/>
                    </a:moveTo>
                    <a:cubicBezTo>
                      <a:pt x="12" y="5"/>
                      <a:pt x="12" y="5"/>
                      <a:pt x="12" y="5"/>
                    </a:cubicBezTo>
                    <a:cubicBezTo>
                      <a:pt x="11" y="2"/>
                      <a:pt x="8" y="0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2" y="2"/>
                      <a:pt x="0" y="5"/>
                      <a:pt x="1" y="8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5" y="72"/>
                      <a:pt x="29" y="74"/>
                      <a:pt x="32" y="70"/>
                    </a:cubicBezTo>
                    <a:close/>
                  </a:path>
                </a:pathLst>
              </a:custGeom>
              <a:solidFill>
                <a:srgbClr val="5255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CFF5A5F-9AD0-4A8D-AD75-7656D066B23D}"/>
                  </a:ext>
                </a:extLst>
              </p:cNvPr>
              <p:cNvSpPr/>
              <p:nvPr/>
            </p:nvSpPr>
            <p:spPr bwMode="auto">
              <a:xfrm>
                <a:off x="4310280" y="3931400"/>
                <a:ext cx="192146" cy="290863"/>
              </a:xfrm>
              <a:custGeom>
                <a:avLst/>
                <a:gdLst>
                  <a:gd name="T0" fmla="*/ 31 w 33"/>
                  <a:gd name="T1" fmla="*/ 23 h 50"/>
                  <a:gd name="T2" fmla="*/ 20 w 33"/>
                  <a:gd name="T3" fmla="*/ 49 h 50"/>
                  <a:gd name="T4" fmla="*/ 2 w 33"/>
                  <a:gd name="T5" fmla="*/ 28 h 50"/>
                  <a:gd name="T6" fmla="*/ 12 w 33"/>
                  <a:gd name="T7" fmla="*/ 1 h 50"/>
                  <a:gd name="T8" fmla="*/ 31 w 33"/>
                  <a:gd name="T9" fmla="*/ 23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50">
                    <a:moveTo>
                      <a:pt x="31" y="23"/>
                    </a:moveTo>
                    <a:cubicBezTo>
                      <a:pt x="33" y="36"/>
                      <a:pt x="28" y="48"/>
                      <a:pt x="20" y="49"/>
                    </a:cubicBezTo>
                    <a:cubicBezTo>
                      <a:pt x="12" y="50"/>
                      <a:pt x="4" y="41"/>
                      <a:pt x="2" y="28"/>
                    </a:cubicBezTo>
                    <a:cubicBezTo>
                      <a:pt x="0" y="15"/>
                      <a:pt x="4" y="3"/>
                      <a:pt x="12" y="1"/>
                    </a:cubicBezTo>
                    <a:cubicBezTo>
                      <a:pt x="20" y="0"/>
                      <a:pt x="29" y="10"/>
                      <a:pt x="3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638" cap="flat">
                <a:solidFill>
                  <a:srgbClr val="F230DB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889D9AB-C8B8-4A09-9AC5-F94581691F64}"/>
                  </a:ext>
                </a:extLst>
              </p:cNvPr>
              <p:cNvSpPr/>
              <p:nvPr/>
            </p:nvSpPr>
            <p:spPr bwMode="auto">
              <a:xfrm>
                <a:off x="3527595" y="3455443"/>
                <a:ext cx="1820977" cy="1283321"/>
              </a:xfrm>
              <a:custGeom>
                <a:avLst/>
                <a:gdLst>
                  <a:gd name="T0" fmla="*/ 287 w 314"/>
                  <a:gd name="T1" fmla="*/ 221 h 221"/>
                  <a:gd name="T2" fmla="*/ 74 w 314"/>
                  <a:gd name="T3" fmla="*/ 221 h 221"/>
                  <a:gd name="T4" fmla="*/ 53 w 314"/>
                  <a:gd name="T5" fmla="*/ 206 h 221"/>
                  <a:gd name="T6" fmla="*/ 2 w 314"/>
                  <a:gd name="T7" fmla="*/ 25 h 221"/>
                  <a:gd name="T8" fmla="*/ 25 w 314"/>
                  <a:gd name="T9" fmla="*/ 0 h 221"/>
                  <a:gd name="T10" fmla="*/ 241 w 314"/>
                  <a:gd name="T11" fmla="*/ 0 h 221"/>
                  <a:gd name="T12" fmla="*/ 263 w 314"/>
                  <a:gd name="T13" fmla="*/ 19 h 221"/>
                  <a:gd name="T14" fmla="*/ 309 w 314"/>
                  <a:gd name="T15" fmla="*/ 190 h 221"/>
                  <a:gd name="T16" fmla="*/ 287 w 314"/>
                  <a:gd name="T17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4" h="221">
                    <a:moveTo>
                      <a:pt x="287" y="221"/>
                    </a:moveTo>
                    <a:cubicBezTo>
                      <a:pt x="74" y="221"/>
                      <a:pt x="74" y="221"/>
                      <a:pt x="74" y="221"/>
                    </a:cubicBezTo>
                    <a:cubicBezTo>
                      <a:pt x="65" y="221"/>
                      <a:pt x="56" y="215"/>
                      <a:pt x="53" y="206"/>
                    </a:cubicBezTo>
                    <a:cubicBezTo>
                      <a:pt x="28" y="144"/>
                      <a:pt x="9" y="83"/>
                      <a:pt x="2" y="25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241" y="0"/>
                      <a:pt x="241" y="0"/>
                      <a:pt x="241" y="0"/>
                    </a:cubicBezTo>
                    <a:cubicBezTo>
                      <a:pt x="252" y="0"/>
                      <a:pt x="262" y="8"/>
                      <a:pt x="263" y="19"/>
                    </a:cubicBezTo>
                    <a:cubicBezTo>
                      <a:pt x="271" y="73"/>
                      <a:pt x="287" y="130"/>
                      <a:pt x="309" y="190"/>
                    </a:cubicBezTo>
                    <a:cubicBezTo>
                      <a:pt x="314" y="205"/>
                      <a:pt x="303" y="221"/>
                      <a:pt x="287" y="221"/>
                    </a:cubicBez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2F3CB88-F785-4F74-9718-3A409BB20858}"/>
                  </a:ext>
                </a:extLst>
              </p:cNvPr>
              <p:cNvSpPr/>
              <p:nvPr/>
            </p:nvSpPr>
            <p:spPr bwMode="auto">
              <a:xfrm>
                <a:off x="3527595" y="3455443"/>
                <a:ext cx="1768093" cy="1283321"/>
              </a:xfrm>
              <a:custGeom>
                <a:avLst/>
                <a:gdLst>
                  <a:gd name="T0" fmla="*/ 279 w 305"/>
                  <a:gd name="T1" fmla="*/ 221 h 221"/>
                  <a:gd name="T2" fmla="*/ 74 w 305"/>
                  <a:gd name="T3" fmla="*/ 221 h 221"/>
                  <a:gd name="T4" fmla="*/ 53 w 305"/>
                  <a:gd name="T5" fmla="*/ 206 h 221"/>
                  <a:gd name="T6" fmla="*/ 2 w 305"/>
                  <a:gd name="T7" fmla="*/ 25 h 221"/>
                  <a:gd name="T8" fmla="*/ 25 w 305"/>
                  <a:gd name="T9" fmla="*/ 0 h 221"/>
                  <a:gd name="T10" fmla="*/ 232 w 305"/>
                  <a:gd name="T11" fmla="*/ 0 h 221"/>
                  <a:gd name="T12" fmla="*/ 255 w 305"/>
                  <a:gd name="T13" fmla="*/ 19 h 221"/>
                  <a:gd name="T14" fmla="*/ 300 w 305"/>
                  <a:gd name="T15" fmla="*/ 190 h 221"/>
                  <a:gd name="T16" fmla="*/ 279 w 305"/>
                  <a:gd name="T17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5" h="221">
                    <a:moveTo>
                      <a:pt x="279" y="221"/>
                    </a:moveTo>
                    <a:cubicBezTo>
                      <a:pt x="74" y="221"/>
                      <a:pt x="74" y="221"/>
                      <a:pt x="74" y="221"/>
                    </a:cubicBezTo>
                    <a:cubicBezTo>
                      <a:pt x="65" y="221"/>
                      <a:pt x="56" y="215"/>
                      <a:pt x="53" y="206"/>
                    </a:cubicBezTo>
                    <a:cubicBezTo>
                      <a:pt x="28" y="144"/>
                      <a:pt x="9" y="83"/>
                      <a:pt x="2" y="25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232" y="0"/>
                      <a:pt x="232" y="0"/>
                      <a:pt x="232" y="0"/>
                    </a:cubicBezTo>
                    <a:cubicBezTo>
                      <a:pt x="243" y="0"/>
                      <a:pt x="253" y="8"/>
                      <a:pt x="255" y="19"/>
                    </a:cubicBezTo>
                    <a:cubicBezTo>
                      <a:pt x="263" y="73"/>
                      <a:pt x="279" y="130"/>
                      <a:pt x="300" y="190"/>
                    </a:cubicBezTo>
                    <a:cubicBezTo>
                      <a:pt x="305" y="205"/>
                      <a:pt x="294" y="221"/>
                      <a:pt x="279" y="221"/>
                    </a:cubicBez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E4D7F49-703E-4622-88AB-C0F75831EABA}"/>
                  </a:ext>
                </a:extLst>
              </p:cNvPr>
              <p:cNvSpPr/>
              <p:nvPr/>
            </p:nvSpPr>
            <p:spPr bwMode="auto">
              <a:xfrm>
                <a:off x="4310280" y="4523702"/>
                <a:ext cx="772108" cy="609930"/>
              </a:xfrm>
              <a:custGeom>
                <a:avLst/>
                <a:gdLst>
                  <a:gd name="T0" fmla="*/ 133 w 133"/>
                  <a:gd name="T1" fmla="*/ 105 h 105"/>
                  <a:gd name="T2" fmla="*/ 51 w 133"/>
                  <a:gd name="T3" fmla="*/ 105 h 105"/>
                  <a:gd name="T4" fmla="*/ 25 w 133"/>
                  <a:gd name="T5" fmla="*/ 86 h 105"/>
                  <a:gd name="T6" fmla="*/ 0 w 133"/>
                  <a:gd name="T7" fmla="*/ 1 h 105"/>
                  <a:gd name="T8" fmla="*/ 40 w 133"/>
                  <a:gd name="T9" fmla="*/ 0 h 105"/>
                  <a:gd name="T10" fmla="*/ 53 w 133"/>
                  <a:gd name="T11" fmla="*/ 1 h 105"/>
                  <a:gd name="T12" fmla="*/ 73 w 133"/>
                  <a:gd name="T13" fmla="*/ 67 h 105"/>
                  <a:gd name="T14" fmla="*/ 90 w 133"/>
                  <a:gd name="T15" fmla="*/ 81 h 105"/>
                  <a:gd name="T16" fmla="*/ 121 w 133"/>
                  <a:gd name="T17" fmla="*/ 86 h 105"/>
                  <a:gd name="T18" fmla="*/ 131 w 133"/>
                  <a:gd name="T19" fmla="*/ 96 h 105"/>
                  <a:gd name="T20" fmla="*/ 133 w 133"/>
                  <a:gd name="T21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105">
                    <a:moveTo>
                      <a:pt x="133" y="105"/>
                    </a:moveTo>
                    <a:cubicBezTo>
                      <a:pt x="51" y="105"/>
                      <a:pt x="51" y="105"/>
                      <a:pt x="51" y="105"/>
                    </a:cubicBezTo>
                    <a:cubicBezTo>
                      <a:pt x="39" y="105"/>
                      <a:pt x="29" y="97"/>
                      <a:pt x="25" y="8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4" y="1"/>
                      <a:pt x="27" y="0"/>
                      <a:pt x="40" y="0"/>
                    </a:cubicBezTo>
                    <a:cubicBezTo>
                      <a:pt x="45" y="0"/>
                      <a:pt x="49" y="0"/>
                      <a:pt x="53" y="1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6" y="75"/>
                      <a:pt x="82" y="80"/>
                      <a:pt x="90" y="81"/>
                    </a:cubicBezTo>
                    <a:cubicBezTo>
                      <a:pt x="121" y="86"/>
                      <a:pt x="121" y="86"/>
                      <a:pt x="121" y="86"/>
                    </a:cubicBezTo>
                    <a:cubicBezTo>
                      <a:pt x="126" y="87"/>
                      <a:pt x="130" y="91"/>
                      <a:pt x="131" y="96"/>
                    </a:cubicBezTo>
                    <a:lnTo>
                      <a:pt x="133" y="105"/>
                    </a:ln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98DDE88A-FDE9-42B0-8915-8A9A3826CC26}"/>
                  </a:ext>
                </a:extLst>
              </p:cNvPr>
              <p:cNvSpPr/>
              <p:nvPr/>
            </p:nvSpPr>
            <p:spPr bwMode="auto">
              <a:xfrm>
                <a:off x="4542970" y="4523702"/>
                <a:ext cx="289100" cy="470669"/>
              </a:xfrm>
              <a:custGeom>
                <a:avLst/>
                <a:gdLst>
                  <a:gd name="T0" fmla="*/ 50 w 50"/>
                  <a:gd name="T1" fmla="*/ 81 h 81"/>
                  <a:gd name="T2" fmla="*/ 43 w 50"/>
                  <a:gd name="T3" fmla="*/ 81 h 81"/>
                  <a:gd name="T4" fmla="*/ 21 w 50"/>
                  <a:gd name="T5" fmla="*/ 65 h 81"/>
                  <a:gd name="T6" fmla="*/ 0 w 50"/>
                  <a:gd name="T7" fmla="*/ 0 h 81"/>
                  <a:gd name="T8" fmla="*/ 13 w 50"/>
                  <a:gd name="T9" fmla="*/ 1 h 81"/>
                  <a:gd name="T10" fmla="*/ 33 w 50"/>
                  <a:gd name="T11" fmla="*/ 67 h 81"/>
                  <a:gd name="T12" fmla="*/ 50 w 50"/>
                  <a:gd name="T1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81">
                    <a:moveTo>
                      <a:pt x="50" y="81"/>
                    </a:moveTo>
                    <a:cubicBezTo>
                      <a:pt x="43" y="81"/>
                      <a:pt x="43" y="81"/>
                      <a:pt x="43" y="81"/>
                    </a:cubicBezTo>
                    <a:cubicBezTo>
                      <a:pt x="33" y="80"/>
                      <a:pt x="25" y="74"/>
                      <a:pt x="21" y="6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9" y="0"/>
                      <a:pt x="13" y="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75"/>
                      <a:pt x="42" y="80"/>
                      <a:pt x="50" y="81"/>
                    </a:cubicBez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AF7A108-A1BC-46D2-B9F7-B9E092C3CC30}"/>
                  </a:ext>
                </a:extLst>
              </p:cNvPr>
              <p:cNvSpPr/>
              <p:nvPr/>
            </p:nvSpPr>
            <p:spPr bwMode="auto">
              <a:xfrm>
                <a:off x="4299703" y="3954316"/>
                <a:ext cx="195672" cy="290863"/>
              </a:xfrm>
              <a:custGeom>
                <a:avLst/>
                <a:gdLst>
                  <a:gd name="T0" fmla="*/ 31 w 34"/>
                  <a:gd name="T1" fmla="*/ 22 h 50"/>
                  <a:gd name="T2" fmla="*/ 22 w 34"/>
                  <a:gd name="T3" fmla="*/ 48 h 50"/>
                  <a:gd name="T4" fmla="*/ 3 w 34"/>
                  <a:gd name="T5" fmla="*/ 28 h 50"/>
                  <a:gd name="T6" fmla="*/ 11 w 34"/>
                  <a:gd name="T7" fmla="*/ 2 h 50"/>
                  <a:gd name="T8" fmla="*/ 31 w 34"/>
                  <a:gd name="T9" fmla="*/ 2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50">
                    <a:moveTo>
                      <a:pt x="31" y="22"/>
                    </a:moveTo>
                    <a:cubicBezTo>
                      <a:pt x="34" y="34"/>
                      <a:pt x="30" y="46"/>
                      <a:pt x="22" y="48"/>
                    </a:cubicBezTo>
                    <a:cubicBezTo>
                      <a:pt x="15" y="50"/>
                      <a:pt x="6" y="41"/>
                      <a:pt x="3" y="28"/>
                    </a:cubicBezTo>
                    <a:cubicBezTo>
                      <a:pt x="0" y="16"/>
                      <a:pt x="4" y="4"/>
                      <a:pt x="11" y="2"/>
                    </a:cubicBezTo>
                    <a:cubicBezTo>
                      <a:pt x="19" y="0"/>
                      <a:pt x="28" y="9"/>
                      <a:pt x="31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1D3E2B6-EDE8-4714-8023-A3B092C9278B}"/>
                </a:ext>
              </a:extLst>
            </p:cNvPr>
            <p:cNvGrpSpPr/>
            <p:nvPr/>
          </p:nvGrpSpPr>
          <p:grpSpPr>
            <a:xfrm>
              <a:off x="5159639" y="3857079"/>
              <a:ext cx="2824144" cy="1343648"/>
              <a:chOff x="5159639" y="3915135"/>
              <a:chExt cx="2824144" cy="1343648"/>
            </a:xfrm>
          </p:grpSpPr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E7A4E16D-FD02-440B-9FAF-176A6B85985F}"/>
                  </a:ext>
                </a:extLst>
              </p:cNvPr>
              <p:cNvSpPr/>
              <p:nvPr/>
            </p:nvSpPr>
            <p:spPr>
              <a:xfrm>
                <a:off x="5159639" y="3915135"/>
                <a:ext cx="2824144" cy="1343648"/>
              </a:xfrm>
              <a:prstGeom prst="roundRect">
                <a:avLst>
                  <a:gd name="adj" fmla="val 13637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DF5A92E5-D27D-4A52-8AEE-E8DB32FFE9C7}"/>
                  </a:ext>
                </a:extLst>
              </p:cNvPr>
              <p:cNvGrpSpPr/>
              <p:nvPr/>
            </p:nvGrpSpPr>
            <p:grpSpPr>
              <a:xfrm>
                <a:off x="5444877" y="4161548"/>
                <a:ext cx="2253668" cy="1063380"/>
                <a:chOff x="5366126" y="4174067"/>
                <a:chExt cx="2253668" cy="1063380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DEB60E43-555F-43A1-B8A5-F65ECBF49E4F}"/>
                    </a:ext>
                  </a:extLst>
                </p:cNvPr>
                <p:cNvGrpSpPr/>
                <p:nvPr/>
              </p:nvGrpSpPr>
              <p:grpSpPr>
                <a:xfrm>
                  <a:off x="5630123" y="4174067"/>
                  <a:ext cx="1989671" cy="1063380"/>
                  <a:chOff x="5553923" y="4174067"/>
                  <a:chExt cx="1989671" cy="1063380"/>
                </a:xfrm>
              </p:grpSpPr>
              <p:sp>
                <p:nvSpPr>
                  <p:cNvPr id="167" name="Rectangle 166">
                    <a:extLst>
                      <a:ext uri="{FF2B5EF4-FFF2-40B4-BE49-F238E27FC236}">
                        <a16:creationId xmlns:a16="http://schemas.microsoft.com/office/drawing/2014/main" id="{A0BF471D-7ADD-46E4-9231-80D992A52DD1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923" y="4499424"/>
                    <a:ext cx="1989670" cy="738023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rPr>
                      <a:t>全城分类信息，信息密度高但地图弱、真伪难辨。</a:t>
                    </a: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D4C1477F-ECA3-4B2B-8D3B-39DF9A2CF29F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924" y="4174067"/>
                    <a:ext cx="198967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  <a:buSzPct val="25000"/>
                    </a:pPr>
                    <a:r>
                      <a:rPr lang="zh-CN" altLang="en-US" sz="1600" b="1" dirty="0"/>
                      <a:t>58 同城</a:t>
                    </a:r>
                  </a:p>
                </p:txBody>
              </p:sp>
            </p:grp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950F8F71-C58B-4C97-B65F-742F75AAB975}"/>
                    </a:ext>
                  </a:extLst>
                </p:cNvPr>
                <p:cNvSpPr/>
                <p:nvPr/>
              </p:nvSpPr>
              <p:spPr>
                <a:xfrm>
                  <a:off x="5366126" y="4257386"/>
                  <a:ext cx="229552" cy="229550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48D7A157-4B53-4582-9AC6-03311527CE84}"/>
                </a:ext>
              </a:extLst>
            </p:cNvPr>
            <p:cNvGrpSpPr/>
            <p:nvPr/>
          </p:nvGrpSpPr>
          <p:grpSpPr>
            <a:xfrm>
              <a:off x="8122120" y="3857079"/>
              <a:ext cx="2824144" cy="1343648"/>
              <a:chOff x="8122120" y="3915135"/>
              <a:chExt cx="2824144" cy="1343648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B9FCEBA0-9C23-4709-9F82-02FF3E0E9823}"/>
                  </a:ext>
                </a:extLst>
              </p:cNvPr>
              <p:cNvSpPr/>
              <p:nvPr/>
            </p:nvSpPr>
            <p:spPr>
              <a:xfrm>
                <a:off x="8122120" y="3915135"/>
                <a:ext cx="2824144" cy="1343648"/>
              </a:xfrm>
              <a:prstGeom prst="roundRect">
                <a:avLst>
                  <a:gd name="adj" fmla="val 13637"/>
                </a:avLst>
              </a:prstGeom>
              <a:solidFill>
                <a:schemeClr val="accent6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D948946F-8453-47A8-B672-15C05CF0B2F3}"/>
                  </a:ext>
                </a:extLst>
              </p:cNvPr>
              <p:cNvGrpSpPr/>
              <p:nvPr/>
            </p:nvGrpSpPr>
            <p:grpSpPr>
              <a:xfrm>
                <a:off x="8407358" y="4161548"/>
                <a:ext cx="2253668" cy="1063380"/>
                <a:chOff x="8328607" y="4174067"/>
                <a:chExt cx="2253668" cy="1063380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E012E561-2107-41D4-BEE1-0B857F6FAFBE}"/>
                    </a:ext>
                  </a:extLst>
                </p:cNvPr>
                <p:cNvGrpSpPr/>
                <p:nvPr/>
              </p:nvGrpSpPr>
              <p:grpSpPr>
                <a:xfrm>
                  <a:off x="8592604" y="4174067"/>
                  <a:ext cx="1989671" cy="1063380"/>
                  <a:chOff x="8516404" y="4174067"/>
                  <a:chExt cx="1989671" cy="1063380"/>
                </a:xfrm>
              </p:grpSpPr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8B5BD15E-F3EA-45AC-8413-5CFA5ADB6F66}"/>
                      </a:ext>
                    </a:extLst>
                  </p:cNvPr>
                  <p:cNvSpPr/>
                  <p:nvPr/>
                </p:nvSpPr>
                <p:spPr>
                  <a:xfrm flipH="1">
                    <a:off x="8516404" y="4499424"/>
                    <a:ext cx="1989670" cy="738023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rPr>
                      <a:t>二手交易导向，本地属性弱，不支持需求发布。</a:t>
                    </a:r>
                  </a:p>
                </p:txBody>
              </p:sp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CF1F9794-5FAF-4FA0-A1C4-690945805C36}"/>
                      </a:ext>
                    </a:extLst>
                  </p:cNvPr>
                  <p:cNvSpPr txBox="1"/>
                  <p:nvPr/>
                </p:nvSpPr>
                <p:spPr>
                  <a:xfrm>
                    <a:off x="8516405" y="4174067"/>
                    <a:ext cx="198967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  <a:buSzPct val="25000"/>
                    </a:pPr>
                    <a:r>
                      <a:rPr lang="zh-CN" altLang="en-US" sz="1600" b="1" dirty="0"/>
                      <a:t>闲鱼</a:t>
                    </a:r>
                  </a:p>
                </p:txBody>
              </p:sp>
            </p:grpSp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8ADC2A4D-A1C6-4FE7-8CE7-1A21B5CABF28}"/>
                    </a:ext>
                  </a:extLst>
                </p:cNvPr>
                <p:cNvSpPr/>
                <p:nvPr/>
              </p:nvSpPr>
              <p:spPr>
                <a:xfrm>
                  <a:off x="8328607" y="4257386"/>
                  <a:ext cx="229552" cy="229550"/>
                </a:xfrm>
                <a:prstGeom prst="roundRect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7224E10-B832-4623-AD1C-A573E97220F8}"/>
                </a:ext>
              </a:extLst>
            </p:cNvPr>
            <p:cNvGrpSpPr/>
            <p:nvPr/>
          </p:nvGrpSpPr>
          <p:grpSpPr>
            <a:xfrm>
              <a:off x="5159639" y="1669508"/>
              <a:ext cx="5267165" cy="962307"/>
              <a:chOff x="4424751" y="1891732"/>
              <a:chExt cx="4323855" cy="962307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4BB554E-E6B7-47F6-8823-95528A5FF086}"/>
                  </a:ext>
                </a:extLst>
              </p:cNvPr>
              <p:cNvSpPr txBox="1"/>
              <p:nvPr/>
            </p:nvSpPr>
            <p:spPr>
              <a:xfrm>
                <a:off x="4424751" y="1891732"/>
                <a:ext cx="264738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竞品格局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503A9BDD-C183-4F87-9F16-8D8884CB66D8}"/>
                  </a:ext>
                </a:extLst>
              </p:cNvPr>
              <p:cNvSpPr/>
              <p:nvPr/>
            </p:nvSpPr>
            <p:spPr>
              <a:xfrm flipH="1">
                <a:off x="4424751" y="2559215"/>
                <a:ext cx="4323855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邻里社区偏社交、撮合弱；58 到家为纯 B 端供给，不支持双向发布。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98" name="Title 19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竞品分析矩阵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588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72156" y="1295203"/>
            <a:ext cx="10606067" cy="4641450"/>
            <a:chOff x="772156" y="1295203"/>
            <a:chExt cx="10606067" cy="46414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42BD9D2-D073-403D-8F3E-D54E46F53F94}"/>
                </a:ext>
              </a:extLst>
            </p:cNvPr>
            <p:cNvSpPr/>
            <p:nvPr/>
          </p:nvSpPr>
          <p:spPr>
            <a:xfrm>
              <a:off x="6306038" y="3908530"/>
              <a:ext cx="5072185" cy="2028123"/>
            </a:xfrm>
            <a:prstGeom prst="roundRect">
              <a:avLst>
                <a:gd name="adj" fmla="val 4500"/>
              </a:avLst>
            </a:prstGeom>
            <a:blipFill rotWithShape="0">
              <a:blip r:embed="rId3"/>
              <a:srcRect/>
              <a:stretch>
                <a:fillRect t="-33600" b="-336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595A91-C9AB-4D15-85AA-60FB9541231B}"/>
                </a:ext>
              </a:extLst>
            </p:cNvPr>
            <p:cNvSpPr/>
            <p:nvPr/>
          </p:nvSpPr>
          <p:spPr>
            <a:xfrm>
              <a:off x="772746" y="3908530"/>
              <a:ext cx="5072185" cy="2028123"/>
            </a:xfrm>
            <a:prstGeom prst="roundRect">
              <a:avLst>
                <a:gd name="adj" fmla="val 4500"/>
              </a:avLst>
            </a:prstGeom>
            <a:blipFill rotWithShape="0">
              <a:blip r:embed="rId4"/>
              <a:srcRect/>
              <a:stretch>
                <a:fillRect t="-9760" b="-9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CB51F8-DF27-4FAA-BE7E-B6D79384C538}"/>
                </a:ext>
              </a:extLst>
            </p:cNvPr>
            <p:cNvSpPr txBox="1"/>
            <p:nvPr/>
          </p:nvSpPr>
          <p:spPr>
            <a:xfrm>
              <a:off x="772746" y="1295203"/>
              <a:ext cx="68866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差异化定位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DC1F32-B702-4661-9095-9BAB554D416E}"/>
                </a:ext>
              </a:extLst>
            </p:cNvPr>
            <p:cNvSpPr txBox="1"/>
            <p:nvPr/>
          </p:nvSpPr>
          <p:spPr>
            <a:xfrm>
              <a:off x="772746" y="1932974"/>
              <a:ext cx="6886609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在全城平台与邻里社区之间，找到 5km 双向供需撮合的专属生态位。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B7ED77-E6F1-4DAB-97A5-9B739C25288C}"/>
                </a:ext>
              </a:extLst>
            </p:cNvPr>
            <p:cNvSpPr txBox="1"/>
            <p:nvPr/>
          </p:nvSpPr>
          <p:spPr>
            <a:xfrm>
              <a:off x="1336298" y="2781588"/>
              <a:ext cx="3419727" cy="400110"/>
            </a:xfrm>
            <a:prstGeom prst="rect">
              <a:avLst/>
            </a:prstGeom>
            <a:noFill/>
          </p:spPr>
          <p:txBody>
            <a:bodyPr wrap="squar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vs 全城平台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757C0B-4ECE-4D20-A42B-6810671DC830}"/>
                </a:ext>
              </a:extLst>
            </p:cNvPr>
            <p:cNvSpPr txBox="1"/>
            <p:nvPr/>
          </p:nvSpPr>
          <p:spPr>
            <a:xfrm>
              <a:off x="1336301" y="3181698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聚焦 5km + 双向 + 实名，避开全城信息淹没。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38DB1A-3123-40F1-BC22-BA1D5772BED8}"/>
                </a:ext>
              </a:extLst>
            </p:cNvPr>
            <p:cNvSpPr txBox="1"/>
            <p:nvPr/>
          </p:nvSpPr>
          <p:spPr>
            <a:xfrm>
              <a:off x="6870178" y="2781588"/>
              <a:ext cx="3419727" cy="400110"/>
            </a:xfrm>
            <a:prstGeom prst="rect">
              <a:avLst/>
            </a:prstGeom>
            <a:noFill/>
          </p:spPr>
          <p:txBody>
            <a:bodyPr wrap="squar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vs 二手与社区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2B249C-FA95-4BCC-941A-B56B1047F376}"/>
                </a:ext>
              </a:extLst>
            </p:cNvPr>
            <p:cNvSpPr txBox="1"/>
            <p:nvPr/>
          </p:nvSpPr>
          <p:spPr>
            <a:xfrm>
              <a:off x="6870181" y="3181698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近场自取与服务为主，需求可发布，专业撮合。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764083A-A286-481C-A55A-FB3BF55AF840}"/>
                </a:ext>
              </a:extLst>
            </p:cNvPr>
            <p:cNvGrpSpPr/>
            <p:nvPr/>
          </p:nvGrpSpPr>
          <p:grpSpPr>
            <a:xfrm>
              <a:off x="772156" y="2781588"/>
              <a:ext cx="444222" cy="444220"/>
              <a:chOff x="3866383" y="2794007"/>
              <a:chExt cx="444222" cy="44422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F1FEA04-0187-4774-8093-C96AAE882AB9}"/>
                  </a:ext>
                </a:extLst>
              </p:cNvPr>
              <p:cNvSpPr/>
              <p:nvPr/>
            </p:nvSpPr>
            <p:spPr>
              <a:xfrm>
                <a:off x="3866383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95B552F-EAE2-4A84-9717-019D20C17214}"/>
                  </a:ext>
                </a:extLst>
              </p:cNvPr>
              <p:cNvSpPr/>
              <p:nvPr/>
            </p:nvSpPr>
            <p:spPr bwMode="auto">
              <a:xfrm>
                <a:off x="3985714" y="2939032"/>
                <a:ext cx="205561" cy="15417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364DAC-B3D2-48C6-AEFA-9F5D5D6C5D8C}"/>
                </a:ext>
              </a:extLst>
            </p:cNvPr>
            <p:cNvGrpSpPr/>
            <p:nvPr/>
          </p:nvGrpSpPr>
          <p:grpSpPr>
            <a:xfrm>
              <a:off x="6306037" y="2796978"/>
              <a:ext cx="444222" cy="444220"/>
              <a:chOff x="7078395" y="2794007"/>
              <a:chExt cx="444222" cy="44422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E6A33D8-EE98-4316-B457-A00FF969316F}"/>
                  </a:ext>
                </a:extLst>
              </p:cNvPr>
              <p:cNvSpPr/>
              <p:nvPr/>
            </p:nvSpPr>
            <p:spPr>
              <a:xfrm>
                <a:off x="7078395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9458B2-BC38-4C56-A2B0-03DE716BDF40}"/>
                  </a:ext>
                </a:extLst>
              </p:cNvPr>
              <p:cNvSpPr/>
              <p:nvPr/>
            </p:nvSpPr>
            <p:spPr bwMode="auto">
              <a:xfrm>
                <a:off x="7206741" y="2913337"/>
                <a:ext cx="187529" cy="20556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差异化小结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210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C22BEE-8E30-C4FE-E94C-D43BFC4DF754}"/>
              </a:ext>
            </a:extLst>
          </p:cNvPr>
          <p:cNvGrpSpPr/>
          <p:nvPr/>
        </p:nvGrpSpPr>
        <p:grpSpPr>
          <a:xfrm>
            <a:off x="660399" y="1191855"/>
            <a:ext cx="10858501" cy="4694108"/>
            <a:chOff x="660399" y="1191855"/>
            <a:chExt cx="10858501" cy="46941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9BA3772-C311-114B-DA3D-39E10655F880}"/>
                </a:ext>
              </a:extLst>
            </p:cNvPr>
            <p:cNvGrpSpPr/>
            <p:nvPr/>
          </p:nvGrpSpPr>
          <p:grpSpPr>
            <a:xfrm>
              <a:off x="660400" y="3126356"/>
              <a:ext cx="10858500" cy="2759607"/>
              <a:chOff x="660400" y="2783456"/>
              <a:chExt cx="10858500" cy="275960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7E0FA75-431B-0CA8-34DF-B5878C219057}"/>
                  </a:ext>
                </a:extLst>
              </p:cNvPr>
              <p:cNvGrpSpPr/>
              <p:nvPr/>
            </p:nvGrpSpPr>
            <p:grpSpPr>
              <a:xfrm>
                <a:off x="660400" y="2783456"/>
                <a:ext cx="3279382" cy="2759607"/>
                <a:chOff x="660400" y="2783456"/>
                <a:chExt cx="3279382" cy="2759607"/>
              </a:xfrm>
            </p:grpSpPr>
            <p:sp>
              <p:nvSpPr>
                <p:cNvPr id="3" name="Freeform: Shape 2">
                  <a:extLst>
                    <a:ext uri="{FF2B5EF4-FFF2-40B4-BE49-F238E27FC236}">
                      <a16:creationId xmlns:a16="http://schemas.microsoft.com/office/drawing/2014/main" id="{2D85C642-10FD-E4C5-CD30-CBE2E5FD91E3}"/>
                    </a:ext>
                  </a:extLst>
                </p:cNvPr>
                <p:cNvSpPr/>
                <p:nvPr/>
              </p:nvSpPr>
              <p:spPr bwMode="auto">
                <a:xfrm>
                  <a:off x="660400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45B80DE0-D01B-12B8-7E60-B92DD02A835A}"/>
                    </a:ext>
                  </a:extLst>
                </p:cNvPr>
                <p:cNvGrpSpPr/>
                <p:nvPr/>
              </p:nvGrpSpPr>
              <p:grpSpPr>
                <a:xfrm>
                  <a:off x="660400" y="2783456"/>
                  <a:ext cx="2560196" cy="2123009"/>
                  <a:chOff x="715963" y="3074859"/>
                  <a:chExt cx="2560196" cy="2123009"/>
                </a:xfrm>
              </p:grpSpPr>
              <p:sp>
                <p:nvSpPr>
                  <p:cNvPr id="5" name="Freeform: Shape 4">
                    <a:extLst>
                      <a:ext uri="{FF2B5EF4-FFF2-40B4-BE49-F238E27FC236}">
                        <a16:creationId xmlns:a16="http://schemas.microsoft.com/office/drawing/2014/main" id="{9A2A9692-5536-D6B9-C2DE-EF351886FF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0D7D280-1086-7B3F-E5DC-B3D48E648303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就近供给密度</a:t>
                    </a:r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29188F35-A1DA-F025-73C3-EF993142A62F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先做深 5km，再做广城市。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29DD992-1A27-DD5C-F391-0D0AC2165931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01</a:t>
                    </a:r>
                  </a:p>
                </p:txBody>
              </p:sp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6A1926E-CCA5-6034-6108-7778F3966EFA}"/>
                  </a:ext>
                </a:extLst>
              </p:cNvPr>
              <p:cNvGrpSpPr/>
              <p:nvPr/>
            </p:nvGrpSpPr>
            <p:grpSpPr>
              <a:xfrm>
                <a:off x="4456309" y="2783456"/>
                <a:ext cx="3279382" cy="2759607"/>
                <a:chOff x="4456309" y="2783456"/>
                <a:chExt cx="3279382" cy="2759607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68780F1D-B5B1-5EBE-065B-AF95C954DE9B}"/>
                    </a:ext>
                  </a:extLst>
                </p:cNvPr>
                <p:cNvSpPr/>
                <p:nvPr/>
              </p:nvSpPr>
              <p:spPr bwMode="auto">
                <a:xfrm>
                  <a:off x="4456309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8CB88BB3-BF62-908B-4AF3-DA8ED75A5011}"/>
                    </a:ext>
                  </a:extLst>
                </p:cNvPr>
                <p:cNvGrpSpPr/>
                <p:nvPr/>
              </p:nvGrpSpPr>
              <p:grpSpPr>
                <a:xfrm>
                  <a:off x="4456309" y="2783456"/>
                  <a:ext cx="2560196" cy="1901410"/>
                  <a:chOff x="715963" y="3074859"/>
                  <a:chExt cx="2560196" cy="1901410"/>
                </a:xfrm>
              </p:grpSpPr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D7C07564-4136-0898-ABC9-E6F3709A7C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43EFEB5-38A5-EBCB-5EC4-9E8848FD134C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双向数据沉淀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845C64B-8BF1-54C3-3B48-0291F58C4D52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29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资源与需求双向数据飞轮。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98253CE-DA6B-6790-7609-66983BA7E35B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02</a:t>
                    </a:r>
                  </a:p>
                </p:txBody>
              </p:sp>
            </p:grp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F7B718E-AB5D-D5F1-97A3-02CDEA0AAA8B}"/>
                  </a:ext>
                </a:extLst>
              </p:cNvPr>
              <p:cNvGrpSpPr/>
              <p:nvPr/>
            </p:nvGrpSpPr>
            <p:grpSpPr>
              <a:xfrm>
                <a:off x="8239518" y="2783456"/>
                <a:ext cx="3279382" cy="2759607"/>
                <a:chOff x="8239518" y="2783456"/>
                <a:chExt cx="3279382" cy="2759607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6186EC3C-2A37-B228-3E05-7B365D0479E1}"/>
                    </a:ext>
                  </a:extLst>
                </p:cNvPr>
                <p:cNvSpPr/>
                <p:nvPr/>
              </p:nvSpPr>
              <p:spPr bwMode="auto">
                <a:xfrm>
                  <a:off x="8239518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EB67EDC-574C-6909-57AB-8C4D61B227D7}"/>
                    </a:ext>
                  </a:extLst>
                </p:cNvPr>
                <p:cNvGrpSpPr/>
                <p:nvPr/>
              </p:nvGrpSpPr>
              <p:grpSpPr>
                <a:xfrm>
                  <a:off x="8239518" y="2783456"/>
                  <a:ext cx="2560196" cy="1901410"/>
                  <a:chOff x="715963" y="3074859"/>
                  <a:chExt cx="2560196" cy="1901410"/>
                </a:xfrm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F5430111-85F9-A7BA-7B03-F96013E662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F2A9048-D5B9-4032-71D0-EF511211CE49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本地信任资产</a:t>
                    </a: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2C1C733B-06D4-28B3-B1AE-E428CF9B076C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29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实名与资质认证数据积累。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E7CE8C9D-C085-9AF4-B462-512B0A635F05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03</a:t>
                    </a:r>
                  </a:p>
                </p:txBody>
              </p:sp>
            </p:grp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0B11FF-3AF6-5C90-E336-591754FEE23A}"/>
                </a:ext>
              </a:extLst>
            </p:cNvPr>
            <p:cNvGrpSpPr/>
            <p:nvPr/>
          </p:nvGrpSpPr>
          <p:grpSpPr>
            <a:xfrm>
              <a:off x="660399" y="1191855"/>
              <a:ext cx="10858501" cy="777815"/>
              <a:chOff x="660399" y="1387153"/>
              <a:chExt cx="10858501" cy="777815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636879E-D277-327C-806B-984021509FB9}"/>
                  </a:ext>
                </a:extLst>
              </p:cNvPr>
              <p:cNvSpPr/>
              <p:nvPr/>
            </p:nvSpPr>
            <p:spPr>
              <a:xfrm>
                <a:off x="660400" y="1387153"/>
                <a:ext cx="10858500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商业护城河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25334B-5A0A-12D8-A9B4-4E932B911172}"/>
                  </a:ext>
                </a:extLst>
              </p:cNvPr>
              <p:cNvSpPr/>
              <p:nvPr/>
            </p:nvSpPr>
            <p:spPr>
              <a:xfrm>
                <a:off x="660399" y="1870144"/>
                <a:ext cx="10858500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本期暂不变现，聚焦产品验证与用户增长，按顺序构建三层壁垒。</a:t>
                </a:r>
              </a:p>
            </p:txBody>
          </p:sp>
        </p:grp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商业模式与护城河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3325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04.北极星与成功指标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三乘积等权硬线 0.216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26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9A7D489-026F-46C8-AD84-49E93D15743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13325"/>
            <a:chOff x="0" y="1130300"/>
            <a:chExt cx="12192000" cy="501332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8221EBB-0697-455D-8776-29B5D07B249B}"/>
                </a:ext>
              </a:extLst>
            </p:cNvPr>
            <p:cNvSpPr/>
            <p:nvPr/>
          </p:nvSpPr>
          <p:spPr>
            <a:xfrm>
              <a:off x="0" y="3654000"/>
              <a:ext cx="12192000" cy="2489625"/>
            </a:xfrm>
            <a:prstGeom prst="roundRect">
              <a:avLst>
                <a:gd name="adj" fmla="val 75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719953-E0E0-4276-AADC-6D959C3D6A02}"/>
                </a:ext>
              </a:extLst>
            </p:cNvPr>
            <p:cNvGrpSpPr/>
            <p:nvPr/>
          </p:nvGrpSpPr>
          <p:grpSpPr>
            <a:xfrm>
              <a:off x="660400" y="4549453"/>
              <a:ext cx="3171329" cy="944997"/>
              <a:chOff x="983204" y="4549453"/>
              <a:chExt cx="2108063" cy="9449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4D60AE-06B1-4144-9288-3F7A1906A54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5min 内被推送方点击占比，同类目 ≥20 条计分母。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0B98B8-63C4-4517-BB78-647A5093E3AF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AI 匹配召回率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1E05CD-7341-4782-A1B8-FBFCEC32812B}"/>
                </a:ext>
              </a:extLst>
            </p:cNvPr>
            <p:cNvGrpSpPr/>
            <p:nvPr/>
          </p:nvGrpSpPr>
          <p:grpSpPr>
            <a:xfrm>
              <a:off x="1496699" y="2662368"/>
              <a:ext cx="1498730" cy="1652180"/>
              <a:chOff x="1286801" y="2585971"/>
              <a:chExt cx="1637331" cy="180497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066F9C17-AEE5-4DBD-B6CF-4F985F1DBF44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3"/>
                <a:srcRect/>
                <a:stretch>
                  <a:fillRect l="-17590" r="-1759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14A44B3-C08C-42BF-B10F-6E12F99CA0C6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828B938-07B1-4B49-BAD8-3B2461BCF8FA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16D814-0383-467F-8B8F-C4C555BF35CE}"/>
                </a:ext>
              </a:extLst>
            </p:cNvPr>
            <p:cNvCxnSpPr>
              <a:cxnSpLocks/>
            </p:cNvCxnSpPr>
            <p:nvPr/>
          </p:nvCxnSpPr>
          <p:spPr>
            <a:xfrm>
              <a:off x="8011443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80D407-80CE-4FA7-9384-38DDFC410F0C}"/>
                </a:ext>
              </a:extLst>
            </p:cNvPr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solidFill>
                    <a:schemeClr val="tx1"/>
                  </a:solidFill>
                </a:rPr>
                <a:t>三乘积北极星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C521BF-BD7C-4110-8907-32071B0BB7B9}"/>
                </a:ext>
              </a:extLst>
            </p:cNvPr>
            <p:cNvSpPr txBox="1"/>
            <p:nvPr/>
          </p:nvSpPr>
          <p:spPr>
            <a:xfrm>
              <a:off x="673101" y="1712226"/>
              <a:ext cx="10845796" cy="594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北极星 = AI 匹配召回率 × 分类图层加载成功率 × 完整发布率，等权相乘 0.6×0.6×0.6 = 0.216，任一轴为 0 则整体为 0；该值为首版拍定基线，第 4 周依实测校准。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04E14E4-6ED1-430A-83A7-6BC7E4271C0A}"/>
                </a:ext>
              </a:extLst>
            </p:cNvPr>
            <p:cNvGrpSpPr/>
            <p:nvPr/>
          </p:nvGrpSpPr>
          <p:grpSpPr>
            <a:xfrm>
              <a:off x="8347571" y="4549453"/>
              <a:ext cx="3171329" cy="944997"/>
              <a:chOff x="983204" y="4549453"/>
              <a:chExt cx="2108063" cy="94499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54F30A2-8F80-402D-B05A-D1D502BF59C9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图层切换 P95 ≤300ms，POC 通过后承诺，基线 ≥0.6。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F57E38-EA41-4CFF-8A27-381A558E1196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图层加载成功率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DE292B-B64A-4FE2-88EE-2FD9F9E3F041}"/>
                </a:ext>
              </a:extLst>
            </p:cNvPr>
            <p:cNvGrpSpPr/>
            <p:nvPr/>
          </p:nvGrpSpPr>
          <p:grpSpPr>
            <a:xfrm>
              <a:off x="9183870" y="2662368"/>
              <a:ext cx="1498730" cy="1652180"/>
              <a:chOff x="1286801" y="2585971"/>
              <a:chExt cx="1637331" cy="180497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47DCA6F-DB4B-4E39-8967-DC962EB84B4F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4"/>
                <a:srcRect/>
                <a:stretch>
                  <a:fillRect l="-73370" r="-7337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6B0EDCD-D554-413E-884D-68F37355F633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3B1193E-488A-4C91-9498-CD3367E54E50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B57C49-966E-4216-ADAC-0C805151A906}"/>
                </a:ext>
              </a:extLst>
            </p:cNvPr>
            <p:cNvGrpSpPr/>
            <p:nvPr/>
          </p:nvGrpSpPr>
          <p:grpSpPr>
            <a:xfrm>
              <a:off x="4503986" y="4549453"/>
              <a:ext cx="3171329" cy="944997"/>
              <a:chOff x="983204" y="4549453"/>
              <a:chExt cx="2108063" cy="9449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E99A1D5-DAA7-4C93-BCBE-E0F8E146E11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信息完整度达绿档的发布占比，基线 ≥0.6。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D3489B-4BE1-4B6F-8603-B60C2F9CD710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完整发布率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49B55C-471C-4933-87C7-5DC84BF88F4F}"/>
                </a:ext>
              </a:extLst>
            </p:cNvPr>
            <p:cNvGrpSpPr/>
            <p:nvPr/>
          </p:nvGrpSpPr>
          <p:grpSpPr>
            <a:xfrm>
              <a:off x="5340284" y="2662368"/>
              <a:ext cx="1498730" cy="1652180"/>
              <a:chOff x="1286801" y="2585971"/>
              <a:chExt cx="1637331" cy="1804973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4109800-EB99-4E1F-8068-016FB5323F7B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5"/>
                <a:srcRect/>
                <a:stretch>
                  <a:fillRect l="-17460" r="-1746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4080C3C-4727-4CCF-BF42-1A4DBFA49DAC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A9BD9FA-2DE7-4548-B255-2A054F25C2E2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5D7D14-C5A4-4D9C-98F9-CF7F9704003E}"/>
                </a:ext>
              </a:extLst>
            </p:cNvPr>
            <p:cNvCxnSpPr>
              <a:cxnSpLocks/>
            </p:cNvCxnSpPr>
            <p:nvPr/>
          </p:nvCxnSpPr>
          <p:spPr>
            <a:xfrm>
              <a:off x="4167859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三乘积北极星指标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53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276554"/>
            <a:chOff x="660400" y="1222633"/>
            <a:chExt cx="10858500" cy="4276554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E77DC51-C006-4B0A-BDE6-9F066A4D0CCC}"/>
                </a:ext>
              </a:extLst>
            </p:cNvPr>
            <p:cNvSpPr/>
            <p:nvPr/>
          </p:nvSpPr>
          <p:spPr>
            <a:xfrm>
              <a:off x="660400" y="4139960"/>
              <a:ext cx="2344400" cy="1359227"/>
            </a:xfrm>
            <a:prstGeom prst="roundRect">
              <a:avLst>
                <a:gd name="adj" fmla="val 7172"/>
              </a:avLst>
            </a:prstGeom>
            <a:blipFill rotWithShape="0">
              <a:blip r:embed="rId3"/>
              <a:srcRect/>
              <a:stretch>
                <a:fillRect t="-7710" b="-77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7EC5CD3-3F5C-4190-B968-7BDC99C010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660400" y="1222633"/>
              <a:ext cx="5540926" cy="1013716"/>
              <a:chOff x="2492016" y="4214586"/>
              <a:chExt cx="2974766" cy="1013716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16E6B59-185C-4DAA-AF12-ABC10E343EA0}"/>
                  </a:ext>
                </a:extLst>
              </p:cNvPr>
              <p:cNvSpPr/>
              <p:nvPr/>
            </p:nvSpPr>
            <p:spPr>
              <a:xfrm>
                <a:off x="2492017" y="4807701"/>
                <a:ext cx="2974765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三项关键决策为北极星落地提供保障，避免指标空转与排期阻塞。</a:t>
                </a: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35534C8-3FA3-4933-A938-49F1235056CA}"/>
                  </a:ext>
                </a:extLst>
              </p:cNvPr>
              <p:cNvSpPr/>
              <p:nvPr/>
            </p:nvSpPr>
            <p:spPr>
              <a:xfrm>
                <a:off x="2492016" y="4214586"/>
                <a:ext cx="297476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关键决策与兜底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F8F480-BF0A-4905-8872-2749E8C5D9DC}"/>
                </a:ext>
              </a:extLst>
            </p:cNvPr>
            <p:cNvGrpSpPr/>
            <p:nvPr/>
          </p:nvGrpSpPr>
          <p:grpSpPr>
            <a:xfrm>
              <a:off x="3498433" y="2932604"/>
              <a:ext cx="8020467" cy="2411348"/>
              <a:chOff x="3498433" y="2932604"/>
              <a:chExt cx="8020467" cy="2411348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90CCED40-D660-4B11-86A8-6AB5CA96C0BA}"/>
                  </a:ext>
                </a:extLst>
              </p:cNvPr>
              <p:cNvGrpSpPr/>
              <p:nvPr/>
            </p:nvGrpSpPr>
            <p:grpSpPr>
              <a:xfrm>
                <a:off x="9174499" y="2932604"/>
                <a:ext cx="2344401" cy="2411348"/>
                <a:chOff x="4381398" y="2932604"/>
                <a:chExt cx="3068301" cy="241134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8FC710FC-CA31-4919-8852-4D13C2D9A99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2A47F4AB-9522-4A2C-828D-19AFA8BC131E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2D1D808E-48A2-4012-9DAC-3FAD63941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聚合阈值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12113F2F-F9D0-415F-A77B-F7148A35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工作 3 条、房屋 5 条、生活 8 条，车辆服务参照生活类。</a:t>
                      </a:r>
                    </a:p>
                  </p:txBody>
                </p:sp>
              </p:grp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81A9EDED-9B0F-4828-B65D-B2E77D231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C54383C-E544-46D1-838C-C53AEAFA2BC7}"/>
                    </a:ext>
                  </a:extLst>
                </p:cNvPr>
                <p:cNvSpPr txBox="1"/>
                <p:nvPr/>
              </p:nvSpPr>
              <p:spPr>
                <a:xfrm>
                  <a:off x="4381398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03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DE2A22E-2740-41E4-A7A0-9443A6A304C0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F083F46B-5F21-491D-AC81-7D4ADDEB4F3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79082DD3-4B9C-4B81-B3C1-095C91F98EC2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16" name="Rectangle 115">
                      <a:extLst>
                        <a:ext uri="{FF2B5EF4-FFF2-40B4-BE49-F238E27FC236}">
                          <a16:creationId xmlns:a16="http://schemas.microsoft.com/office/drawing/2014/main" id="{CE875014-6D52-447D-A118-09562293E0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等权硬线</a:t>
                      </a:r>
                    </a:p>
                  </p:txBody>
                </p:sp>
                <p:sp>
                  <p:nvSpPr>
                    <p:cNvPr id="117" name="Rectangle 116">
                      <a:extLst>
                        <a:ext uri="{FF2B5EF4-FFF2-40B4-BE49-F238E27FC236}">
                          <a16:creationId xmlns:a16="http://schemas.microsoft.com/office/drawing/2014/main" id="{0DCDFEB6-271D-4D18-99B1-157799D87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首批设为冷启动观察期不考核，第二批起正式纳入 KPI。</a:t>
                      </a:r>
                    </a:p>
                  </p:txBody>
                </p:sp>
              </p:grp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7E7F2112-1F31-4050-ADAC-1789C2CA9F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3AEC1BE-31CB-4948-B129-41FC6D5B1B8C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01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6F426DF-A3EC-429E-80B9-0D0A7C320651}"/>
                  </a:ext>
                </a:extLst>
              </p:cNvPr>
              <p:cNvGrpSpPr/>
              <p:nvPr/>
            </p:nvGrpSpPr>
            <p:grpSpPr>
              <a:xfrm>
                <a:off x="6336466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5B1B385-436D-4800-816D-6976275A7AEB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47462C5C-0266-49FA-9123-70404C7B0B3D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04F178EE-E21F-41B9-84B4-18F96792A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性能兜底</a:t>
                      </a:r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2B635E04-121A-457F-A3C5-26D697F9D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首批前置 1 天聚合性能 POC，通过后承诺 SLA，配降级开关。</a:t>
                      </a:r>
                    </a:p>
                  </p:txBody>
                </p:sp>
              </p:grp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D4AC9934-C29A-484C-BC6C-AA476B57E9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83AB63C-4858-44EC-AD4B-374290A691AD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squar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02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关键决策与兜底机制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2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lock Arc 6">
            <a:extLst>
              <a:ext uri="{FF2B5EF4-FFF2-40B4-BE49-F238E27FC236}">
                <a16:creationId xmlns:a16="http://schemas.microsoft.com/office/drawing/2014/main" id="{E0BE5065-7C2C-DFDE-BB6C-32CBF372219B}"/>
              </a:ext>
            </a:extLst>
          </p:cNvPr>
          <p:cNvSpPr/>
          <p:nvPr/>
        </p:nvSpPr>
        <p:spPr>
          <a:xfrm flipH="1">
            <a:off x="943428" y="1182866"/>
            <a:ext cx="3158671" cy="3158671"/>
          </a:xfrm>
          <a:prstGeom prst="blockArc">
            <a:avLst>
              <a:gd name="adj1" fmla="val 15993410"/>
              <a:gd name="adj2" fmla="val 13253"/>
              <a:gd name="adj3" fmla="val 178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FA34A-F3E9-CB2D-7996-8E6053EA02EF}"/>
              </a:ext>
            </a:extLst>
          </p:cNvPr>
          <p:cNvGrpSpPr/>
          <p:nvPr/>
        </p:nvGrpSpPr>
        <p:grpSpPr>
          <a:xfrm>
            <a:off x="2714171" y="1286345"/>
            <a:ext cx="6763657" cy="726026"/>
            <a:chOff x="-106025" y="2679843"/>
            <a:chExt cx="11190196" cy="7260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10A56-ED65-7A08-32F2-88FF69D7CF9A}"/>
                </a:ext>
              </a:extLst>
            </p:cNvPr>
            <p:cNvSpPr/>
            <p:nvPr/>
          </p:nvSpPr>
          <p:spPr>
            <a:xfrm flipH="1">
              <a:off x="-106025" y="3111045"/>
              <a:ext cx="9504686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BRD/MRD/PRD 三件套齐备且逻辑自洽，信息撮合闭环完整定义、无交易断点。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559D6D-5279-F4CB-BC29-F8686F75E748}"/>
                </a:ext>
              </a:extLst>
            </p:cNvPr>
            <p:cNvSpPr txBox="1"/>
            <p:nvPr/>
          </p:nvSpPr>
          <p:spPr>
            <a:xfrm>
              <a:off x="-106025" y="2679843"/>
              <a:ext cx="111901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本期成功标准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9EA29C8-3EC0-6373-9B05-7013458C3143}"/>
              </a:ext>
            </a:extLst>
          </p:cNvPr>
          <p:cNvSpPr/>
          <p:nvPr/>
        </p:nvSpPr>
        <p:spPr>
          <a:xfrm>
            <a:off x="8940597" y="0"/>
            <a:ext cx="2578303" cy="6858000"/>
          </a:xfrm>
          <a:prstGeom prst="rect">
            <a:avLst/>
          </a:prstGeom>
          <a:solidFill>
            <a:schemeClr val="tx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lIns="91440" tIns="93600" rIns="91440" bIns="45720" rtlCol="0" anchor="ctr"/>
          <a:lstStyle/>
          <a:p>
            <a:pPr algn="ctr"/>
            <a:endParaRPr kumimoji="1" lang="zh-CN" altLang="en-US" sz="105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93E99A-4711-BB81-ADFB-0B8E34DC9626}"/>
              </a:ext>
            </a:extLst>
          </p:cNvPr>
          <p:cNvGrpSpPr/>
          <p:nvPr/>
        </p:nvGrpSpPr>
        <p:grpSpPr>
          <a:xfrm>
            <a:off x="2826471" y="2969785"/>
            <a:ext cx="4951000" cy="632101"/>
            <a:chOff x="3182071" y="3123711"/>
            <a:chExt cx="4951000" cy="63210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8196DF-5293-D41E-BB46-42EA6972A3EA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2B8E587-B8EE-36FB-7FD9-F3D4930DA526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632101"/>
              <a:chOff x="3505667" y="3123711"/>
              <a:chExt cx="4627404" cy="632101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F283FBF-D5E6-F6F0-D73E-D27CEF80F489}"/>
                  </a:ext>
                </a:extLst>
              </p:cNvPr>
              <p:cNvSpPr/>
              <p:nvPr/>
            </p:nvSpPr>
            <p:spPr>
              <a:xfrm>
                <a:off x="3505667" y="3335211"/>
                <a:ext cx="4627404" cy="420601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5km 差异化在地图、列表、发布三处均落地。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03C403F-FA85-A2AE-D9BF-EF3C44D7825C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近场体验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99F7EC-FF73-EF5B-D72A-3EEAC650E31B}"/>
              </a:ext>
            </a:extLst>
          </p:cNvPr>
          <p:cNvGrpSpPr/>
          <p:nvPr/>
        </p:nvGrpSpPr>
        <p:grpSpPr>
          <a:xfrm>
            <a:off x="2826471" y="4672805"/>
            <a:ext cx="4951000" cy="632101"/>
            <a:chOff x="3182071" y="3123711"/>
            <a:chExt cx="4951000" cy="6321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8BBD62-CE4F-BCEC-FE15-F5D5C8A28D2C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6FA041-9A3B-8D78-AF78-2C81D71D84E4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632101"/>
              <a:chOff x="3505667" y="3123711"/>
              <a:chExt cx="4627404" cy="632101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160D6C6-2D11-37F1-E744-293A635848B5}"/>
                  </a:ext>
                </a:extLst>
              </p:cNvPr>
              <p:cNvSpPr/>
              <p:nvPr/>
            </p:nvSpPr>
            <p:spPr>
              <a:xfrm>
                <a:off x="3505667" y="3335211"/>
                <a:ext cx="4627404" cy="420601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双向发布机制在资源与需求两态均可闭环。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0A8FAB-1C7B-B2EE-ADFE-938C41F657A3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双向闭环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883042-6DDB-46FB-4153-CB43D0036B3C}"/>
              </a:ext>
            </a:extLst>
          </p:cNvPr>
          <p:cNvGrpSpPr/>
          <p:nvPr/>
        </p:nvGrpSpPr>
        <p:grpSpPr>
          <a:xfrm>
            <a:off x="2826471" y="5524314"/>
            <a:ext cx="4951000" cy="742901"/>
            <a:chOff x="3182071" y="3123711"/>
            <a:chExt cx="4951000" cy="74290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B1C64B-EFB7-548D-63B7-4879F122A8F4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B0086C-36BF-943A-96F3-12C2A88362D8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742901"/>
              <a:chOff x="3505667" y="3123711"/>
              <a:chExt cx="4627404" cy="742901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73F5660-F6C7-0045-F90B-7FB85D73BA51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视觉设计系统建立规范，实名认证与受限态转正流程定义清晰。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0E6A11C-6530-71A7-1644-821AA1B23ADB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体验与信任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5FCE64-1F63-4768-663B-F78820775AA5}"/>
              </a:ext>
            </a:extLst>
          </p:cNvPr>
          <p:cNvGrpSpPr/>
          <p:nvPr/>
        </p:nvGrpSpPr>
        <p:grpSpPr>
          <a:xfrm>
            <a:off x="2826471" y="3821295"/>
            <a:ext cx="4951000" cy="742901"/>
            <a:chOff x="3182071" y="3123711"/>
            <a:chExt cx="4951000" cy="742901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782EFA-A8F6-2B1E-AC22-A00048AF190E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5AC497-CDEA-6F29-BB17-09D35B0CD189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742901"/>
              <a:chOff x="3505667" y="3123711"/>
              <a:chExt cx="4627404" cy="742901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3D8DE46-0F0C-C151-CBCE-3164BE670337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三乘积北极星 ≥0.216，三轴均 ≥0.6，以第 4 周校准值验收。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54C25BC-5869-2F50-70D2-5E6F3AA60130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北极星达标</a:t>
                </a:r>
              </a:p>
            </p:txBody>
          </p:sp>
        </p:grpSp>
      </p:grp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成功标准与验收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641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05.滚动 MVP 路线图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三批交付与风险应对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73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11E2C30-DCB9-4ACA-BE2C-5F63922E1EE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674AADB-8882-4C58-A8A0-A5A80E5C573D}"/>
                </a:ext>
              </a:extLst>
            </p:cNvPr>
            <p:cNvGrpSpPr/>
            <p:nvPr/>
          </p:nvGrpSpPr>
          <p:grpSpPr>
            <a:xfrm>
              <a:off x="1079028" y="1130300"/>
              <a:ext cx="10021243" cy="1151173"/>
              <a:chOff x="660401" y="4826974"/>
              <a:chExt cx="10858500" cy="1151173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26A6D4-3938-483E-AE04-387A4D4F50AE}"/>
                  </a:ext>
                </a:extLst>
              </p:cNvPr>
              <p:cNvSpPr txBox="1"/>
              <p:nvPr/>
            </p:nvSpPr>
            <p:spPr>
              <a:xfrm>
                <a:off x="660401" y="5244598"/>
                <a:ext cx="10858499" cy="733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buSzPct val="25000"/>
                </a:pPr>
                <a:r>
                  <a:rPr lang="zh-CN" altLang="en-US" sz="1200" dirty="0"/>
                  <a:t>按绝对日期锚点分批交付，9/30 交内测包，11/25 商店上架。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912A863-473E-4A90-BEE6-44BFAF3EC2FB}"/>
                  </a:ext>
                </a:extLst>
              </p:cNvPr>
              <p:cNvSpPr/>
              <p:nvPr/>
            </p:nvSpPr>
            <p:spPr>
              <a:xfrm>
                <a:off x="660402" y="4826974"/>
                <a:ext cx="10858499" cy="41762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/>
                  <a:t>滚动 MVP 路线图</a:t>
                </a:r>
                <a:endParaRPr lang="id-ID" altLang="zh-CN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042791-E0A1-49B5-814A-6C180FA22D46}"/>
                </a:ext>
              </a:extLst>
            </p:cNvPr>
            <p:cNvSpPr/>
            <p:nvPr/>
          </p:nvSpPr>
          <p:spPr>
            <a:xfrm>
              <a:off x="0" y="4390931"/>
              <a:ext cx="12192000" cy="6156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3B1D864-F701-42CB-8EE6-83C61F488A9C}"/>
                </a:ext>
              </a:extLst>
            </p:cNvPr>
            <p:cNvGrpSpPr/>
            <p:nvPr/>
          </p:nvGrpSpPr>
          <p:grpSpPr>
            <a:xfrm>
              <a:off x="660400" y="2504603"/>
              <a:ext cx="3369248" cy="3629497"/>
              <a:chOff x="660400" y="2504603"/>
              <a:chExt cx="3431766" cy="362949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9F1B890-4C23-48E6-8E95-6A35FEBDEFCC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3"/>
                <a:srcRect/>
                <a:stretch>
                  <a:fillRect t="-1020" b="-102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6639E96-A565-47B6-907E-4462AE385314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21D2456-A6A6-43F5-AD86-0A010D24A2F0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第一批｜08/24-09/30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8E07573-A8E5-42F7-B445-E2E8E3B47ABD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五大 P0 闭环、地图分类图层、完整度分级、聚合 POC，交付内测包。</a:t>
                  </a: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A8488D-F70E-428E-A0F3-3284C9A99641}"/>
                </a:ext>
              </a:extLst>
            </p:cNvPr>
            <p:cNvGrpSpPr/>
            <p:nvPr/>
          </p:nvGrpSpPr>
          <p:grpSpPr>
            <a:xfrm>
              <a:off x="4405027" y="2504603"/>
              <a:ext cx="3369248" cy="3629497"/>
              <a:chOff x="660400" y="2504603"/>
              <a:chExt cx="3431766" cy="3629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98C1E5-D1E3-4471-A06E-6879789FBA3E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4"/>
                <a:srcRect/>
                <a:stretch>
                  <a:fillRect t="-2050" b="-205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54B1FEB-B821-4079-BE89-DF5F260CCC02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41869B8-0BFC-4100-A8B1-1D0BB97D459A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合规窗口｜10/01-11/25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308DBAF-8DDE-4AC8-8347-3D296D92DEC0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运营治理后台 7 页、公安备案、安全评估，软著下证后提审上架。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A5B4D6-F706-4D52-B94E-EA795AF18936}"/>
                </a:ext>
              </a:extLst>
            </p:cNvPr>
            <p:cNvGrpSpPr/>
            <p:nvPr/>
          </p:nvGrpSpPr>
          <p:grpSpPr>
            <a:xfrm>
              <a:off x="8149652" y="2504603"/>
              <a:ext cx="3369248" cy="3629497"/>
              <a:chOff x="660400" y="2504603"/>
              <a:chExt cx="3431766" cy="362949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4F3D1A-3CF7-4BF6-B7F8-E069CF4A4574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5"/>
                <a:srcRect/>
                <a:stretch>
                  <a:fillRect t="-1020" b="-102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29F3AEB-1C9C-45EB-9345-ED2B54D923AB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1F5E14-3B78-4E08-A9CF-896D1859F62C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后续批次｜11/26 起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E387ADE-4C1E-48FF-A32E-F62A5EA86C28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匹配三阶段与双向推送、AI 发布、动态蜂窝，2027/04 联动。</a:t>
                  </a:r>
                </a:p>
              </p:txBody>
            </p:sp>
          </p:grp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滚动 MVP 路线图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618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5B1388B-3432-4E35-87DB-4E2A4473F68B}"/>
              </a:ext>
            </a:extLst>
          </p:cNvPr>
          <p:cNvGrpSpPr/>
          <p:nvPr/>
        </p:nvGrpSpPr>
        <p:grpSpPr>
          <a:xfrm>
            <a:off x="6622528" y="4951938"/>
            <a:ext cx="3450550" cy="1033956"/>
            <a:chOff x="6622528" y="4951938"/>
            <a:chExt cx="3450550" cy="10339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2912EC-8780-4B72-A493-0CBCB7A2DAF2}"/>
                </a:ext>
              </a:extLst>
            </p:cNvPr>
            <p:cNvSpPr txBox="1"/>
            <p:nvPr/>
          </p:nvSpPr>
          <p:spPr>
            <a:xfrm>
              <a:off x="7448469" y="5075049"/>
              <a:ext cx="26246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AI 清单未过评审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49B0B-09E9-4567-BCB8-B6CD25C649C5}"/>
                </a:ext>
              </a:extLst>
            </p:cNvPr>
            <p:cNvSpPr/>
            <p:nvPr/>
          </p:nvSpPr>
          <p:spPr>
            <a:xfrm flipH="1">
              <a:off x="7448465" y="5401119"/>
              <a:ext cx="2624609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三色清单附录 + 前置验收 + 决策评审强制流程。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FD38D7-C386-46D7-806B-16E03FF51F55}"/>
                </a:ext>
              </a:extLst>
            </p:cNvPr>
            <p:cNvSpPr txBox="1"/>
            <p:nvPr/>
          </p:nvSpPr>
          <p:spPr>
            <a:xfrm>
              <a:off x="6622528" y="495193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03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BAFF6-7855-4C54-A60D-0D1A17FB54AE}"/>
              </a:ext>
            </a:extLst>
          </p:cNvPr>
          <p:cNvGrpSpPr/>
          <p:nvPr/>
        </p:nvGrpSpPr>
        <p:grpSpPr>
          <a:xfrm>
            <a:off x="6622529" y="2383462"/>
            <a:ext cx="3418893" cy="1033956"/>
            <a:chOff x="6622529" y="2570908"/>
            <a:chExt cx="3418893" cy="103395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4B4DF-61E5-4976-8C41-7DFBDE76D4C5}"/>
                </a:ext>
              </a:extLst>
            </p:cNvPr>
            <p:cNvSpPr txBox="1"/>
            <p:nvPr/>
          </p:nvSpPr>
          <p:spPr>
            <a:xfrm>
              <a:off x="7416812" y="2694019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供给密度不足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01C09C-AC6F-40FE-A3E3-962EE6C7452B}"/>
                </a:ext>
              </a:extLst>
            </p:cNvPr>
            <p:cNvSpPr/>
            <p:nvPr/>
          </p:nvSpPr>
          <p:spPr>
            <a:xfrm flipH="1">
              <a:off x="7416809" y="3020089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冷启动 18 条种子供给踩阈值 + 双向灰度开关。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F9266C-D98D-465F-A468-C4E46FB08001}"/>
                </a:ext>
              </a:extLst>
            </p:cNvPr>
            <p:cNvSpPr txBox="1"/>
            <p:nvPr/>
          </p:nvSpPr>
          <p:spPr>
            <a:xfrm>
              <a:off x="6622529" y="257090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accent1"/>
                  </a:solidFill>
                </a:rPr>
                <a:t>01</a:t>
              </a:r>
              <a:endParaRPr lang="zh-CN" altLang="en-US" sz="3200" b="1" i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88CDB9-E09B-49D4-9230-63AB3A54D736}"/>
              </a:ext>
            </a:extLst>
          </p:cNvPr>
          <p:cNvGrpSpPr/>
          <p:nvPr/>
        </p:nvGrpSpPr>
        <p:grpSpPr>
          <a:xfrm>
            <a:off x="6622529" y="3666010"/>
            <a:ext cx="3418893" cy="1037336"/>
            <a:chOff x="6622529" y="3759733"/>
            <a:chExt cx="3418893" cy="103733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5DEE68-88C1-4976-BD58-806CF10B0CB0}"/>
                </a:ext>
              </a:extLst>
            </p:cNvPr>
            <p:cNvSpPr txBox="1"/>
            <p:nvPr/>
          </p:nvSpPr>
          <p:spPr>
            <a:xfrm>
              <a:off x="7416812" y="3886224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地图性能退化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A63328-0E3C-4DC9-A36E-1E0249A7E43C}"/>
                </a:ext>
              </a:extLst>
            </p:cNvPr>
            <p:cNvSpPr/>
            <p:nvPr/>
          </p:nvSpPr>
          <p:spPr>
            <a:xfrm flipH="1">
              <a:off x="7416809" y="4212294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前置聚合性能 POC + 埋点告警 + 性能降级开关。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FED675-60E3-462D-89E9-0B9BB622DEC5}"/>
                </a:ext>
              </a:extLst>
            </p:cNvPr>
            <p:cNvSpPr txBox="1"/>
            <p:nvPr/>
          </p:nvSpPr>
          <p:spPr>
            <a:xfrm>
              <a:off x="6622529" y="3759733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02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9E85CA5-AEAF-4BFB-9A8A-2BB38F24D0C5}"/>
              </a:ext>
            </a:extLst>
          </p:cNvPr>
          <p:cNvSpPr/>
          <p:nvPr/>
        </p:nvSpPr>
        <p:spPr bwMode="auto">
          <a:xfrm>
            <a:off x="941246" y="2332639"/>
            <a:ext cx="3811603" cy="3743969"/>
          </a:xfrm>
          <a:custGeom>
            <a:avLst/>
            <a:gdLst>
              <a:gd name="T0" fmla="*/ 1254 w 1400"/>
              <a:gd name="T1" fmla="*/ 0 h 1375"/>
              <a:gd name="T2" fmla="*/ 146 w 1400"/>
              <a:gd name="T3" fmla="*/ 120 h 1375"/>
              <a:gd name="T4" fmla="*/ 0 w 1400"/>
              <a:gd name="T5" fmla="*/ 265 h 1375"/>
              <a:gd name="T6" fmla="*/ 0 w 1400"/>
              <a:gd name="T7" fmla="*/ 1122 h 1375"/>
              <a:gd name="T8" fmla="*/ 146 w 1400"/>
              <a:gd name="T9" fmla="*/ 1267 h 1375"/>
              <a:gd name="T10" fmla="*/ 1254 w 1400"/>
              <a:gd name="T11" fmla="*/ 1375 h 1375"/>
              <a:gd name="T12" fmla="*/ 1400 w 1400"/>
              <a:gd name="T13" fmla="*/ 1230 h 1375"/>
              <a:gd name="T14" fmla="*/ 1400 w 1400"/>
              <a:gd name="T15" fmla="*/ 145 h 1375"/>
              <a:gd name="T16" fmla="*/ 1254 w 1400"/>
              <a:gd name="T17" fmla="*/ 0 h 1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00" h="1375">
                <a:moveTo>
                  <a:pt x="1254" y="0"/>
                </a:moveTo>
                <a:cubicBezTo>
                  <a:pt x="146" y="120"/>
                  <a:pt x="146" y="120"/>
                  <a:pt x="146" y="120"/>
                </a:cubicBezTo>
                <a:cubicBezTo>
                  <a:pt x="66" y="120"/>
                  <a:pt x="0" y="185"/>
                  <a:pt x="0" y="265"/>
                </a:cubicBezTo>
                <a:cubicBezTo>
                  <a:pt x="0" y="1122"/>
                  <a:pt x="0" y="1122"/>
                  <a:pt x="0" y="1122"/>
                </a:cubicBezTo>
                <a:cubicBezTo>
                  <a:pt x="0" y="1202"/>
                  <a:pt x="66" y="1267"/>
                  <a:pt x="146" y="1267"/>
                </a:cubicBezTo>
                <a:cubicBezTo>
                  <a:pt x="1254" y="1375"/>
                  <a:pt x="1254" y="1375"/>
                  <a:pt x="1254" y="1375"/>
                </a:cubicBezTo>
                <a:cubicBezTo>
                  <a:pt x="1334" y="1375"/>
                  <a:pt x="1400" y="1310"/>
                  <a:pt x="1400" y="1230"/>
                </a:cubicBezTo>
                <a:cubicBezTo>
                  <a:pt x="1400" y="145"/>
                  <a:pt x="1400" y="145"/>
                  <a:pt x="1400" y="145"/>
                </a:cubicBezTo>
                <a:cubicBezTo>
                  <a:pt x="1400" y="65"/>
                  <a:pt x="1334" y="0"/>
                  <a:pt x="1254" y="0"/>
                </a:cubicBezTo>
              </a:path>
            </a:pathLst>
          </a:custGeom>
          <a:blipFill rotWithShape="0">
            <a:blip r:embed="rId3"/>
            <a:srcRect/>
            <a:stretch>
              <a:fillRect l="-23730" r="-23730"/>
            </a:stretch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b="1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8A0A0-9514-4087-9A17-4004558A3071}"/>
              </a:ext>
            </a:extLst>
          </p:cNvPr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 dirty="0">
                <a:solidFill>
                  <a:schemeClr val="tx1"/>
                </a:solidFill>
              </a:rPr>
              <a:t>关键风险与应对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7699DA-5CB7-4535-8242-729391733204}"/>
              </a:ext>
            </a:extLst>
          </p:cNvPr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供给密度、性能退化、评审阻塞三类高优风险均已配置明确应对方案。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风险与应对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034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36C6B78-BB28-A822-C902-F81452AAFDDF}"/>
              </a:ext>
            </a:extLst>
          </p:cNvPr>
          <p:cNvGrpSpPr/>
          <p:nvPr/>
        </p:nvGrpSpPr>
        <p:grpSpPr>
          <a:xfrm>
            <a:off x="660400" y="1130300"/>
            <a:ext cx="10871199" cy="5003800"/>
            <a:chOff x="660400" y="1130300"/>
            <a:chExt cx="10871199" cy="50038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2B125F-5142-336B-4A83-C38DC5F06017}"/>
                </a:ext>
              </a:extLst>
            </p:cNvPr>
            <p:cNvSpPr txBox="1"/>
            <p:nvPr/>
          </p:nvSpPr>
          <p:spPr>
            <a:xfrm>
              <a:off x="660400" y="1130300"/>
              <a:ext cx="95327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资源与依赖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114BCF-8ACF-92F3-D79E-64124BF6D10D}"/>
                </a:ext>
              </a:extLst>
            </p:cNvPr>
            <p:cNvSpPr txBox="1"/>
            <p:nvPr/>
          </p:nvSpPr>
          <p:spPr>
            <a:xfrm>
              <a:off x="660400" y="1715075"/>
              <a:ext cx="953272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首批为单人加 AI 辅助，理想配置在获得资源后逐步补齐。</a:t>
              </a:r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45021D-81F6-AF0F-8431-8A651F050ED1}"/>
                </a:ext>
              </a:extLst>
            </p:cNvPr>
            <p:cNvGrpSpPr/>
            <p:nvPr/>
          </p:nvGrpSpPr>
          <p:grpSpPr>
            <a:xfrm>
              <a:off x="660401" y="2879969"/>
              <a:ext cx="2824474" cy="3254131"/>
              <a:chOff x="660401" y="2601316"/>
              <a:chExt cx="2824474" cy="325413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9D98E8F-E0B2-24EB-58E0-32E73441EAEC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txBody>
              <a:bodyPr rtlCol="0" anchor="ctr"/>
              <a:lstStyle/>
              <a:p>
                <a:endParaRPr lang="en-US" altLang="zh-CN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894C574-A4F3-9C8E-7B63-1E43ADBEA4F6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C0FF574-7C3B-825B-07DF-12B3448AFD9F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accent1"/>
                      </a:solidFill>
                    </a:rPr>
                    <a:t>01</a:t>
                  </a:r>
                  <a:endParaRPr kumimoji="1" lang="zh-CN" altLang="en-US" sz="54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72CBB02-7BF6-DF1F-A234-03CBCEB6A47A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核心团队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5EE33D0-578D-DB69-76FF-E050BB9BCEAC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产品、设计、Flutter 客户端、后端、算法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AA0F5D7-85CE-BEAE-3709-10F5D549D867}"/>
                </a:ext>
              </a:extLst>
            </p:cNvPr>
            <p:cNvGrpSpPr/>
            <p:nvPr/>
          </p:nvGrpSpPr>
          <p:grpSpPr>
            <a:xfrm>
              <a:off x="4683763" y="2879969"/>
              <a:ext cx="2824474" cy="3254131"/>
              <a:chOff x="660401" y="2601316"/>
              <a:chExt cx="2824474" cy="325413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BDD902C7-C1B4-8C8D-7365-065E54136C22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tx2"/>
                </a:solidFill>
                <a:prstDash val="solid"/>
                <a:miter/>
              </a:ln>
              <a:effectLst>
                <a:outerShdw dist="50800" dir="2700000" algn="ctr" rotWithShape="0">
                  <a:schemeClr val="tx2"/>
                </a:outerShdw>
              </a:effectLst>
            </p:spPr>
            <p:txBody>
              <a:bodyPr rtlCol="0" anchor="ctr"/>
              <a:lstStyle/>
              <a:p>
                <a:endParaRPr lang="en-US" altLang="zh-CN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50D84B5-7B85-2FDD-368E-30BC2F674184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5734924-263D-A024-6FB5-1580C1080DA1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tx2"/>
                      </a:solidFill>
                    </a:rPr>
                    <a:t>02</a:t>
                  </a:r>
                  <a:endParaRPr kumimoji="1" lang="zh-CN" altLang="en-US" sz="5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821466B-9D61-387C-FE76-EAD83EC09065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外部依赖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983DC0C-2FAB-1DE2-8CC5-78CE89395687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高德原生 SDK、实名认证、内容审核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C568F3-92DB-55D6-1C58-28779592B93E}"/>
                </a:ext>
              </a:extLst>
            </p:cNvPr>
            <p:cNvGrpSpPr/>
            <p:nvPr/>
          </p:nvGrpSpPr>
          <p:grpSpPr>
            <a:xfrm>
              <a:off x="8707125" y="2879969"/>
              <a:ext cx="2824474" cy="3254131"/>
              <a:chOff x="660401" y="2601316"/>
              <a:chExt cx="2824474" cy="3254131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785AA08-ACCA-54F0-F7FB-6CDEEF0CEA57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tx2"/>
                </a:solidFill>
                <a:prstDash val="solid"/>
                <a:miter/>
              </a:ln>
              <a:effectLst>
                <a:outerShdw dist="50800" dir="2700000" algn="ctr" rotWithShape="0">
                  <a:schemeClr val="tx2"/>
                </a:outerShdw>
              </a:effectLst>
            </p:spPr>
            <p:txBody>
              <a:bodyPr rtlCol="0" anchor="ctr"/>
              <a:lstStyle/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7BACC38-7C5D-C90D-DD4B-51752B0B5CBF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49D5BF-2EC4-4CEE-C2D5-5A0D0B9060EC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tx2"/>
                      </a:solidFill>
                    </a:rPr>
                    <a:t>03</a:t>
                  </a:r>
                  <a:endParaRPr kumimoji="1" lang="zh-CN" altLang="en-US" sz="5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1D8AE2F-F886-4CC2-71F0-2C3DE9833949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合规要点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A79A80F-0D58-D910-ED15-B514E0C0C9AE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软著 60 工作日、ICP 与 APP 备案、企业主体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5F34FAA-E367-6F7F-DAE7-22BA74A44352}"/>
                </a:ext>
              </a:extLst>
            </p:cNvPr>
            <p:cNvSpPr/>
            <p:nvPr/>
          </p:nvSpPr>
          <p:spPr>
            <a:xfrm>
              <a:off x="3812889" y="4247567"/>
              <a:ext cx="574435" cy="661089"/>
            </a:xfrm>
            <a:prstGeom prst="rightArrow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01E72F54-FC21-859E-0323-0C658A7CBCF3}"/>
                </a:ext>
              </a:extLst>
            </p:cNvPr>
            <p:cNvSpPr/>
            <p:nvPr/>
          </p:nvSpPr>
          <p:spPr>
            <a:xfrm>
              <a:off x="7820463" y="4247566"/>
              <a:ext cx="574435" cy="661089"/>
            </a:xfrm>
            <a:prstGeom prst="rightArrow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资源与依赖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0857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找丫找 APP · BRD v2.1 评审版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09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0407_Outline/20240407/images_texture_8001_9000/136e2685-da3e-46c7-9b6f-45b3703cdbe8-1.source.default.zh-Hans.jpg"/>
  <p:tag name="OFFICEPLUS.THEME" val="New_Batches_0407_Outline/20240407/images_texture_8001_9000/136e2685-da3e-46c7-9b6f-45b3703cdbe8-1.source.default.zh-Hans-5.pptx"/>
  <p:tag name="OFFICEPLUS.OUTLINE" val="1744035"/>
  <p:tag name="OFFICEPLUS.OUTLINEEXTERNAL" val="06774edd-c867-7326-5cab-fc5a659f42c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28d67dd3-61fe-4c81-b9af-e895c260dca3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2f38a169-d8db-404f-bcd0-1f31caec2321.pptx"/>
  <p:tag name="OFFICEPLUS.TAG" val="bd142c3d-b2ac-49d2-945d-a40ea7d68a02"/>
  <p:tag name="OFFICEPLUS.OUTLINECONTENT" val="434143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d92073f-abde-43e0-9e86-c3de26b3d62c.pptx"/>
  <p:tag name="OFFICEPLUS.TAG" val="bd142c3d-b2ac-49d2-945d-a40ea7d68a02"/>
  <p:tag name="OFFICEPLUS.OUTLINECONTENT" val="434143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2c74be83-da7d-412b-b3b4-856b900ed24e.pptx"/>
  <p:tag name="OFFICEPLUS.TAG" val="bd142c3d-b2ac-49d2-945d-a40ea7d68a02"/>
  <p:tag name="OFFICEPLUS.OUTLINECONTENT" val="434143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fed739c-9231-4e46-99c3-c889f0a61ec7.pptx"/>
  <p:tag name="OFFICEPLUS.TAG" val="bd142c3d-b2ac-49d2-945d-a40ea7d68a02"/>
  <p:tag name="OFFICEPLUS.OUTLINECONTENT" val="4341437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83f6273-f2cc-4544-a59a-5e7bb0dc67c2.pptx"/>
  <p:tag name="OFFICEPLUS.TAG" val="bd142c3d-b2ac-49d2-945d-a40ea7d68a02"/>
  <p:tag name="OFFICEPLUS.OUTLINECONTENT" val="434143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ba781c6e-0d9c-426f-a7b4-af1878773f64.pptx"/>
  <p:tag name="OFFICEPLUS.TAG" val="bd142c3d-b2ac-49d2-945d-a40ea7d68a02"/>
  <p:tag name="OFFICEPLUS.OUTLINECONTENT" val="4341438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95e0156-fb43-4cf5-8eea-0f25a2d195a5.pptx"/>
  <p:tag name="OFFICEPLUS.TAG" val="2beb2bf3-40ba-4876-8eff-8450af69fbd8"/>
  <p:tag name="OFFICEPLUS.OUTLINECONTENT" val="434143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b32f738-915f-44b7-8a45-1d071770fc43.pptx"/>
  <p:tag name="OFFICEPLUS.TAG" val="bd142c3d-b2ac-49d2-945d-a40ea7d68a02"/>
  <p:tag name="OFFICEPLUS.OUTLINECONTENT" val="4341439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ab8497e-8f97-43cd-9e78-6a136c213d35.pptx"/>
  <p:tag name="OFFICEPLUS.TAG" val="bd142c3d-b2ac-49d2-945d-a40ea7d68a02"/>
  <p:tag name="OFFICEPLUS.OUTLINECONTENT" val="4341439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f965b191-3969-4379-b471-705e236e1451.pptx"/>
  <p:tag name="OFFICEPLUS.TAG" val="bd142c3d-b2ac-49d2-945d-a40ea7d68a02"/>
  <p:tag name="OFFICEPLUS.OUTLINECONTENT" val="434144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8681911-42ee-4dc7-a124-7d78761b16be.pptx"/>
  <p:tag name="OFFICEPLUS.TAG" val="bd142c3d-b2ac-49d2-945d-a40ea7d68a02"/>
  <p:tag name="OFFICEPLUS.OUTLINECONTENT" val="434144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e0f11ef8-5f1f-4bf9-8525-2dff97757bb6.pptx"/>
  <p:tag name="OFFICEPLUS.TAG" val="bd142c3d-b2ac-49d2-945d-a40ea7d68a02"/>
  <p:tag name="OFFICEPLUS.OUTLINECONTENT" val="4341440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54ef2d4-6884-4b12-9ef8-f817d511018c.pptx"/>
  <p:tag name="OFFICEPLUS.TAG" val="bd142c3d-b2ac-49d2-945d-a40ea7d68a02"/>
  <p:tag name="OFFICEPLUS.OUTLINECONTENT" val="434144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1ec0530-91b3-4703-9ed7-2e025b1e6564.pptx"/>
  <p:tag name="OFFICEPLUS.TAG" val="bd142c3d-b2ac-49d2-945d-a40ea7d68a02"/>
  <p:tag name="OFFICEPLUS.OUTLINECONTENT" val="4341441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2b453d4-b714-4290-a53d-91a235ff70d3.pptx"/>
  <p:tag name="OFFICEPLUS.TAG" val="bd142c3d-b2ac-49d2-945d-a40ea7d68a02"/>
  <p:tag name="OFFICEPLUS.OUTLINECONTENT" val="4341441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775FF"/>
      </a:accent1>
      <a:accent2>
        <a:srgbClr val="0039B4"/>
      </a:accent2>
      <a:accent3>
        <a:srgbClr val="3BCDFF"/>
      </a:accent3>
      <a:accent4>
        <a:srgbClr val="001C7F"/>
      </a:accent4>
      <a:accent5>
        <a:srgbClr val="67CEFF"/>
      </a:accent5>
      <a:accent6>
        <a:srgbClr val="1488FF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1179</Words>
  <Application>Microsoft Office PowerPoint</Application>
  <PresentationFormat>Widescreen</PresentationFormat>
  <Paragraphs>199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等线</vt:lpstr>
      <vt:lpstr>Arial</vt:lpstr>
      <vt:lpstr>Designed by OfficePLUS</vt:lpstr>
      <vt:lpstr>技术创新引领</vt:lpstr>
      <vt:lpstr>PowerPoint Presentation</vt:lpstr>
      <vt:lpstr>01.公司技术成果展示</vt:lpstr>
      <vt:lpstr>核心技术展示</vt:lpstr>
      <vt:lpstr>创新理念分享</vt:lpstr>
      <vt:lpstr>创新与成果转化</vt:lpstr>
      <vt:lpstr>02.研发团队的工作方式</vt:lpstr>
      <vt:lpstr>研发团队介绍</vt:lpstr>
      <vt:lpstr>工作方式解析</vt:lpstr>
      <vt:lpstr>效率提升策略</vt:lpstr>
      <vt:lpstr>03.公司在行业的影响力</vt:lpstr>
      <vt:lpstr>行业地位分析</vt:lpstr>
      <vt:lpstr>探讨，技术的魅力</vt:lpstr>
      <vt:lpstr>领导者之路</vt:lpstr>
      <vt:lpstr>04.公司技术革新案例分享</vt:lpstr>
      <vt:lpstr>案例一解析</vt:lpstr>
      <vt:lpstr>案例二解析</vt:lpstr>
      <vt:lpstr>未来影响预测</vt:lpstr>
      <vt:lpstr>05.共享与发展的呼吁</vt:lpstr>
      <vt:lpstr>技术实力展现</vt:lpstr>
      <vt:lpstr>行业发展倡议</vt:lpstr>
      <vt:lpstr>未来合作展望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admini</cp:lastModifiedBy>
  <cp:revision>2</cp:revision>
  <dcterms:created xsi:type="dcterms:W3CDTF">2023-07-20T03:04:31Z</dcterms:created>
  <dcterms:modified xsi:type="dcterms:W3CDTF">2024-05-14T09:09:17Z</dcterms:modified>
</cp:coreProperties>
</file>