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 varScale="1">
        <p:scale>
          <a:sx n="57" d="100"/>
          <a:sy n="57" d="100"/>
        </p:scale>
        <p:origin x="384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tags" Target="tags/tag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9A9E8B-8668-4EE9-81CF-39121E276770}" type="datetimeFigureOut">
              <a:rPr lang="zh-CN" altLang="en-US" smtClean="0"/>
              <a:t>2024/5/14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895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6A5B53B-2C55-40D6-AE14-415ECD077551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D77524-5E54-C514-EB2E-B180078AF82A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r="-36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EE5D13E-DB8F-FD34-98C2-0C257CAAD2D6}"/>
                </a:ext>
              </a:extLst>
            </p:cNvPr>
            <p:cNvSpPr/>
            <p:nvPr/>
          </p:nvSpPr>
          <p:spPr>
            <a:xfrm>
              <a:off x="1" y="0"/>
              <a:ext cx="6222343" cy="6858000"/>
            </a:xfrm>
            <a:custGeom>
              <a:avLst/>
              <a:gdLst>
                <a:gd name="connsiteX0" fmla="*/ 0 w 6222343"/>
                <a:gd name="connsiteY0" fmla="*/ 0 h 6858000"/>
                <a:gd name="connsiteX1" fmla="*/ 6215599 w 6222343"/>
                <a:gd name="connsiteY1" fmla="*/ 0 h 6858000"/>
                <a:gd name="connsiteX2" fmla="*/ 6160817 w 6222343"/>
                <a:gd name="connsiteY2" fmla="*/ 119192 h 6858000"/>
                <a:gd name="connsiteX3" fmla="*/ 5476558 w 6222343"/>
                <a:gd name="connsiteY3" fmla="*/ 3421332 h 6858000"/>
                <a:gd name="connsiteX4" fmla="*/ 6166237 w 6222343"/>
                <a:gd name="connsiteY4" fmla="*/ 6736534 h 6858000"/>
                <a:gd name="connsiteX5" fmla="*/ 6222343 w 6222343"/>
                <a:gd name="connsiteY5" fmla="*/ 6858000 h 6858000"/>
                <a:gd name="connsiteX6" fmla="*/ 0 w 6222343"/>
                <a:gd name="connsiteY6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22343" h="6858000">
                  <a:moveTo>
                    <a:pt x="0" y="0"/>
                  </a:moveTo>
                  <a:lnTo>
                    <a:pt x="6215599" y="0"/>
                  </a:lnTo>
                  <a:lnTo>
                    <a:pt x="6160817" y="119192"/>
                  </a:lnTo>
                  <a:cubicBezTo>
                    <a:pt x="5720452" y="1130416"/>
                    <a:pt x="5476558" y="2246948"/>
                    <a:pt x="5476558" y="3421332"/>
                  </a:cubicBezTo>
                  <a:cubicBezTo>
                    <a:pt x="5476558" y="4601501"/>
                    <a:pt x="5722259" y="5722010"/>
                    <a:pt x="6166237" y="6736534"/>
                  </a:cubicBezTo>
                  <a:lnTo>
                    <a:pt x="6222343" y="6858000"/>
                  </a:lnTo>
                  <a:lnTo>
                    <a:pt x="0" y="685800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zh-CN" alt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3E8FB8D-7EEF-02A0-BE2A-7EAF7825BD5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38406" y="0"/>
              <a:ext cx="970370" cy="6858000"/>
            </a:xfrm>
            <a:custGeom>
              <a:avLst/>
              <a:gdLst>
                <a:gd name="connsiteX0" fmla="*/ 805686 w 970370"/>
                <a:gd name="connsiteY0" fmla="*/ 0 h 6858000"/>
                <a:gd name="connsiteX1" fmla="*/ 963626 w 970370"/>
                <a:gd name="connsiteY1" fmla="*/ 0 h 6858000"/>
                <a:gd name="connsiteX2" fmla="*/ 908844 w 970370"/>
                <a:gd name="connsiteY2" fmla="*/ 119192 h 6858000"/>
                <a:gd name="connsiteX3" fmla="*/ 224585 w 970370"/>
                <a:gd name="connsiteY3" fmla="*/ 3421332 h 6858000"/>
                <a:gd name="connsiteX4" fmla="*/ 914264 w 970370"/>
                <a:gd name="connsiteY4" fmla="*/ 6736534 h 6858000"/>
                <a:gd name="connsiteX5" fmla="*/ 970370 w 970370"/>
                <a:gd name="connsiteY5" fmla="*/ 6858000 h 6858000"/>
                <a:gd name="connsiteX6" fmla="*/ 340460 w 970370"/>
                <a:gd name="connsiteY6" fmla="*/ 6858000 h 6858000"/>
                <a:gd name="connsiteX7" fmla="*/ 301274 w 970370"/>
                <a:gd name="connsiteY7" fmla="*/ 6709785 h 6858000"/>
                <a:gd name="connsiteX8" fmla="*/ 0 w 970370"/>
                <a:gd name="connsiteY8" fmla="*/ 4134110 h 6858000"/>
                <a:gd name="connsiteX9" fmla="*/ 745964 w 970370"/>
                <a:gd name="connsiteY9" fmla="*/ 14402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0370" h="6858000">
                  <a:moveTo>
                    <a:pt x="805686" y="0"/>
                  </a:moveTo>
                  <a:lnTo>
                    <a:pt x="963626" y="0"/>
                  </a:lnTo>
                  <a:lnTo>
                    <a:pt x="908844" y="119192"/>
                  </a:lnTo>
                  <a:cubicBezTo>
                    <a:pt x="468479" y="1130416"/>
                    <a:pt x="224585" y="2246948"/>
                    <a:pt x="224585" y="3421332"/>
                  </a:cubicBezTo>
                  <a:cubicBezTo>
                    <a:pt x="224585" y="4601501"/>
                    <a:pt x="470286" y="5722010"/>
                    <a:pt x="914264" y="6736534"/>
                  </a:cubicBezTo>
                  <a:lnTo>
                    <a:pt x="970370" y="6858000"/>
                  </a:lnTo>
                  <a:lnTo>
                    <a:pt x="340460" y="6858000"/>
                  </a:lnTo>
                  <a:lnTo>
                    <a:pt x="301274" y="6709785"/>
                  </a:lnTo>
                  <a:cubicBezTo>
                    <a:pt x="104632" y="5888497"/>
                    <a:pt x="0" y="5025383"/>
                    <a:pt x="0" y="4134110"/>
                  </a:cubicBezTo>
                  <a:cubicBezTo>
                    <a:pt x="0" y="2715062"/>
                    <a:pt x="265888" y="1365920"/>
                    <a:pt x="745964" y="144024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BBB2CB0-6C4C-C4F1-B038-A61E156A663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9786580" y="4642864"/>
              <a:ext cx="2405420" cy="2215136"/>
            </a:xfrm>
            <a:custGeom>
              <a:avLst/>
              <a:gdLst>
                <a:gd name="connsiteX0" fmla="*/ 0 w 2405420"/>
                <a:gd name="connsiteY0" fmla="*/ 0 h 2215136"/>
                <a:gd name="connsiteX1" fmla="*/ 0 w 2405420"/>
                <a:gd name="connsiteY1" fmla="*/ 2215136 h 2215136"/>
                <a:gd name="connsiteX2" fmla="*/ 2405420 w 2405420"/>
                <a:gd name="connsiteY2" fmla="*/ 2215136 h 2215136"/>
                <a:gd name="connsiteX3" fmla="*/ 2321449 w 2405420"/>
                <a:gd name="connsiteY3" fmla="*/ 1985067 h 2215136"/>
                <a:gd name="connsiteX4" fmla="*/ 189238 w 2405420"/>
                <a:gd name="connsiteY4" fmla="*/ 51092 h 2215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5420" h="2215136">
                  <a:moveTo>
                    <a:pt x="0" y="0"/>
                  </a:moveTo>
                  <a:lnTo>
                    <a:pt x="0" y="2215136"/>
                  </a:lnTo>
                  <a:lnTo>
                    <a:pt x="2405420" y="2215136"/>
                  </a:lnTo>
                  <a:lnTo>
                    <a:pt x="2321449" y="1985067"/>
                  </a:lnTo>
                  <a:cubicBezTo>
                    <a:pt x="1932884" y="1064048"/>
                    <a:pt x="1153170" y="350368"/>
                    <a:pt x="189238" y="51092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3AD0A4-6945-3BAF-05ED-C4F9558FC09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2044101" cy="4476750"/>
            </a:xfrm>
            <a:custGeom>
              <a:avLst/>
              <a:gdLst>
                <a:gd name="T0" fmla="*/ 0 w 364"/>
                <a:gd name="T1" fmla="*/ 796 h 796"/>
                <a:gd name="T2" fmla="*/ 364 w 364"/>
                <a:gd name="T3" fmla="*/ 278 h 796"/>
                <a:gd name="T4" fmla="*/ 289 w 364"/>
                <a:gd name="T5" fmla="*/ 0 h 796"/>
                <a:gd name="T6" fmla="*/ 0 w 364"/>
                <a:gd name="T7" fmla="*/ 0 h 796"/>
                <a:gd name="T8" fmla="*/ 0 w 364"/>
                <a:gd name="T9" fmla="*/ 796 h 7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4" h="796">
                  <a:moveTo>
                    <a:pt x="0" y="796"/>
                  </a:moveTo>
                  <a:cubicBezTo>
                    <a:pt x="212" y="719"/>
                    <a:pt x="364" y="516"/>
                    <a:pt x="364" y="278"/>
                  </a:cubicBezTo>
                  <a:cubicBezTo>
                    <a:pt x="364" y="177"/>
                    <a:pt x="337" y="82"/>
                    <a:pt x="289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796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51A2DE-B350-691F-B29C-2AF983C5291A}"/>
                </a:ext>
              </a:extLst>
            </p:cNvPr>
            <p:cNvSpPr/>
            <p:nvPr/>
          </p:nvSpPr>
          <p:spPr>
            <a:xfrm>
              <a:off x="814191" y="804270"/>
              <a:ext cx="157755" cy="157755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23E68B9-8187-0290-532F-2B58947D37C1}"/>
                </a:ext>
              </a:extLst>
            </p:cNvPr>
            <p:cNvSpPr/>
            <p:nvPr/>
          </p:nvSpPr>
          <p:spPr>
            <a:xfrm>
              <a:off x="1058468" y="804270"/>
              <a:ext cx="157755" cy="15775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8F527E-7640-8709-2101-06F283BCC90F}"/>
                </a:ext>
              </a:extLst>
            </p:cNvPr>
            <p:cNvSpPr/>
            <p:nvPr/>
          </p:nvSpPr>
          <p:spPr>
            <a:xfrm>
              <a:off x="1302746" y="804270"/>
              <a:ext cx="157755" cy="157755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ctrTitle" hasCustomPrompt="1"/>
          </p:nvPr>
        </p:nvSpPr>
        <p:spPr>
          <a:xfrm>
            <a:off x="660401" y="1089026"/>
            <a:ext cx="4673599" cy="2815318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48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60400" y="4158864"/>
            <a:ext cx="4673599" cy="721857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lang="en-US" sz="18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398" y="5509733"/>
            <a:ext cx="467360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398" y="5857101"/>
            <a:ext cx="4673601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35309962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D10539A-C1C4-6938-E08F-ABBF8809B51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827E2AD-3652-ED88-F70A-AB4CB38FE0A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r="-3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21FF61-D406-0CC5-1220-B0D3CCB8BCF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660400" y="1092200"/>
            <a:ext cx="10858500" cy="504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657350" indent="-285750">
              <a:buFont typeface="Arial" panose="020B0604020202020204" pitchFamily="34" charset="0"/>
              <a:buChar char="•"/>
              <a:defRPr/>
            </a:lvl4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82A54-1ED4-49C6-8154-FC2019FF8FB3}" type="datetime1">
              <a:rPr lang="zh-CN" altLang="en-US" smtClean="0"/>
              <a:t>2024/5/14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4075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800" cy="914400"/>
          </a:xfrm>
          <a:prstGeom prst="rect">
            <a:avLst/>
          </a:prstGeom>
        </p:spPr>
        <p:txBody>
          <a:bodyPr wrap="none" anchor="t">
            <a:normAutofit/>
          </a:bodyPr>
          <a:lstStyle>
            <a:lvl1pPr algn="r">
              <a:lnSpc>
                <a:spcPct val="100000"/>
              </a:lnSpc>
              <a:defRPr sz="2800"/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" hasCustomPrompt="1"/>
          </p:nvPr>
        </p:nvSpPr>
        <p:spPr>
          <a:xfrm>
            <a:off x="3746500" y="1500187"/>
            <a:ext cx="7772400" cy="4633200"/>
          </a:xfrm>
          <a:prstGeom prst="rect">
            <a:avLst/>
          </a:prstGeom>
        </p:spPr>
        <p:txBody>
          <a:bodyPr wrap="square">
            <a:normAutofit/>
          </a:bodyPr>
          <a:lstStyle>
            <a:lvl1pPr marL="457200" indent="-457200">
              <a:lnSpc>
                <a:spcPct val="130000"/>
              </a:lnSpc>
              <a:buFont typeface="+mj-lt"/>
              <a:buAutoNum type="arabicPeriod"/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2024/5/14</a:t>
            </a:fld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  <p:grpSp>
        <p:nvGrpSpPr>
          <p:cNvPr id="9" name="Group 8"/>
          <p:cNvGrpSpPr/>
          <p:nvPr/>
        </p:nvGrpSpPr>
        <p:grpSpPr>
          <a:xfrm>
            <a:off x="2626456" y="1500188"/>
            <a:ext cx="994563" cy="4634686"/>
            <a:chOff x="2626456" y="1500188"/>
            <a:chExt cx="994563" cy="4634686"/>
          </a:xfrm>
        </p:grpSpPr>
        <p:cxnSp>
          <p:nvCxnSpPr>
            <p:cNvPr id="10" name="Straight Connector 9"/>
            <p:cNvCxnSpPr>
              <a:cxnSpLocks/>
            </p:cNvCxnSpPr>
            <p:nvPr/>
          </p:nvCxnSpPr>
          <p:spPr>
            <a:xfrm>
              <a:off x="3621019" y="1500188"/>
              <a:ext cx="0" cy="4633913"/>
            </a:xfrm>
            <a:prstGeom prst="line">
              <a:avLst/>
            </a:prstGeom>
            <a:solidFill>
              <a:srgbClr val="FFCC00"/>
            </a:solidFill>
            <a:ln w="3175" cap="flat" cmpd="sng" algn="ctr">
              <a:solidFill>
                <a:schemeClr val="tx1">
                  <a:alpha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Freeform: Shape 11"/>
            <p:cNvSpPr>
              <a:spLocks noChangeAspect="1"/>
            </p:cNvSpPr>
            <p:nvPr/>
          </p:nvSpPr>
          <p:spPr bwMode="auto">
            <a:xfrm>
              <a:off x="2626456" y="5219207"/>
              <a:ext cx="870506" cy="915667"/>
            </a:xfrm>
            <a:custGeom>
              <a:avLst/>
              <a:gdLst>
                <a:gd name="T0" fmla="*/ 3353 w 5127"/>
                <a:gd name="T1" fmla="*/ 1728 h 5401"/>
                <a:gd name="T2" fmla="*/ 2183 w 5127"/>
                <a:gd name="T3" fmla="*/ 1608 h 5401"/>
                <a:gd name="T4" fmla="*/ 3353 w 5127"/>
                <a:gd name="T5" fmla="*/ 1488 h 5401"/>
                <a:gd name="T6" fmla="*/ 3103 w 5127"/>
                <a:gd name="T7" fmla="*/ 2231 h 5401"/>
                <a:gd name="T8" fmla="*/ 3103 w 5127"/>
                <a:gd name="T9" fmla="*/ 1991 h 5401"/>
                <a:gd name="T10" fmla="*/ 2432 w 5127"/>
                <a:gd name="T11" fmla="*/ 2111 h 5401"/>
                <a:gd name="T12" fmla="*/ 3103 w 5127"/>
                <a:gd name="T13" fmla="*/ 2231 h 5401"/>
                <a:gd name="T14" fmla="*/ 3353 w 5127"/>
                <a:gd name="T15" fmla="*/ 2648 h 5401"/>
                <a:gd name="T16" fmla="*/ 2183 w 5127"/>
                <a:gd name="T17" fmla="*/ 2768 h 5401"/>
                <a:gd name="T18" fmla="*/ 3353 w 5127"/>
                <a:gd name="T19" fmla="*/ 2888 h 5401"/>
                <a:gd name="T20" fmla="*/ 2552 w 5127"/>
                <a:gd name="T21" fmla="*/ 3151 h 5401"/>
                <a:gd name="T22" fmla="*/ 2552 w 5127"/>
                <a:gd name="T23" fmla="*/ 3391 h 5401"/>
                <a:gd name="T24" fmla="*/ 3223 w 5127"/>
                <a:gd name="T25" fmla="*/ 3271 h 5401"/>
                <a:gd name="T26" fmla="*/ 2552 w 5127"/>
                <a:gd name="T27" fmla="*/ 3151 h 5401"/>
                <a:gd name="T28" fmla="*/ 4448 w 5127"/>
                <a:gd name="T29" fmla="*/ 1442 h 5401"/>
                <a:gd name="T30" fmla="*/ 4688 w 5127"/>
                <a:gd name="T31" fmla="*/ 1442 h 5401"/>
                <a:gd name="T32" fmla="*/ 3988 w 5127"/>
                <a:gd name="T33" fmla="*/ 0 h 5401"/>
                <a:gd name="T34" fmla="*/ 0 w 5127"/>
                <a:gd name="T35" fmla="*/ 604 h 5401"/>
                <a:gd name="T36" fmla="*/ 120 w 5127"/>
                <a:gd name="T37" fmla="*/ 1792 h 5401"/>
                <a:gd name="T38" fmla="*/ 686 w 5127"/>
                <a:gd name="T39" fmla="*/ 1672 h 5401"/>
                <a:gd name="T40" fmla="*/ 240 w 5127"/>
                <a:gd name="T41" fmla="*/ 1552 h 5401"/>
                <a:gd name="T42" fmla="*/ 604 w 5127"/>
                <a:gd name="T43" fmla="*/ 240 h 5401"/>
                <a:gd name="T44" fmla="*/ 968 w 5127"/>
                <a:gd name="T45" fmla="*/ 4179 h 5401"/>
                <a:gd name="T46" fmla="*/ 3904 w 5127"/>
                <a:gd name="T47" fmla="*/ 4879 h 5401"/>
                <a:gd name="T48" fmla="*/ 3904 w 5127"/>
                <a:gd name="T49" fmla="*/ 4639 h 5401"/>
                <a:gd name="T50" fmla="*/ 1208 w 5127"/>
                <a:gd name="T51" fmla="*/ 4179 h 5401"/>
                <a:gd name="T52" fmla="*/ 1086 w 5127"/>
                <a:gd name="T53" fmla="*/ 240 h 5401"/>
                <a:gd name="T54" fmla="*/ 4448 w 5127"/>
                <a:gd name="T55" fmla="*/ 700 h 5401"/>
                <a:gd name="T56" fmla="*/ 4568 w 5127"/>
                <a:gd name="T57" fmla="*/ 2000 h 5401"/>
                <a:gd name="T58" fmla="*/ 4568 w 5127"/>
                <a:gd name="T59" fmla="*/ 2240 h 5401"/>
                <a:gd name="T60" fmla="*/ 4887 w 5127"/>
                <a:gd name="T61" fmla="*/ 2340 h 5401"/>
                <a:gd name="T62" fmla="*/ 5007 w 5127"/>
                <a:gd name="T63" fmla="*/ 3838 h 5401"/>
                <a:gd name="T64" fmla="*/ 5127 w 5127"/>
                <a:gd name="T65" fmla="*/ 2340 h 5401"/>
                <a:gd name="T66" fmla="*/ 4568 w 5127"/>
                <a:gd name="T67" fmla="*/ 5139 h 5401"/>
                <a:gd name="T68" fmla="*/ 4448 w 5127"/>
                <a:gd name="T69" fmla="*/ 5281 h 5401"/>
                <a:gd name="T70" fmla="*/ 4688 w 5127"/>
                <a:gd name="T71" fmla="*/ 5281 h 5401"/>
                <a:gd name="T72" fmla="*/ 4568 w 5127"/>
                <a:gd name="T73" fmla="*/ 5139 h 5401"/>
                <a:gd name="T74" fmla="*/ 4448 w 5127"/>
                <a:gd name="T75" fmla="*/ 2559 h 5401"/>
                <a:gd name="T76" fmla="*/ 4568 w 5127"/>
                <a:gd name="T77" fmla="*/ 4974 h 5401"/>
                <a:gd name="T78" fmla="*/ 4688 w 5127"/>
                <a:gd name="T79" fmla="*/ 2559 h 5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27" h="5401">
                  <a:moveTo>
                    <a:pt x="3473" y="1608"/>
                  </a:moveTo>
                  <a:cubicBezTo>
                    <a:pt x="3473" y="1674"/>
                    <a:pt x="3419" y="1728"/>
                    <a:pt x="3353" y="1728"/>
                  </a:cubicBezTo>
                  <a:lnTo>
                    <a:pt x="2303" y="1728"/>
                  </a:lnTo>
                  <a:cubicBezTo>
                    <a:pt x="2236" y="1728"/>
                    <a:pt x="2183" y="1674"/>
                    <a:pt x="2183" y="1608"/>
                  </a:cubicBezTo>
                  <a:cubicBezTo>
                    <a:pt x="2183" y="1542"/>
                    <a:pt x="2236" y="1488"/>
                    <a:pt x="2303" y="1488"/>
                  </a:cubicBezTo>
                  <a:lnTo>
                    <a:pt x="3353" y="1488"/>
                  </a:lnTo>
                  <a:cubicBezTo>
                    <a:pt x="3419" y="1488"/>
                    <a:pt x="3473" y="1542"/>
                    <a:pt x="3473" y="1608"/>
                  </a:cubicBezTo>
                  <a:close/>
                  <a:moveTo>
                    <a:pt x="3103" y="2231"/>
                  </a:moveTo>
                  <a:cubicBezTo>
                    <a:pt x="3170" y="2231"/>
                    <a:pt x="3223" y="2178"/>
                    <a:pt x="3223" y="2111"/>
                  </a:cubicBezTo>
                  <a:cubicBezTo>
                    <a:pt x="3223" y="2045"/>
                    <a:pt x="3170" y="1991"/>
                    <a:pt x="3103" y="1991"/>
                  </a:cubicBezTo>
                  <a:lnTo>
                    <a:pt x="2552" y="1991"/>
                  </a:lnTo>
                  <a:cubicBezTo>
                    <a:pt x="2486" y="1991"/>
                    <a:pt x="2432" y="2045"/>
                    <a:pt x="2432" y="2111"/>
                  </a:cubicBezTo>
                  <a:cubicBezTo>
                    <a:pt x="2432" y="2178"/>
                    <a:pt x="2486" y="2231"/>
                    <a:pt x="2552" y="2231"/>
                  </a:cubicBezTo>
                  <a:lnTo>
                    <a:pt x="3103" y="2231"/>
                  </a:lnTo>
                  <a:close/>
                  <a:moveTo>
                    <a:pt x="3473" y="2768"/>
                  </a:moveTo>
                  <a:cubicBezTo>
                    <a:pt x="3473" y="2701"/>
                    <a:pt x="3419" y="2648"/>
                    <a:pt x="3353" y="2648"/>
                  </a:cubicBezTo>
                  <a:lnTo>
                    <a:pt x="2303" y="2648"/>
                  </a:lnTo>
                  <a:cubicBezTo>
                    <a:pt x="2236" y="2648"/>
                    <a:pt x="2183" y="2701"/>
                    <a:pt x="2183" y="2768"/>
                  </a:cubicBezTo>
                  <a:cubicBezTo>
                    <a:pt x="2183" y="2834"/>
                    <a:pt x="2236" y="2888"/>
                    <a:pt x="2303" y="2888"/>
                  </a:cubicBezTo>
                  <a:lnTo>
                    <a:pt x="3353" y="2888"/>
                  </a:lnTo>
                  <a:cubicBezTo>
                    <a:pt x="3419" y="2888"/>
                    <a:pt x="3473" y="2834"/>
                    <a:pt x="3473" y="2768"/>
                  </a:cubicBezTo>
                  <a:close/>
                  <a:moveTo>
                    <a:pt x="2552" y="3151"/>
                  </a:moveTo>
                  <a:cubicBezTo>
                    <a:pt x="2486" y="3151"/>
                    <a:pt x="2432" y="3205"/>
                    <a:pt x="2432" y="3271"/>
                  </a:cubicBezTo>
                  <a:cubicBezTo>
                    <a:pt x="2432" y="3338"/>
                    <a:pt x="2486" y="3391"/>
                    <a:pt x="2552" y="3391"/>
                  </a:cubicBezTo>
                  <a:lnTo>
                    <a:pt x="3103" y="3391"/>
                  </a:lnTo>
                  <a:cubicBezTo>
                    <a:pt x="3170" y="3391"/>
                    <a:pt x="3223" y="3338"/>
                    <a:pt x="3223" y="3271"/>
                  </a:cubicBezTo>
                  <a:cubicBezTo>
                    <a:pt x="3223" y="3205"/>
                    <a:pt x="3170" y="3151"/>
                    <a:pt x="3103" y="3151"/>
                  </a:cubicBezTo>
                  <a:lnTo>
                    <a:pt x="2552" y="3151"/>
                  </a:lnTo>
                  <a:close/>
                  <a:moveTo>
                    <a:pt x="4448" y="700"/>
                  </a:moveTo>
                  <a:lnTo>
                    <a:pt x="4448" y="1442"/>
                  </a:lnTo>
                  <a:cubicBezTo>
                    <a:pt x="4448" y="1509"/>
                    <a:pt x="4501" y="1562"/>
                    <a:pt x="4568" y="1562"/>
                  </a:cubicBezTo>
                  <a:cubicBezTo>
                    <a:pt x="4634" y="1562"/>
                    <a:pt x="4688" y="1509"/>
                    <a:pt x="4688" y="1442"/>
                  </a:cubicBezTo>
                  <a:lnTo>
                    <a:pt x="4688" y="700"/>
                  </a:lnTo>
                  <a:cubicBezTo>
                    <a:pt x="4688" y="314"/>
                    <a:pt x="4374" y="0"/>
                    <a:pt x="3988" y="0"/>
                  </a:cubicBezTo>
                  <a:lnTo>
                    <a:pt x="604" y="0"/>
                  </a:lnTo>
                  <a:cubicBezTo>
                    <a:pt x="271" y="0"/>
                    <a:pt x="0" y="271"/>
                    <a:pt x="0" y="604"/>
                  </a:cubicBezTo>
                  <a:lnTo>
                    <a:pt x="0" y="1672"/>
                  </a:lnTo>
                  <a:cubicBezTo>
                    <a:pt x="0" y="1738"/>
                    <a:pt x="53" y="1792"/>
                    <a:pt x="120" y="1792"/>
                  </a:cubicBezTo>
                  <a:lnTo>
                    <a:pt x="566" y="1792"/>
                  </a:lnTo>
                  <a:cubicBezTo>
                    <a:pt x="632" y="1792"/>
                    <a:pt x="686" y="1738"/>
                    <a:pt x="686" y="1672"/>
                  </a:cubicBezTo>
                  <a:cubicBezTo>
                    <a:pt x="686" y="1606"/>
                    <a:pt x="632" y="1552"/>
                    <a:pt x="566" y="1552"/>
                  </a:cubicBezTo>
                  <a:lnTo>
                    <a:pt x="240" y="1552"/>
                  </a:lnTo>
                  <a:lnTo>
                    <a:pt x="240" y="604"/>
                  </a:lnTo>
                  <a:cubicBezTo>
                    <a:pt x="240" y="403"/>
                    <a:pt x="403" y="240"/>
                    <a:pt x="604" y="240"/>
                  </a:cubicBezTo>
                  <a:cubicBezTo>
                    <a:pt x="805" y="240"/>
                    <a:pt x="968" y="403"/>
                    <a:pt x="968" y="604"/>
                  </a:cubicBezTo>
                  <a:lnTo>
                    <a:pt x="968" y="4179"/>
                  </a:lnTo>
                  <a:cubicBezTo>
                    <a:pt x="968" y="4565"/>
                    <a:pt x="1282" y="4879"/>
                    <a:pt x="1668" y="4879"/>
                  </a:cubicBezTo>
                  <a:lnTo>
                    <a:pt x="3904" y="4879"/>
                  </a:lnTo>
                  <a:cubicBezTo>
                    <a:pt x="3970" y="4879"/>
                    <a:pt x="4024" y="4825"/>
                    <a:pt x="4024" y="4759"/>
                  </a:cubicBezTo>
                  <a:cubicBezTo>
                    <a:pt x="4024" y="4693"/>
                    <a:pt x="3970" y="4639"/>
                    <a:pt x="3904" y="4639"/>
                  </a:cubicBezTo>
                  <a:lnTo>
                    <a:pt x="1668" y="4639"/>
                  </a:lnTo>
                  <a:cubicBezTo>
                    <a:pt x="1415" y="4639"/>
                    <a:pt x="1208" y="4433"/>
                    <a:pt x="1208" y="4179"/>
                  </a:cubicBezTo>
                  <a:lnTo>
                    <a:pt x="1208" y="604"/>
                  </a:lnTo>
                  <a:cubicBezTo>
                    <a:pt x="1208" y="468"/>
                    <a:pt x="1163" y="341"/>
                    <a:pt x="1086" y="240"/>
                  </a:cubicBezTo>
                  <a:lnTo>
                    <a:pt x="3988" y="240"/>
                  </a:lnTo>
                  <a:cubicBezTo>
                    <a:pt x="4241" y="240"/>
                    <a:pt x="4448" y="446"/>
                    <a:pt x="4448" y="700"/>
                  </a:cubicBezTo>
                  <a:close/>
                  <a:moveTo>
                    <a:pt x="4787" y="2000"/>
                  </a:moveTo>
                  <a:lnTo>
                    <a:pt x="4568" y="2000"/>
                  </a:lnTo>
                  <a:cubicBezTo>
                    <a:pt x="4501" y="2000"/>
                    <a:pt x="4448" y="2054"/>
                    <a:pt x="4448" y="2120"/>
                  </a:cubicBezTo>
                  <a:cubicBezTo>
                    <a:pt x="4448" y="2187"/>
                    <a:pt x="4501" y="2240"/>
                    <a:pt x="4568" y="2240"/>
                  </a:cubicBezTo>
                  <a:lnTo>
                    <a:pt x="4787" y="2240"/>
                  </a:lnTo>
                  <a:cubicBezTo>
                    <a:pt x="4842" y="2240"/>
                    <a:pt x="4887" y="2285"/>
                    <a:pt x="4887" y="2340"/>
                  </a:cubicBezTo>
                  <a:lnTo>
                    <a:pt x="4887" y="3718"/>
                  </a:lnTo>
                  <a:cubicBezTo>
                    <a:pt x="4887" y="3785"/>
                    <a:pt x="4941" y="3838"/>
                    <a:pt x="5007" y="3838"/>
                  </a:cubicBezTo>
                  <a:cubicBezTo>
                    <a:pt x="5073" y="3838"/>
                    <a:pt x="5127" y="3785"/>
                    <a:pt x="5127" y="3718"/>
                  </a:cubicBezTo>
                  <a:lnTo>
                    <a:pt x="5127" y="2340"/>
                  </a:lnTo>
                  <a:cubicBezTo>
                    <a:pt x="5127" y="2153"/>
                    <a:pt x="4975" y="2000"/>
                    <a:pt x="4787" y="2000"/>
                  </a:cubicBezTo>
                  <a:close/>
                  <a:moveTo>
                    <a:pt x="4568" y="5139"/>
                  </a:moveTo>
                  <a:cubicBezTo>
                    <a:pt x="4501" y="5139"/>
                    <a:pt x="4448" y="5193"/>
                    <a:pt x="4448" y="5259"/>
                  </a:cubicBezTo>
                  <a:lnTo>
                    <a:pt x="4448" y="5281"/>
                  </a:lnTo>
                  <a:cubicBezTo>
                    <a:pt x="4448" y="5347"/>
                    <a:pt x="4501" y="5401"/>
                    <a:pt x="4568" y="5401"/>
                  </a:cubicBezTo>
                  <a:cubicBezTo>
                    <a:pt x="4634" y="5401"/>
                    <a:pt x="4688" y="5347"/>
                    <a:pt x="4688" y="5281"/>
                  </a:cubicBezTo>
                  <a:lnTo>
                    <a:pt x="4688" y="5259"/>
                  </a:lnTo>
                  <a:cubicBezTo>
                    <a:pt x="4688" y="5193"/>
                    <a:pt x="4634" y="5139"/>
                    <a:pt x="4568" y="5139"/>
                  </a:cubicBezTo>
                  <a:close/>
                  <a:moveTo>
                    <a:pt x="4568" y="2439"/>
                  </a:moveTo>
                  <a:cubicBezTo>
                    <a:pt x="4501" y="2439"/>
                    <a:pt x="4448" y="2492"/>
                    <a:pt x="4448" y="2559"/>
                  </a:cubicBezTo>
                  <a:lnTo>
                    <a:pt x="4448" y="4854"/>
                  </a:lnTo>
                  <a:cubicBezTo>
                    <a:pt x="4448" y="4920"/>
                    <a:pt x="4501" y="4974"/>
                    <a:pt x="4568" y="4974"/>
                  </a:cubicBezTo>
                  <a:cubicBezTo>
                    <a:pt x="4634" y="4974"/>
                    <a:pt x="4688" y="4920"/>
                    <a:pt x="4688" y="4854"/>
                  </a:cubicBezTo>
                  <a:lnTo>
                    <a:pt x="4688" y="2559"/>
                  </a:lnTo>
                  <a:cubicBezTo>
                    <a:pt x="4688" y="2492"/>
                    <a:pt x="4634" y="2439"/>
                    <a:pt x="4568" y="2439"/>
                  </a:cubicBezTo>
                  <a:close/>
                </a:path>
              </a:pathLst>
            </a:custGeom>
            <a:solidFill>
              <a:schemeClr val="tx1">
                <a:alpha val="1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46974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6A5B53B-2C55-40D6-AE14-415ECD077551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D77524-5E54-C514-EB2E-B180078AF82A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r="-36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EE5D13E-DB8F-FD34-98C2-0C257CAAD2D6}"/>
                </a:ext>
              </a:extLst>
            </p:cNvPr>
            <p:cNvSpPr/>
            <p:nvPr/>
          </p:nvSpPr>
          <p:spPr>
            <a:xfrm>
              <a:off x="1" y="0"/>
              <a:ext cx="6222343" cy="6858000"/>
            </a:xfrm>
            <a:custGeom>
              <a:avLst/>
              <a:gdLst>
                <a:gd name="connsiteX0" fmla="*/ 0 w 6222343"/>
                <a:gd name="connsiteY0" fmla="*/ 0 h 6858000"/>
                <a:gd name="connsiteX1" fmla="*/ 6215599 w 6222343"/>
                <a:gd name="connsiteY1" fmla="*/ 0 h 6858000"/>
                <a:gd name="connsiteX2" fmla="*/ 6160817 w 6222343"/>
                <a:gd name="connsiteY2" fmla="*/ 119192 h 6858000"/>
                <a:gd name="connsiteX3" fmla="*/ 5476558 w 6222343"/>
                <a:gd name="connsiteY3" fmla="*/ 3421332 h 6858000"/>
                <a:gd name="connsiteX4" fmla="*/ 6166237 w 6222343"/>
                <a:gd name="connsiteY4" fmla="*/ 6736534 h 6858000"/>
                <a:gd name="connsiteX5" fmla="*/ 6222343 w 6222343"/>
                <a:gd name="connsiteY5" fmla="*/ 6858000 h 6858000"/>
                <a:gd name="connsiteX6" fmla="*/ 0 w 6222343"/>
                <a:gd name="connsiteY6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22343" h="6858000">
                  <a:moveTo>
                    <a:pt x="0" y="0"/>
                  </a:moveTo>
                  <a:lnTo>
                    <a:pt x="6215599" y="0"/>
                  </a:lnTo>
                  <a:lnTo>
                    <a:pt x="6160817" y="119192"/>
                  </a:lnTo>
                  <a:cubicBezTo>
                    <a:pt x="5720452" y="1130416"/>
                    <a:pt x="5476558" y="2246948"/>
                    <a:pt x="5476558" y="3421332"/>
                  </a:cubicBezTo>
                  <a:cubicBezTo>
                    <a:pt x="5476558" y="4601501"/>
                    <a:pt x="5722259" y="5722010"/>
                    <a:pt x="6166237" y="6736534"/>
                  </a:cubicBezTo>
                  <a:lnTo>
                    <a:pt x="6222343" y="6858000"/>
                  </a:lnTo>
                  <a:lnTo>
                    <a:pt x="0" y="685800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zh-CN" alt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3E8FB8D-7EEF-02A0-BE2A-7EAF7825BD5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38406" y="0"/>
              <a:ext cx="970370" cy="6858000"/>
            </a:xfrm>
            <a:custGeom>
              <a:avLst/>
              <a:gdLst>
                <a:gd name="connsiteX0" fmla="*/ 805686 w 970370"/>
                <a:gd name="connsiteY0" fmla="*/ 0 h 6858000"/>
                <a:gd name="connsiteX1" fmla="*/ 963626 w 970370"/>
                <a:gd name="connsiteY1" fmla="*/ 0 h 6858000"/>
                <a:gd name="connsiteX2" fmla="*/ 908844 w 970370"/>
                <a:gd name="connsiteY2" fmla="*/ 119192 h 6858000"/>
                <a:gd name="connsiteX3" fmla="*/ 224585 w 970370"/>
                <a:gd name="connsiteY3" fmla="*/ 3421332 h 6858000"/>
                <a:gd name="connsiteX4" fmla="*/ 914264 w 970370"/>
                <a:gd name="connsiteY4" fmla="*/ 6736534 h 6858000"/>
                <a:gd name="connsiteX5" fmla="*/ 970370 w 970370"/>
                <a:gd name="connsiteY5" fmla="*/ 6858000 h 6858000"/>
                <a:gd name="connsiteX6" fmla="*/ 340460 w 970370"/>
                <a:gd name="connsiteY6" fmla="*/ 6858000 h 6858000"/>
                <a:gd name="connsiteX7" fmla="*/ 301274 w 970370"/>
                <a:gd name="connsiteY7" fmla="*/ 6709785 h 6858000"/>
                <a:gd name="connsiteX8" fmla="*/ 0 w 970370"/>
                <a:gd name="connsiteY8" fmla="*/ 4134110 h 6858000"/>
                <a:gd name="connsiteX9" fmla="*/ 745964 w 970370"/>
                <a:gd name="connsiteY9" fmla="*/ 14402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0370" h="6858000">
                  <a:moveTo>
                    <a:pt x="805686" y="0"/>
                  </a:moveTo>
                  <a:lnTo>
                    <a:pt x="963626" y="0"/>
                  </a:lnTo>
                  <a:lnTo>
                    <a:pt x="908844" y="119192"/>
                  </a:lnTo>
                  <a:cubicBezTo>
                    <a:pt x="468479" y="1130416"/>
                    <a:pt x="224585" y="2246948"/>
                    <a:pt x="224585" y="3421332"/>
                  </a:cubicBezTo>
                  <a:cubicBezTo>
                    <a:pt x="224585" y="4601501"/>
                    <a:pt x="470286" y="5722010"/>
                    <a:pt x="914264" y="6736534"/>
                  </a:cubicBezTo>
                  <a:lnTo>
                    <a:pt x="970370" y="6858000"/>
                  </a:lnTo>
                  <a:lnTo>
                    <a:pt x="340460" y="6858000"/>
                  </a:lnTo>
                  <a:lnTo>
                    <a:pt x="301274" y="6709785"/>
                  </a:lnTo>
                  <a:cubicBezTo>
                    <a:pt x="104632" y="5888497"/>
                    <a:pt x="0" y="5025383"/>
                    <a:pt x="0" y="4134110"/>
                  </a:cubicBezTo>
                  <a:cubicBezTo>
                    <a:pt x="0" y="2715062"/>
                    <a:pt x="265888" y="1365920"/>
                    <a:pt x="745964" y="144024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BBB2CB0-6C4C-C4F1-B038-A61E156A663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9786580" y="4642864"/>
              <a:ext cx="2405420" cy="2215136"/>
            </a:xfrm>
            <a:custGeom>
              <a:avLst/>
              <a:gdLst>
                <a:gd name="connsiteX0" fmla="*/ 0 w 2405420"/>
                <a:gd name="connsiteY0" fmla="*/ 0 h 2215136"/>
                <a:gd name="connsiteX1" fmla="*/ 0 w 2405420"/>
                <a:gd name="connsiteY1" fmla="*/ 2215136 h 2215136"/>
                <a:gd name="connsiteX2" fmla="*/ 2405420 w 2405420"/>
                <a:gd name="connsiteY2" fmla="*/ 2215136 h 2215136"/>
                <a:gd name="connsiteX3" fmla="*/ 2321449 w 2405420"/>
                <a:gd name="connsiteY3" fmla="*/ 1985067 h 2215136"/>
                <a:gd name="connsiteX4" fmla="*/ 189238 w 2405420"/>
                <a:gd name="connsiteY4" fmla="*/ 51092 h 2215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5420" h="2215136">
                  <a:moveTo>
                    <a:pt x="0" y="0"/>
                  </a:moveTo>
                  <a:lnTo>
                    <a:pt x="0" y="2215136"/>
                  </a:lnTo>
                  <a:lnTo>
                    <a:pt x="2405420" y="2215136"/>
                  </a:lnTo>
                  <a:lnTo>
                    <a:pt x="2321449" y="1985067"/>
                  </a:lnTo>
                  <a:cubicBezTo>
                    <a:pt x="1932884" y="1064048"/>
                    <a:pt x="1153170" y="350368"/>
                    <a:pt x="189238" y="51092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3AD0A4-6945-3BAF-05ED-C4F9558FC09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2044101" cy="4476750"/>
            </a:xfrm>
            <a:custGeom>
              <a:avLst/>
              <a:gdLst>
                <a:gd name="T0" fmla="*/ 0 w 364"/>
                <a:gd name="T1" fmla="*/ 796 h 796"/>
                <a:gd name="T2" fmla="*/ 364 w 364"/>
                <a:gd name="T3" fmla="*/ 278 h 796"/>
                <a:gd name="T4" fmla="*/ 289 w 364"/>
                <a:gd name="T5" fmla="*/ 0 h 796"/>
                <a:gd name="T6" fmla="*/ 0 w 364"/>
                <a:gd name="T7" fmla="*/ 0 h 796"/>
                <a:gd name="T8" fmla="*/ 0 w 364"/>
                <a:gd name="T9" fmla="*/ 796 h 7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4" h="796">
                  <a:moveTo>
                    <a:pt x="0" y="796"/>
                  </a:moveTo>
                  <a:cubicBezTo>
                    <a:pt x="212" y="719"/>
                    <a:pt x="364" y="516"/>
                    <a:pt x="364" y="278"/>
                  </a:cubicBezTo>
                  <a:cubicBezTo>
                    <a:pt x="364" y="177"/>
                    <a:pt x="337" y="82"/>
                    <a:pt x="289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796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51A2DE-B350-691F-B29C-2AF983C5291A}"/>
                </a:ext>
              </a:extLst>
            </p:cNvPr>
            <p:cNvSpPr/>
            <p:nvPr/>
          </p:nvSpPr>
          <p:spPr>
            <a:xfrm>
              <a:off x="814191" y="804270"/>
              <a:ext cx="157755" cy="157755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23E68B9-8187-0290-532F-2B58947D37C1}"/>
                </a:ext>
              </a:extLst>
            </p:cNvPr>
            <p:cNvSpPr/>
            <p:nvPr/>
          </p:nvSpPr>
          <p:spPr>
            <a:xfrm>
              <a:off x="1058468" y="804270"/>
              <a:ext cx="157755" cy="15775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8F527E-7640-8709-2101-06F283BCC90F}"/>
                </a:ext>
              </a:extLst>
            </p:cNvPr>
            <p:cNvSpPr/>
            <p:nvPr/>
          </p:nvSpPr>
          <p:spPr>
            <a:xfrm>
              <a:off x="1302746" y="804270"/>
              <a:ext cx="157755" cy="157755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1" y="1089026"/>
            <a:ext cx="4673599" cy="2815318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48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" hasCustomPrompt="1"/>
          </p:nvPr>
        </p:nvSpPr>
        <p:spPr>
          <a:xfrm>
            <a:off x="660400" y="4158864"/>
            <a:ext cx="4673599" cy="721857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lang="en-US" sz="18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1364550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D10539A-C1C4-6938-E08F-ABBF8809B51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27E2AD-3652-ED88-F70A-AB4CB38FE0A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r="-3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/>
              <a:endParaRPr lang="zh-CN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21FF61-D406-0CC5-1220-B0D3CCB8BCF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82A54-1ED4-49C6-8154-FC2019FF8FB3}" type="datetime1">
              <a:rPr lang="zh-CN" altLang="en-US" smtClean="0"/>
              <a:t>2024/5/14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84958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3D36A-0885-4071-9EF1-0FE4286E17CF}" type="datetime1">
              <a:rPr lang="zh-CN" altLang="en-US" smtClean="0"/>
              <a:t>2024/5/14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76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6A5B53B-2C55-40D6-AE14-415ECD077551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D77524-5E54-C514-EB2E-B180078AF82A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r="-36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EE5D13E-DB8F-FD34-98C2-0C257CAAD2D6}"/>
                </a:ext>
              </a:extLst>
            </p:cNvPr>
            <p:cNvSpPr/>
            <p:nvPr/>
          </p:nvSpPr>
          <p:spPr>
            <a:xfrm>
              <a:off x="1" y="0"/>
              <a:ext cx="6222343" cy="6858000"/>
            </a:xfrm>
            <a:custGeom>
              <a:avLst/>
              <a:gdLst>
                <a:gd name="connsiteX0" fmla="*/ 0 w 6222343"/>
                <a:gd name="connsiteY0" fmla="*/ 0 h 6858000"/>
                <a:gd name="connsiteX1" fmla="*/ 6215599 w 6222343"/>
                <a:gd name="connsiteY1" fmla="*/ 0 h 6858000"/>
                <a:gd name="connsiteX2" fmla="*/ 6160817 w 6222343"/>
                <a:gd name="connsiteY2" fmla="*/ 119192 h 6858000"/>
                <a:gd name="connsiteX3" fmla="*/ 5476558 w 6222343"/>
                <a:gd name="connsiteY3" fmla="*/ 3421332 h 6858000"/>
                <a:gd name="connsiteX4" fmla="*/ 6166237 w 6222343"/>
                <a:gd name="connsiteY4" fmla="*/ 6736534 h 6858000"/>
                <a:gd name="connsiteX5" fmla="*/ 6222343 w 6222343"/>
                <a:gd name="connsiteY5" fmla="*/ 6858000 h 6858000"/>
                <a:gd name="connsiteX6" fmla="*/ 0 w 6222343"/>
                <a:gd name="connsiteY6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22343" h="6858000">
                  <a:moveTo>
                    <a:pt x="0" y="0"/>
                  </a:moveTo>
                  <a:lnTo>
                    <a:pt x="6215599" y="0"/>
                  </a:lnTo>
                  <a:lnTo>
                    <a:pt x="6160817" y="119192"/>
                  </a:lnTo>
                  <a:cubicBezTo>
                    <a:pt x="5720452" y="1130416"/>
                    <a:pt x="5476558" y="2246948"/>
                    <a:pt x="5476558" y="3421332"/>
                  </a:cubicBezTo>
                  <a:cubicBezTo>
                    <a:pt x="5476558" y="4601501"/>
                    <a:pt x="5722259" y="5722010"/>
                    <a:pt x="6166237" y="6736534"/>
                  </a:cubicBezTo>
                  <a:lnTo>
                    <a:pt x="6222343" y="6858000"/>
                  </a:lnTo>
                  <a:lnTo>
                    <a:pt x="0" y="685800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zh-CN" alt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3E8FB8D-7EEF-02A0-BE2A-7EAF7825BD5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38406" y="0"/>
              <a:ext cx="970370" cy="6858000"/>
            </a:xfrm>
            <a:custGeom>
              <a:avLst/>
              <a:gdLst>
                <a:gd name="connsiteX0" fmla="*/ 805686 w 970370"/>
                <a:gd name="connsiteY0" fmla="*/ 0 h 6858000"/>
                <a:gd name="connsiteX1" fmla="*/ 963626 w 970370"/>
                <a:gd name="connsiteY1" fmla="*/ 0 h 6858000"/>
                <a:gd name="connsiteX2" fmla="*/ 908844 w 970370"/>
                <a:gd name="connsiteY2" fmla="*/ 119192 h 6858000"/>
                <a:gd name="connsiteX3" fmla="*/ 224585 w 970370"/>
                <a:gd name="connsiteY3" fmla="*/ 3421332 h 6858000"/>
                <a:gd name="connsiteX4" fmla="*/ 914264 w 970370"/>
                <a:gd name="connsiteY4" fmla="*/ 6736534 h 6858000"/>
                <a:gd name="connsiteX5" fmla="*/ 970370 w 970370"/>
                <a:gd name="connsiteY5" fmla="*/ 6858000 h 6858000"/>
                <a:gd name="connsiteX6" fmla="*/ 340460 w 970370"/>
                <a:gd name="connsiteY6" fmla="*/ 6858000 h 6858000"/>
                <a:gd name="connsiteX7" fmla="*/ 301274 w 970370"/>
                <a:gd name="connsiteY7" fmla="*/ 6709785 h 6858000"/>
                <a:gd name="connsiteX8" fmla="*/ 0 w 970370"/>
                <a:gd name="connsiteY8" fmla="*/ 4134110 h 6858000"/>
                <a:gd name="connsiteX9" fmla="*/ 745964 w 970370"/>
                <a:gd name="connsiteY9" fmla="*/ 14402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0370" h="6858000">
                  <a:moveTo>
                    <a:pt x="805686" y="0"/>
                  </a:moveTo>
                  <a:lnTo>
                    <a:pt x="963626" y="0"/>
                  </a:lnTo>
                  <a:lnTo>
                    <a:pt x="908844" y="119192"/>
                  </a:lnTo>
                  <a:cubicBezTo>
                    <a:pt x="468479" y="1130416"/>
                    <a:pt x="224585" y="2246948"/>
                    <a:pt x="224585" y="3421332"/>
                  </a:cubicBezTo>
                  <a:cubicBezTo>
                    <a:pt x="224585" y="4601501"/>
                    <a:pt x="470286" y="5722010"/>
                    <a:pt x="914264" y="6736534"/>
                  </a:cubicBezTo>
                  <a:lnTo>
                    <a:pt x="970370" y="6858000"/>
                  </a:lnTo>
                  <a:lnTo>
                    <a:pt x="340460" y="6858000"/>
                  </a:lnTo>
                  <a:lnTo>
                    <a:pt x="301274" y="6709785"/>
                  </a:lnTo>
                  <a:cubicBezTo>
                    <a:pt x="104632" y="5888497"/>
                    <a:pt x="0" y="5025383"/>
                    <a:pt x="0" y="4134110"/>
                  </a:cubicBezTo>
                  <a:cubicBezTo>
                    <a:pt x="0" y="2715062"/>
                    <a:pt x="265888" y="1365920"/>
                    <a:pt x="745964" y="144024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BBB2CB0-6C4C-C4F1-B038-A61E156A663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9786580" y="4642864"/>
              <a:ext cx="2405420" cy="2215136"/>
            </a:xfrm>
            <a:custGeom>
              <a:avLst/>
              <a:gdLst>
                <a:gd name="connsiteX0" fmla="*/ 0 w 2405420"/>
                <a:gd name="connsiteY0" fmla="*/ 0 h 2215136"/>
                <a:gd name="connsiteX1" fmla="*/ 0 w 2405420"/>
                <a:gd name="connsiteY1" fmla="*/ 2215136 h 2215136"/>
                <a:gd name="connsiteX2" fmla="*/ 2405420 w 2405420"/>
                <a:gd name="connsiteY2" fmla="*/ 2215136 h 2215136"/>
                <a:gd name="connsiteX3" fmla="*/ 2321449 w 2405420"/>
                <a:gd name="connsiteY3" fmla="*/ 1985067 h 2215136"/>
                <a:gd name="connsiteX4" fmla="*/ 189238 w 2405420"/>
                <a:gd name="connsiteY4" fmla="*/ 51092 h 2215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5420" h="2215136">
                  <a:moveTo>
                    <a:pt x="0" y="0"/>
                  </a:moveTo>
                  <a:lnTo>
                    <a:pt x="0" y="2215136"/>
                  </a:lnTo>
                  <a:lnTo>
                    <a:pt x="2405420" y="2215136"/>
                  </a:lnTo>
                  <a:lnTo>
                    <a:pt x="2321449" y="1985067"/>
                  </a:lnTo>
                  <a:cubicBezTo>
                    <a:pt x="1932884" y="1064048"/>
                    <a:pt x="1153170" y="350368"/>
                    <a:pt x="189238" y="51092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3AD0A4-6945-3BAF-05ED-C4F9558FC09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2044101" cy="4476750"/>
            </a:xfrm>
            <a:custGeom>
              <a:avLst/>
              <a:gdLst>
                <a:gd name="T0" fmla="*/ 0 w 364"/>
                <a:gd name="T1" fmla="*/ 796 h 796"/>
                <a:gd name="T2" fmla="*/ 364 w 364"/>
                <a:gd name="T3" fmla="*/ 278 h 796"/>
                <a:gd name="T4" fmla="*/ 289 w 364"/>
                <a:gd name="T5" fmla="*/ 0 h 796"/>
                <a:gd name="T6" fmla="*/ 0 w 364"/>
                <a:gd name="T7" fmla="*/ 0 h 796"/>
                <a:gd name="T8" fmla="*/ 0 w 364"/>
                <a:gd name="T9" fmla="*/ 796 h 7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4" h="796">
                  <a:moveTo>
                    <a:pt x="0" y="796"/>
                  </a:moveTo>
                  <a:cubicBezTo>
                    <a:pt x="212" y="719"/>
                    <a:pt x="364" y="516"/>
                    <a:pt x="364" y="278"/>
                  </a:cubicBezTo>
                  <a:cubicBezTo>
                    <a:pt x="364" y="177"/>
                    <a:pt x="337" y="82"/>
                    <a:pt x="289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796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alpha val="20000"/>
                  </a:schemeClr>
                </a:gs>
                <a:gs pos="100000">
                  <a:schemeClr val="accent1">
                    <a:alpha val="70000"/>
                  </a:schemeClr>
                </a:gs>
              </a:gsLst>
              <a:lin ang="1200000" scaled="0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51A2DE-B350-691F-B29C-2AF983C5291A}"/>
                </a:ext>
              </a:extLst>
            </p:cNvPr>
            <p:cNvSpPr/>
            <p:nvPr/>
          </p:nvSpPr>
          <p:spPr>
            <a:xfrm>
              <a:off x="814191" y="804270"/>
              <a:ext cx="157755" cy="157755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23E68B9-8187-0290-532F-2B58947D37C1}"/>
                </a:ext>
              </a:extLst>
            </p:cNvPr>
            <p:cNvSpPr/>
            <p:nvPr/>
          </p:nvSpPr>
          <p:spPr>
            <a:xfrm>
              <a:off x="1058468" y="804270"/>
              <a:ext cx="157755" cy="15775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8F527E-7640-8709-2101-06F283BCC90F}"/>
                </a:ext>
              </a:extLst>
            </p:cNvPr>
            <p:cNvSpPr/>
            <p:nvPr/>
          </p:nvSpPr>
          <p:spPr>
            <a:xfrm>
              <a:off x="1302746" y="804270"/>
              <a:ext cx="157755" cy="157755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1" y="1089026"/>
            <a:ext cx="4673599" cy="2815318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48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398" y="5509733"/>
            <a:ext cx="467360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398" y="5857101"/>
            <a:ext cx="4673601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814523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8AEBC5-1D0D-411D-9EE3-C6F41EFD080C}" type="datetime1">
              <a:rPr lang="zh-CN" altLang="en-US" smtClean="0"/>
              <a:t>2024/5/14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1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2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 wrap="square">
            <a:normAutofit/>
          </a:bodyPr>
          <a:lstStyle/>
          <a:p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</a:rPr>
              <a:t>找鸭找 APP</a:t>
            </a:r>
            <a:endParaRPr lang="zh-CN" alt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/>
              <a:t>商业需求文档（BRD）v2.1 评审版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产品经理：刘杰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2026-08-19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57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B9E57BB-D324-3B5A-C0B8-E80AD7F5E81D}"/>
              </a:ext>
            </a:extLst>
          </p:cNvPr>
          <p:cNvGrpSpPr/>
          <p:nvPr/>
        </p:nvGrpSpPr>
        <p:grpSpPr>
          <a:xfrm>
            <a:off x="747483" y="1150565"/>
            <a:ext cx="11024001" cy="4418632"/>
            <a:chOff x="747483" y="1150565"/>
            <a:chExt cx="11024001" cy="4418632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DB636B5-2BF5-C616-7542-D43CF93DCCAC}"/>
                </a:ext>
              </a:extLst>
            </p:cNvPr>
            <p:cNvGrpSpPr/>
            <p:nvPr/>
          </p:nvGrpSpPr>
          <p:grpSpPr>
            <a:xfrm>
              <a:off x="4867200" y="1150565"/>
              <a:ext cx="2444900" cy="830997"/>
              <a:chOff x="4867200" y="1150565"/>
              <a:chExt cx="2444900" cy="830997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832FC0-C829-EE28-6F76-5A086ECCB3DE}"/>
                  </a:ext>
                </a:extLst>
              </p:cNvPr>
              <p:cNvSpPr txBox="1"/>
              <p:nvPr/>
            </p:nvSpPr>
            <p:spPr>
              <a:xfrm>
                <a:off x="4867200" y="1150565"/>
                <a:ext cx="2444900" cy="8309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spAutoFit/>
              </a:bodyPr>
              <a:lstStyle/>
              <a:p>
                <a:pPr algn="ctr">
                  <a:lnSpc>
                    <a:spcPct val="100000"/>
                  </a:lnSpc>
                  <a:buSzPct val="25000"/>
                </a:pPr>
                <a:r>
                  <a:rPr lang="en-US" altLang="zh-CN" sz="4800" b="1" dirty="0">
                    <a:solidFill>
                      <a:schemeClr val="accent1"/>
                    </a:solidFill>
                  </a:rPr>
                  <a:t>Agenda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C58426E-6455-FBCD-7D0D-4016FFFECAA5}"/>
                </a:ext>
              </a:extLst>
            </p:cNvPr>
            <p:cNvGrpSpPr/>
            <p:nvPr/>
          </p:nvGrpSpPr>
          <p:grpSpPr>
            <a:xfrm>
              <a:off x="747483" y="3767880"/>
              <a:ext cx="2387602" cy="1801317"/>
              <a:chOff x="747483" y="3771255"/>
              <a:chExt cx="2387602" cy="1801317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F9D0BAE1-6294-D1EB-8362-5992655B24BD}"/>
                  </a:ext>
                </a:extLst>
              </p:cNvPr>
              <p:cNvGrpSpPr/>
              <p:nvPr/>
            </p:nvGrpSpPr>
            <p:grpSpPr>
              <a:xfrm>
                <a:off x="747484" y="4749600"/>
                <a:ext cx="2387601" cy="822972"/>
                <a:chOff x="660400" y="4334130"/>
                <a:chExt cx="2387601" cy="822972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316BFC9B-EC3E-1DA4-440F-C91E26A7E57C}"/>
                    </a:ext>
                  </a:extLst>
                </p:cNvPr>
                <p:cNvSpPr/>
                <p:nvPr/>
              </p:nvSpPr>
              <p:spPr>
                <a:xfrm>
                  <a:off x="660400" y="4334130"/>
                  <a:ext cx="1859584" cy="46433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产品定义与目标用户</a:t>
                  </a: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AD42D270-9694-A607-F9F3-992E0BC6811B}"/>
                    </a:ext>
                  </a:extLst>
                </p:cNvPr>
                <p:cNvSpPr/>
                <p:nvPr/>
              </p:nvSpPr>
              <p:spPr>
                <a:xfrm>
                  <a:off x="660401" y="4736501"/>
                  <a:ext cx="2387600" cy="42060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5km 生活圈双向供需信息撮合</a:t>
                  </a:r>
                </a:p>
              </p:txBody>
            </p:sp>
          </p:grp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3B289B1-FC12-C897-4C63-39F075B2BBB6}"/>
                  </a:ext>
                </a:extLst>
              </p:cNvPr>
              <p:cNvSpPr/>
              <p:nvPr/>
            </p:nvSpPr>
            <p:spPr>
              <a:xfrm>
                <a:off x="747483" y="3771255"/>
                <a:ext cx="2387601" cy="104910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ctr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5400" b="1" dirty="0">
                    <a:solidFill>
                      <a:schemeClr val="tx2"/>
                    </a:solidFill>
                  </a:rPr>
                  <a:t>01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D40CEB9-7CA2-AE49-CF9C-CD2991F56ACE}"/>
                </a:ext>
              </a:extLst>
            </p:cNvPr>
            <p:cNvGrpSpPr/>
            <p:nvPr/>
          </p:nvGrpSpPr>
          <p:grpSpPr>
            <a:xfrm>
              <a:off x="2906583" y="3298225"/>
              <a:ext cx="2387601" cy="1758839"/>
              <a:chOff x="3513085" y="3246702"/>
              <a:chExt cx="2387601" cy="1758839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CF6C926D-FB9B-7607-43C3-99F6B023755A}"/>
                  </a:ext>
                </a:extLst>
              </p:cNvPr>
              <p:cNvGrpSpPr/>
              <p:nvPr/>
            </p:nvGrpSpPr>
            <p:grpSpPr>
              <a:xfrm>
                <a:off x="3513085" y="4182569"/>
                <a:ext cx="2387601" cy="822972"/>
                <a:chOff x="660400" y="4334130"/>
                <a:chExt cx="2387601" cy="822972"/>
              </a:xfrm>
            </p:grpSpPr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A4BEA30-F4C1-1C23-99B8-195942EE83D4}"/>
                    </a:ext>
                  </a:extLst>
                </p:cNvPr>
                <p:cNvSpPr/>
                <p:nvPr/>
              </p:nvSpPr>
              <p:spPr>
                <a:xfrm>
                  <a:off x="660400" y="4334130"/>
                  <a:ext cx="2064769" cy="46433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accent1"/>
                      </a:solidFill>
                    </a:rPr>
                    <a:t>市场机会与产品定位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3118D6F7-EA71-8571-1623-69401187F332}"/>
                    </a:ext>
                  </a:extLst>
                </p:cNvPr>
                <p:cNvSpPr/>
                <p:nvPr/>
              </p:nvSpPr>
              <p:spPr>
                <a:xfrm>
                  <a:off x="660401" y="4736501"/>
                  <a:ext cx="2387600" cy="42060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空白地带与核心价值主张</a:t>
                  </a:r>
                </a:p>
              </p:txBody>
            </p:sp>
          </p:grp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4548C8C-ABD4-1D7D-5BC5-8DA28A34100D}"/>
                  </a:ext>
                </a:extLst>
              </p:cNvPr>
              <p:cNvSpPr/>
              <p:nvPr/>
            </p:nvSpPr>
            <p:spPr>
              <a:xfrm>
                <a:off x="3513085" y="3246702"/>
                <a:ext cx="2387601" cy="104910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ctr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5400" b="1" dirty="0">
                    <a:solidFill>
                      <a:schemeClr val="accent1"/>
                    </a:solidFill>
                  </a:rPr>
                  <a:t>02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0D9FF9C-F168-79FB-23C6-4BA4D7499643}"/>
                </a:ext>
              </a:extLst>
            </p:cNvPr>
            <p:cNvGrpSpPr/>
            <p:nvPr/>
          </p:nvGrpSpPr>
          <p:grpSpPr>
            <a:xfrm>
              <a:off x="5065682" y="3767880"/>
              <a:ext cx="2387602" cy="1801317"/>
              <a:chOff x="747483" y="3771255"/>
              <a:chExt cx="2387602" cy="1801317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F4E1ECFA-4707-C772-6481-3769FF7D9992}"/>
                  </a:ext>
                </a:extLst>
              </p:cNvPr>
              <p:cNvGrpSpPr/>
              <p:nvPr/>
            </p:nvGrpSpPr>
            <p:grpSpPr>
              <a:xfrm>
                <a:off x="747484" y="4749600"/>
                <a:ext cx="2387601" cy="822972"/>
                <a:chOff x="660400" y="4334130"/>
                <a:chExt cx="2387601" cy="822972"/>
              </a:xfrm>
            </p:grpSpPr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3039AACF-831C-AA65-3040-794023AE8380}"/>
                    </a:ext>
                  </a:extLst>
                </p:cNvPr>
                <p:cNvSpPr/>
                <p:nvPr/>
              </p:nvSpPr>
              <p:spPr>
                <a:xfrm>
                  <a:off x="660400" y="4334130"/>
                  <a:ext cx="2064769" cy="46433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竞品与差异化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B7596DD0-6638-A08B-C15E-8C494751FCBA}"/>
                    </a:ext>
                  </a:extLst>
                </p:cNvPr>
                <p:cNvSpPr/>
                <p:nvPr/>
              </p:nvSpPr>
              <p:spPr>
                <a:xfrm>
                  <a:off x="660401" y="4736501"/>
                  <a:ext cx="2387600" cy="42060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错位竞争与商业护城河</a:t>
                  </a:r>
                </a:p>
              </p:txBody>
            </p:sp>
          </p:grp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3ADE2C3-5AAD-877F-6B10-C99EB356ACB5}"/>
                  </a:ext>
                </a:extLst>
              </p:cNvPr>
              <p:cNvSpPr/>
              <p:nvPr/>
            </p:nvSpPr>
            <p:spPr>
              <a:xfrm>
                <a:off x="747483" y="3771255"/>
                <a:ext cx="2387601" cy="104910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ctr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5400" b="1" dirty="0">
                    <a:solidFill>
                      <a:schemeClr val="tx2"/>
                    </a:solidFill>
                  </a:rPr>
                  <a:t>03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7D34E02-AC74-A07A-E0ED-2FDFDF397E34}"/>
                </a:ext>
              </a:extLst>
            </p:cNvPr>
            <p:cNvGrpSpPr/>
            <p:nvPr/>
          </p:nvGrpSpPr>
          <p:grpSpPr>
            <a:xfrm>
              <a:off x="7224782" y="3298225"/>
              <a:ext cx="2387601" cy="1758839"/>
              <a:chOff x="3513085" y="3246702"/>
              <a:chExt cx="2387601" cy="1758839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F17B5766-583F-0579-017F-0F6433B51888}"/>
                  </a:ext>
                </a:extLst>
              </p:cNvPr>
              <p:cNvGrpSpPr/>
              <p:nvPr/>
            </p:nvGrpSpPr>
            <p:grpSpPr>
              <a:xfrm>
                <a:off x="3513085" y="4182569"/>
                <a:ext cx="2387601" cy="822972"/>
                <a:chOff x="660400" y="4334130"/>
                <a:chExt cx="2387601" cy="822972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0EACA6E4-5A16-2865-647B-E429DBB692A9}"/>
                    </a:ext>
                  </a:extLst>
                </p:cNvPr>
                <p:cNvSpPr/>
                <p:nvPr/>
              </p:nvSpPr>
              <p:spPr>
                <a:xfrm>
                  <a:off x="660400" y="4334130"/>
                  <a:ext cx="2269953" cy="46433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accent1"/>
                      </a:solidFill>
                    </a:rPr>
                    <a:t>北极星与成功指标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8D57DB35-931E-3AB8-63A5-71C44AA3D31B}"/>
                    </a:ext>
                  </a:extLst>
                </p:cNvPr>
                <p:cNvSpPr/>
                <p:nvPr/>
              </p:nvSpPr>
              <p:spPr>
                <a:xfrm>
                  <a:off x="660401" y="4736501"/>
                  <a:ext cx="2387600" cy="42060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三乘积等权硬线 0.216</a:t>
                  </a:r>
                </a:p>
              </p:txBody>
            </p:sp>
          </p:grp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7E0C6C9-F9F8-1C93-49A0-84E8671AEAF1}"/>
                  </a:ext>
                </a:extLst>
              </p:cNvPr>
              <p:cNvSpPr/>
              <p:nvPr/>
            </p:nvSpPr>
            <p:spPr>
              <a:xfrm>
                <a:off x="3513085" y="3246702"/>
                <a:ext cx="2387601" cy="104910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ctr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5400" b="1" dirty="0">
                    <a:solidFill>
                      <a:schemeClr val="accent1"/>
                    </a:solidFill>
                  </a:rPr>
                  <a:t>04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470D9C2B-D69A-600E-AA55-423BD1CAE90B}"/>
                </a:ext>
              </a:extLst>
            </p:cNvPr>
            <p:cNvGrpSpPr/>
            <p:nvPr/>
          </p:nvGrpSpPr>
          <p:grpSpPr>
            <a:xfrm>
              <a:off x="9383882" y="3767880"/>
              <a:ext cx="2387602" cy="1801317"/>
              <a:chOff x="747483" y="3771255"/>
              <a:chExt cx="2387602" cy="1801317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54D5156D-855D-F292-7E13-B813BE4DC4FF}"/>
                  </a:ext>
                </a:extLst>
              </p:cNvPr>
              <p:cNvGrpSpPr/>
              <p:nvPr/>
            </p:nvGrpSpPr>
            <p:grpSpPr>
              <a:xfrm>
                <a:off x="747484" y="4749600"/>
                <a:ext cx="2387601" cy="822972"/>
                <a:chOff x="660400" y="4334130"/>
                <a:chExt cx="2387601" cy="822972"/>
              </a:xfrm>
            </p:grpSpPr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CF2A3734-7271-FC7A-A027-DD4FA0A11E95}"/>
                    </a:ext>
                  </a:extLst>
                </p:cNvPr>
                <p:cNvSpPr/>
                <p:nvPr/>
              </p:nvSpPr>
              <p:spPr>
                <a:xfrm>
                  <a:off x="660400" y="4334130"/>
                  <a:ext cx="1859584" cy="46433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滚动 MVP 路线图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3E802780-948C-BF85-C6E9-91F7088B7688}"/>
                    </a:ext>
                  </a:extLst>
                </p:cNvPr>
                <p:cNvSpPr/>
                <p:nvPr/>
              </p:nvSpPr>
              <p:spPr>
                <a:xfrm>
                  <a:off x="660401" y="4736501"/>
                  <a:ext cx="2387600" cy="42060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三批交付与风险应对</a:t>
                  </a:r>
                </a:p>
              </p:txBody>
            </p:sp>
          </p:grp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82A5C25-0438-127C-E2C3-F1667AE53572}"/>
                  </a:ext>
                </a:extLst>
              </p:cNvPr>
              <p:cNvSpPr/>
              <p:nvPr/>
            </p:nvSpPr>
            <p:spPr>
              <a:xfrm>
                <a:off x="747483" y="3771255"/>
                <a:ext cx="2387601" cy="104910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ctr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5400" b="1" dirty="0">
                    <a:solidFill>
                      <a:schemeClr val="tx2"/>
                    </a:solidFill>
                  </a:rPr>
                  <a:t>05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111320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01.产品定义与目标用户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/>
              <a:t>5km 生活圈双向供需信息撮合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72819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660398" y="1439733"/>
            <a:ext cx="10858502" cy="4696675"/>
            <a:chOff x="660398" y="1439733"/>
            <a:chExt cx="10858502" cy="469667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35AD924-CF0A-4C8B-BCDE-5BAF69638CDD}"/>
                </a:ext>
              </a:extLst>
            </p:cNvPr>
            <p:cNvSpPr/>
            <p:nvPr/>
          </p:nvSpPr>
          <p:spPr>
            <a:xfrm>
              <a:off x="660398" y="1439733"/>
              <a:ext cx="2818961" cy="4696674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800" b="1" dirty="0">
                <a:solidFill>
                  <a:schemeClr val="accent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D6DD23C-040D-47C9-9264-ACE433584AE2}"/>
                </a:ext>
              </a:extLst>
            </p:cNvPr>
            <p:cNvSpPr/>
            <p:nvPr/>
          </p:nvSpPr>
          <p:spPr>
            <a:xfrm>
              <a:off x="7558811" y="1439733"/>
              <a:ext cx="3960089" cy="2218400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800" b="1" dirty="0">
                <a:solidFill>
                  <a:schemeClr val="accent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03FEED2-53D4-40A2-AEDF-DC6D64357435}"/>
                </a:ext>
              </a:extLst>
            </p:cNvPr>
            <p:cNvSpPr/>
            <p:nvPr/>
          </p:nvSpPr>
          <p:spPr>
            <a:xfrm>
              <a:off x="7558811" y="3918008"/>
              <a:ext cx="3960089" cy="2218400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800" b="1" dirty="0">
                <a:solidFill>
                  <a:schemeClr val="accent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0EDC50D-D05A-4419-950D-37B5A5619032}"/>
                </a:ext>
              </a:extLst>
            </p:cNvPr>
            <p:cNvSpPr/>
            <p:nvPr/>
          </p:nvSpPr>
          <p:spPr>
            <a:xfrm>
              <a:off x="3707245" y="1439733"/>
              <a:ext cx="3623679" cy="4696674"/>
            </a:xfrm>
            <a:prstGeom prst="rect">
              <a:avLst/>
            </a:prstGeom>
            <a:blipFill rotWithShape="0">
              <a:blip r:embed="rId3"/>
              <a:srcRect/>
              <a:stretch>
                <a:fillRect l="-47360" r="-4736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63789A5-0704-461C-B26B-873A2893719E}"/>
                </a:ext>
              </a:extLst>
            </p:cNvPr>
            <p:cNvSpPr txBox="1"/>
            <p:nvPr/>
          </p:nvSpPr>
          <p:spPr>
            <a:xfrm>
              <a:off x="800939" y="1654391"/>
              <a:ext cx="2012843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spAutoFit/>
            </a:bodyPr>
            <a:lstStyle/>
            <a:p>
              <a:pPr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产品核心定义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516E618-3B8F-4507-9ABF-1BB07300577D}"/>
                </a:ext>
              </a:extLst>
            </p:cNvPr>
            <p:cNvSpPr/>
            <p:nvPr/>
          </p:nvSpPr>
          <p:spPr>
            <a:xfrm flipH="1">
              <a:off x="800939" y="2700045"/>
              <a:ext cx="2510588" cy="516423"/>
            </a:xfrm>
            <a:prstGeom prst="rect">
              <a:avLst/>
            </a:prstGeom>
            <a:ln>
              <a:noFill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/>
                <a:t>聚焦 5 公里生活圈的双向供需撮合 APP，就近解决本地需求。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D21E570-BEC3-49B0-BA96-7CEEB9349841}"/>
                </a:ext>
              </a:extLst>
            </p:cNvPr>
            <p:cNvGrpSpPr/>
            <p:nvPr/>
          </p:nvGrpSpPr>
          <p:grpSpPr>
            <a:xfrm>
              <a:off x="800940" y="4671305"/>
              <a:ext cx="2510588" cy="807234"/>
              <a:chOff x="8371294" y="5043630"/>
              <a:chExt cx="2906306" cy="807234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E168C04-BC29-4A59-AFCF-286967B45E9B}"/>
                  </a:ext>
                </a:extLst>
              </p:cNvPr>
              <p:cNvSpPr/>
              <p:nvPr/>
            </p:nvSpPr>
            <p:spPr>
              <a:xfrm flipH="1">
                <a:off x="8371294" y="5325399"/>
                <a:ext cx="2906306" cy="525465"/>
              </a:xfrm>
              <a:prstGeom prst="rect">
                <a:avLst/>
              </a:prstGeom>
              <a:ln>
                <a:noFill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defTabSz="913765">
                  <a:lnSpc>
                    <a:spcPct val="120000"/>
                  </a:lnSpc>
                  <a:buSzPct val="25000"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默认 5 公里可调，把「近」做成第一差异化。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F266F8-9DC0-49EE-BDB6-1B896538DBAD}"/>
                  </a:ext>
                </a:extLst>
              </p:cNvPr>
              <p:cNvSpPr txBox="1"/>
              <p:nvPr/>
            </p:nvSpPr>
            <p:spPr>
              <a:xfrm>
                <a:off x="8371294" y="5043630"/>
                <a:ext cx="2906306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>
                    <a:solidFill>
                      <a:schemeClr val="accent1"/>
                    </a:solidFill>
                  </a:rPr>
                  <a:t>5km 生活圈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57397E8-9A24-4FFC-8E31-C5484CC06B2B}"/>
                </a:ext>
              </a:extLst>
            </p:cNvPr>
            <p:cNvGrpSpPr/>
            <p:nvPr/>
          </p:nvGrpSpPr>
          <p:grpSpPr>
            <a:xfrm>
              <a:off x="7767471" y="1999276"/>
              <a:ext cx="3500892" cy="637842"/>
              <a:chOff x="7767471" y="1887722"/>
              <a:chExt cx="3500892" cy="637842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28CA907-42ED-43FB-AC39-33C66795A67B}"/>
                  </a:ext>
                </a:extLst>
              </p:cNvPr>
              <p:cNvSpPr/>
              <p:nvPr/>
            </p:nvSpPr>
            <p:spPr>
              <a:xfrm flipH="1">
                <a:off x="8162350" y="2230740"/>
                <a:ext cx="3106009" cy="294824"/>
              </a:xfrm>
              <a:prstGeom prst="rect">
                <a:avLst/>
              </a:prstGeom>
              <a:ln>
                <a:noFill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资源与需求同池双向发布，互为猎手。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B712FE-53CF-4EC7-ACAF-6BB22D2B5DBA}"/>
                  </a:ext>
                </a:extLst>
              </p:cNvPr>
              <p:cNvSpPr txBox="1"/>
              <p:nvPr/>
            </p:nvSpPr>
            <p:spPr>
              <a:xfrm>
                <a:off x="8162354" y="1898837"/>
                <a:ext cx="310600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双向供需</a:t>
                </a:r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992DC08E-FF7D-49F8-BE24-604E17398245}"/>
                  </a:ext>
                </a:extLst>
              </p:cNvPr>
              <p:cNvSpPr/>
              <p:nvPr/>
            </p:nvSpPr>
            <p:spPr bwMode="auto">
              <a:xfrm>
                <a:off x="7767471" y="1887722"/>
                <a:ext cx="281765" cy="343018"/>
              </a:xfrm>
              <a:custGeom>
                <a:avLst/>
                <a:gdLst>
                  <a:gd name="connsiteX0" fmla="*/ 286102 w 438150"/>
                  <a:gd name="connsiteY0" fmla="*/ 621 h 533400"/>
                  <a:gd name="connsiteX1" fmla="*/ 286102 w 438150"/>
                  <a:gd name="connsiteY1" fmla="*/ 153021 h 533400"/>
                  <a:gd name="connsiteX2" fmla="*/ 438502 w 438150"/>
                  <a:gd name="connsiteY2" fmla="*/ 153021 h 533400"/>
                  <a:gd name="connsiteX3" fmla="*/ 438502 w 438150"/>
                  <a:gd name="connsiteY3" fmla="*/ 534021 h 533400"/>
                  <a:gd name="connsiteX4" fmla="*/ 352 w 438150"/>
                  <a:gd name="connsiteY4" fmla="*/ 534021 h 533400"/>
                  <a:gd name="connsiteX5" fmla="*/ 352 w 438150"/>
                  <a:gd name="connsiteY5" fmla="*/ 621 h 533400"/>
                  <a:gd name="connsiteX6" fmla="*/ 286102 w 438150"/>
                  <a:gd name="connsiteY6" fmla="*/ 621 h 533400"/>
                  <a:gd name="connsiteX7" fmla="*/ 248002 w 438150"/>
                  <a:gd name="connsiteY7" fmla="*/ 200646 h 533400"/>
                  <a:gd name="connsiteX8" fmla="*/ 152752 w 438150"/>
                  <a:gd name="connsiteY8" fmla="*/ 200646 h 533400"/>
                  <a:gd name="connsiteX9" fmla="*/ 152752 w 438150"/>
                  <a:gd name="connsiteY9" fmla="*/ 410196 h 533400"/>
                  <a:gd name="connsiteX10" fmla="*/ 171802 w 438150"/>
                  <a:gd name="connsiteY10" fmla="*/ 410196 h 533400"/>
                  <a:gd name="connsiteX11" fmla="*/ 171802 w 438150"/>
                  <a:gd name="connsiteY11" fmla="*/ 314946 h 533400"/>
                  <a:gd name="connsiteX12" fmla="*/ 248002 w 438150"/>
                  <a:gd name="connsiteY12" fmla="*/ 314946 h 533400"/>
                  <a:gd name="connsiteX13" fmla="*/ 250098 w 438150"/>
                  <a:gd name="connsiteY13" fmla="*/ 314946 h 533400"/>
                  <a:gd name="connsiteX14" fmla="*/ 305152 w 438150"/>
                  <a:gd name="connsiteY14" fmla="*/ 257796 h 533400"/>
                  <a:gd name="connsiteX15" fmla="*/ 248002 w 438150"/>
                  <a:gd name="connsiteY15" fmla="*/ 200646 h 533400"/>
                  <a:gd name="connsiteX16" fmla="*/ 248002 w 438150"/>
                  <a:gd name="connsiteY16" fmla="*/ 200646 h 533400"/>
                  <a:gd name="connsiteX17" fmla="*/ 248002 w 438150"/>
                  <a:gd name="connsiteY17" fmla="*/ 219696 h 533400"/>
                  <a:gd name="connsiteX18" fmla="*/ 286102 w 438150"/>
                  <a:gd name="connsiteY18" fmla="*/ 257796 h 533400"/>
                  <a:gd name="connsiteX19" fmla="*/ 248002 w 438150"/>
                  <a:gd name="connsiteY19" fmla="*/ 295896 h 533400"/>
                  <a:gd name="connsiteX20" fmla="*/ 248002 w 438150"/>
                  <a:gd name="connsiteY20" fmla="*/ 295896 h 533400"/>
                  <a:gd name="connsiteX21" fmla="*/ 171802 w 438150"/>
                  <a:gd name="connsiteY21" fmla="*/ 295896 h 533400"/>
                  <a:gd name="connsiteX22" fmla="*/ 171802 w 438150"/>
                  <a:gd name="connsiteY22" fmla="*/ 219696 h 533400"/>
                  <a:gd name="connsiteX23" fmla="*/ 248002 w 438150"/>
                  <a:gd name="connsiteY23" fmla="*/ 219696 h 533400"/>
                  <a:gd name="connsiteX24" fmla="*/ 428977 w 438150"/>
                  <a:gd name="connsiteY24" fmla="*/ 133971 h 533400"/>
                  <a:gd name="connsiteX25" fmla="*/ 305152 w 438150"/>
                  <a:gd name="connsiteY25" fmla="*/ 133971 h 533400"/>
                  <a:gd name="connsiteX26" fmla="*/ 305152 w 438150"/>
                  <a:gd name="connsiteY26" fmla="*/ 10146 h 533400"/>
                  <a:gd name="connsiteX27" fmla="*/ 428977 w 438150"/>
                  <a:gd name="connsiteY27" fmla="*/ 133971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38150" h="533400">
                    <a:moveTo>
                      <a:pt x="286102" y="621"/>
                    </a:moveTo>
                    <a:lnTo>
                      <a:pt x="286102" y="153021"/>
                    </a:lnTo>
                    <a:lnTo>
                      <a:pt x="438502" y="153021"/>
                    </a:lnTo>
                    <a:lnTo>
                      <a:pt x="438502" y="534021"/>
                    </a:lnTo>
                    <a:lnTo>
                      <a:pt x="352" y="534021"/>
                    </a:lnTo>
                    <a:lnTo>
                      <a:pt x="352" y="621"/>
                    </a:lnTo>
                    <a:lnTo>
                      <a:pt x="286102" y="621"/>
                    </a:lnTo>
                    <a:close/>
                    <a:moveTo>
                      <a:pt x="248002" y="200646"/>
                    </a:moveTo>
                    <a:lnTo>
                      <a:pt x="152752" y="200646"/>
                    </a:lnTo>
                    <a:lnTo>
                      <a:pt x="152752" y="410196"/>
                    </a:lnTo>
                    <a:lnTo>
                      <a:pt x="171802" y="410196"/>
                    </a:lnTo>
                    <a:lnTo>
                      <a:pt x="171802" y="314946"/>
                    </a:lnTo>
                    <a:lnTo>
                      <a:pt x="248002" y="314946"/>
                    </a:lnTo>
                    <a:lnTo>
                      <a:pt x="250098" y="314946"/>
                    </a:lnTo>
                    <a:cubicBezTo>
                      <a:pt x="280673" y="313803"/>
                      <a:pt x="305152" y="288657"/>
                      <a:pt x="305152" y="257796"/>
                    </a:cubicBezTo>
                    <a:cubicBezTo>
                      <a:pt x="305152" y="226268"/>
                      <a:pt x="279530" y="200646"/>
                      <a:pt x="248002" y="200646"/>
                    </a:cubicBezTo>
                    <a:lnTo>
                      <a:pt x="248002" y="200646"/>
                    </a:lnTo>
                    <a:close/>
                    <a:moveTo>
                      <a:pt x="248002" y="219696"/>
                    </a:moveTo>
                    <a:cubicBezTo>
                      <a:pt x="269052" y="219696"/>
                      <a:pt x="286102" y="236746"/>
                      <a:pt x="286102" y="257796"/>
                    </a:cubicBezTo>
                    <a:cubicBezTo>
                      <a:pt x="286102" y="278846"/>
                      <a:pt x="269052" y="295896"/>
                      <a:pt x="248002" y="295896"/>
                    </a:cubicBezTo>
                    <a:lnTo>
                      <a:pt x="248002" y="295896"/>
                    </a:lnTo>
                    <a:lnTo>
                      <a:pt x="171802" y="295896"/>
                    </a:lnTo>
                    <a:lnTo>
                      <a:pt x="171802" y="219696"/>
                    </a:lnTo>
                    <a:lnTo>
                      <a:pt x="248002" y="219696"/>
                    </a:lnTo>
                    <a:close/>
                    <a:moveTo>
                      <a:pt x="428977" y="133971"/>
                    </a:moveTo>
                    <a:lnTo>
                      <a:pt x="305152" y="133971"/>
                    </a:lnTo>
                    <a:lnTo>
                      <a:pt x="305152" y="10146"/>
                    </a:lnTo>
                    <a:lnTo>
                      <a:pt x="428977" y="13397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4C8AC30-5A0A-4B1E-A71B-4E9836042616}"/>
                </a:ext>
              </a:extLst>
            </p:cNvPr>
            <p:cNvGrpSpPr/>
            <p:nvPr/>
          </p:nvGrpSpPr>
          <p:grpSpPr>
            <a:xfrm>
              <a:off x="7768854" y="4477551"/>
              <a:ext cx="3522164" cy="637842"/>
              <a:chOff x="7768854" y="4395905"/>
              <a:chExt cx="3522164" cy="637842"/>
            </a:xfrm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B4D2447E-F758-49FB-95D3-EE64D5D0DA47}"/>
                  </a:ext>
                </a:extLst>
              </p:cNvPr>
              <p:cNvSpPr/>
              <p:nvPr/>
            </p:nvSpPr>
            <p:spPr bwMode="auto">
              <a:xfrm>
                <a:off x="7768854" y="4395905"/>
                <a:ext cx="324308" cy="343018"/>
              </a:xfrm>
              <a:custGeom>
                <a:avLst/>
                <a:gdLst>
                  <a:gd name="connsiteX0" fmla="*/ 372211 w 495300"/>
                  <a:gd name="connsiteY0" fmla="*/ 621 h 523875"/>
                  <a:gd name="connsiteX1" fmla="*/ 372211 w 495300"/>
                  <a:gd name="connsiteY1" fmla="*/ 19671 h 523875"/>
                  <a:gd name="connsiteX2" fmla="*/ 334111 w 495300"/>
                  <a:gd name="connsiteY2" fmla="*/ 19671 h 523875"/>
                  <a:gd name="connsiteX3" fmla="*/ 334111 w 495300"/>
                  <a:gd name="connsiteY3" fmla="*/ 143877 h 523875"/>
                  <a:gd name="connsiteX4" fmla="*/ 496036 w 495300"/>
                  <a:gd name="connsiteY4" fmla="*/ 486587 h 523875"/>
                  <a:gd name="connsiteX5" fmla="*/ 481749 w 495300"/>
                  <a:gd name="connsiteY5" fmla="*/ 524496 h 523875"/>
                  <a:gd name="connsiteX6" fmla="*/ 15024 w 495300"/>
                  <a:gd name="connsiteY6" fmla="*/ 524496 h 523875"/>
                  <a:gd name="connsiteX7" fmla="*/ 736 w 495300"/>
                  <a:gd name="connsiteY7" fmla="*/ 486587 h 523875"/>
                  <a:gd name="connsiteX8" fmla="*/ 162661 w 495300"/>
                  <a:gd name="connsiteY8" fmla="*/ 143877 h 523875"/>
                  <a:gd name="connsiteX9" fmla="*/ 162661 w 495300"/>
                  <a:gd name="connsiteY9" fmla="*/ 19671 h 523875"/>
                  <a:gd name="connsiteX10" fmla="*/ 124561 w 495300"/>
                  <a:gd name="connsiteY10" fmla="*/ 19671 h 523875"/>
                  <a:gd name="connsiteX11" fmla="*/ 124561 w 495300"/>
                  <a:gd name="connsiteY11" fmla="*/ 621 h 523875"/>
                  <a:gd name="connsiteX12" fmla="*/ 372211 w 495300"/>
                  <a:gd name="connsiteY12" fmla="*/ 621 h 523875"/>
                  <a:gd name="connsiteX13" fmla="*/ 259435 w 495300"/>
                  <a:gd name="connsiteY13" fmla="*/ 404767 h 523875"/>
                  <a:gd name="connsiteX14" fmla="*/ 256577 w 495300"/>
                  <a:gd name="connsiteY14" fmla="*/ 406576 h 523875"/>
                  <a:gd name="connsiteX15" fmla="*/ 251053 w 495300"/>
                  <a:gd name="connsiteY15" fmla="*/ 410291 h 523875"/>
                  <a:gd name="connsiteX16" fmla="*/ 59220 w 495300"/>
                  <a:gd name="connsiteY16" fmla="*/ 416864 h 523875"/>
                  <a:gd name="connsiteX17" fmla="*/ 55409 w 495300"/>
                  <a:gd name="connsiteY17" fmla="*/ 415339 h 523875"/>
                  <a:gd name="connsiteX18" fmla="*/ 21310 w 495300"/>
                  <a:gd name="connsiteY18" fmla="*/ 487444 h 523875"/>
                  <a:gd name="connsiteX19" fmla="*/ 28073 w 495300"/>
                  <a:gd name="connsiteY19" fmla="*/ 505446 h 523875"/>
                  <a:gd name="connsiteX20" fmla="*/ 468414 w 495300"/>
                  <a:gd name="connsiteY20" fmla="*/ 505446 h 523875"/>
                  <a:gd name="connsiteX21" fmla="*/ 475176 w 495300"/>
                  <a:gd name="connsiteY21" fmla="*/ 487444 h 523875"/>
                  <a:gd name="connsiteX22" fmla="*/ 428313 w 495300"/>
                  <a:gd name="connsiteY22" fmla="*/ 388289 h 523875"/>
                  <a:gd name="connsiteX23" fmla="*/ 259435 w 495300"/>
                  <a:gd name="connsiteY23" fmla="*/ 404767 h 523875"/>
                  <a:gd name="connsiteX24" fmla="*/ 310299 w 495300"/>
                  <a:gd name="connsiteY24" fmla="*/ 257796 h 523875"/>
                  <a:gd name="connsiteX25" fmla="*/ 276961 w 495300"/>
                  <a:gd name="connsiteY25" fmla="*/ 291134 h 523875"/>
                  <a:gd name="connsiteX26" fmla="*/ 310299 w 495300"/>
                  <a:gd name="connsiteY26" fmla="*/ 324471 h 523875"/>
                  <a:gd name="connsiteX27" fmla="*/ 343636 w 495300"/>
                  <a:gd name="connsiteY27" fmla="*/ 291134 h 523875"/>
                  <a:gd name="connsiteX28" fmla="*/ 310299 w 495300"/>
                  <a:gd name="connsiteY28" fmla="*/ 257796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95300" h="523875">
                    <a:moveTo>
                      <a:pt x="372211" y="621"/>
                    </a:moveTo>
                    <a:lnTo>
                      <a:pt x="372211" y="19671"/>
                    </a:lnTo>
                    <a:lnTo>
                      <a:pt x="334111" y="19671"/>
                    </a:lnTo>
                    <a:lnTo>
                      <a:pt x="334111" y="143877"/>
                    </a:lnTo>
                    <a:lnTo>
                      <a:pt x="496036" y="486587"/>
                    </a:lnTo>
                    <a:lnTo>
                      <a:pt x="481749" y="524496"/>
                    </a:lnTo>
                    <a:lnTo>
                      <a:pt x="15024" y="524496"/>
                    </a:lnTo>
                    <a:lnTo>
                      <a:pt x="736" y="486587"/>
                    </a:lnTo>
                    <a:lnTo>
                      <a:pt x="162661" y="143877"/>
                    </a:lnTo>
                    <a:lnTo>
                      <a:pt x="162661" y="19671"/>
                    </a:lnTo>
                    <a:lnTo>
                      <a:pt x="124561" y="19671"/>
                    </a:lnTo>
                    <a:lnTo>
                      <a:pt x="124561" y="621"/>
                    </a:lnTo>
                    <a:lnTo>
                      <a:pt x="372211" y="621"/>
                    </a:lnTo>
                    <a:close/>
                    <a:moveTo>
                      <a:pt x="259435" y="404767"/>
                    </a:moveTo>
                    <a:lnTo>
                      <a:pt x="256577" y="406576"/>
                    </a:lnTo>
                    <a:lnTo>
                      <a:pt x="251053" y="410291"/>
                    </a:lnTo>
                    <a:cubicBezTo>
                      <a:pt x="203809" y="441628"/>
                      <a:pt x="124275" y="442581"/>
                      <a:pt x="59220" y="416864"/>
                    </a:cubicBezTo>
                    <a:lnTo>
                      <a:pt x="55409" y="415339"/>
                    </a:lnTo>
                    <a:lnTo>
                      <a:pt x="21310" y="487444"/>
                    </a:lnTo>
                    <a:lnTo>
                      <a:pt x="28073" y="505446"/>
                    </a:lnTo>
                    <a:lnTo>
                      <a:pt x="468414" y="505446"/>
                    </a:lnTo>
                    <a:lnTo>
                      <a:pt x="475176" y="487444"/>
                    </a:lnTo>
                    <a:lnTo>
                      <a:pt x="428313" y="388289"/>
                    </a:lnTo>
                    <a:cubicBezTo>
                      <a:pt x="370211" y="373810"/>
                      <a:pt x="300774" y="379335"/>
                      <a:pt x="259435" y="404767"/>
                    </a:cubicBezTo>
                    <a:close/>
                    <a:moveTo>
                      <a:pt x="310299" y="257796"/>
                    </a:moveTo>
                    <a:cubicBezTo>
                      <a:pt x="291915" y="257796"/>
                      <a:pt x="276961" y="272750"/>
                      <a:pt x="276961" y="291134"/>
                    </a:cubicBezTo>
                    <a:cubicBezTo>
                      <a:pt x="276961" y="309517"/>
                      <a:pt x="291915" y="324471"/>
                      <a:pt x="310299" y="324471"/>
                    </a:cubicBezTo>
                    <a:cubicBezTo>
                      <a:pt x="328682" y="324471"/>
                      <a:pt x="343636" y="309517"/>
                      <a:pt x="343636" y="291134"/>
                    </a:cubicBezTo>
                    <a:cubicBezTo>
                      <a:pt x="343636" y="272750"/>
                      <a:pt x="328682" y="257796"/>
                      <a:pt x="310299" y="25779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16697A4-F047-45FE-B063-CF26730C3B91}"/>
                  </a:ext>
                </a:extLst>
              </p:cNvPr>
              <p:cNvSpPr/>
              <p:nvPr/>
            </p:nvSpPr>
            <p:spPr>
              <a:xfrm flipH="1">
                <a:off x="8185005" y="4738923"/>
                <a:ext cx="3106009" cy="294824"/>
              </a:xfrm>
              <a:prstGeom prst="rect">
                <a:avLst/>
              </a:prstGeom>
              <a:ln>
                <a:noFill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线下成交，不做支付结算与履约。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3B4CE66-E409-40BB-8175-435581234307}"/>
                  </a:ext>
                </a:extLst>
              </p:cNvPr>
              <p:cNvSpPr txBox="1"/>
              <p:nvPr/>
            </p:nvSpPr>
            <p:spPr>
              <a:xfrm>
                <a:off x="8185009" y="4407020"/>
                <a:ext cx="310600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纯信息撮合</a:t>
                </a:r>
              </a:p>
            </p:txBody>
          </p:sp>
        </p:grpSp>
      </p:grpSp>
      <p:sp>
        <p:nvSpPr>
          <p:cNvPr id="31" name="Title 30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产品核心定义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40483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EC5220B-6CA0-49AC-9213-8BE20F37E7D4}"/>
              </a:ext>
            </a:extLst>
          </p:cNvPr>
          <p:cNvSpPr/>
          <p:nvPr/>
        </p:nvSpPr>
        <p:spPr>
          <a:xfrm>
            <a:off x="660400" y="885439"/>
            <a:ext cx="10858500" cy="834825"/>
          </a:xfrm>
          <a:prstGeom prst="rect">
            <a:avLst/>
          </a:prstGeom>
        </p:spPr>
        <p:txBody>
          <a:bodyPr wrap="square" anchor="b" anchorCtr="0">
            <a:noAutofit/>
          </a:bodyPr>
          <a:lstStyle/>
          <a:p>
            <a:pPr algn="ctr">
              <a:lnSpc>
                <a:spcPct val="100000"/>
              </a:lnSpc>
              <a:buSzPct val="25000"/>
            </a:pPr>
            <a:r>
              <a:rPr lang="zh-CN" altLang="en-US" sz="2400" b="1" dirty="0">
                <a:solidFill>
                  <a:schemeClr val="tx1"/>
                </a:solidFill>
              </a:rPr>
              <a:t>目标用户分层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0D0497-265B-4D1C-A6D0-F2CDBD94262E}"/>
              </a:ext>
            </a:extLst>
          </p:cNvPr>
          <p:cNvSpPr txBox="1"/>
          <p:nvPr/>
        </p:nvSpPr>
        <p:spPr>
          <a:xfrm>
            <a:off x="660400" y="1732964"/>
            <a:ext cx="10858500" cy="29482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200">
                <a:solidFill>
                  <a:schemeClr val="bg1">
                    <a:lumMod val="50000"/>
                  </a:schemeClr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四类用户构成 5km 生活圈的供需两端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8D4BD50-DFB7-420F-ACAE-FA75D9C2E8BD}"/>
              </a:ext>
            </a:extLst>
          </p:cNvPr>
          <p:cNvGrpSpPr/>
          <p:nvPr/>
        </p:nvGrpSpPr>
        <p:grpSpPr>
          <a:xfrm>
            <a:off x="1206498" y="2932918"/>
            <a:ext cx="2070102" cy="1783876"/>
            <a:chOff x="1206498" y="2932918"/>
            <a:chExt cx="2070102" cy="178387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FBF135C-A559-4A3B-88CF-80550DC0AA08}"/>
                </a:ext>
              </a:extLst>
            </p:cNvPr>
            <p:cNvSpPr/>
            <p:nvPr/>
          </p:nvSpPr>
          <p:spPr bwMode="auto">
            <a:xfrm flipH="1">
              <a:off x="1206498" y="2932918"/>
              <a:ext cx="1816101" cy="1783876"/>
            </a:xfrm>
            <a:custGeom>
              <a:avLst/>
              <a:gdLst>
                <a:gd name="T0" fmla="*/ 1254 w 1400"/>
                <a:gd name="T1" fmla="*/ 0 h 1375"/>
                <a:gd name="T2" fmla="*/ 146 w 1400"/>
                <a:gd name="T3" fmla="*/ 120 h 1375"/>
                <a:gd name="T4" fmla="*/ 0 w 1400"/>
                <a:gd name="T5" fmla="*/ 265 h 1375"/>
                <a:gd name="T6" fmla="*/ 0 w 1400"/>
                <a:gd name="T7" fmla="*/ 1122 h 1375"/>
                <a:gd name="T8" fmla="*/ 146 w 1400"/>
                <a:gd name="T9" fmla="*/ 1267 h 1375"/>
                <a:gd name="T10" fmla="*/ 1254 w 1400"/>
                <a:gd name="T11" fmla="*/ 1375 h 1375"/>
                <a:gd name="T12" fmla="*/ 1400 w 1400"/>
                <a:gd name="T13" fmla="*/ 1230 h 1375"/>
                <a:gd name="T14" fmla="*/ 1400 w 1400"/>
                <a:gd name="T15" fmla="*/ 145 h 1375"/>
                <a:gd name="T16" fmla="*/ 1254 w 1400"/>
                <a:gd name="T17" fmla="*/ 0 h 13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00" h="1375">
                  <a:moveTo>
                    <a:pt x="1254" y="0"/>
                  </a:moveTo>
                  <a:cubicBezTo>
                    <a:pt x="146" y="120"/>
                    <a:pt x="146" y="120"/>
                    <a:pt x="146" y="120"/>
                  </a:cubicBezTo>
                  <a:cubicBezTo>
                    <a:pt x="66" y="120"/>
                    <a:pt x="0" y="185"/>
                    <a:pt x="0" y="265"/>
                  </a:cubicBezTo>
                  <a:cubicBezTo>
                    <a:pt x="0" y="1122"/>
                    <a:pt x="0" y="1122"/>
                    <a:pt x="0" y="1122"/>
                  </a:cubicBezTo>
                  <a:cubicBezTo>
                    <a:pt x="0" y="1202"/>
                    <a:pt x="66" y="1267"/>
                    <a:pt x="146" y="1267"/>
                  </a:cubicBezTo>
                  <a:cubicBezTo>
                    <a:pt x="1254" y="1375"/>
                    <a:pt x="1254" y="1375"/>
                    <a:pt x="1254" y="1375"/>
                  </a:cubicBezTo>
                  <a:cubicBezTo>
                    <a:pt x="1334" y="1375"/>
                    <a:pt x="1400" y="1310"/>
                    <a:pt x="1400" y="1230"/>
                  </a:cubicBezTo>
                  <a:cubicBezTo>
                    <a:pt x="1400" y="145"/>
                    <a:pt x="1400" y="145"/>
                    <a:pt x="1400" y="145"/>
                  </a:cubicBezTo>
                  <a:cubicBezTo>
                    <a:pt x="1400" y="65"/>
                    <a:pt x="1334" y="0"/>
                    <a:pt x="1254" y="0"/>
                  </a:cubicBezTo>
                </a:path>
              </a:pathLst>
            </a:custGeom>
            <a:blipFill rotWithShape="0">
              <a:blip r:embed="rId3"/>
              <a:srcRect/>
              <a:stretch>
                <a:fillRect l="-23860" r="-2386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b="1"/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FEC004E0-BC69-4EAD-9F76-0D75FEA624AE}"/>
                </a:ext>
              </a:extLst>
            </p:cNvPr>
            <p:cNvSpPr/>
            <p:nvPr/>
          </p:nvSpPr>
          <p:spPr>
            <a:xfrm>
              <a:off x="2743200" y="2932918"/>
              <a:ext cx="533400" cy="53340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200" b="1" dirty="0"/>
                <a:t>01</a:t>
              </a:r>
              <a:endParaRPr lang="zh-CN" altLang="en-US" sz="1200" b="1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2C4339C-C706-4333-9347-BE250A5A2976}"/>
              </a:ext>
            </a:extLst>
          </p:cNvPr>
          <p:cNvGrpSpPr/>
          <p:nvPr/>
        </p:nvGrpSpPr>
        <p:grpSpPr>
          <a:xfrm>
            <a:off x="5054598" y="2932918"/>
            <a:ext cx="2082801" cy="1783876"/>
            <a:chOff x="5054598" y="2932918"/>
            <a:chExt cx="2082801" cy="1783876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7042634-4D93-4D69-A113-A576262D0FD5}"/>
                </a:ext>
              </a:extLst>
            </p:cNvPr>
            <p:cNvSpPr/>
            <p:nvPr/>
          </p:nvSpPr>
          <p:spPr bwMode="auto">
            <a:xfrm flipH="1">
              <a:off x="5054598" y="2932918"/>
              <a:ext cx="1816101" cy="1783876"/>
            </a:xfrm>
            <a:custGeom>
              <a:avLst/>
              <a:gdLst>
                <a:gd name="T0" fmla="*/ 1254 w 1400"/>
                <a:gd name="T1" fmla="*/ 0 h 1375"/>
                <a:gd name="T2" fmla="*/ 146 w 1400"/>
                <a:gd name="T3" fmla="*/ 120 h 1375"/>
                <a:gd name="T4" fmla="*/ 0 w 1400"/>
                <a:gd name="T5" fmla="*/ 265 h 1375"/>
                <a:gd name="T6" fmla="*/ 0 w 1400"/>
                <a:gd name="T7" fmla="*/ 1122 h 1375"/>
                <a:gd name="T8" fmla="*/ 146 w 1400"/>
                <a:gd name="T9" fmla="*/ 1267 h 1375"/>
                <a:gd name="T10" fmla="*/ 1254 w 1400"/>
                <a:gd name="T11" fmla="*/ 1375 h 1375"/>
                <a:gd name="T12" fmla="*/ 1400 w 1400"/>
                <a:gd name="T13" fmla="*/ 1230 h 1375"/>
                <a:gd name="T14" fmla="*/ 1400 w 1400"/>
                <a:gd name="T15" fmla="*/ 145 h 1375"/>
                <a:gd name="T16" fmla="*/ 1254 w 1400"/>
                <a:gd name="T17" fmla="*/ 0 h 13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00" h="1375">
                  <a:moveTo>
                    <a:pt x="1254" y="0"/>
                  </a:moveTo>
                  <a:cubicBezTo>
                    <a:pt x="146" y="120"/>
                    <a:pt x="146" y="120"/>
                    <a:pt x="146" y="120"/>
                  </a:cubicBezTo>
                  <a:cubicBezTo>
                    <a:pt x="66" y="120"/>
                    <a:pt x="0" y="185"/>
                    <a:pt x="0" y="265"/>
                  </a:cubicBezTo>
                  <a:cubicBezTo>
                    <a:pt x="0" y="1122"/>
                    <a:pt x="0" y="1122"/>
                    <a:pt x="0" y="1122"/>
                  </a:cubicBezTo>
                  <a:cubicBezTo>
                    <a:pt x="0" y="1202"/>
                    <a:pt x="66" y="1267"/>
                    <a:pt x="146" y="1267"/>
                  </a:cubicBezTo>
                  <a:cubicBezTo>
                    <a:pt x="1254" y="1375"/>
                    <a:pt x="1254" y="1375"/>
                    <a:pt x="1254" y="1375"/>
                  </a:cubicBezTo>
                  <a:cubicBezTo>
                    <a:pt x="1334" y="1375"/>
                    <a:pt x="1400" y="1310"/>
                    <a:pt x="1400" y="1230"/>
                  </a:cubicBezTo>
                  <a:cubicBezTo>
                    <a:pt x="1400" y="145"/>
                    <a:pt x="1400" y="145"/>
                    <a:pt x="1400" y="145"/>
                  </a:cubicBezTo>
                  <a:cubicBezTo>
                    <a:pt x="1400" y="65"/>
                    <a:pt x="1334" y="0"/>
                    <a:pt x="1254" y="0"/>
                  </a:cubicBezTo>
                </a:path>
              </a:pathLst>
            </a:custGeom>
            <a:blipFill rotWithShape="0">
              <a:blip r:embed="rId4"/>
              <a:srcRect/>
              <a:stretch>
                <a:fillRect l="-23860" r="-2386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b="1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440F513-A569-47F5-8FB3-0AC3FDC9DD3E}"/>
                </a:ext>
              </a:extLst>
            </p:cNvPr>
            <p:cNvSpPr/>
            <p:nvPr/>
          </p:nvSpPr>
          <p:spPr>
            <a:xfrm>
              <a:off x="6603999" y="2932918"/>
              <a:ext cx="533400" cy="53340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200" b="1" dirty="0"/>
                <a:t>02</a:t>
              </a:r>
              <a:endParaRPr lang="zh-CN" altLang="en-US" sz="1200" b="1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CC416BE-04E4-4644-8E12-0EA6BE524A88}"/>
              </a:ext>
            </a:extLst>
          </p:cNvPr>
          <p:cNvGrpSpPr/>
          <p:nvPr/>
        </p:nvGrpSpPr>
        <p:grpSpPr>
          <a:xfrm>
            <a:off x="8902698" y="2932918"/>
            <a:ext cx="2001160" cy="1783876"/>
            <a:chOff x="8902698" y="2932918"/>
            <a:chExt cx="2001160" cy="178387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ED11D45-48E7-47A6-B77D-F96D14917533}"/>
                </a:ext>
              </a:extLst>
            </p:cNvPr>
            <p:cNvSpPr/>
            <p:nvPr/>
          </p:nvSpPr>
          <p:spPr bwMode="auto">
            <a:xfrm flipH="1">
              <a:off x="8902698" y="2932918"/>
              <a:ext cx="1816101" cy="1783876"/>
            </a:xfrm>
            <a:custGeom>
              <a:avLst/>
              <a:gdLst>
                <a:gd name="T0" fmla="*/ 1254 w 1400"/>
                <a:gd name="T1" fmla="*/ 0 h 1375"/>
                <a:gd name="T2" fmla="*/ 146 w 1400"/>
                <a:gd name="T3" fmla="*/ 120 h 1375"/>
                <a:gd name="T4" fmla="*/ 0 w 1400"/>
                <a:gd name="T5" fmla="*/ 265 h 1375"/>
                <a:gd name="T6" fmla="*/ 0 w 1400"/>
                <a:gd name="T7" fmla="*/ 1122 h 1375"/>
                <a:gd name="T8" fmla="*/ 146 w 1400"/>
                <a:gd name="T9" fmla="*/ 1267 h 1375"/>
                <a:gd name="T10" fmla="*/ 1254 w 1400"/>
                <a:gd name="T11" fmla="*/ 1375 h 1375"/>
                <a:gd name="T12" fmla="*/ 1400 w 1400"/>
                <a:gd name="T13" fmla="*/ 1230 h 1375"/>
                <a:gd name="T14" fmla="*/ 1400 w 1400"/>
                <a:gd name="T15" fmla="*/ 145 h 1375"/>
                <a:gd name="T16" fmla="*/ 1254 w 1400"/>
                <a:gd name="T17" fmla="*/ 0 h 13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00" h="1375">
                  <a:moveTo>
                    <a:pt x="1254" y="0"/>
                  </a:moveTo>
                  <a:cubicBezTo>
                    <a:pt x="146" y="120"/>
                    <a:pt x="146" y="120"/>
                    <a:pt x="146" y="120"/>
                  </a:cubicBezTo>
                  <a:cubicBezTo>
                    <a:pt x="66" y="120"/>
                    <a:pt x="0" y="185"/>
                    <a:pt x="0" y="265"/>
                  </a:cubicBezTo>
                  <a:cubicBezTo>
                    <a:pt x="0" y="1122"/>
                    <a:pt x="0" y="1122"/>
                    <a:pt x="0" y="1122"/>
                  </a:cubicBezTo>
                  <a:cubicBezTo>
                    <a:pt x="0" y="1202"/>
                    <a:pt x="66" y="1267"/>
                    <a:pt x="146" y="1267"/>
                  </a:cubicBezTo>
                  <a:cubicBezTo>
                    <a:pt x="1254" y="1375"/>
                    <a:pt x="1254" y="1375"/>
                    <a:pt x="1254" y="1375"/>
                  </a:cubicBezTo>
                  <a:cubicBezTo>
                    <a:pt x="1334" y="1375"/>
                    <a:pt x="1400" y="1310"/>
                    <a:pt x="1400" y="1230"/>
                  </a:cubicBezTo>
                  <a:cubicBezTo>
                    <a:pt x="1400" y="145"/>
                    <a:pt x="1400" y="145"/>
                    <a:pt x="1400" y="145"/>
                  </a:cubicBezTo>
                  <a:cubicBezTo>
                    <a:pt x="1400" y="65"/>
                    <a:pt x="1334" y="0"/>
                    <a:pt x="1254" y="0"/>
                  </a:cubicBezTo>
                </a:path>
              </a:pathLst>
            </a:custGeom>
            <a:blipFill rotWithShape="0">
              <a:blip r:embed="rId5"/>
              <a:srcRect/>
              <a:stretch>
                <a:fillRect t="-25970" b="-2597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b="1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7EF4B3A-4E95-410D-99CA-92AAC3C156F8}"/>
                </a:ext>
              </a:extLst>
            </p:cNvPr>
            <p:cNvSpPr/>
            <p:nvPr/>
          </p:nvSpPr>
          <p:spPr>
            <a:xfrm>
              <a:off x="10370458" y="2932918"/>
              <a:ext cx="533400" cy="53340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200" b="1" dirty="0"/>
                <a:t>03</a:t>
              </a:r>
              <a:endParaRPr lang="zh-CN" altLang="en-US" sz="1200" b="1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4C5984F-6734-4AFC-9796-CFE24719D730}"/>
              </a:ext>
            </a:extLst>
          </p:cNvPr>
          <p:cNvGrpSpPr/>
          <p:nvPr/>
        </p:nvGrpSpPr>
        <p:grpSpPr>
          <a:xfrm>
            <a:off x="1206498" y="5216948"/>
            <a:ext cx="1957039" cy="1070692"/>
            <a:chOff x="1206498" y="5216948"/>
            <a:chExt cx="1957039" cy="107069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8849493-9608-4BEE-ACBF-7D8C5A8805D4}"/>
                </a:ext>
              </a:extLst>
            </p:cNvPr>
            <p:cNvSpPr/>
            <p:nvPr/>
          </p:nvSpPr>
          <p:spPr>
            <a:xfrm>
              <a:off x="1206498" y="5216948"/>
              <a:ext cx="1921764" cy="338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kumimoji="1" lang="zh-CN" altLang="en-US" sz="1600" b="1" dirty="0">
                  <a:solidFill>
                    <a:schemeClr val="tx1"/>
                  </a:solidFill>
                </a:rPr>
                <a:t>本地居民 60%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4D71BA6-CD17-4692-A1F2-2E5FE671F395}"/>
                </a:ext>
              </a:extLst>
            </p:cNvPr>
            <p:cNvSpPr/>
            <p:nvPr/>
          </p:nvSpPr>
          <p:spPr>
            <a:xfrm>
              <a:off x="1206498" y="5549617"/>
              <a:ext cx="1957039" cy="7380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zh-CN" altLang="en-US" sz="1200" dirty="0">
                  <a:solidFill>
                    <a:schemeClr val="tx1"/>
                  </a:solidFill>
                </a:rPr>
                <a:t>25-45 岁社区居住人群，核心诉求为借物、拼车、二手与找帮手。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574AA7-3094-49CC-983A-BBB65D6F8F5C}"/>
              </a:ext>
            </a:extLst>
          </p:cNvPr>
          <p:cNvGrpSpPr/>
          <p:nvPr/>
        </p:nvGrpSpPr>
        <p:grpSpPr>
          <a:xfrm>
            <a:off x="5054598" y="5216948"/>
            <a:ext cx="1957039" cy="1070692"/>
            <a:chOff x="5054598" y="5216948"/>
            <a:chExt cx="1957039" cy="10706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31F4B8C-F844-4173-AB21-1141B82AFC52}"/>
                </a:ext>
              </a:extLst>
            </p:cNvPr>
            <p:cNvSpPr/>
            <p:nvPr/>
          </p:nvSpPr>
          <p:spPr>
            <a:xfrm>
              <a:off x="5054598" y="5216948"/>
              <a:ext cx="1921764" cy="338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kumimoji="1" lang="zh-CN" altLang="en-US" sz="1600" b="1" dirty="0">
                  <a:solidFill>
                    <a:schemeClr val="tx1"/>
                  </a:solidFill>
                </a:rPr>
                <a:t>本地服务者 25%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30F6A6-B653-4186-9BB4-DC103F6CC8AB}"/>
                </a:ext>
              </a:extLst>
            </p:cNvPr>
            <p:cNvSpPr/>
            <p:nvPr/>
          </p:nvSpPr>
          <p:spPr>
            <a:xfrm>
              <a:off x="5054598" y="5549617"/>
              <a:ext cx="1957039" cy="7380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zh-CN" altLang="en-US" sz="1200" dirty="0">
                  <a:solidFill>
                    <a:schemeClr val="tx1"/>
                  </a:solidFill>
                </a:rPr>
                <a:t>家政、维修、教学、咨询个体，诉求为接本地订单、就近服务。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37A402-3044-4756-9B72-2E143A9AA188}"/>
              </a:ext>
            </a:extLst>
          </p:cNvPr>
          <p:cNvGrpSpPr/>
          <p:nvPr/>
        </p:nvGrpSpPr>
        <p:grpSpPr>
          <a:xfrm>
            <a:off x="8902698" y="5216948"/>
            <a:ext cx="1957039" cy="1292291"/>
            <a:chOff x="8902698" y="5216948"/>
            <a:chExt cx="1957039" cy="1292291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F8B61E8-0230-4784-833F-908E54205A27}"/>
                </a:ext>
              </a:extLst>
            </p:cNvPr>
            <p:cNvSpPr/>
            <p:nvPr/>
          </p:nvSpPr>
          <p:spPr>
            <a:xfrm>
              <a:off x="8902698" y="5216948"/>
              <a:ext cx="1921764" cy="338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kumimoji="1" lang="zh-CN" altLang="en-US" sz="1600" b="1" dirty="0">
                  <a:solidFill>
                    <a:schemeClr val="tx1"/>
                  </a:solidFill>
                </a:rPr>
                <a:t>小微商家 10%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CDEE011-AC35-47B6-8FFC-A15DCE2F17E7}"/>
                </a:ext>
              </a:extLst>
            </p:cNvPr>
            <p:cNvSpPr/>
            <p:nvPr/>
          </p:nvSpPr>
          <p:spPr>
            <a:xfrm>
              <a:off x="8902698" y="5549617"/>
              <a:ext cx="1957039" cy="95962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zh-CN" altLang="en-US" sz="1200" dirty="0">
                  <a:solidFill>
                    <a:schemeClr val="tx1"/>
                  </a:solidFill>
                </a:rPr>
                <a:t>房东、二手车、招聘小店，诉求为本地信息发布与精准曝光。</a:t>
              </a:r>
            </a:p>
          </p:txBody>
        </p:sp>
      </p:grpSp>
      <p:sp>
        <p:nvSpPr>
          <p:cNvPr id="25" name="Title 2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目标用户与场景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48603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60400" y="1222633"/>
            <a:ext cx="10858500" cy="4276554"/>
            <a:chOff x="660400" y="1222633"/>
            <a:chExt cx="10858500" cy="4276554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CE77DC51-C006-4B0A-BDE6-9F066A4D0CCC}"/>
                </a:ext>
              </a:extLst>
            </p:cNvPr>
            <p:cNvSpPr/>
            <p:nvPr/>
          </p:nvSpPr>
          <p:spPr>
            <a:xfrm>
              <a:off x="660400" y="4139960"/>
              <a:ext cx="2344400" cy="1359227"/>
            </a:xfrm>
            <a:prstGeom prst="roundRect">
              <a:avLst>
                <a:gd name="adj" fmla="val 7172"/>
              </a:avLst>
            </a:prstGeom>
            <a:blipFill rotWithShape="0">
              <a:blip r:embed="rId3"/>
              <a:srcRect/>
              <a:stretch>
                <a:fillRect t="-7710" b="-771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7EC5CD3-3F5C-4190-B968-7BDC99C010A2}"/>
                </a:ext>
              </a:extLst>
            </p:cNvPr>
            <p:cNvGrpSpPr>
              <a:grpSpLocks/>
            </p:cNvGrpSpPr>
            <p:nvPr/>
          </p:nvGrpSpPr>
          <p:grpSpPr>
            <a:xfrm>
              <a:off x="660400" y="1222633"/>
              <a:ext cx="5540926" cy="1013716"/>
              <a:chOff x="2492016" y="4214586"/>
              <a:chExt cx="2974766" cy="1013716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916E6B59-185C-4DAA-AF12-ABC10E343EA0}"/>
                  </a:ext>
                </a:extLst>
              </p:cNvPr>
              <p:cNvSpPr/>
              <p:nvPr/>
            </p:nvSpPr>
            <p:spPr>
              <a:xfrm>
                <a:off x="2492017" y="4807701"/>
                <a:ext cx="2974765" cy="42060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t" anchorCtr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按落地节奏把 AI 能力拆为绿黄红三档，为研发提供明确入场券。</a:t>
                </a: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35534C8-3FA3-4933-A938-49F1235056CA}"/>
                  </a:ext>
                </a:extLst>
              </p:cNvPr>
              <p:cNvSpPr/>
              <p:nvPr/>
            </p:nvSpPr>
            <p:spPr>
              <a:xfrm>
                <a:off x="2492016" y="4214586"/>
                <a:ext cx="2974765" cy="58744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b" anchorCtr="0">
                <a:sp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AI 能力三色清单</a:t>
                </a:r>
              </a:p>
            </p:txBody>
          </p: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AF8F480-BF0A-4905-8872-2749E8C5D9DC}"/>
                </a:ext>
              </a:extLst>
            </p:cNvPr>
            <p:cNvGrpSpPr/>
            <p:nvPr/>
          </p:nvGrpSpPr>
          <p:grpSpPr>
            <a:xfrm>
              <a:off x="3498433" y="2932604"/>
              <a:ext cx="8020467" cy="2411348"/>
              <a:chOff x="3498433" y="2932604"/>
              <a:chExt cx="8020467" cy="2411348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90CCED40-D660-4B11-86A8-6AB5CA96C0BA}"/>
                  </a:ext>
                </a:extLst>
              </p:cNvPr>
              <p:cNvGrpSpPr/>
              <p:nvPr/>
            </p:nvGrpSpPr>
            <p:grpSpPr>
              <a:xfrm>
                <a:off x="9174499" y="2932604"/>
                <a:ext cx="2344401" cy="2411348"/>
                <a:chOff x="4381398" y="2932604"/>
                <a:chExt cx="3068301" cy="2411348"/>
              </a:xfrm>
            </p:grpSpPr>
            <p:grpSp>
              <p:nvGrpSpPr>
                <p:cNvPr id="155" name="Group 154">
                  <a:extLst>
                    <a:ext uri="{FF2B5EF4-FFF2-40B4-BE49-F238E27FC236}">
                      <a16:creationId xmlns:a16="http://schemas.microsoft.com/office/drawing/2014/main" id="{8FC710FC-CA31-4919-8852-4D13C2D9A995}"/>
                    </a:ext>
                  </a:extLst>
                </p:cNvPr>
                <p:cNvGrpSpPr/>
                <p:nvPr/>
              </p:nvGrpSpPr>
              <p:grpSpPr>
                <a:xfrm>
                  <a:off x="4381399" y="4139960"/>
                  <a:ext cx="3068300" cy="1203992"/>
                  <a:chOff x="2926262" y="3947957"/>
                  <a:chExt cx="2806761" cy="1203992"/>
                </a:xfrm>
              </p:grpSpPr>
              <p:grpSp>
                <p:nvGrpSpPr>
                  <p:cNvPr id="157" name="Group 156">
                    <a:extLst>
                      <a:ext uri="{FF2B5EF4-FFF2-40B4-BE49-F238E27FC236}">
                        <a16:creationId xmlns:a16="http://schemas.microsoft.com/office/drawing/2014/main" id="{2A47F4AB-9522-4A2C-828D-19AFA8BC131E}"/>
                      </a:ext>
                    </a:extLst>
                  </p:cNvPr>
                  <p:cNvGrpSpPr/>
                  <p:nvPr/>
                </p:nvGrpSpPr>
                <p:grpSpPr>
                  <a:xfrm>
                    <a:off x="2926262" y="4039744"/>
                    <a:ext cx="2806761" cy="1112205"/>
                    <a:chOff x="2492017" y="2712768"/>
                    <a:chExt cx="2806761" cy="1112205"/>
                  </a:xfrm>
                </p:grpSpPr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2D1D808E-48A2-4012-9DAC-3FAD63941B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2712768"/>
                      <a:ext cx="2806761" cy="464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b" anchorCtr="0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kumimoji="1" lang="zh-CN" altLang="en-US" sz="1600" b="1" dirty="0">
                          <a:solidFill>
                            <a:schemeClr val="tx1"/>
                          </a:solidFill>
                        </a:rPr>
                        <a:t>红清单｜不做</a:t>
                      </a:r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12113F2F-F9D0-415F-A77B-F7148A354B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3182773"/>
                      <a:ext cx="2806761" cy="6422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t" anchorCtr="0">
                      <a:sp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</a:rPr>
                        <a:t>重型算法群、70B 端到端 LLM、交易担保、AI 平台担责。</a:t>
                      </a:r>
                    </a:p>
                  </p:txBody>
                </p:sp>
              </p:grpSp>
              <p:cxnSp>
                <p:nvCxnSpPr>
                  <p:cNvPr id="158" name="Straight Arrow Connector 157">
                    <a:extLst>
                      <a:ext uri="{FF2B5EF4-FFF2-40B4-BE49-F238E27FC236}">
                        <a16:creationId xmlns:a16="http://schemas.microsoft.com/office/drawing/2014/main" id="{81A9EDED-9B0F-4828-B65D-B2E77D2314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26262" y="3947957"/>
                    <a:ext cx="2806761" cy="0"/>
                  </a:xfrm>
                  <a:prstGeom prst="straightConnector1">
                    <a:avLst/>
                  </a:prstGeom>
                  <a:ln w="25400">
                    <a:solidFill>
                      <a:schemeClr val="accent1"/>
                    </a:solidFill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2C54383C-E544-46D1-838C-C53AEAFA2BC7}"/>
                    </a:ext>
                  </a:extLst>
                </p:cNvPr>
                <p:cNvSpPr txBox="1"/>
                <p:nvPr/>
              </p:nvSpPr>
              <p:spPr>
                <a:xfrm>
                  <a:off x="4381398" y="2932604"/>
                  <a:ext cx="1930270" cy="1572326"/>
                </a:xfrm>
                <a:prstGeom prst="rect">
                  <a:avLst/>
                </a:prstGeom>
                <a:noFill/>
              </p:spPr>
              <p:txBody>
                <a:bodyPr wrap="square" lIns="108000" tIns="108000" rIns="108000" bIns="108000" rtlCol="0" anchor="ctr" anchorCtr="0">
                  <a:spAutoFit/>
                </a:bodyPr>
                <a:lstStyle/>
                <a:p>
                  <a:r>
                    <a:rPr kumimoji="1" lang="en-US" altLang="zh-CN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rPr>
                    <a:t>03</a:t>
                  </a:r>
                  <a:endParaRPr kumimoji="1" lang="zh-CN" altLang="en-US" sz="8800" b="1" dirty="0">
                    <a:solidFill>
                      <a:schemeClr val="tx1">
                        <a:lumMod val="50000"/>
                        <a:lumOff val="50000"/>
                        <a:alpha val="2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0DE2A22E-2740-41E4-A7A0-9443A6A304C0}"/>
                  </a:ext>
                </a:extLst>
              </p:cNvPr>
              <p:cNvGrpSpPr/>
              <p:nvPr/>
            </p:nvGrpSpPr>
            <p:grpSpPr>
              <a:xfrm>
                <a:off x="3498433" y="2932604"/>
                <a:ext cx="2344400" cy="2411348"/>
                <a:chOff x="4381399" y="2932604"/>
                <a:chExt cx="3068300" cy="2411348"/>
              </a:xfrm>
            </p:grpSpPr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F083F46B-5F21-491D-AC81-7D4ADDEB4F35}"/>
                    </a:ext>
                  </a:extLst>
                </p:cNvPr>
                <p:cNvGrpSpPr/>
                <p:nvPr/>
              </p:nvGrpSpPr>
              <p:grpSpPr>
                <a:xfrm>
                  <a:off x="4381399" y="4139960"/>
                  <a:ext cx="3068300" cy="1203992"/>
                  <a:chOff x="2926262" y="3947957"/>
                  <a:chExt cx="2806761" cy="1203992"/>
                </a:xfrm>
              </p:grpSpPr>
              <p:grpSp>
                <p:nvGrpSpPr>
                  <p:cNvPr id="114" name="Group 113">
                    <a:extLst>
                      <a:ext uri="{FF2B5EF4-FFF2-40B4-BE49-F238E27FC236}">
                        <a16:creationId xmlns:a16="http://schemas.microsoft.com/office/drawing/2014/main" id="{79082DD3-4B9C-4B81-B3C1-095C91F98EC2}"/>
                      </a:ext>
                    </a:extLst>
                  </p:cNvPr>
                  <p:cNvGrpSpPr/>
                  <p:nvPr/>
                </p:nvGrpSpPr>
                <p:grpSpPr>
                  <a:xfrm>
                    <a:off x="2926262" y="4039744"/>
                    <a:ext cx="2806761" cy="1112205"/>
                    <a:chOff x="2492017" y="2712768"/>
                    <a:chExt cx="2806761" cy="1112205"/>
                  </a:xfrm>
                </p:grpSpPr>
                <p:sp>
                  <p:nvSpPr>
                    <p:cNvPr id="116" name="Rectangle 115">
                      <a:extLst>
                        <a:ext uri="{FF2B5EF4-FFF2-40B4-BE49-F238E27FC236}">
                          <a16:creationId xmlns:a16="http://schemas.microsoft.com/office/drawing/2014/main" id="{CE875014-6D52-447D-A118-09562293E0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2712768"/>
                      <a:ext cx="2806761" cy="464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b" anchorCtr="0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kumimoji="1" lang="zh-CN" altLang="en-US" sz="1600" b="1" dirty="0">
                          <a:solidFill>
                            <a:schemeClr val="tx1"/>
                          </a:solidFill>
                        </a:rPr>
                        <a:t>绿清单｜立刻做</a:t>
                      </a:r>
                    </a:p>
                  </p:txBody>
                </p:sp>
                <p:sp>
                  <p:nvSpPr>
                    <p:cNvPr id="117" name="Rectangle 116">
                      <a:extLst>
                        <a:ext uri="{FF2B5EF4-FFF2-40B4-BE49-F238E27FC236}">
                          <a16:creationId xmlns:a16="http://schemas.microsoft.com/office/drawing/2014/main" id="{0DCDFEB6-271D-4D18-99B1-157799D87D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3182773"/>
                      <a:ext cx="2806761" cy="6422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t" anchorCtr="0">
                      <a:sp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</a:rPr>
                        <a:t>冷启动三阶段匹配、3B 发布辅助、信息健康分、查询加权。</a:t>
                      </a:r>
                    </a:p>
                  </p:txBody>
                </p:sp>
              </p:grpSp>
              <p:cxnSp>
                <p:nvCxnSpPr>
                  <p:cNvPr id="115" name="Straight Arrow Connector 114">
                    <a:extLst>
                      <a:ext uri="{FF2B5EF4-FFF2-40B4-BE49-F238E27FC236}">
                        <a16:creationId xmlns:a16="http://schemas.microsoft.com/office/drawing/2014/main" id="{7E7F2112-1F31-4050-ADAC-1789C2CA9F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26262" y="3947957"/>
                    <a:ext cx="2806761" cy="0"/>
                  </a:xfrm>
                  <a:prstGeom prst="straightConnector1">
                    <a:avLst/>
                  </a:prstGeom>
                  <a:ln w="25400">
                    <a:solidFill>
                      <a:schemeClr val="accent1"/>
                    </a:solidFill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E3AEC1BE-31CB-4948-B129-41FC6D5B1B8C}"/>
                    </a:ext>
                  </a:extLst>
                </p:cNvPr>
                <p:cNvSpPr txBox="1"/>
                <p:nvPr/>
              </p:nvSpPr>
              <p:spPr>
                <a:xfrm>
                  <a:off x="4381399" y="2932604"/>
                  <a:ext cx="1930270" cy="1572326"/>
                </a:xfrm>
                <a:prstGeom prst="rect">
                  <a:avLst/>
                </a:prstGeom>
                <a:noFill/>
              </p:spPr>
              <p:txBody>
                <a:bodyPr wrap="square" lIns="108000" tIns="108000" rIns="108000" bIns="108000" rtlCol="0" anchor="ctr" anchorCtr="0">
                  <a:spAutoFit/>
                </a:bodyPr>
                <a:lstStyle/>
                <a:p>
                  <a:r>
                    <a:rPr kumimoji="1" lang="en-US" altLang="zh-CN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rPr>
                    <a:t>01</a:t>
                  </a:r>
                  <a:endParaRPr kumimoji="1" lang="zh-CN" altLang="en-US" sz="8800" b="1" dirty="0">
                    <a:solidFill>
                      <a:schemeClr val="tx1">
                        <a:lumMod val="50000"/>
                        <a:lumOff val="50000"/>
                        <a:alpha val="20000"/>
                      </a:schemeClr>
                    </a:solidFill>
                  </a:endParaRPr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6F426DF-A3EC-429E-80B9-0D0A7C320651}"/>
                  </a:ext>
                </a:extLst>
              </p:cNvPr>
              <p:cNvGrpSpPr/>
              <p:nvPr/>
            </p:nvGrpSpPr>
            <p:grpSpPr>
              <a:xfrm>
                <a:off x="6336466" y="2932604"/>
                <a:ext cx="2344400" cy="2411348"/>
                <a:chOff x="4381399" y="2932604"/>
                <a:chExt cx="3068300" cy="2411348"/>
              </a:xfrm>
            </p:grpSpPr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25B1B385-436D-4800-816D-6976275A7AEB}"/>
                    </a:ext>
                  </a:extLst>
                </p:cNvPr>
                <p:cNvGrpSpPr/>
                <p:nvPr/>
              </p:nvGrpSpPr>
              <p:grpSpPr>
                <a:xfrm>
                  <a:off x="4381399" y="4139960"/>
                  <a:ext cx="3068300" cy="1203992"/>
                  <a:chOff x="2926262" y="3947957"/>
                  <a:chExt cx="2806761" cy="1203992"/>
                </a:xfrm>
              </p:grpSpPr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47462C5C-0266-49FA-9123-70404C7B0B3D}"/>
                      </a:ext>
                    </a:extLst>
                  </p:cNvPr>
                  <p:cNvGrpSpPr/>
                  <p:nvPr/>
                </p:nvGrpSpPr>
                <p:grpSpPr>
                  <a:xfrm>
                    <a:off x="2926262" y="4039744"/>
                    <a:ext cx="2806761" cy="1112205"/>
                    <a:chOff x="2492017" y="2712768"/>
                    <a:chExt cx="2806761" cy="1112205"/>
                  </a:xfrm>
                </p:grpSpPr>
                <p:sp>
                  <p:nvSpPr>
                    <p:cNvPr id="32" name="Rectangle 31">
                      <a:extLst>
                        <a:ext uri="{FF2B5EF4-FFF2-40B4-BE49-F238E27FC236}">
                          <a16:creationId xmlns:a16="http://schemas.microsoft.com/office/drawing/2014/main" id="{04F178EE-E21F-41B9-84B4-18F96792AB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2712768"/>
                      <a:ext cx="2806761" cy="464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b" anchorCtr="0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kumimoji="1" lang="zh-CN" altLang="en-US" sz="1600" b="1" dirty="0">
                          <a:solidFill>
                            <a:schemeClr val="tx1"/>
                          </a:solidFill>
                        </a:rPr>
                        <a:t>黄清单｜待验证</a:t>
                      </a:r>
                    </a:p>
                  </p:txBody>
                </p: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2B635E04-121A-457F-A3C5-26D697F9D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3182773"/>
                      <a:ext cx="2806761" cy="6422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t" anchorCtr="0">
                      <a:sp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</a:rPr>
                        <a:t>端侧离线 3B、多智能体代撮合、街景 Pin 视频，验证后再进。</a:t>
                      </a:r>
                    </a:p>
                  </p:txBody>
                </p:sp>
              </p:grpSp>
              <p:cxnSp>
                <p:nvCxnSpPr>
                  <p:cNvPr id="31" name="Straight Arrow Connector 30">
                    <a:extLst>
                      <a:ext uri="{FF2B5EF4-FFF2-40B4-BE49-F238E27FC236}">
                        <a16:creationId xmlns:a16="http://schemas.microsoft.com/office/drawing/2014/main" id="{D4AC9934-C29A-484C-BC6C-AA476B57E9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26262" y="3947957"/>
                    <a:ext cx="2806761" cy="0"/>
                  </a:xfrm>
                  <a:prstGeom prst="straightConnector1">
                    <a:avLst/>
                  </a:prstGeom>
                  <a:ln w="25400">
                    <a:solidFill>
                      <a:schemeClr val="accent1"/>
                    </a:solidFill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83AB63C-4858-44EC-AD4B-374290A691AD}"/>
                    </a:ext>
                  </a:extLst>
                </p:cNvPr>
                <p:cNvSpPr txBox="1"/>
                <p:nvPr/>
              </p:nvSpPr>
              <p:spPr>
                <a:xfrm>
                  <a:off x="4381399" y="2932604"/>
                  <a:ext cx="1930270" cy="1572326"/>
                </a:xfrm>
                <a:prstGeom prst="rect">
                  <a:avLst/>
                </a:prstGeom>
                <a:noFill/>
              </p:spPr>
              <p:txBody>
                <a:bodyPr wrap="square" lIns="108000" tIns="108000" rIns="108000" bIns="108000" rtlCol="0" anchor="ctr" anchorCtr="0">
                  <a:spAutoFit/>
                </a:bodyPr>
                <a:lstStyle/>
                <a:p>
                  <a:r>
                    <a:rPr kumimoji="1" lang="en-US" altLang="zh-CN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rPr>
                    <a:t>02</a:t>
                  </a:r>
                  <a:endParaRPr kumimoji="1" lang="zh-CN" altLang="en-US" sz="8800" b="1" dirty="0">
                    <a:solidFill>
                      <a:schemeClr val="tx1">
                        <a:lumMod val="50000"/>
                        <a:lumOff val="50000"/>
                        <a:alpha val="20000"/>
                      </a:schemeClr>
                    </a:solidFill>
                  </a:endParaRPr>
                </a:p>
              </p:txBody>
            </p:sp>
          </p:grpSp>
        </p:grpSp>
      </p:grpSp>
      <p:sp>
        <p:nvSpPr>
          <p:cNvPr id="162" name="Title 16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AI 能力边界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68552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02.市场机会与产品定位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/>
              <a:t>空白地带与核心价值主张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94434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60400" y="1222633"/>
            <a:ext cx="10858500" cy="4342918"/>
            <a:chOff x="660400" y="1222633"/>
            <a:chExt cx="10858500" cy="434291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7A26CE9-6C8E-4CAA-BB16-B08EF0DF0AD1}"/>
                </a:ext>
              </a:extLst>
            </p:cNvPr>
            <p:cNvGrpSpPr/>
            <p:nvPr/>
          </p:nvGrpSpPr>
          <p:grpSpPr>
            <a:xfrm>
              <a:off x="660400" y="2932604"/>
              <a:ext cx="10858500" cy="2632947"/>
              <a:chOff x="660400" y="2932604"/>
              <a:chExt cx="10858500" cy="2632947"/>
            </a:xfrm>
          </p:grpSpPr>
          <p:sp>
            <p:nvSpPr>
              <p:cNvPr id="93" name="Rectangle: Diagonal Corners Rounded 92">
                <a:extLst>
                  <a:ext uri="{FF2B5EF4-FFF2-40B4-BE49-F238E27FC236}">
                    <a16:creationId xmlns:a16="http://schemas.microsoft.com/office/drawing/2014/main" id="{CE77DC51-C006-4B0A-BDE6-9F066A4D0CCC}"/>
                  </a:ext>
                </a:extLst>
              </p:cNvPr>
              <p:cNvSpPr/>
              <p:nvPr/>
            </p:nvSpPr>
            <p:spPr>
              <a:xfrm>
                <a:off x="660400" y="4139960"/>
                <a:ext cx="2344400" cy="1359227"/>
              </a:xfrm>
              <a:prstGeom prst="round2DiagRect">
                <a:avLst>
                  <a:gd name="adj1" fmla="val 40493"/>
                  <a:gd name="adj2" fmla="val 0"/>
                </a:avLst>
              </a:prstGeom>
              <a:blipFill rotWithShape="0">
                <a:blip r:embed="rId3"/>
                <a:srcRect/>
                <a:stretch>
                  <a:fillRect l="-1200" r="-1200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0AF8F480-BF0A-4905-8872-2749E8C5D9DC}"/>
                  </a:ext>
                </a:extLst>
              </p:cNvPr>
              <p:cNvGrpSpPr/>
              <p:nvPr/>
            </p:nvGrpSpPr>
            <p:grpSpPr>
              <a:xfrm>
                <a:off x="3498433" y="2932604"/>
                <a:ext cx="8020467" cy="2632947"/>
                <a:chOff x="3498433" y="2932604"/>
                <a:chExt cx="8020467" cy="2632947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0CCED40-D660-4B11-86A8-6AB5CA96C0BA}"/>
                    </a:ext>
                  </a:extLst>
                </p:cNvPr>
                <p:cNvGrpSpPr/>
                <p:nvPr/>
              </p:nvGrpSpPr>
              <p:grpSpPr>
                <a:xfrm>
                  <a:off x="9174499" y="2932604"/>
                  <a:ext cx="2344401" cy="2411348"/>
                  <a:chOff x="4381398" y="2932604"/>
                  <a:chExt cx="3068301" cy="2411348"/>
                </a:xfrm>
              </p:grpSpPr>
              <p:grpSp>
                <p:nvGrpSpPr>
                  <p:cNvPr id="155" name="Group 154">
                    <a:extLst>
                      <a:ext uri="{FF2B5EF4-FFF2-40B4-BE49-F238E27FC236}">
                        <a16:creationId xmlns:a16="http://schemas.microsoft.com/office/drawing/2014/main" id="{8FC710FC-CA31-4919-8852-4D13C2D9A995}"/>
                      </a:ext>
                    </a:extLst>
                  </p:cNvPr>
                  <p:cNvGrpSpPr/>
                  <p:nvPr/>
                </p:nvGrpSpPr>
                <p:grpSpPr>
                  <a:xfrm>
                    <a:off x="4381399" y="4139960"/>
                    <a:ext cx="3068300" cy="1203992"/>
                    <a:chOff x="2926262" y="3947957"/>
                    <a:chExt cx="2806761" cy="1203992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A47F4AB-9522-4A2C-828D-19AFA8BC131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26262" y="4039744"/>
                      <a:ext cx="2806761" cy="1112205"/>
                      <a:chOff x="2492017" y="2712768"/>
                      <a:chExt cx="2806761" cy="1112205"/>
                    </a:xfrm>
                  </p:grpSpPr>
                  <p:sp>
                    <p:nvSpPr>
                      <p:cNvPr id="159" name="Rectangle 158">
                        <a:extLst>
                          <a:ext uri="{FF2B5EF4-FFF2-40B4-BE49-F238E27FC236}">
                            <a16:creationId xmlns:a16="http://schemas.microsoft.com/office/drawing/2014/main" id="{2D1D808E-48A2-4012-9DAC-3FAD63941B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92017" y="2712768"/>
                        <a:ext cx="2806761" cy="46433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108000" tIns="108000" rIns="108000" bIns="108000" rtlCol="0" anchor="b" anchorCtr="0">
                        <a:normAutofit/>
                      </a:bodyPr>
                      <a:lstStyle/>
                      <a:p>
                        <a:pPr>
                          <a:lnSpc>
                            <a:spcPct val="100000"/>
                          </a:lnSpc>
                        </a:pPr>
                        <a:r>
                          <a:rPr kumimoji="1" lang="zh-CN" altLang="en-US" sz="1600" b="1" dirty="0">
                            <a:solidFill>
                              <a:schemeClr val="tx1"/>
                            </a:solidFill>
                          </a:rPr>
                          <a:t>双向用户痛点</a:t>
                        </a:r>
                      </a:p>
                    </p:txBody>
                  </p:sp>
                  <p:sp>
                    <p:nvSpPr>
                      <p:cNvPr id="160" name="Rectangle 159">
                        <a:extLst>
                          <a:ext uri="{FF2B5EF4-FFF2-40B4-BE49-F238E27FC236}">
                            <a16:creationId xmlns:a16="http://schemas.microsoft.com/office/drawing/2014/main" id="{12113F2F-F9D0-415F-A77B-F7148A354B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92017" y="3182773"/>
                        <a:ext cx="2806761" cy="642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108000" tIns="108000" rIns="108000" bIns="108000" rtlCol="0" anchor="t" anchorCtr="0">
                        <a:spAutoFit/>
                      </a:bodyPr>
                      <a:lstStyle/>
                      <a:p>
                        <a:pPr>
                          <a:lnSpc>
                            <a:spcPct val="120000"/>
                          </a:lnSpc>
                        </a:pPr>
                        <a:r>
                          <a:rPr kumimoji="1" lang="zh-CN" altLang="en-US" sz="1200" dirty="0">
                            <a:solidFill>
                              <a:schemeClr val="tx1"/>
                            </a:solidFill>
                          </a:rPr>
                          <a:t>同时是资源方与需求方，被迫在多个平台之间反复切换。</a:t>
                        </a:r>
                      </a:p>
                    </p:txBody>
                  </p:sp>
                </p:grpSp>
                <p:cxnSp>
                  <p:nvCxnSpPr>
                    <p:cNvPr id="158" name="Straight Arrow Connector 157">
                      <a:extLst>
                        <a:ext uri="{FF2B5EF4-FFF2-40B4-BE49-F238E27FC236}">
                          <a16:creationId xmlns:a16="http://schemas.microsoft.com/office/drawing/2014/main" id="{81A9EDED-9B0F-4828-B65D-B2E77D23149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26262" y="3947957"/>
                      <a:ext cx="2806761" cy="0"/>
                    </a:xfrm>
                    <a:prstGeom prst="straightConnector1">
                      <a:avLst/>
                    </a:prstGeom>
                    <a:ln w="25400">
                      <a:solidFill>
                        <a:schemeClr val="accent1"/>
                      </a:solidFill>
                      <a:tailEnd type="non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56" name="TextBox 155">
                    <a:extLst>
                      <a:ext uri="{FF2B5EF4-FFF2-40B4-BE49-F238E27FC236}">
                        <a16:creationId xmlns:a16="http://schemas.microsoft.com/office/drawing/2014/main" id="{2C54383C-E544-46D1-838C-C53AEAFA2BC7}"/>
                      </a:ext>
                    </a:extLst>
                  </p:cNvPr>
                  <p:cNvSpPr txBox="1"/>
                  <p:nvPr/>
                </p:nvSpPr>
                <p:spPr>
                  <a:xfrm>
                    <a:off x="4381398" y="2932604"/>
                    <a:ext cx="1930270" cy="1572326"/>
                  </a:xfrm>
                  <a:prstGeom prst="rect">
                    <a:avLst/>
                  </a:prstGeom>
                  <a:noFill/>
                </p:spPr>
                <p:txBody>
                  <a:bodyPr wrap="square" lIns="108000" tIns="108000" rIns="108000" bIns="108000" rtlCol="0" anchor="ctr" anchorCtr="0">
                    <a:spAutoFit/>
                  </a:bodyPr>
                  <a:lstStyle/>
                  <a:p>
                    <a:r>
                      <a:rPr kumimoji="1" lang="en-US" altLang="zh-CN" sz="8800" b="1" dirty="0">
                        <a:solidFill>
                          <a:schemeClr val="tx1">
                            <a:lumMod val="50000"/>
                            <a:lumOff val="50000"/>
                            <a:alpha val="20000"/>
                          </a:schemeClr>
                        </a:solidFill>
                      </a:rPr>
                      <a:t>03</a:t>
                    </a:r>
                    <a:endParaRPr kumimoji="1" lang="zh-CN" altLang="en-US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endParaRPr>
                  </a:p>
                </p:txBody>
              </p:sp>
            </p:grpSp>
            <p:grpSp>
              <p:nvGrpSpPr>
                <p:cNvPr id="153" name="Group 152">
                  <a:extLst>
                    <a:ext uri="{FF2B5EF4-FFF2-40B4-BE49-F238E27FC236}">
                      <a16:creationId xmlns:a16="http://schemas.microsoft.com/office/drawing/2014/main" id="{0DE2A22E-2740-41E4-A7A0-9443A6A304C0}"/>
                    </a:ext>
                  </a:extLst>
                </p:cNvPr>
                <p:cNvGrpSpPr/>
                <p:nvPr/>
              </p:nvGrpSpPr>
              <p:grpSpPr>
                <a:xfrm>
                  <a:off x="3498433" y="2932604"/>
                  <a:ext cx="2344400" cy="2632947"/>
                  <a:chOff x="4381399" y="2932604"/>
                  <a:chExt cx="3068300" cy="2632947"/>
                </a:xfrm>
              </p:grpSpPr>
              <p:grpSp>
                <p:nvGrpSpPr>
                  <p:cNvPr id="113" name="Group 112">
                    <a:extLst>
                      <a:ext uri="{FF2B5EF4-FFF2-40B4-BE49-F238E27FC236}">
                        <a16:creationId xmlns:a16="http://schemas.microsoft.com/office/drawing/2014/main" id="{F083F46B-5F21-491D-AC81-7D4ADDEB4F35}"/>
                      </a:ext>
                    </a:extLst>
                  </p:cNvPr>
                  <p:cNvGrpSpPr/>
                  <p:nvPr/>
                </p:nvGrpSpPr>
                <p:grpSpPr>
                  <a:xfrm>
                    <a:off x="4381399" y="4139960"/>
                    <a:ext cx="3068300" cy="1425591"/>
                    <a:chOff x="2926262" y="3947957"/>
                    <a:chExt cx="2806761" cy="1425591"/>
                  </a:xfrm>
                </p:grpSpPr>
                <p:grpSp>
                  <p:nvGrpSpPr>
                    <p:cNvPr id="114" name="Group 113">
                      <a:extLst>
                        <a:ext uri="{FF2B5EF4-FFF2-40B4-BE49-F238E27FC236}">
                          <a16:creationId xmlns:a16="http://schemas.microsoft.com/office/drawing/2014/main" id="{79082DD3-4B9C-4B81-B3C1-095C91F98E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26262" y="4039744"/>
                      <a:ext cx="2806761" cy="1333804"/>
                      <a:chOff x="2492017" y="2712768"/>
                      <a:chExt cx="2806761" cy="1333804"/>
                    </a:xfrm>
                  </p:grpSpPr>
                  <p:sp>
                    <p:nvSpPr>
                      <p:cNvPr id="116" name="Rectangle 115">
                        <a:extLst>
                          <a:ext uri="{FF2B5EF4-FFF2-40B4-BE49-F238E27FC236}">
                            <a16:creationId xmlns:a16="http://schemas.microsoft.com/office/drawing/2014/main" id="{CE875014-6D52-447D-A118-09562293E0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92017" y="2712768"/>
                        <a:ext cx="2806761" cy="46433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108000" tIns="108000" rIns="108000" bIns="108000" rtlCol="0" anchor="b" anchorCtr="0">
                        <a:normAutofit/>
                      </a:bodyPr>
                      <a:lstStyle/>
                      <a:p>
                        <a:pPr>
                          <a:lnSpc>
                            <a:spcPct val="100000"/>
                          </a:lnSpc>
                        </a:pPr>
                        <a:r>
                          <a:rPr kumimoji="1" lang="zh-CN" altLang="en-US" sz="1600" b="1" dirty="0">
                            <a:solidFill>
                              <a:schemeClr val="tx1"/>
                            </a:solidFill>
                          </a:rPr>
                          <a:t>资源方痛点</a:t>
                        </a:r>
                      </a:p>
                    </p:txBody>
                  </p:sp>
                  <p:sp>
                    <p:nvSpPr>
                      <p:cNvPr id="117" name="Rectangle 116">
                        <a:extLst>
                          <a:ext uri="{FF2B5EF4-FFF2-40B4-BE49-F238E27FC236}">
                            <a16:creationId xmlns:a16="http://schemas.microsoft.com/office/drawing/2014/main" id="{0DCDFEB6-271D-4D18-99B1-157799D87D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92017" y="3182773"/>
                        <a:ext cx="2806761" cy="86379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108000" tIns="108000" rIns="108000" bIns="108000" rtlCol="0" anchor="t" anchorCtr="0">
                        <a:spAutoFit/>
                      </a:bodyPr>
                      <a:lstStyle/>
                      <a:p>
                        <a:pPr>
                          <a:lnSpc>
                            <a:spcPct val="120000"/>
                          </a:lnSpc>
                        </a:pPr>
                        <a:r>
                          <a:rPr kumimoji="1" lang="zh-CN" altLang="en-US" sz="1200" dirty="0">
                            <a:solidFill>
                              <a:schemeClr val="tx1"/>
                            </a:solidFill>
                          </a:rPr>
                          <a:t>发布成本高、曝光范围不可控、难以直接找到需求方。</a:t>
                        </a:r>
                      </a:p>
                    </p:txBody>
                  </p:sp>
                </p:grpSp>
                <p:cxnSp>
                  <p:nvCxnSpPr>
                    <p:cNvPr id="115" name="Straight Arrow Connector 114">
                      <a:extLst>
                        <a:ext uri="{FF2B5EF4-FFF2-40B4-BE49-F238E27FC236}">
                          <a16:creationId xmlns:a16="http://schemas.microsoft.com/office/drawing/2014/main" id="{7E7F2112-1F31-4050-ADAC-1789C2CA9F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26262" y="3947957"/>
                      <a:ext cx="2806761" cy="0"/>
                    </a:xfrm>
                    <a:prstGeom prst="straightConnector1">
                      <a:avLst/>
                    </a:prstGeom>
                    <a:ln w="25400">
                      <a:solidFill>
                        <a:schemeClr val="accent1"/>
                      </a:solidFill>
                      <a:tailEnd type="non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E3AEC1BE-31CB-4948-B129-41FC6D5B1B8C}"/>
                      </a:ext>
                    </a:extLst>
                  </p:cNvPr>
                  <p:cNvSpPr txBox="1"/>
                  <p:nvPr/>
                </p:nvSpPr>
                <p:spPr>
                  <a:xfrm>
                    <a:off x="4381399" y="2932604"/>
                    <a:ext cx="1930270" cy="1572326"/>
                  </a:xfrm>
                  <a:prstGeom prst="rect">
                    <a:avLst/>
                  </a:prstGeom>
                  <a:noFill/>
                </p:spPr>
                <p:txBody>
                  <a:bodyPr wrap="square" lIns="108000" tIns="108000" rIns="108000" bIns="108000" rtlCol="0" anchor="ctr" anchorCtr="0">
                    <a:spAutoFit/>
                  </a:bodyPr>
                  <a:lstStyle/>
                  <a:p>
                    <a:r>
                      <a:rPr kumimoji="1" lang="en-US" altLang="zh-CN" sz="8800" b="1" dirty="0">
                        <a:solidFill>
                          <a:schemeClr val="tx1">
                            <a:lumMod val="50000"/>
                            <a:lumOff val="50000"/>
                            <a:alpha val="20000"/>
                          </a:schemeClr>
                        </a:solidFill>
                      </a:rPr>
                      <a:t>01</a:t>
                    </a:r>
                    <a:endParaRPr kumimoji="1" lang="zh-CN" altLang="en-US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endParaRPr>
                  </a:p>
                </p:txBody>
              </p:sp>
            </p:grpSp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96F426DF-A3EC-429E-80B9-0D0A7C320651}"/>
                    </a:ext>
                  </a:extLst>
                </p:cNvPr>
                <p:cNvGrpSpPr/>
                <p:nvPr/>
              </p:nvGrpSpPr>
              <p:grpSpPr>
                <a:xfrm>
                  <a:off x="6336466" y="2932604"/>
                  <a:ext cx="2344400" cy="2632947"/>
                  <a:chOff x="4381399" y="2932604"/>
                  <a:chExt cx="3068300" cy="2632947"/>
                </a:xfrm>
              </p:grpSpPr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25B1B385-436D-4800-816D-6976275A7AEB}"/>
                      </a:ext>
                    </a:extLst>
                  </p:cNvPr>
                  <p:cNvGrpSpPr/>
                  <p:nvPr/>
                </p:nvGrpSpPr>
                <p:grpSpPr>
                  <a:xfrm>
                    <a:off x="4381399" y="4139960"/>
                    <a:ext cx="3068300" cy="1425591"/>
                    <a:chOff x="2926262" y="3947957"/>
                    <a:chExt cx="2806761" cy="1425591"/>
                  </a:xfrm>
                </p:grpSpPr>
                <p:grpSp>
                  <p:nvGrpSpPr>
                    <p:cNvPr id="30" name="Group 29">
                      <a:extLst>
                        <a:ext uri="{FF2B5EF4-FFF2-40B4-BE49-F238E27FC236}">
                          <a16:creationId xmlns:a16="http://schemas.microsoft.com/office/drawing/2014/main" id="{47462C5C-0266-49FA-9123-70404C7B0B3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26262" y="4039744"/>
                      <a:ext cx="2806761" cy="1333804"/>
                      <a:chOff x="2492017" y="2712768"/>
                      <a:chExt cx="2806761" cy="1333804"/>
                    </a:xfrm>
                  </p:grpSpPr>
                  <p:sp>
                    <p:nvSpPr>
                      <p:cNvPr id="32" name="Rectangle 31">
                        <a:extLst>
                          <a:ext uri="{FF2B5EF4-FFF2-40B4-BE49-F238E27FC236}">
                            <a16:creationId xmlns:a16="http://schemas.microsoft.com/office/drawing/2014/main" id="{04F178EE-E21F-41B9-84B4-18F96792AB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92017" y="2712768"/>
                        <a:ext cx="2806761" cy="46433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108000" tIns="108000" rIns="108000" bIns="108000" rtlCol="0" anchor="b" anchorCtr="0">
                        <a:normAutofit/>
                      </a:bodyPr>
                      <a:lstStyle/>
                      <a:p>
                        <a:pPr>
                          <a:lnSpc>
                            <a:spcPct val="100000"/>
                          </a:lnSpc>
                        </a:pPr>
                        <a:r>
                          <a:rPr kumimoji="1" lang="zh-CN" altLang="en-US" sz="1600" b="1" dirty="0">
                            <a:solidFill>
                              <a:schemeClr val="tx1"/>
                            </a:solidFill>
                          </a:rPr>
                          <a:t>需求方痛点</a:t>
                        </a:r>
                      </a:p>
                    </p:txBody>
                  </p:sp>
                  <p:sp>
                    <p:nvSpPr>
                      <p:cNvPr id="33" name="Rectangle 32">
                        <a:extLst>
                          <a:ext uri="{FF2B5EF4-FFF2-40B4-BE49-F238E27FC236}">
                            <a16:creationId xmlns:a16="http://schemas.microsoft.com/office/drawing/2014/main" id="{2B635E04-121A-457F-A3C5-26D697F9D6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92017" y="3182773"/>
                        <a:ext cx="2806761" cy="86379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108000" tIns="108000" rIns="108000" bIns="108000" rtlCol="0" anchor="t" anchorCtr="0">
                        <a:spAutoFit/>
                      </a:bodyPr>
                      <a:lstStyle/>
                      <a:p>
                        <a:pPr>
                          <a:lnSpc>
                            <a:spcPct val="120000"/>
                          </a:lnSpc>
                        </a:pPr>
                        <a:r>
                          <a:rPr kumimoji="1" lang="zh-CN" altLang="en-US" sz="1200" dirty="0">
                            <a:solidFill>
                              <a:schemeClr val="tx1"/>
                            </a:solidFill>
                          </a:rPr>
                          <a:t>找就近资源难、信息真伪难辨、响应即时性差。</a:t>
                        </a:r>
                      </a:p>
                    </p:txBody>
                  </p:sp>
                </p:grpSp>
                <p:cxnSp>
                  <p:nvCxnSpPr>
                    <p:cNvPr id="31" name="Straight Arrow Connector 30">
                      <a:extLst>
                        <a:ext uri="{FF2B5EF4-FFF2-40B4-BE49-F238E27FC236}">
                          <a16:creationId xmlns:a16="http://schemas.microsoft.com/office/drawing/2014/main" id="{D4AC9934-C29A-484C-BC6C-AA476B57E9E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26262" y="3947957"/>
                      <a:ext cx="2806761" cy="0"/>
                    </a:xfrm>
                    <a:prstGeom prst="straightConnector1">
                      <a:avLst/>
                    </a:prstGeom>
                    <a:ln w="25400">
                      <a:solidFill>
                        <a:schemeClr val="accent1"/>
                      </a:solidFill>
                      <a:tailEnd type="non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83AB63C-4858-44EC-AD4B-374290A691AD}"/>
                      </a:ext>
                    </a:extLst>
                  </p:cNvPr>
                  <p:cNvSpPr txBox="1"/>
                  <p:nvPr/>
                </p:nvSpPr>
                <p:spPr>
                  <a:xfrm>
                    <a:off x="4381399" y="2932604"/>
                    <a:ext cx="1930270" cy="1572326"/>
                  </a:xfrm>
                  <a:prstGeom prst="rect">
                    <a:avLst/>
                  </a:prstGeom>
                  <a:noFill/>
                </p:spPr>
                <p:txBody>
                  <a:bodyPr wrap="square" lIns="108000" tIns="108000" rIns="108000" bIns="108000" rtlCol="0" anchor="ctr" anchorCtr="0">
                    <a:spAutoFit/>
                  </a:bodyPr>
                  <a:lstStyle/>
                  <a:p>
                    <a:r>
                      <a:rPr kumimoji="1" lang="en-US" altLang="zh-CN" sz="8800" b="1" dirty="0">
                        <a:solidFill>
                          <a:schemeClr val="tx1">
                            <a:lumMod val="50000"/>
                            <a:lumOff val="50000"/>
                            <a:alpha val="20000"/>
                          </a:schemeClr>
                        </a:solidFill>
                      </a:rPr>
                      <a:t>02</a:t>
                    </a:r>
                    <a:endParaRPr kumimoji="1" lang="zh-CN" altLang="en-US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endParaRPr>
                  </a:p>
                </p:txBody>
              </p:sp>
            </p:grpSp>
          </p:grpSp>
        </p:grp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64A089-5D4B-47CD-B734-31A1B6B64CFF}"/>
                </a:ext>
              </a:extLst>
            </p:cNvPr>
            <p:cNvSpPr/>
            <p:nvPr/>
          </p:nvSpPr>
          <p:spPr>
            <a:xfrm>
              <a:off x="660402" y="1815748"/>
              <a:ext cx="5540924" cy="642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kumimoji="1" lang="zh-CN" altLang="en-US" sz="1200" dirty="0">
                  <a:solidFill>
                    <a:schemeClr val="tx1"/>
                  </a:solidFill>
                </a:rPr>
                <a:t>市场机会 = 5km 生活圈 × 双向供需 × 轻信任，三者交叉处仍是空白。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B70C394-5A47-4B7C-BC1A-DD0184D58E9E}"/>
                </a:ext>
              </a:extLst>
            </p:cNvPr>
            <p:cNvSpPr/>
            <p:nvPr/>
          </p:nvSpPr>
          <p:spPr>
            <a:xfrm>
              <a:off x="660400" y="1222633"/>
              <a:ext cx="5540924" cy="58744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b" anchorCtr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kumimoji="1" lang="zh-CN" altLang="en-US" sz="2400" b="1" dirty="0">
                  <a:solidFill>
                    <a:schemeClr val="tx1"/>
                  </a:solidFill>
                </a:rPr>
                <a:t>市场机会判断</a:t>
              </a:r>
            </a:p>
          </p:txBody>
        </p:sp>
      </p:grpSp>
      <p:sp>
        <p:nvSpPr>
          <p:cNvPr id="162" name="Title 16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市场机会与用户痛点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443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EFF369C5-4B2E-D9C5-C899-455D33CAA99B}"/>
              </a:ext>
            </a:extLst>
          </p:cNvPr>
          <p:cNvGrpSpPr/>
          <p:nvPr/>
        </p:nvGrpSpPr>
        <p:grpSpPr>
          <a:xfrm>
            <a:off x="636956" y="1179443"/>
            <a:ext cx="10881944" cy="4626718"/>
            <a:chOff x="636956" y="1179443"/>
            <a:chExt cx="10881944" cy="462671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DEC2789-C52B-B40A-1D3A-FB9BB2B778FA}"/>
                </a:ext>
              </a:extLst>
            </p:cNvPr>
            <p:cNvGrpSpPr/>
            <p:nvPr/>
          </p:nvGrpSpPr>
          <p:grpSpPr>
            <a:xfrm>
              <a:off x="636956" y="4010540"/>
              <a:ext cx="10881944" cy="1795621"/>
              <a:chOff x="636956" y="4010540"/>
              <a:chExt cx="10881944" cy="1795621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B7BECCEA-FC26-D7E6-C218-C7363D904A9A}"/>
                  </a:ext>
                </a:extLst>
              </p:cNvPr>
              <p:cNvGrpSpPr/>
              <p:nvPr/>
            </p:nvGrpSpPr>
            <p:grpSpPr>
              <a:xfrm>
                <a:off x="636956" y="4010540"/>
                <a:ext cx="1969192" cy="1574021"/>
                <a:chOff x="8756125" y="4020076"/>
                <a:chExt cx="1969192" cy="1574021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23D4A7F6-5FC8-184E-C424-DF34E992D0F1}"/>
                    </a:ext>
                  </a:extLst>
                </p:cNvPr>
                <p:cNvSpPr/>
                <p:nvPr/>
              </p:nvSpPr>
              <p:spPr>
                <a:xfrm>
                  <a:off x="8756125" y="4732305"/>
                  <a:ext cx="1969192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近场优先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3DD9ADEF-F222-A0FD-1398-748618ABF95C}"/>
                    </a:ext>
                  </a:extLst>
                </p:cNvPr>
                <p:cNvSpPr/>
                <p:nvPr/>
              </p:nvSpPr>
              <p:spPr>
                <a:xfrm>
                  <a:off x="8756125" y="5077674"/>
                  <a:ext cx="1969192" cy="51642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默认 5km，可调 1/3/5/10/全城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ADF9E4D-3D17-47FE-9D2C-4551451FB2FF}"/>
                    </a:ext>
                  </a:extLst>
                </p:cNvPr>
                <p:cNvSpPr txBox="1"/>
                <p:nvPr/>
              </p:nvSpPr>
              <p:spPr>
                <a:xfrm>
                  <a:off x="9470721" y="4020076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</p:spPr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2000" b="1" dirty="0">
                      <a:solidFill>
                        <a:srgbClr val="FFFFFF"/>
                      </a:solidFill>
                    </a:rPr>
                    <a:t>01</a:t>
                  </a:r>
                  <a:endParaRPr kumimoji="1" lang="zh-CN" altLang="en-US" sz="2000" b="1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16E564B5-92DD-93CF-B67C-3DC0ACC87712}"/>
                  </a:ext>
                </a:extLst>
              </p:cNvPr>
              <p:cNvGrpSpPr/>
              <p:nvPr/>
            </p:nvGrpSpPr>
            <p:grpSpPr>
              <a:xfrm>
                <a:off x="2865144" y="4010540"/>
                <a:ext cx="1969192" cy="1574021"/>
                <a:chOff x="8756125" y="4020076"/>
                <a:chExt cx="1969192" cy="1574021"/>
              </a:xfrm>
            </p:grpSpPr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EC0BEC1-9DC2-9C2A-6338-07754DC49D55}"/>
                    </a:ext>
                  </a:extLst>
                </p:cNvPr>
                <p:cNvSpPr/>
                <p:nvPr/>
              </p:nvSpPr>
              <p:spPr>
                <a:xfrm>
                  <a:off x="8756125" y="4732305"/>
                  <a:ext cx="1969192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双向撮合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330A7A6-9AC3-6B1E-BD77-46C361CCF4AD}"/>
                    </a:ext>
                  </a:extLst>
                </p:cNvPr>
                <p:cNvSpPr/>
                <p:nvPr/>
              </p:nvSpPr>
              <p:spPr>
                <a:xfrm>
                  <a:off x="8756125" y="5077674"/>
                  <a:ext cx="1969192" cy="51642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既能发资源也能发需求，互为猎手</a:t>
                  </a:r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614E8E1-51A6-B581-C20A-1B7450B118D8}"/>
                    </a:ext>
                  </a:extLst>
                </p:cNvPr>
                <p:cNvSpPr txBox="1"/>
                <p:nvPr/>
              </p:nvSpPr>
              <p:spPr>
                <a:xfrm>
                  <a:off x="9470721" y="4020076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2"/>
                </a:solidFill>
              </p:spPr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2000" b="1" dirty="0">
                      <a:solidFill>
                        <a:schemeClr val="bg2"/>
                      </a:solidFill>
                    </a:rPr>
                    <a:t>02</a:t>
                  </a:r>
                  <a:endParaRPr kumimoji="1" lang="zh-CN" altLang="en-US" sz="2000" b="1" dirty="0">
                    <a:solidFill>
                      <a:schemeClr val="bg2"/>
                    </a:solidFill>
                  </a:endParaRPr>
                </a:p>
              </p:txBody>
            </p: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FB57DC0B-F62F-232F-CAF3-2F13BCC9CE90}"/>
                  </a:ext>
                </a:extLst>
              </p:cNvPr>
              <p:cNvGrpSpPr/>
              <p:nvPr/>
            </p:nvGrpSpPr>
            <p:grpSpPr>
              <a:xfrm>
                <a:off x="5093332" y="4010540"/>
                <a:ext cx="1969192" cy="1795621"/>
                <a:chOff x="8756125" y="4020076"/>
                <a:chExt cx="1969192" cy="1795621"/>
              </a:xfrm>
            </p:grpSpPr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9BECAA3F-CB95-97E1-F120-BDF2540FD701}"/>
                    </a:ext>
                  </a:extLst>
                </p:cNvPr>
                <p:cNvSpPr/>
                <p:nvPr/>
              </p:nvSpPr>
              <p:spPr>
                <a:xfrm>
                  <a:off x="8756125" y="4732305"/>
                  <a:ext cx="1969192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极简丝滑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D7EA501C-463F-C7DD-E89D-8E865A89C94B}"/>
                    </a:ext>
                  </a:extLst>
                </p:cNvPr>
                <p:cNvSpPr/>
                <p:nvPr/>
              </p:nvSpPr>
              <p:spPr>
                <a:xfrm>
                  <a:off x="8756125" y="5077674"/>
                  <a:ext cx="1969192" cy="73802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3 秒发布、一指发现、模板化提效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12A6A11-38A1-040C-4B6A-B019D1789EAE}"/>
                    </a:ext>
                  </a:extLst>
                </p:cNvPr>
                <p:cNvSpPr txBox="1"/>
                <p:nvPr/>
              </p:nvSpPr>
              <p:spPr>
                <a:xfrm>
                  <a:off x="9470721" y="4020076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</p:spPr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2000" b="1" dirty="0">
                      <a:solidFill>
                        <a:srgbClr val="FFFFFF"/>
                      </a:solidFill>
                    </a:rPr>
                    <a:t>03</a:t>
                  </a:r>
                  <a:endParaRPr kumimoji="1" lang="zh-CN" altLang="en-US" sz="2000" b="1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71380ED-5AB5-FA0E-6022-F2D89514675F}"/>
                  </a:ext>
                </a:extLst>
              </p:cNvPr>
              <p:cNvGrpSpPr/>
              <p:nvPr/>
            </p:nvGrpSpPr>
            <p:grpSpPr>
              <a:xfrm>
                <a:off x="7321520" y="4010540"/>
                <a:ext cx="1969192" cy="1795621"/>
                <a:chOff x="8756125" y="4020076"/>
                <a:chExt cx="1969192" cy="1795621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952105DB-E45B-B74C-3E98-578DA83CDA6B}"/>
                    </a:ext>
                  </a:extLst>
                </p:cNvPr>
                <p:cNvSpPr/>
                <p:nvPr/>
              </p:nvSpPr>
              <p:spPr>
                <a:xfrm>
                  <a:off x="8756125" y="4732305"/>
                  <a:ext cx="1969192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本地实名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467CC95B-0EB2-B822-4031-7BC94BE0089C}"/>
                    </a:ext>
                  </a:extLst>
                </p:cNvPr>
                <p:cNvSpPr/>
                <p:nvPr/>
              </p:nvSpPr>
              <p:spPr>
                <a:xfrm>
                  <a:off x="8756125" y="5077674"/>
                  <a:ext cx="1969192" cy="73802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实名 + 资质认证，本地可验证</a:t>
                  </a:r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84D27680-3287-1D79-F879-4D0F74C6CE67}"/>
                    </a:ext>
                  </a:extLst>
                </p:cNvPr>
                <p:cNvSpPr txBox="1"/>
                <p:nvPr/>
              </p:nvSpPr>
              <p:spPr>
                <a:xfrm>
                  <a:off x="9470721" y="4020076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2"/>
                </a:solidFill>
              </p:spPr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2000" b="1" dirty="0">
                      <a:solidFill>
                        <a:schemeClr val="bg2"/>
                      </a:solidFill>
                    </a:rPr>
                    <a:t>04</a:t>
                  </a:r>
                  <a:endParaRPr kumimoji="1" lang="zh-CN" altLang="en-US" sz="2000" b="1" dirty="0">
                    <a:solidFill>
                      <a:schemeClr val="bg2"/>
                    </a:solidFill>
                  </a:endParaRPr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D0F0C63-216C-ECE6-82DF-BDF9150CEF55}"/>
                  </a:ext>
                </a:extLst>
              </p:cNvPr>
              <p:cNvGrpSpPr/>
              <p:nvPr/>
            </p:nvGrpSpPr>
            <p:grpSpPr>
              <a:xfrm>
                <a:off x="9549708" y="4010540"/>
                <a:ext cx="1969192" cy="1795621"/>
                <a:chOff x="8756125" y="4020076"/>
                <a:chExt cx="1969192" cy="1795621"/>
              </a:xfrm>
            </p:grpSpPr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3FAD5D97-10E4-EC93-0DF9-F86AF0276D19}"/>
                    </a:ext>
                  </a:extLst>
                </p:cNvPr>
                <p:cNvSpPr/>
                <p:nvPr/>
              </p:nvSpPr>
              <p:spPr>
                <a:xfrm>
                  <a:off x="8756125" y="4732305"/>
                  <a:ext cx="1969192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纯线下成交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C9C6EA33-DEC2-3F8F-E7E6-A79DB61B5425}"/>
                    </a:ext>
                  </a:extLst>
                </p:cNvPr>
                <p:cNvSpPr/>
                <p:nvPr/>
              </p:nvSpPr>
              <p:spPr>
                <a:xfrm>
                  <a:off x="8756125" y="5077674"/>
                  <a:ext cx="1969192" cy="73802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避开金融合规与履约纠纷成本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EB727A3-4AE3-CAA7-F1EA-B0B41D5C8234}"/>
                    </a:ext>
                  </a:extLst>
                </p:cNvPr>
                <p:cNvSpPr txBox="1"/>
                <p:nvPr/>
              </p:nvSpPr>
              <p:spPr>
                <a:xfrm>
                  <a:off x="9470721" y="4020076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</p:spPr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2000" b="1" dirty="0">
                      <a:solidFill>
                        <a:srgbClr val="FFFFFF"/>
                      </a:solidFill>
                    </a:rPr>
                    <a:t>05</a:t>
                  </a:r>
                  <a:endParaRPr kumimoji="1" lang="zh-CN" altLang="en-US" sz="2000" b="1" dirty="0">
                    <a:solidFill>
                      <a:srgbClr val="FFFFFF"/>
                    </a:solidFill>
                  </a:endParaRPr>
                </a:p>
              </p:txBody>
            </p:sp>
          </p:grp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C6AB889-C198-D629-1829-A29F5EDA8B6C}"/>
                </a:ext>
              </a:extLst>
            </p:cNvPr>
            <p:cNvSpPr/>
            <p:nvPr/>
          </p:nvSpPr>
          <p:spPr>
            <a:xfrm>
              <a:off x="2721035" y="1179443"/>
              <a:ext cx="6749931" cy="1126067"/>
            </a:xfrm>
            <a:prstGeom prst="rect">
              <a:avLst/>
            </a:prstGeom>
          </p:spPr>
          <p:txBody>
            <a:bodyPr wrap="square" anchor="b" anchorCtr="0">
              <a:noAutofit/>
            </a:bodyPr>
            <a:lstStyle/>
            <a:p>
              <a:pPr algn="ctr"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核心价值主张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DBE096E-1C49-79A3-21CF-FDA2EA9CCBA3}"/>
                </a:ext>
              </a:extLst>
            </p:cNvPr>
            <p:cNvSpPr/>
            <p:nvPr/>
          </p:nvSpPr>
          <p:spPr>
            <a:xfrm>
              <a:off x="2996400" y="2322729"/>
              <a:ext cx="6199200" cy="294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kumimoji="1" lang="zh-CN" altLang="en-US" sz="1200" dirty="0">
                  <a:solidFill>
                    <a:schemeClr val="tx1"/>
                  </a:solidFill>
                </a:rPr>
                <a:t>五条价值主张构成产品的差异化竞争力，其中双向撮合是单一核心差异点。</a:t>
              </a:r>
            </a:p>
          </p:txBody>
        </p:sp>
      </p:grpSp>
      <p:sp>
        <p:nvSpPr>
          <p:cNvPr id="38" name="Title 37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核心价值主张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12844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AB57178-167B-84BA-BB51-730939FA9C83}"/>
              </a:ext>
            </a:extLst>
          </p:cNvPr>
          <p:cNvGrpSpPr/>
          <p:nvPr/>
        </p:nvGrpSpPr>
        <p:grpSpPr>
          <a:xfrm>
            <a:off x="881908" y="1347546"/>
            <a:ext cx="9652625" cy="4753224"/>
            <a:chOff x="881908" y="1347546"/>
            <a:chExt cx="9652625" cy="4753224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2180687-5F4C-F377-7EEA-849776A69917}"/>
                </a:ext>
              </a:extLst>
            </p:cNvPr>
            <p:cNvCxnSpPr>
              <a:cxnSpLocks/>
            </p:cNvCxnSpPr>
            <p:nvPr/>
          </p:nvCxnSpPr>
          <p:spPr>
            <a:xfrm>
              <a:off x="4883209" y="1347546"/>
              <a:ext cx="42352" cy="4627526"/>
            </a:xfrm>
            <a:prstGeom prst="line">
              <a:avLst/>
            </a:prstGeom>
            <a:ln>
              <a:solidFill>
                <a:schemeClr val="tx2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B40AF83-8694-1B94-8D40-E7316A62878C}"/>
                </a:ext>
              </a:extLst>
            </p:cNvPr>
            <p:cNvGrpSpPr/>
            <p:nvPr/>
          </p:nvGrpSpPr>
          <p:grpSpPr>
            <a:xfrm>
              <a:off x="4694639" y="1682157"/>
              <a:ext cx="5839894" cy="1061814"/>
              <a:chOff x="4694639" y="1682157"/>
              <a:chExt cx="5839894" cy="1061814"/>
            </a:xfrm>
          </p:grpSpPr>
          <p:sp>
            <p:nvSpPr>
              <p:cNvPr id="2" name="Rectangle: Top Corners Rounded 1">
                <a:extLst>
                  <a:ext uri="{FF2B5EF4-FFF2-40B4-BE49-F238E27FC236}">
                    <a16:creationId xmlns:a16="http://schemas.microsoft.com/office/drawing/2014/main" id="{B240F297-BF5B-4D85-281C-0B36E2BF782C}"/>
                  </a:ext>
                </a:extLst>
              </p:cNvPr>
              <p:cNvSpPr/>
              <p:nvPr/>
            </p:nvSpPr>
            <p:spPr>
              <a:xfrm>
                <a:off x="8063841" y="1682157"/>
                <a:ext cx="2470692" cy="1061814"/>
              </a:xfrm>
              <a:prstGeom prst="round2SameRect">
                <a:avLst>
                  <a:gd name="adj1" fmla="val 0"/>
                  <a:gd name="adj2" fmla="val 0"/>
                </a:avLst>
              </a:prstGeom>
              <a:blipFill rotWithShape="0">
                <a:blip r:embed="rId3"/>
                <a:srcRect/>
                <a:stretch>
                  <a:fillRect l="-1329" r="-1329"/>
                </a:stretch>
              </a:blipFill>
              <a:ln w="38100">
                <a:noFill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91B91B0-E055-B95D-6AB9-D98A2B794BAA}"/>
                  </a:ext>
                </a:extLst>
              </p:cNvPr>
              <p:cNvGrpSpPr/>
              <p:nvPr/>
            </p:nvGrpSpPr>
            <p:grpSpPr>
              <a:xfrm>
                <a:off x="4694639" y="1700799"/>
                <a:ext cx="3035408" cy="887937"/>
                <a:chOff x="1047952" y="4303925"/>
                <a:chExt cx="3035408" cy="887937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003DE4B9-E6B1-0DCA-4D39-C174FA583BA7}"/>
                    </a:ext>
                  </a:extLst>
                </p:cNvPr>
                <p:cNvSpPr/>
                <p:nvPr/>
              </p:nvSpPr>
              <p:spPr>
                <a:xfrm>
                  <a:off x="1047952" y="4309054"/>
                  <a:ext cx="376146" cy="364203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1200" b="1" dirty="0">
                      <a:solidFill>
                        <a:srgbClr val="FFFFFF"/>
                      </a:solidFill>
                    </a:rPr>
                    <a:t>01</a:t>
                  </a: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F876E45-EA74-243C-B518-03176821553D}"/>
                    </a:ext>
                  </a:extLst>
                </p:cNvPr>
                <p:cNvSpPr txBox="1"/>
                <p:nvPr/>
              </p:nvSpPr>
              <p:spPr>
                <a:xfrm>
                  <a:off x="1612668" y="4303925"/>
                  <a:ext cx="2470692" cy="307777"/>
                </a:xfrm>
                <a:prstGeom prst="rect">
                  <a:avLst/>
                </a:prstGeom>
                <a:noFill/>
              </p:spPr>
              <p:txBody>
                <a:bodyPr wrap="square" rtlCol="0" anchor="b">
                  <a:normAutofit fontScale="92500" lnSpcReduction="10000"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0" lang="zh-CN" altLang="en-US" sz="1600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不做支付结算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C468237-DAE7-11F6-5C8F-E2744B5E16DC}"/>
                    </a:ext>
                  </a:extLst>
                </p:cNvPr>
                <p:cNvSpPr txBox="1"/>
                <p:nvPr/>
              </p:nvSpPr>
              <p:spPr>
                <a:xfrm>
                  <a:off x="1612668" y="4673257"/>
                  <a:ext cx="2470692" cy="518605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wrap="square" lIns="90000" tIns="46800" rIns="90000" bIns="46800" anchor="t">
                  <a:spAutoFit/>
                </a:bodyPr>
                <a:lstStyle>
                  <a:defPPr>
                    <a:defRPr lang="zh-CN"/>
                  </a:defPPr>
                  <a:lvl1pPr algn="ctr">
                    <a:lnSpc>
                      <a:spcPct val="150000"/>
                    </a:lnSpc>
                    <a:defRPr sz="10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defRPr>
                  </a:lvl1pPr>
                </a:lstStyle>
                <a:p>
                  <a:pPr algn="l">
                    <a:lnSpc>
                      <a:spcPct val="120000"/>
                    </a:lnSpc>
                  </a:pPr>
                  <a:r>
                    <a:rPr lang="zh-CN" altLang="en-US" sz="1200" dirty="0"/>
                    <a:t>合规与履约成本高，不在本期焦点。</a:t>
                  </a:r>
                </a:p>
              </p:txBody>
            </p:sp>
          </p:grp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5976179-5248-EC18-E589-1FEFB7757B85}"/>
                </a:ext>
              </a:extLst>
            </p:cNvPr>
            <p:cNvSpPr/>
            <p:nvPr/>
          </p:nvSpPr>
          <p:spPr>
            <a:xfrm>
              <a:off x="881908" y="2830312"/>
              <a:ext cx="2553845" cy="830997"/>
            </a:xfrm>
            <a:prstGeom prst="rect">
              <a:avLst/>
            </a:prstGeom>
          </p:spPr>
          <p:txBody>
            <a:bodyPr wrap="square" anchor="b" anchorCtr="0">
              <a:spAutoFit/>
            </a:bodyPr>
            <a:lstStyle/>
            <a:p>
              <a:pPr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产品边界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852B913-15B5-ECB5-C204-B234F9566F5D}"/>
                </a:ext>
              </a:extLst>
            </p:cNvPr>
            <p:cNvSpPr/>
            <p:nvPr/>
          </p:nvSpPr>
          <p:spPr>
            <a:xfrm>
              <a:off x="881910" y="4012566"/>
              <a:ext cx="2418466" cy="5164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kumimoji="1" lang="zh-CN" altLang="en-US" sz="1200" dirty="0">
                  <a:solidFill>
                    <a:schemeClr val="tx1">
                      <a:alpha val="80000"/>
                    </a:schemeClr>
                  </a:solidFill>
                </a:rPr>
                <a:t>明确不做高成本路径，把有限资源集中投入信息撮合深度。</a:t>
              </a:r>
              <a:endParaRPr kumimoji="1" lang="en-US" altLang="zh-CN" sz="1000" dirty="0">
                <a:solidFill>
                  <a:schemeClr val="tx1">
                    <a:alpha val="80000"/>
                  </a:schemeClr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2236ACD-B25C-770D-907D-06303E15EE1E}"/>
                </a:ext>
              </a:extLst>
            </p:cNvPr>
            <p:cNvGrpSpPr/>
            <p:nvPr/>
          </p:nvGrpSpPr>
          <p:grpSpPr>
            <a:xfrm>
              <a:off x="4694639" y="3360556"/>
              <a:ext cx="5839894" cy="1061814"/>
              <a:chOff x="4694639" y="1682157"/>
              <a:chExt cx="5839894" cy="1061814"/>
            </a:xfrm>
          </p:grpSpPr>
          <p:sp>
            <p:nvSpPr>
              <p:cNvPr id="25" name="Rectangle: Top Corners Rounded 24">
                <a:extLst>
                  <a:ext uri="{FF2B5EF4-FFF2-40B4-BE49-F238E27FC236}">
                    <a16:creationId xmlns:a16="http://schemas.microsoft.com/office/drawing/2014/main" id="{2E602D7A-F055-9372-F9B0-564F7246037C}"/>
                  </a:ext>
                </a:extLst>
              </p:cNvPr>
              <p:cNvSpPr/>
              <p:nvPr/>
            </p:nvSpPr>
            <p:spPr>
              <a:xfrm>
                <a:off x="8063841" y="1682157"/>
                <a:ext cx="2470692" cy="1061814"/>
              </a:xfrm>
              <a:prstGeom prst="round2SameRect">
                <a:avLst>
                  <a:gd name="adj1" fmla="val 0"/>
                  <a:gd name="adj2" fmla="val 0"/>
                </a:avLst>
              </a:prstGeom>
              <a:blipFill rotWithShape="0">
                <a:blip r:embed="rId4"/>
                <a:srcRect/>
                <a:stretch>
                  <a:fillRect t="-27730" b="-27730"/>
                </a:stretch>
              </a:blipFill>
              <a:ln w="38100">
                <a:noFill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F9964AE-382E-DB96-F814-C303ABD92A3D}"/>
                  </a:ext>
                </a:extLst>
              </p:cNvPr>
              <p:cNvGrpSpPr/>
              <p:nvPr/>
            </p:nvGrpSpPr>
            <p:grpSpPr>
              <a:xfrm>
                <a:off x="4694639" y="1700799"/>
                <a:ext cx="3035408" cy="887937"/>
                <a:chOff x="1047952" y="4303925"/>
                <a:chExt cx="3035408" cy="887937"/>
              </a:xfrm>
            </p:grpSpPr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0A5E8D5B-22C4-BCCE-5A4B-77473658CD52}"/>
                    </a:ext>
                  </a:extLst>
                </p:cNvPr>
                <p:cNvSpPr/>
                <p:nvPr/>
              </p:nvSpPr>
              <p:spPr>
                <a:xfrm>
                  <a:off x="1047952" y="4309054"/>
                  <a:ext cx="376146" cy="364203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1200" b="1" dirty="0">
                      <a:solidFill>
                        <a:srgbClr val="FFFFFF"/>
                      </a:solidFill>
                    </a:rPr>
                    <a:t>02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5AC85FE-6F3D-FA3E-38CF-1920BACF4D55}"/>
                    </a:ext>
                  </a:extLst>
                </p:cNvPr>
                <p:cNvSpPr txBox="1"/>
                <p:nvPr/>
              </p:nvSpPr>
              <p:spPr>
                <a:xfrm>
                  <a:off x="1612668" y="4303925"/>
                  <a:ext cx="2470692" cy="307777"/>
                </a:xfrm>
                <a:prstGeom prst="rect">
                  <a:avLst/>
                </a:prstGeom>
                <a:noFill/>
              </p:spPr>
              <p:txBody>
                <a:bodyPr wrap="square" rtlCol="0" anchor="b">
                  <a:normAutofit fontScale="92500" lnSpcReduction="10000"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0" lang="zh-CN" altLang="en-US" sz="1600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不做站内 IM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2B0E782C-43FD-E17C-1C4F-C8BBB536C055}"/>
                    </a:ext>
                  </a:extLst>
                </p:cNvPr>
                <p:cNvSpPr txBox="1"/>
                <p:nvPr/>
              </p:nvSpPr>
              <p:spPr>
                <a:xfrm>
                  <a:off x="1612668" y="4673257"/>
                  <a:ext cx="2470692" cy="518605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wrap="square" lIns="90000" tIns="46800" rIns="90000" bIns="46800" anchor="t">
                  <a:spAutoFit/>
                </a:bodyPr>
                <a:lstStyle>
                  <a:defPPr>
                    <a:defRPr lang="zh-CN"/>
                  </a:defPPr>
                  <a:lvl1pPr algn="ctr">
                    <a:lnSpc>
                      <a:spcPct val="150000"/>
                    </a:lnSpc>
                    <a:defRPr sz="10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defRPr>
                  </a:lvl1pPr>
                </a:lstStyle>
                <a:p>
                  <a:pPr algn="l">
                    <a:lnSpc>
                      <a:spcPct val="120000"/>
                    </a:lnSpc>
                  </a:pPr>
                  <a:r>
                    <a:rPr lang="zh-CN" altLang="en-US" sz="1200" dirty="0"/>
                    <a:t>改为联系方式跳转，降低运营成本。</a:t>
                  </a:r>
                </a:p>
              </p:txBody>
            </p:sp>
          </p:grp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7A2554B-3DAD-C4C2-252E-8092F6E9FB16}"/>
                </a:ext>
              </a:extLst>
            </p:cNvPr>
            <p:cNvGrpSpPr/>
            <p:nvPr/>
          </p:nvGrpSpPr>
          <p:grpSpPr>
            <a:xfrm>
              <a:off x="4694639" y="5038956"/>
              <a:ext cx="5839894" cy="1061814"/>
              <a:chOff x="4694639" y="1682157"/>
              <a:chExt cx="5839894" cy="1061814"/>
            </a:xfrm>
          </p:grpSpPr>
          <p:sp>
            <p:nvSpPr>
              <p:cNvPr id="39" name="Rectangle: Top Corners Rounded 38">
                <a:extLst>
                  <a:ext uri="{FF2B5EF4-FFF2-40B4-BE49-F238E27FC236}">
                    <a16:creationId xmlns:a16="http://schemas.microsoft.com/office/drawing/2014/main" id="{A346B648-0F70-F4C3-770A-F68986BDD06A}"/>
                  </a:ext>
                </a:extLst>
              </p:cNvPr>
              <p:cNvSpPr/>
              <p:nvPr/>
            </p:nvSpPr>
            <p:spPr>
              <a:xfrm>
                <a:off x="8063841" y="1682157"/>
                <a:ext cx="2470692" cy="1061814"/>
              </a:xfrm>
              <a:prstGeom prst="round2SameRect">
                <a:avLst>
                  <a:gd name="adj1" fmla="val 0"/>
                  <a:gd name="adj2" fmla="val 0"/>
                </a:avLst>
              </a:prstGeom>
              <a:blipFill rotWithShape="0">
                <a:blip r:embed="rId5"/>
                <a:srcRect/>
                <a:stretch>
                  <a:fillRect t="-8330" b="-8330"/>
                </a:stretch>
              </a:blipFill>
              <a:ln w="38100">
                <a:noFill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E759A42B-B9DA-5B50-1C59-272C61B49F51}"/>
                  </a:ext>
                </a:extLst>
              </p:cNvPr>
              <p:cNvGrpSpPr/>
              <p:nvPr/>
            </p:nvGrpSpPr>
            <p:grpSpPr>
              <a:xfrm>
                <a:off x="4694639" y="1700799"/>
                <a:ext cx="3035408" cy="887937"/>
                <a:chOff x="1047952" y="4303925"/>
                <a:chExt cx="3035408" cy="887937"/>
              </a:xfrm>
            </p:grpSpPr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F89B1A29-E3C5-EF49-84ED-E08EA6A385F5}"/>
                    </a:ext>
                  </a:extLst>
                </p:cNvPr>
                <p:cNvSpPr/>
                <p:nvPr/>
              </p:nvSpPr>
              <p:spPr>
                <a:xfrm>
                  <a:off x="1047952" y="4309054"/>
                  <a:ext cx="376146" cy="364203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1200" b="1" dirty="0">
                      <a:solidFill>
                        <a:srgbClr val="FFFFFF"/>
                      </a:solidFill>
                    </a:rPr>
                    <a:t>03</a:t>
                  </a:r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C0D262DB-3EC2-A6E6-1922-596D8246EFE3}"/>
                    </a:ext>
                  </a:extLst>
                </p:cNvPr>
                <p:cNvSpPr txBox="1"/>
                <p:nvPr/>
              </p:nvSpPr>
              <p:spPr>
                <a:xfrm>
                  <a:off x="1612668" y="4303925"/>
                  <a:ext cx="2470692" cy="307777"/>
                </a:xfrm>
                <a:prstGeom prst="rect">
                  <a:avLst/>
                </a:prstGeom>
                <a:noFill/>
              </p:spPr>
              <p:txBody>
                <a:bodyPr wrap="square" rtlCol="0" anchor="b">
                  <a:normAutofit fontScale="92500" lnSpcReduction="10000"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0" lang="zh-CN" altLang="en-US" sz="1600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不售卖信任资产</a:t>
                  </a:r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569F8B17-D226-D478-70F6-D3F3E37808E8}"/>
                    </a:ext>
                  </a:extLst>
                </p:cNvPr>
                <p:cNvSpPr txBox="1"/>
                <p:nvPr/>
              </p:nvSpPr>
              <p:spPr>
                <a:xfrm>
                  <a:off x="1612668" y="4673257"/>
                  <a:ext cx="2470692" cy="518605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wrap="square" lIns="90000" tIns="46800" rIns="90000" bIns="46800" anchor="t">
                  <a:spAutoFit/>
                </a:bodyPr>
                <a:lstStyle>
                  <a:defPPr>
                    <a:defRPr lang="zh-CN"/>
                  </a:defPPr>
                  <a:lvl1pPr algn="ctr">
                    <a:lnSpc>
                      <a:spcPct val="150000"/>
                    </a:lnSpc>
                    <a:defRPr sz="10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defRPr>
                  </a:lvl1pPr>
                </a:lstStyle>
                <a:p>
                  <a:pPr algn="l">
                    <a:lnSpc>
                      <a:spcPct val="120000"/>
                    </a:lnSpc>
                  </a:pPr>
                  <a:r>
                    <a:rPr lang="zh-CN" altLang="en-US" sz="1200" dirty="0"/>
                    <a:t>完整度角标与实名徽章不可商业化。</a:t>
                  </a:r>
                </a:p>
              </p:txBody>
            </p:sp>
          </p:grpSp>
        </p:grpSp>
      </p:grpSp>
      <p:sp>
        <p:nvSpPr>
          <p:cNvPr id="45" name="Title 4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产品边界与合规红线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22817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03.竞品与差异化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/>
              <a:t>错位竞争与商业护城河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65457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240053" y="-2"/>
            <a:ext cx="11954641" cy="6858002"/>
            <a:chOff x="240053" y="-2"/>
            <a:chExt cx="11954641" cy="6858002"/>
          </a:xfrm>
        </p:grpSpPr>
        <p:sp>
          <p:nvSpPr>
            <p:cNvPr id="48" name="Rectangle: Top Corners Rounded 47">
              <a:extLst>
                <a:ext uri="{FF2B5EF4-FFF2-40B4-BE49-F238E27FC236}">
                  <a16:creationId xmlns:a16="http://schemas.microsoft.com/office/drawing/2014/main" id="{1105CA6F-EB20-41AB-8B68-CF93FCABF71A}"/>
                </a:ext>
              </a:extLst>
            </p:cNvPr>
            <p:cNvSpPr/>
            <p:nvPr/>
          </p:nvSpPr>
          <p:spPr>
            <a:xfrm rot="10800000">
              <a:off x="891614" y="-2"/>
              <a:ext cx="1643975" cy="5594450"/>
            </a:xfrm>
            <a:prstGeom prst="round2SameRect">
              <a:avLst>
                <a:gd name="adj1" fmla="val 4698"/>
                <a:gd name="adj2" fmla="val 0"/>
              </a:avLst>
            </a:prstGeom>
            <a:gradFill>
              <a:gsLst>
                <a:gs pos="0">
                  <a:schemeClr val="accent3">
                    <a:lumMod val="60000"/>
                    <a:lumOff val="40000"/>
                    <a:alpha val="10000"/>
                  </a:schemeClr>
                </a:gs>
                <a:gs pos="60000">
                  <a:schemeClr val="accent3">
                    <a:alpha val="2000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AA9583B5-F61D-4604-B5C8-9DDEEF06E857}"/>
                </a:ext>
              </a:extLst>
            </p:cNvPr>
            <p:cNvSpPr/>
            <p:nvPr/>
          </p:nvSpPr>
          <p:spPr>
            <a:xfrm rot="10800000" flipV="1">
              <a:off x="11546394" y="0"/>
              <a:ext cx="648300" cy="6858000"/>
            </a:xfrm>
            <a:prstGeom prst="round2SameRect">
              <a:avLst>
                <a:gd name="adj1" fmla="val 4698"/>
                <a:gd name="adj2" fmla="val 0"/>
              </a:avLst>
            </a:prstGeom>
            <a:gradFill>
              <a:gsLst>
                <a:gs pos="0">
                  <a:schemeClr val="accent3">
                    <a:lumMod val="60000"/>
                    <a:lumOff val="40000"/>
                    <a:alpha val="10000"/>
                  </a:schemeClr>
                </a:gs>
                <a:gs pos="60000">
                  <a:schemeClr val="accent3">
                    <a:alpha val="2000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75D447CD-814E-4C97-AE52-4DB4BF9C5D32}"/>
                </a:ext>
              </a:extLst>
            </p:cNvPr>
            <p:cNvGrpSpPr/>
            <p:nvPr/>
          </p:nvGrpSpPr>
          <p:grpSpPr>
            <a:xfrm>
              <a:off x="240053" y="2882522"/>
              <a:ext cx="4348838" cy="2915912"/>
              <a:chOff x="3122150" y="2240870"/>
              <a:chExt cx="4348838" cy="2915912"/>
            </a:xfrm>
          </p:grpSpPr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7242B4EB-AB02-4E1B-A32D-123DAD85FDAB}"/>
                  </a:ext>
                </a:extLst>
              </p:cNvPr>
              <p:cNvSpPr/>
              <p:nvPr/>
            </p:nvSpPr>
            <p:spPr bwMode="auto">
              <a:xfrm>
                <a:off x="3388333" y="3977233"/>
                <a:ext cx="789736" cy="1179316"/>
              </a:xfrm>
              <a:custGeom>
                <a:avLst/>
                <a:gdLst>
                  <a:gd name="T0" fmla="*/ 113 w 136"/>
                  <a:gd name="T1" fmla="*/ 160 h 203"/>
                  <a:gd name="T2" fmla="*/ 83 w 136"/>
                  <a:gd name="T3" fmla="*/ 69 h 203"/>
                  <a:gd name="T4" fmla="*/ 18 w 136"/>
                  <a:gd name="T5" fmla="*/ 0 h 203"/>
                  <a:gd name="T6" fmla="*/ 32 w 136"/>
                  <a:gd name="T7" fmla="*/ 138 h 203"/>
                  <a:gd name="T8" fmla="*/ 32 w 136"/>
                  <a:gd name="T9" fmla="*/ 203 h 203"/>
                  <a:gd name="T10" fmla="*/ 110 w 136"/>
                  <a:gd name="T11" fmla="*/ 203 h 203"/>
                  <a:gd name="T12" fmla="*/ 113 w 136"/>
                  <a:gd name="T13" fmla="*/ 160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6" h="203">
                    <a:moveTo>
                      <a:pt x="113" y="160"/>
                    </a:moveTo>
                    <a:cubicBezTo>
                      <a:pt x="113" y="160"/>
                      <a:pt x="136" y="109"/>
                      <a:pt x="83" y="69"/>
                    </a:cubicBezTo>
                    <a:cubicBezTo>
                      <a:pt x="30" y="29"/>
                      <a:pt x="18" y="0"/>
                      <a:pt x="18" y="0"/>
                    </a:cubicBezTo>
                    <a:cubicBezTo>
                      <a:pt x="18" y="0"/>
                      <a:pt x="0" y="93"/>
                      <a:pt x="32" y="138"/>
                    </a:cubicBezTo>
                    <a:cubicBezTo>
                      <a:pt x="32" y="203"/>
                      <a:pt x="32" y="203"/>
                      <a:pt x="32" y="203"/>
                    </a:cubicBezTo>
                    <a:cubicBezTo>
                      <a:pt x="110" y="203"/>
                      <a:pt x="110" y="203"/>
                      <a:pt x="110" y="203"/>
                    </a:cubicBezTo>
                    <a:lnTo>
                      <a:pt x="113" y="160"/>
                    </a:lnTo>
                    <a:close/>
                  </a:path>
                </a:pathLst>
              </a:custGeom>
              <a:solidFill>
                <a:srgbClr val="4E8FB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17FF7F-6A87-446B-9196-38D07B9C81F0}"/>
                  </a:ext>
                </a:extLst>
              </p:cNvPr>
              <p:cNvSpPr/>
              <p:nvPr/>
            </p:nvSpPr>
            <p:spPr bwMode="auto">
              <a:xfrm>
                <a:off x="3747945" y="4529224"/>
                <a:ext cx="574674" cy="627558"/>
              </a:xfrm>
              <a:custGeom>
                <a:avLst/>
                <a:gdLst>
                  <a:gd name="T0" fmla="*/ 3 w 99"/>
                  <a:gd name="T1" fmla="*/ 108 h 108"/>
                  <a:gd name="T2" fmla="*/ 36 w 99"/>
                  <a:gd name="T3" fmla="*/ 48 h 108"/>
                  <a:gd name="T4" fmla="*/ 72 w 99"/>
                  <a:gd name="T5" fmla="*/ 0 h 108"/>
                  <a:gd name="T6" fmla="*/ 64 w 99"/>
                  <a:gd name="T7" fmla="*/ 108 h 108"/>
                  <a:gd name="T8" fmla="*/ 3 w 99"/>
                  <a:gd name="T9" fmla="*/ 108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9" h="108">
                    <a:moveTo>
                      <a:pt x="3" y="108"/>
                    </a:moveTo>
                    <a:cubicBezTo>
                      <a:pt x="3" y="108"/>
                      <a:pt x="0" y="72"/>
                      <a:pt x="36" y="48"/>
                    </a:cubicBezTo>
                    <a:cubicBezTo>
                      <a:pt x="72" y="24"/>
                      <a:pt x="72" y="0"/>
                      <a:pt x="72" y="0"/>
                    </a:cubicBezTo>
                    <a:cubicBezTo>
                      <a:pt x="72" y="0"/>
                      <a:pt x="99" y="68"/>
                      <a:pt x="64" y="108"/>
                    </a:cubicBezTo>
                    <a:lnTo>
                      <a:pt x="3" y="108"/>
                    </a:lnTo>
                    <a:close/>
                  </a:path>
                </a:pathLst>
              </a:custGeom>
              <a:solidFill>
                <a:srgbClr val="70B2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08E856AE-5B65-4832-8577-61595D9742B3}"/>
                  </a:ext>
                </a:extLst>
              </p:cNvPr>
              <p:cNvSpPr/>
              <p:nvPr/>
            </p:nvSpPr>
            <p:spPr bwMode="auto">
              <a:xfrm>
                <a:off x="3122150" y="4377623"/>
                <a:ext cx="724513" cy="779159"/>
              </a:xfrm>
              <a:custGeom>
                <a:avLst/>
                <a:gdLst>
                  <a:gd name="T0" fmla="*/ 119 w 125"/>
                  <a:gd name="T1" fmla="*/ 134 h 134"/>
                  <a:gd name="T2" fmla="*/ 79 w 125"/>
                  <a:gd name="T3" fmla="*/ 60 h 134"/>
                  <a:gd name="T4" fmla="*/ 25 w 125"/>
                  <a:gd name="T5" fmla="*/ 0 h 134"/>
                  <a:gd name="T6" fmla="*/ 41 w 125"/>
                  <a:gd name="T7" fmla="*/ 134 h 134"/>
                  <a:gd name="T8" fmla="*/ 119 w 125"/>
                  <a:gd name="T9" fmla="*/ 134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5" h="134">
                    <a:moveTo>
                      <a:pt x="119" y="134"/>
                    </a:moveTo>
                    <a:cubicBezTo>
                      <a:pt x="119" y="134"/>
                      <a:pt x="125" y="86"/>
                      <a:pt x="79" y="60"/>
                    </a:cubicBezTo>
                    <a:cubicBezTo>
                      <a:pt x="34" y="34"/>
                      <a:pt x="25" y="0"/>
                      <a:pt x="25" y="0"/>
                    </a:cubicBezTo>
                    <a:cubicBezTo>
                      <a:pt x="25" y="0"/>
                      <a:pt x="0" y="85"/>
                      <a:pt x="41" y="134"/>
                    </a:cubicBezTo>
                    <a:lnTo>
                      <a:pt x="119" y="134"/>
                    </a:lnTo>
                    <a:close/>
                  </a:path>
                </a:pathLst>
              </a:custGeom>
              <a:solidFill>
                <a:srgbClr val="ABDA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63CC9B7-78B4-4E2D-AA8D-38AAA61DB9B6}"/>
                  </a:ext>
                </a:extLst>
              </p:cNvPr>
              <p:cNvSpPr/>
              <p:nvPr/>
            </p:nvSpPr>
            <p:spPr bwMode="auto">
              <a:xfrm>
                <a:off x="5122932" y="4460241"/>
                <a:ext cx="676917" cy="638135"/>
              </a:xfrm>
              <a:custGeom>
                <a:avLst/>
                <a:gdLst>
                  <a:gd name="T0" fmla="*/ 55 w 117"/>
                  <a:gd name="T1" fmla="*/ 19 h 110"/>
                  <a:gd name="T2" fmla="*/ 0 w 117"/>
                  <a:gd name="T3" fmla="*/ 86 h 110"/>
                  <a:gd name="T4" fmla="*/ 0 w 117"/>
                  <a:gd name="T5" fmla="*/ 110 h 110"/>
                  <a:gd name="T6" fmla="*/ 54 w 117"/>
                  <a:gd name="T7" fmla="*/ 110 h 110"/>
                  <a:gd name="T8" fmla="*/ 105 w 117"/>
                  <a:gd name="T9" fmla="*/ 74 h 110"/>
                  <a:gd name="T10" fmla="*/ 55 w 117"/>
                  <a:gd name="T11" fmla="*/ 19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7" h="110">
                    <a:moveTo>
                      <a:pt x="55" y="19"/>
                    </a:moveTo>
                    <a:cubicBezTo>
                      <a:pt x="41" y="42"/>
                      <a:pt x="22" y="64"/>
                      <a:pt x="0" y="86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54" y="110"/>
                      <a:pt x="54" y="110"/>
                      <a:pt x="54" y="110"/>
                    </a:cubicBezTo>
                    <a:cubicBezTo>
                      <a:pt x="54" y="110"/>
                      <a:pt x="71" y="101"/>
                      <a:pt x="105" y="74"/>
                    </a:cubicBezTo>
                    <a:cubicBezTo>
                      <a:pt x="105" y="74"/>
                      <a:pt x="117" y="0"/>
                      <a:pt x="55" y="19"/>
                    </a:cubicBezTo>
                    <a:close/>
                  </a:path>
                </a:pathLst>
              </a:custGeom>
              <a:solidFill>
                <a:srgbClr val="F4918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61109D37-030D-4695-8315-85CE0AB857E9}"/>
                  </a:ext>
                </a:extLst>
              </p:cNvPr>
              <p:cNvSpPr/>
              <p:nvPr/>
            </p:nvSpPr>
            <p:spPr bwMode="auto">
              <a:xfrm>
                <a:off x="6936858" y="4617130"/>
                <a:ext cx="475957" cy="534130"/>
              </a:xfrm>
              <a:custGeom>
                <a:avLst/>
                <a:gdLst>
                  <a:gd name="T0" fmla="*/ 82 w 82"/>
                  <a:gd name="T1" fmla="*/ 38 h 92"/>
                  <a:gd name="T2" fmla="*/ 67 w 82"/>
                  <a:gd name="T3" fmla="*/ 89 h 92"/>
                  <a:gd name="T4" fmla="*/ 6 w 82"/>
                  <a:gd name="T5" fmla="*/ 47 h 92"/>
                  <a:gd name="T6" fmla="*/ 0 w 82"/>
                  <a:gd name="T7" fmla="*/ 26 h 92"/>
                  <a:gd name="T8" fmla="*/ 37 w 82"/>
                  <a:gd name="T9" fmla="*/ 0 h 92"/>
                  <a:gd name="T10" fmla="*/ 82 w 82"/>
                  <a:gd name="T11" fmla="*/ 3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92">
                    <a:moveTo>
                      <a:pt x="82" y="38"/>
                    </a:moveTo>
                    <a:cubicBezTo>
                      <a:pt x="82" y="38"/>
                      <a:pt x="79" y="86"/>
                      <a:pt x="67" y="89"/>
                    </a:cubicBezTo>
                    <a:cubicBezTo>
                      <a:pt x="55" y="92"/>
                      <a:pt x="6" y="47"/>
                      <a:pt x="6" y="47"/>
                    </a:cubicBezTo>
                    <a:cubicBezTo>
                      <a:pt x="0" y="26"/>
                      <a:pt x="0" y="26"/>
                      <a:pt x="0" y="26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80" y="13"/>
                      <a:pt x="82" y="38"/>
                    </a:cubicBezTo>
                    <a:close/>
                  </a:path>
                </a:pathLst>
              </a:custGeom>
              <a:solidFill>
                <a:srgbClr val="F4918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3BE661A9-DBF2-4C73-9812-DFC73F513ADA}"/>
                  </a:ext>
                </a:extLst>
              </p:cNvPr>
              <p:cNvSpPr/>
              <p:nvPr/>
            </p:nvSpPr>
            <p:spPr bwMode="auto">
              <a:xfrm>
                <a:off x="5417321" y="3379641"/>
                <a:ext cx="2053667" cy="1718734"/>
              </a:xfrm>
              <a:custGeom>
                <a:avLst/>
                <a:gdLst>
                  <a:gd name="T0" fmla="*/ 344 w 354"/>
                  <a:gd name="T1" fmla="*/ 251 h 296"/>
                  <a:gd name="T2" fmla="*/ 261 w 354"/>
                  <a:gd name="T3" fmla="*/ 245 h 296"/>
                  <a:gd name="T4" fmla="*/ 312 w 354"/>
                  <a:gd name="T5" fmla="*/ 296 h 296"/>
                  <a:gd name="T6" fmla="*/ 84 w 354"/>
                  <a:gd name="T7" fmla="*/ 296 h 296"/>
                  <a:gd name="T8" fmla="*/ 88 w 354"/>
                  <a:gd name="T9" fmla="*/ 206 h 296"/>
                  <a:gd name="T10" fmla="*/ 87 w 354"/>
                  <a:gd name="T11" fmla="*/ 207 h 296"/>
                  <a:gd name="T12" fmla="*/ 70 w 354"/>
                  <a:gd name="T13" fmla="*/ 246 h 296"/>
                  <a:gd name="T14" fmla="*/ 54 w 354"/>
                  <a:gd name="T15" fmla="*/ 260 h 296"/>
                  <a:gd name="T16" fmla="*/ 47 w 354"/>
                  <a:gd name="T17" fmla="*/ 232 h 296"/>
                  <a:gd name="T18" fmla="*/ 4 w 354"/>
                  <a:gd name="T19" fmla="*/ 205 h 296"/>
                  <a:gd name="T20" fmla="*/ 18 w 354"/>
                  <a:gd name="T21" fmla="*/ 185 h 296"/>
                  <a:gd name="T22" fmla="*/ 69 w 354"/>
                  <a:gd name="T23" fmla="*/ 39 h 296"/>
                  <a:gd name="T24" fmla="*/ 149 w 354"/>
                  <a:gd name="T25" fmla="*/ 3 h 296"/>
                  <a:gd name="T26" fmla="*/ 201 w 354"/>
                  <a:gd name="T27" fmla="*/ 0 h 296"/>
                  <a:gd name="T28" fmla="*/ 321 w 354"/>
                  <a:gd name="T29" fmla="*/ 54 h 296"/>
                  <a:gd name="T30" fmla="*/ 338 w 354"/>
                  <a:gd name="T31" fmla="*/ 219 h 296"/>
                  <a:gd name="T32" fmla="*/ 344 w 354"/>
                  <a:gd name="T33" fmla="*/ 251 h 2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4" h="296">
                    <a:moveTo>
                      <a:pt x="344" y="251"/>
                    </a:moveTo>
                    <a:cubicBezTo>
                      <a:pt x="332" y="229"/>
                      <a:pt x="261" y="245"/>
                      <a:pt x="261" y="245"/>
                    </a:cubicBezTo>
                    <a:cubicBezTo>
                      <a:pt x="312" y="296"/>
                      <a:pt x="312" y="296"/>
                      <a:pt x="312" y="296"/>
                    </a:cubicBezTo>
                    <a:cubicBezTo>
                      <a:pt x="84" y="296"/>
                      <a:pt x="84" y="296"/>
                      <a:pt x="84" y="296"/>
                    </a:cubicBezTo>
                    <a:cubicBezTo>
                      <a:pt x="92" y="270"/>
                      <a:pt x="88" y="206"/>
                      <a:pt x="88" y="206"/>
                    </a:cubicBezTo>
                    <a:cubicBezTo>
                      <a:pt x="87" y="206"/>
                      <a:pt x="87" y="207"/>
                      <a:pt x="87" y="207"/>
                    </a:cubicBezTo>
                    <a:cubicBezTo>
                      <a:pt x="84" y="233"/>
                      <a:pt x="70" y="246"/>
                      <a:pt x="70" y="246"/>
                    </a:cubicBezTo>
                    <a:cubicBezTo>
                      <a:pt x="70" y="260"/>
                      <a:pt x="54" y="260"/>
                      <a:pt x="54" y="260"/>
                    </a:cubicBezTo>
                    <a:cubicBezTo>
                      <a:pt x="53" y="248"/>
                      <a:pt x="50" y="239"/>
                      <a:pt x="47" y="232"/>
                    </a:cubicBezTo>
                    <a:cubicBezTo>
                      <a:pt x="32" y="201"/>
                      <a:pt x="4" y="205"/>
                      <a:pt x="4" y="205"/>
                    </a:cubicBezTo>
                    <a:cubicBezTo>
                      <a:pt x="0" y="189"/>
                      <a:pt x="18" y="185"/>
                      <a:pt x="18" y="185"/>
                    </a:cubicBezTo>
                    <a:cubicBezTo>
                      <a:pt x="18" y="185"/>
                      <a:pt x="38" y="63"/>
                      <a:pt x="69" y="39"/>
                    </a:cubicBezTo>
                    <a:cubicBezTo>
                      <a:pt x="100" y="15"/>
                      <a:pt x="149" y="3"/>
                      <a:pt x="149" y="3"/>
                    </a:cubicBezTo>
                    <a:cubicBezTo>
                      <a:pt x="201" y="0"/>
                      <a:pt x="201" y="0"/>
                      <a:pt x="201" y="0"/>
                    </a:cubicBezTo>
                    <a:cubicBezTo>
                      <a:pt x="201" y="0"/>
                      <a:pt x="301" y="20"/>
                      <a:pt x="321" y="54"/>
                    </a:cubicBezTo>
                    <a:cubicBezTo>
                      <a:pt x="341" y="88"/>
                      <a:pt x="338" y="219"/>
                      <a:pt x="338" y="219"/>
                    </a:cubicBezTo>
                    <a:cubicBezTo>
                      <a:pt x="354" y="232"/>
                      <a:pt x="344" y="251"/>
                      <a:pt x="344" y="25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7BF54"/>
                  </a:gs>
                  <a:gs pos="100000">
                    <a:srgbClr val="F7983D"/>
                  </a:gs>
                </a:gsLst>
                <a:lin ang="5400000" scaled="0"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9038FAA0-C379-49CC-909C-1A149DBBD9AC}"/>
                  </a:ext>
                </a:extLst>
              </p:cNvPr>
              <p:cNvSpPr/>
              <p:nvPr/>
            </p:nvSpPr>
            <p:spPr bwMode="auto">
              <a:xfrm>
                <a:off x="5893278" y="4000148"/>
                <a:ext cx="1089413" cy="1133484"/>
              </a:xfrm>
              <a:custGeom>
                <a:avLst/>
                <a:gdLst>
                  <a:gd name="T0" fmla="*/ 179 w 188"/>
                  <a:gd name="T1" fmla="*/ 138 h 195"/>
                  <a:gd name="T2" fmla="*/ 160 w 188"/>
                  <a:gd name="T3" fmla="*/ 0 h 195"/>
                  <a:gd name="T4" fmla="*/ 125 w 188"/>
                  <a:gd name="T5" fmla="*/ 125 h 195"/>
                  <a:gd name="T6" fmla="*/ 0 w 188"/>
                  <a:gd name="T7" fmla="*/ 195 h 195"/>
                  <a:gd name="T8" fmla="*/ 150 w 188"/>
                  <a:gd name="T9" fmla="*/ 194 h 195"/>
                  <a:gd name="T10" fmla="*/ 179 w 188"/>
                  <a:gd name="T11" fmla="*/ 138 h 1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88" h="195">
                    <a:moveTo>
                      <a:pt x="179" y="138"/>
                    </a:moveTo>
                    <a:cubicBezTo>
                      <a:pt x="179" y="138"/>
                      <a:pt x="188" y="64"/>
                      <a:pt x="160" y="0"/>
                    </a:cubicBezTo>
                    <a:cubicBezTo>
                      <a:pt x="160" y="0"/>
                      <a:pt x="165" y="98"/>
                      <a:pt x="125" y="125"/>
                    </a:cubicBezTo>
                    <a:cubicBezTo>
                      <a:pt x="85" y="153"/>
                      <a:pt x="17" y="147"/>
                      <a:pt x="0" y="195"/>
                    </a:cubicBezTo>
                    <a:cubicBezTo>
                      <a:pt x="150" y="194"/>
                      <a:pt x="150" y="194"/>
                      <a:pt x="150" y="194"/>
                    </a:cubicBezTo>
                    <a:lnTo>
                      <a:pt x="179" y="138"/>
                    </a:lnTo>
                    <a:close/>
                  </a:path>
                </a:pathLst>
              </a:custGeom>
              <a:solidFill>
                <a:srgbClr val="F6613A">
                  <a:alpha val="5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890BE83E-156A-4A1D-86EE-B4211D6FE3E7}"/>
                  </a:ext>
                </a:extLst>
              </p:cNvPr>
              <p:cNvSpPr/>
              <p:nvPr/>
            </p:nvSpPr>
            <p:spPr bwMode="auto">
              <a:xfrm>
                <a:off x="5690555" y="4070661"/>
                <a:ext cx="232690" cy="817941"/>
              </a:xfrm>
              <a:custGeom>
                <a:avLst/>
                <a:gdLst>
                  <a:gd name="T0" fmla="*/ 40 w 40"/>
                  <a:gd name="T1" fmla="*/ 88 h 141"/>
                  <a:gd name="T2" fmla="*/ 23 w 40"/>
                  <a:gd name="T3" fmla="*/ 127 h 141"/>
                  <a:gd name="T4" fmla="*/ 7 w 40"/>
                  <a:gd name="T5" fmla="*/ 141 h 141"/>
                  <a:gd name="T6" fmla="*/ 0 w 40"/>
                  <a:gd name="T7" fmla="*/ 113 h 141"/>
                  <a:gd name="T8" fmla="*/ 22 w 40"/>
                  <a:gd name="T9" fmla="*/ 76 h 141"/>
                  <a:gd name="T10" fmla="*/ 25 w 40"/>
                  <a:gd name="T11" fmla="*/ 0 h 141"/>
                  <a:gd name="T12" fmla="*/ 40 w 40"/>
                  <a:gd name="T13" fmla="*/ 88 h 1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0" h="141">
                    <a:moveTo>
                      <a:pt x="40" y="88"/>
                    </a:moveTo>
                    <a:cubicBezTo>
                      <a:pt x="37" y="114"/>
                      <a:pt x="23" y="127"/>
                      <a:pt x="23" y="127"/>
                    </a:cubicBezTo>
                    <a:cubicBezTo>
                      <a:pt x="23" y="141"/>
                      <a:pt x="7" y="141"/>
                      <a:pt x="7" y="141"/>
                    </a:cubicBezTo>
                    <a:cubicBezTo>
                      <a:pt x="6" y="129"/>
                      <a:pt x="3" y="120"/>
                      <a:pt x="0" y="113"/>
                    </a:cubicBezTo>
                    <a:cubicBezTo>
                      <a:pt x="8" y="105"/>
                      <a:pt x="17" y="93"/>
                      <a:pt x="22" y="76"/>
                    </a:cubicBezTo>
                    <a:cubicBezTo>
                      <a:pt x="33" y="41"/>
                      <a:pt x="26" y="3"/>
                      <a:pt x="25" y="0"/>
                    </a:cubicBezTo>
                    <a:cubicBezTo>
                      <a:pt x="34" y="33"/>
                      <a:pt x="39" y="73"/>
                      <a:pt x="40" y="88"/>
                    </a:cubicBezTo>
                    <a:close/>
                  </a:path>
                </a:pathLst>
              </a:custGeom>
              <a:solidFill>
                <a:srgbClr val="F6613A">
                  <a:alpha val="5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EA387B40-E529-45BE-A4F9-3FF91A6A31E6}"/>
                  </a:ext>
                </a:extLst>
              </p:cNvPr>
              <p:cNvSpPr/>
              <p:nvPr/>
            </p:nvSpPr>
            <p:spPr bwMode="auto">
              <a:xfrm>
                <a:off x="6554329" y="4721136"/>
                <a:ext cx="886691" cy="412496"/>
              </a:xfrm>
              <a:custGeom>
                <a:avLst/>
                <a:gdLst>
                  <a:gd name="T0" fmla="*/ 0 w 153"/>
                  <a:gd name="T1" fmla="*/ 40 h 71"/>
                  <a:gd name="T2" fmla="*/ 105 w 153"/>
                  <a:gd name="T3" fmla="*/ 16 h 71"/>
                  <a:gd name="T4" fmla="*/ 133 w 153"/>
                  <a:gd name="T5" fmla="*/ 71 h 71"/>
                  <a:gd name="T6" fmla="*/ 13 w 153"/>
                  <a:gd name="T7" fmla="*/ 71 h 71"/>
                  <a:gd name="T8" fmla="*/ 0 w 153"/>
                  <a:gd name="T9" fmla="*/ 4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3" h="71">
                    <a:moveTo>
                      <a:pt x="0" y="40"/>
                    </a:moveTo>
                    <a:cubicBezTo>
                      <a:pt x="0" y="40"/>
                      <a:pt x="57" y="0"/>
                      <a:pt x="105" y="16"/>
                    </a:cubicBezTo>
                    <a:cubicBezTo>
                      <a:pt x="153" y="32"/>
                      <a:pt x="149" y="65"/>
                      <a:pt x="133" y="71"/>
                    </a:cubicBezTo>
                    <a:cubicBezTo>
                      <a:pt x="13" y="71"/>
                      <a:pt x="13" y="71"/>
                      <a:pt x="13" y="71"/>
                    </a:cubicBezTo>
                    <a:lnTo>
                      <a:pt x="0" y="40"/>
                    </a:lnTo>
                    <a:close/>
                  </a:path>
                </a:pathLst>
              </a:custGeom>
              <a:solidFill>
                <a:srgbClr val="FEB19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11E19F8A-8C20-46BE-89A2-75689ECA1359}"/>
                  </a:ext>
                </a:extLst>
              </p:cNvPr>
              <p:cNvSpPr/>
              <p:nvPr/>
            </p:nvSpPr>
            <p:spPr bwMode="auto">
              <a:xfrm>
                <a:off x="6177089" y="2977722"/>
                <a:ext cx="463618" cy="796787"/>
              </a:xfrm>
              <a:custGeom>
                <a:avLst/>
                <a:gdLst>
                  <a:gd name="T0" fmla="*/ 80 w 80"/>
                  <a:gd name="T1" fmla="*/ 70 h 137"/>
                  <a:gd name="T2" fmla="*/ 33 w 80"/>
                  <a:gd name="T3" fmla="*/ 137 h 137"/>
                  <a:gd name="T4" fmla="*/ 12 w 80"/>
                  <a:gd name="T5" fmla="*/ 87 h 137"/>
                  <a:gd name="T6" fmla="*/ 13 w 80"/>
                  <a:gd name="T7" fmla="*/ 84 h 137"/>
                  <a:gd name="T8" fmla="*/ 0 w 80"/>
                  <a:gd name="T9" fmla="*/ 36 h 137"/>
                  <a:gd name="T10" fmla="*/ 67 w 80"/>
                  <a:gd name="T11" fmla="*/ 0 h 137"/>
                  <a:gd name="T12" fmla="*/ 69 w 80"/>
                  <a:gd name="T13" fmla="*/ 8 h 137"/>
                  <a:gd name="T14" fmla="*/ 69 w 80"/>
                  <a:gd name="T15" fmla="*/ 8 h 137"/>
                  <a:gd name="T16" fmla="*/ 80 w 80"/>
                  <a:gd name="T17" fmla="*/ 70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80" h="137">
                    <a:moveTo>
                      <a:pt x="80" y="70"/>
                    </a:moveTo>
                    <a:cubicBezTo>
                      <a:pt x="80" y="70"/>
                      <a:pt x="68" y="136"/>
                      <a:pt x="33" y="137"/>
                    </a:cubicBezTo>
                    <a:cubicBezTo>
                      <a:pt x="3" y="137"/>
                      <a:pt x="10" y="97"/>
                      <a:pt x="12" y="87"/>
                    </a:cubicBezTo>
                    <a:cubicBezTo>
                      <a:pt x="12" y="85"/>
                      <a:pt x="13" y="84"/>
                      <a:pt x="13" y="84"/>
                    </a:cubicBezTo>
                    <a:cubicBezTo>
                      <a:pt x="0" y="36"/>
                      <a:pt x="0" y="36"/>
                      <a:pt x="0" y="36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9" y="8"/>
                      <a:pt x="69" y="8"/>
                      <a:pt x="69" y="8"/>
                    </a:cubicBezTo>
                    <a:cubicBezTo>
                      <a:pt x="69" y="8"/>
                      <a:pt x="69" y="8"/>
                      <a:pt x="69" y="8"/>
                    </a:cubicBezTo>
                    <a:lnTo>
                      <a:pt x="80" y="70"/>
                    </a:lnTo>
                    <a:close/>
                  </a:path>
                </a:pathLst>
              </a:custGeom>
              <a:solidFill>
                <a:srgbClr val="FEB19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5F640386-3AEC-4664-94BA-0747F3B376B8}"/>
                  </a:ext>
                </a:extLst>
              </p:cNvPr>
              <p:cNvSpPr/>
              <p:nvPr/>
            </p:nvSpPr>
            <p:spPr bwMode="auto">
              <a:xfrm>
                <a:off x="6177089" y="2977722"/>
                <a:ext cx="453041" cy="505925"/>
              </a:xfrm>
              <a:custGeom>
                <a:avLst/>
                <a:gdLst>
                  <a:gd name="T0" fmla="*/ 12 w 78"/>
                  <a:gd name="T1" fmla="*/ 87 h 87"/>
                  <a:gd name="T2" fmla="*/ 13 w 78"/>
                  <a:gd name="T3" fmla="*/ 84 h 87"/>
                  <a:gd name="T4" fmla="*/ 0 w 78"/>
                  <a:gd name="T5" fmla="*/ 36 h 87"/>
                  <a:gd name="T6" fmla="*/ 67 w 78"/>
                  <a:gd name="T7" fmla="*/ 0 h 87"/>
                  <a:gd name="T8" fmla="*/ 69 w 78"/>
                  <a:gd name="T9" fmla="*/ 8 h 87"/>
                  <a:gd name="T10" fmla="*/ 69 w 78"/>
                  <a:gd name="T11" fmla="*/ 8 h 87"/>
                  <a:gd name="T12" fmla="*/ 12 w 78"/>
                  <a:gd name="T13" fmla="*/ 87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87">
                    <a:moveTo>
                      <a:pt x="12" y="87"/>
                    </a:moveTo>
                    <a:cubicBezTo>
                      <a:pt x="12" y="85"/>
                      <a:pt x="13" y="84"/>
                      <a:pt x="13" y="84"/>
                    </a:cubicBezTo>
                    <a:cubicBezTo>
                      <a:pt x="0" y="36"/>
                      <a:pt x="0" y="36"/>
                      <a:pt x="0" y="36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9" y="8"/>
                      <a:pt x="69" y="8"/>
                      <a:pt x="69" y="8"/>
                    </a:cubicBezTo>
                    <a:cubicBezTo>
                      <a:pt x="69" y="8"/>
                      <a:pt x="69" y="8"/>
                      <a:pt x="69" y="8"/>
                    </a:cubicBezTo>
                    <a:cubicBezTo>
                      <a:pt x="78" y="87"/>
                      <a:pt x="13" y="87"/>
                      <a:pt x="12" y="87"/>
                    </a:cubicBezTo>
                    <a:close/>
                  </a:path>
                </a:pathLst>
              </a:custGeom>
              <a:solidFill>
                <a:srgbClr val="FF856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E17B8358-E2A5-4899-8F7D-89F6A452AC46}"/>
                  </a:ext>
                </a:extLst>
              </p:cNvPr>
              <p:cNvSpPr/>
              <p:nvPr/>
            </p:nvSpPr>
            <p:spPr bwMode="auto">
              <a:xfrm>
                <a:off x="5678216" y="2240870"/>
                <a:ext cx="1015375" cy="754480"/>
              </a:xfrm>
              <a:custGeom>
                <a:avLst/>
                <a:gdLst>
                  <a:gd name="T0" fmla="*/ 162 w 175"/>
                  <a:gd name="T1" fmla="*/ 104 h 130"/>
                  <a:gd name="T2" fmla="*/ 173 w 175"/>
                  <a:gd name="T3" fmla="*/ 65 h 130"/>
                  <a:gd name="T4" fmla="*/ 161 w 175"/>
                  <a:gd name="T5" fmla="*/ 39 h 130"/>
                  <a:gd name="T6" fmla="*/ 146 w 175"/>
                  <a:gd name="T7" fmla="*/ 8 h 130"/>
                  <a:gd name="T8" fmla="*/ 75 w 175"/>
                  <a:gd name="T9" fmla="*/ 22 h 130"/>
                  <a:gd name="T10" fmla="*/ 38 w 175"/>
                  <a:gd name="T11" fmla="*/ 5 h 130"/>
                  <a:gd name="T12" fmla="*/ 35 w 175"/>
                  <a:gd name="T13" fmla="*/ 37 h 130"/>
                  <a:gd name="T14" fmla="*/ 18 w 175"/>
                  <a:gd name="T15" fmla="*/ 22 h 130"/>
                  <a:gd name="T16" fmla="*/ 6 w 175"/>
                  <a:gd name="T17" fmla="*/ 58 h 130"/>
                  <a:gd name="T18" fmla="*/ 25 w 175"/>
                  <a:gd name="T19" fmla="*/ 91 h 130"/>
                  <a:gd name="T20" fmla="*/ 53 w 175"/>
                  <a:gd name="T21" fmla="*/ 126 h 130"/>
                  <a:gd name="T22" fmla="*/ 147 w 175"/>
                  <a:gd name="T23" fmla="*/ 124 h 130"/>
                  <a:gd name="T24" fmla="*/ 162 w 175"/>
                  <a:gd name="T25" fmla="*/ 104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5" h="130">
                    <a:moveTo>
                      <a:pt x="162" y="104"/>
                    </a:moveTo>
                    <a:cubicBezTo>
                      <a:pt x="162" y="104"/>
                      <a:pt x="171" y="87"/>
                      <a:pt x="173" y="65"/>
                    </a:cubicBezTo>
                    <a:cubicBezTo>
                      <a:pt x="175" y="44"/>
                      <a:pt x="170" y="39"/>
                      <a:pt x="161" y="39"/>
                    </a:cubicBezTo>
                    <a:cubicBezTo>
                      <a:pt x="161" y="39"/>
                      <a:pt x="157" y="16"/>
                      <a:pt x="146" y="8"/>
                    </a:cubicBezTo>
                    <a:cubicBezTo>
                      <a:pt x="135" y="0"/>
                      <a:pt x="91" y="12"/>
                      <a:pt x="75" y="22"/>
                    </a:cubicBezTo>
                    <a:cubicBezTo>
                      <a:pt x="58" y="32"/>
                      <a:pt x="46" y="4"/>
                      <a:pt x="38" y="5"/>
                    </a:cubicBezTo>
                    <a:cubicBezTo>
                      <a:pt x="30" y="7"/>
                      <a:pt x="29" y="28"/>
                      <a:pt x="35" y="37"/>
                    </a:cubicBezTo>
                    <a:cubicBezTo>
                      <a:pt x="35" y="37"/>
                      <a:pt x="21" y="30"/>
                      <a:pt x="18" y="22"/>
                    </a:cubicBezTo>
                    <a:cubicBezTo>
                      <a:pt x="16" y="14"/>
                      <a:pt x="0" y="28"/>
                      <a:pt x="6" y="58"/>
                    </a:cubicBezTo>
                    <a:cubicBezTo>
                      <a:pt x="12" y="88"/>
                      <a:pt x="25" y="91"/>
                      <a:pt x="25" y="91"/>
                    </a:cubicBezTo>
                    <a:cubicBezTo>
                      <a:pt x="25" y="91"/>
                      <a:pt x="27" y="123"/>
                      <a:pt x="53" y="126"/>
                    </a:cubicBezTo>
                    <a:cubicBezTo>
                      <a:pt x="79" y="130"/>
                      <a:pt x="147" y="124"/>
                      <a:pt x="147" y="124"/>
                    </a:cubicBezTo>
                    <a:lnTo>
                      <a:pt x="162" y="104"/>
                    </a:lnTo>
                    <a:close/>
                  </a:path>
                </a:pathLst>
              </a:custGeom>
              <a:solidFill>
                <a:srgbClr val="59313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01D3A52D-AFA7-4E05-BA8D-223D1C678151}"/>
                  </a:ext>
                </a:extLst>
              </p:cNvPr>
              <p:cNvSpPr/>
              <p:nvPr/>
            </p:nvSpPr>
            <p:spPr bwMode="auto">
              <a:xfrm>
                <a:off x="5928534" y="2693911"/>
                <a:ext cx="719224" cy="708647"/>
              </a:xfrm>
              <a:custGeom>
                <a:avLst/>
                <a:gdLst>
                  <a:gd name="T0" fmla="*/ 0 w 124"/>
                  <a:gd name="T1" fmla="*/ 15 h 122"/>
                  <a:gd name="T2" fmla="*/ 44 w 124"/>
                  <a:gd name="T3" fmla="*/ 111 h 122"/>
                  <a:gd name="T4" fmla="*/ 105 w 124"/>
                  <a:gd name="T5" fmla="*/ 79 h 122"/>
                  <a:gd name="T6" fmla="*/ 111 w 124"/>
                  <a:gd name="T7" fmla="*/ 52 h 122"/>
                  <a:gd name="T8" fmla="*/ 123 w 124"/>
                  <a:gd name="T9" fmla="*/ 35 h 122"/>
                  <a:gd name="T10" fmla="*/ 104 w 124"/>
                  <a:gd name="T11" fmla="*/ 38 h 122"/>
                  <a:gd name="T12" fmla="*/ 93 w 124"/>
                  <a:gd name="T13" fmla="*/ 0 h 122"/>
                  <a:gd name="T14" fmla="*/ 51 w 124"/>
                  <a:gd name="T15" fmla="*/ 17 h 122"/>
                  <a:gd name="T16" fmla="*/ 47 w 124"/>
                  <a:gd name="T17" fmla="*/ 0 h 122"/>
                  <a:gd name="T18" fmla="*/ 0 w 124"/>
                  <a:gd name="T19" fmla="*/ 15 h 1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4" h="122">
                    <a:moveTo>
                      <a:pt x="0" y="15"/>
                    </a:moveTo>
                    <a:cubicBezTo>
                      <a:pt x="0" y="15"/>
                      <a:pt x="12" y="100"/>
                      <a:pt x="44" y="111"/>
                    </a:cubicBezTo>
                    <a:cubicBezTo>
                      <a:pt x="75" y="122"/>
                      <a:pt x="101" y="88"/>
                      <a:pt x="105" y="79"/>
                    </a:cubicBezTo>
                    <a:cubicBezTo>
                      <a:pt x="109" y="70"/>
                      <a:pt x="111" y="52"/>
                      <a:pt x="111" y="52"/>
                    </a:cubicBezTo>
                    <a:cubicBezTo>
                      <a:pt x="111" y="52"/>
                      <a:pt x="122" y="54"/>
                      <a:pt x="123" y="35"/>
                    </a:cubicBezTo>
                    <a:cubicBezTo>
                      <a:pt x="124" y="16"/>
                      <a:pt x="108" y="5"/>
                      <a:pt x="104" y="38"/>
                    </a:cubicBezTo>
                    <a:cubicBezTo>
                      <a:pt x="104" y="38"/>
                      <a:pt x="88" y="29"/>
                      <a:pt x="93" y="0"/>
                    </a:cubicBezTo>
                    <a:cubicBezTo>
                      <a:pt x="93" y="0"/>
                      <a:pt x="75" y="17"/>
                      <a:pt x="51" y="17"/>
                    </a:cubicBezTo>
                    <a:cubicBezTo>
                      <a:pt x="26" y="17"/>
                      <a:pt x="47" y="0"/>
                      <a:pt x="47" y="0"/>
                    </a:cubicBezTo>
                    <a:cubicBezTo>
                      <a:pt x="47" y="0"/>
                      <a:pt x="30" y="16"/>
                      <a:pt x="0" y="15"/>
                    </a:cubicBezTo>
                    <a:close/>
                  </a:path>
                </a:pathLst>
              </a:custGeom>
              <a:solidFill>
                <a:srgbClr val="FEB19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ADBB54AD-357E-40B1-A6FB-085A97613870}"/>
                  </a:ext>
                </a:extLst>
              </p:cNvPr>
              <p:cNvSpPr/>
              <p:nvPr/>
            </p:nvSpPr>
            <p:spPr bwMode="auto">
              <a:xfrm>
                <a:off x="5875650" y="5070171"/>
                <a:ext cx="1188130" cy="63461"/>
              </a:xfrm>
              <a:prstGeom prst="rect">
                <a:avLst/>
              </a:prstGeom>
              <a:solidFill>
                <a:srgbClr val="ABDA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E8AF93C6-F105-461B-A816-BC3387F3C587}"/>
                  </a:ext>
                </a:extLst>
              </p:cNvPr>
              <p:cNvSpPr/>
              <p:nvPr/>
            </p:nvSpPr>
            <p:spPr bwMode="auto">
              <a:xfrm>
                <a:off x="6698879" y="5070171"/>
                <a:ext cx="364901" cy="63461"/>
              </a:xfrm>
              <a:prstGeom prst="rect">
                <a:avLst/>
              </a:prstGeom>
              <a:solidFill>
                <a:srgbClr val="70B2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AE9DB34A-4B92-40A1-BB39-C117B8686ECA}"/>
                  </a:ext>
                </a:extLst>
              </p:cNvPr>
              <p:cNvSpPr/>
              <p:nvPr/>
            </p:nvSpPr>
            <p:spPr bwMode="auto">
              <a:xfrm>
                <a:off x="6397440" y="4913281"/>
                <a:ext cx="470669" cy="156890"/>
              </a:xfrm>
              <a:custGeom>
                <a:avLst/>
                <a:gdLst>
                  <a:gd name="T0" fmla="*/ 81 w 81"/>
                  <a:gd name="T1" fmla="*/ 27 h 27"/>
                  <a:gd name="T2" fmla="*/ 35 w 81"/>
                  <a:gd name="T3" fmla="*/ 1 h 27"/>
                  <a:gd name="T4" fmla="*/ 14 w 81"/>
                  <a:gd name="T5" fmla="*/ 14 h 27"/>
                  <a:gd name="T6" fmla="*/ 0 w 81"/>
                  <a:gd name="T7" fmla="*/ 27 h 27"/>
                  <a:gd name="T8" fmla="*/ 81 w 81"/>
                  <a:gd name="T9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1" h="27">
                    <a:moveTo>
                      <a:pt x="81" y="27"/>
                    </a:moveTo>
                    <a:cubicBezTo>
                      <a:pt x="81" y="27"/>
                      <a:pt x="63" y="0"/>
                      <a:pt x="35" y="1"/>
                    </a:cubicBezTo>
                    <a:cubicBezTo>
                      <a:pt x="15" y="1"/>
                      <a:pt x="14" y="14"/>
                      <a:pt x="14" y="14"/>
                    </a:cubicBezTo>
                    <a:cubicBezTo>
                      <a:pt x="14" y="14"/>
                      <a:pt x="0" y="12"/>
                      <a:pt x="0" y="27"/>
                    </a:cubicBezTo>
                    <a:lnTo>
                      <a:pt x="81" y="27"/>
                    </a:lnTo>
                    <a:close/>
                  </a:path>
                </a:pathLst>
              </a:custGeom>
              <a:solidFill>
                <a:srgbClr val="FFC7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A6FABDB6-9771-4A6B-94C8-7731E388E64D}"/>
                  </a:ext>
                </a:extLst>
              </p:cNvPr>
              <p:cNvSpPr/>
              <p:nvPr/>
            </p:nvSpPr>
            <p:spPr bwMode="auto">
              <a:xfrm>
                <a:off x="4844409" y="4848058"/>
                <a:ext cx="544707" cy="215062"/>
              </a:xfrm>
              <a:custGeom>
                <a:avLst/>
                <a:gdLst>
                  <a:gd name="T0" fmla="*/ 93 w 94"/>
                  <a:gd name="T1" fmla="*/ 37 h 37"/>
                  <a:gd name="T2" fmla="*/ 88 w 94"/>
                  <a:gd name="T3" fmla="*/ 20 h 37"/>
                  <a:gd name="T4" fmla="*/ 76 w 94"/>
                  <a:gd name="T5" fmla="*/ 23 h 37"/>
                  <a:gd name="T6" fmla="*/ 52 w 94"/>
                  <a:gd name="T7" fmla="*/ 1 h 37"/>
                  <a:gd name="T8" fmla="*/ 21 w 94"/>
                  <a:gd name="T9" fmla="*/ 37 h 37"/>
                  <a:gd name="T10" fmla="*/ 93 w 94"/>
                  <a:gd name="T11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" h="37">
                    <a:moveTo>
                      <a:pt x="93" y="37"/>
                    </a:moveTo>
                    <a:cubicBezTo>
                      <a:pt x="93" y="37"/>
                      <a:pt x="94" y="22"/>
                      <a:pt x="88" y="20"/>
                    </a:cubicBezTo>
                    <a:cubicBezTo>
                      <a:pt x="81" y="18"/>
                      <a:pt x="76" y="23"/>
                      <a:pt x="76" y="23"/>
                    </a:cubicBezTo>
                    <a:cubicBezTo>
                      <a:pt x="76" y="23"/>
                      <a:pt x="71" y="1"/>
                      <a:pt x="52" y="1"/>
                    </a:cubicBezTo>
                    <a:cubicBezTo>
                      <a:pt x="34" y="0"/>
                      <a:pt x="0" y="19"/>
                      <a:pt x="21" y="37"/>
                    </a:cubicBezTo>
                    <a:lnTo>
                      <a:pt x="93" y="37"/>
                    </a:lnTo>
                    <a:close/>
                  </a:path>
                </a:pathLst>
              </a:custGeom>
              <a:solidFill>
                <a:srgbClr val="FEB19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B08E4CDA-8407-49C7-B5E8-6D7B68163B01}"/>
                  </a:ext>
                </a:extLst>
              </p:cNvPr>
              <p:cNvSpPr/>
              <p:nvPr/>
            </p:nvSpPr>
            <p:spPr bwMode="auto">
              <a:xfrm>
                <a:off x="4943126" y="5063120"/>
                <a:ext cx="719224" cy="70512"/>
              </a:xfrm>
              <a:custGeom>
                <a:avLst/>
                <a:gdLst>
                  <a:gd name="T0" fmla="*/ 124 w 124"/>
                  <a:gd name="T1" fmla="*/ 6 h 12"/>
                  <a:gd name="T2" fmla="*/ 118 w 124"/>
                  <a:gd name="T3" fmla="*/ 12 h 12"/>
                  <a:gd name="T4" fmla="*/ 6 w 124"/>
                  <a:gd name="T5" fmla="*/ 12 h 12"/>
                  <a:gd name="T6" fmla="*/ 0 w 124"/>
                  <a:gd name="T7" fmla="*/ 6 h 12"/>
                  <a:gd name="T8" fmla="*/ 6 w 124"/>
                  <a:gd name="T9" fmla="*/ 0 h 12"/>
                  <a:gd name="T10" fmla="*/ 118 w 124"/>
                  <a:gd name="T11" fmla="*/ 0 h 12"/>
                  <a:gd name="T12" fmla="*/ 124 w 124"/>
                  <a:gd name="T13" fmla="*/ 6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12">
                    <a:moveTo>
                      <a:pt x="124" y="6"/>
                    </a:moveTo>
                    <a:cubicBezTo>
                      <a:pt x="124" y="9"/>
                      <a:pt x="122" y="12"/>
                      <a:pt x="118" y="12"/>
                    </a:cubicBezTo>
                    <a:cubicBezTo>
                      <a:pt x="6" y="12"/>
                      <a:pt x="6" y="12"/>
                      <a:pt x="6" y="12"/>
                    </a:cubicBezTo>
                    <a:cubicBezTo>
                      <a:pt x="2" y="12"/>
                      <a:pt x="0" y="9"/>
                      <a:pt x="0" y="6"/>
                    </a:cubicBezTo>
                    <a:cubicBezTo>
                      <a:pt x="0" y="2"/>
                      <a:pt x="2" y="0"/>
                      <a:pt x="6" y="0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22" y="0"/>
                      <a:pt x="124" y="2"/>
                      <a:pt x="124" y="6"/>
                    </a:cubicBezTo>
                    <a:close/>
                  </a:path>
                </a:pathLst>
              </a:custGeom>
              <a:solidFill>
                <a:srgbClr val="70B2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95238C92-9A93-44C8-AD92-A0B79A750564}"/>
                  </a:ext>
                </a:extLst>
              </p:cNvPr>
              <p:cNvSpPr/>
              <p:nvPr/>
            </p:nvSpPr>
            <p:spPr bwMode="auto">
              <a:xfrm>
                <a:off x="4943126" y="5063120"/>
                <a:ext cx="527079" cy="70512"/>
              </a:xfrm>
              <a:custGeom>
                <a:avLst/>
                <a:gdLst>
                  <a:gd name="T0" fmla="*/ 91 w 91"/>
                  <a:gd name="T1" fmla="*/ 6 h 12"/>
                  <a:gd name="T2" fmla="*/ 85 w 91"/>
                  <a:gd name="T3" fmla="*/ 12 h 12"/>
                  <a:gd name="T4" fmla="*/ 6 w 91"/>
                  <a:gd name="T5" fmla="*/ 12 h 12"/>
                  <a:gd name="T6" fmla="*/ 0 w 91"/>
                  <a:gd name="T7" fmla="*/ 6 h 12"/>
                  <a:gd name="T8" fmla="*/ 6 w 91"/>
                  <a:gd name="T9" fmla="*/ 0 h 12"/>
                  <a:gd name="T10" fmla="*/ 85 w 91"/>
                  <a:gd name="T11" fmla="*/ 0 h 12"/>
                  <a:gd name="T12" fmla="*/ 91 w 91"/>
                  <a:gd name="T13" fmla="*/ 6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1" h="12">
                    <a:moveTo>
                      <a:pt x="91" y="6"/>
                    </a:moveTo>
                    <a:cubicBezTo>
                      <a:pt x="91" y="9"/>
                      <a:pt x="88" y="12"/>
                      <a:pt x="85" y="12"/>
                    </a:cubicBezTo>
                    <a:cubicBezTo>
                      <a:pt x="6" y="12"/>
                      <a:pt x="6" y="12"/>
                      <a:pt x="6" y="12"/>
                    </a:cubicBezTo>
                    <a:cubicBezTo>
                      <a:pt x="2" y="12"/>
                      <a:pt x="0" y="9"/>
                      <a:pt x="0" y="6"/>
                    </a:cubicBezTo>
                    <a:cubicBezTo>
                      <a:pt x="0" y="2"/>
                      <a:pt x="2" y="0"/>
                      <a:pt x="6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8" y="0"/>
                      <a:pt x="91" y="2"/>
                      <a:pt x="91" y="6"/>
                    </a:cubicBezTo>
                    <a:close/>
                  </a:path>
                </a:pathLst>
              </a:custGeom>
              <a:solidFill>
                <a:srgbClr val="ABDA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2FDA8D3-ED5F-4DBD-95F9-C750DE7B8A74}"/>
                  </a:ext>
                </a:extLst>
              </p:cNvPr>
              <p:cNvSpPr/>
              <p:nvPr/>
            </p:nvSpPr>
            <p:spPr bwMode="auto">
              <a:xfrm>
                <a:off x="5115881" y="4599502"/>
                <a:ext cx="186857" cy="428362"/>
              </a:xfrm>
              <a:custGeom>
                <a:avLst/>
                <a:gdLst>
                  <a:gd name="T0" fmla="*/ 32 w 32"/>
                  <a:gd name="T1" fmla="*/ 70 h 74"/>
                  <a:gd name="T2" fmla="*/ 12 w 32"/>
                  <a:gd name="T3" fmla="*/ 5 h 74"/>
                  <a:gd name="T4" fmla="*/ 5 w 32"/>
                  <a:gd name="T5" fmla="*/ 1 h 74"/>
                  <a:gd name="T6" fmla="*/ 5 w 32"/>
                  <a:gd name="T7" fmla="*/ 1 h 74"/>
                  <a:gd name="T8" fmla="*/ 1 w 32"/>
                  <a:gd name="T9" fmla="*/ 8 h 74"/>
                  <a:gd name="T10" fmla="*/ 25 w 32"/>
                  <a:gd name="T11" fmla="*/ 72 h 74"/>
                  <a:gd name="T12" fmla="*/ 32 w 32"/>
                  <a:gd name="T13" fmla="*/ 7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" h="74">
                    <a:moveTo>
                      <a:pt x="32" y="70"/>
                    </a:moveTo>
                    <a:cubicBezTo>
                      <a:pt x="12" y="5"/>
                      <a:pt x="12" y="5"/>
                      <a:pt x="12" y="5"/>
                    </a:cubicBezTo>
                    <a:cubicBezTo>
                      <a:pt x="11" y="2"/>
                      <a:pt x="8" y="0"/>
                      <a:pt x="5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2" y="2"/>
                      <a:pt x="0" y="5"/>
                      <a:pt x="1" y="8"/>
                    </a:cubicBezTo>
                    <a:cubicBezTo>
                      <a:pt x="25" y="72"/>
                      <a:pt x="25" y="72"/>
                      <a:pt x="25" y="72"/>
                    </a:cubicBezTo>
                    <a:cubicBezTo>
                      <a:pt x="25" y="72"/>
                      <a:pt x="29" y="74"/>
                      <a:pt x="32" y="70"/>
                    </a:cubicBezTo>
                    <a:close/>
                  </a:path>
                </a:pathLst>
              </a:custGeom>
              <a:solidFill>
                <a:srgbClr val="52555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1CFF5A5F-9AD0-4A8D-AD75-7656D066B23D}"/>
                  </a:ext>
                </a:extLst>
              </p:cNvPr>
              <p:cNvSpPr/>
              <p:nvPr/>
            </p:nvSpPr>
            <p:spPr bwMode="auto">
              <a:xfrm>
                <a:off x="4310280" y="3931400"/>
                <a:ext cx="192146" cy="290863"/>
              </a:xfrm>
              <a:custGeom>
                <a:avLst/>
                <a:gdLst>
                  <a:gd name="T0" fmla="*/ 31 w 33"/>
                  <a:gd name="T1" fmla="*/ 23 h 50"/>
                  <a:gd name="T2" fmla="*/ 20 w 33"/>
                  <a:gd name="T3" fmla="*/ 49 h 50"/>
                  <a:gd name="T4" fmla="*/ 2 w 33"/>
                  <a:gd name="T5" fmla="*/ 28 h 50"/>
                  <a:gd name="T6" fmla="*/ 12 w 33"/>
                  <a:gd name="T7" fmla="*/ 1 h 50"/>
                  <a:gd name="T8" fmla="*/ 31 w 33"/>
                  <a:gd name="T9" fmla="*/ 23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50">
                    <a:moveTo>
                      <a:pt x="31" y="23"/>
                    </a:moveTo>
                    <a:cubicBezTo>
                      <a:pt x="33" y="36"/>
                      <a:pt x="28" y="48"/>
                      <a:pt x="20" y="49"/>
                    </a:cubicBezTo>
                    <a:cubicBezTo>
                      <a:pt x="12" y="50"/>
                      <a:pt x="4" y="41"/>
                      <a:pt x="2" y="28"/>
                    </a:cubicBezTo>
                    <a:cubicBezTo>
                      <a:pt x="0" y="15"/>
                      <a:pt x="4" y="3"/>
                      <a:pt x="12" y="1"/>
                    </a:cubicBezTo>
                    <a:cubicBezTo>
                      <a:pt x="20" y="0"/>
                      <a:pt x="29" y="10"/>
                      <a:pt x="31" y="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638" cap="flat">
                <a:solidFill>
                  <a:srgbClr val="F230DB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A889D9AB-C8B8-4A09-9AC5-F94581691F64}"/>
                  </a:ext>
                </a:extLst>
              </p:cNvPr>
              <p:cNvSpPr/>
              <p:nvPr/>
            </p:nvSpPr>
            <p:spPr bwMode="auto">
              <a:xfrm>
                <a:off x="3527595" y="3455443"/>
                <a:ext cx="1820977" cy="1283321"/>
              </a:xfrm>
              <a:custGeom>
                <a:avLst/>
                <a:gdLst>
                  <a:gd name="T0" fmla="*/ 287 w 314"/>
                  <a:gd name="T1" fmla="*/ 221 h 221"/>
                  <a:gd name="T2" fmla="*/ 74 w 314"/>
                  <a:gd name="T3" fmla="*/ 221 h 221"/>
                  <a:gd name="T4" fmla="*/ 53 w 314"/>
                  <a:gd name="T5" fmla="*/ 206 h 221"/>
                  <a:gd name="T6" fmla="*/ 2 w 314"/>
                  <a:gd name="T7" fmla="*/ 25 h 221"/>
                  <a:gd name="T8" fmla="*/ 25 w 314"/>
                  <a:gd name="T9" fmla="*/ 0 h 221"/>
                  <a:gd name="T10" fmla="*/ 241 w 314"/>
                  <a:gd name="T11" fmla="*/ 0 h 221"/>
                  <a:gd name="T12" fmla="*/ 263 w 314"/>
                  <a:gd name="T13" fmla="*/ 19 h 221"/>
                  <a:gd name="T14" fmla="*/ 309 w 314"/>
                  <a:gd name="T15" fmla="*/ 190 h 221"/>
                  <a:gd name="T16" fmla="*/ 287 w 314"/>
                  <a:gd name="T17" fmla="*/ 221 h 2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14" h="221">
                    <a:moveTo>
                      <a:pt x="287" y="221"/>
                    </a:moveTo>
                    <a:cubicBezTo>
                      <a:pt x="74" y="221"/>
                      <a:pt x="74" y="221"/>
                      <a:pt x="74" y="221"/>
                    </a:cubicBezTo>
                    <a:cubicBezTo>
                      <a:pt x="65" y="221"/>
                      <a:pt x="56" y="215"/>
                      <a:pt x="53" y="206"/>
                    </a:cubicBezTo>
                    <a:cubicBezTo>
                      <a:pt x="28" y="144"/>
                      <a:pt x="9" y="83"/>
                      <a:pt x="2" y="25"/>
                    </a:cubicBezTo>
                    <a:cubicBezTo>
                      <a:pt x="0" y="12"/>
                      <a:pt x="11" y="0"/>
                      <a:pt x="25" y="0"/>
                    </a:cubicBezTo>
                    <a:cubicBezTo>
                      <a:pt x="241" y="0"/>
                      <a:pt x="241" y="0"/>
                      <a:pt x="241" y="0"/>
                    </a:cubicBezTo>
                    <a:cubicBezTo>
                      <a:pt x="252" y="0"/>
                      <a:pt x="262" y="8"/>
                      <a:pt x="263" y="19"/>
                    </a:cubicBezTo>
                    <a:cubicBezTo>
                      <a:pt x="271" y="73"/>
                      <a:pt x="287" y="130"/>
                      <a:pt x="309" y="190"/>
                    </a:cubicBezTo>
                    <a:cubicBezTo>
                      <a:pt x="314" y="205"/>
                      <a:pt x="303" y="221"/>
                      <a:pt x="287" y="221"/>
                    </a:cubicBezTo>
                    <a:close/>
                  </a:path>
                </a:pathLst>
              </a:custGeom>
              <a:solidFill>
                <a:srgbClr val="90C6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2F3CB88-F785-4F74-9718-3A409BB20858}"/>
                  </a:ext>
                </a:extLst>
              </p:cNvPr>
              <p:cNvSpPr/>
              <p:nvPr/>
            </p:nvSpPr>
            <p:spPr bwMode="auto">
              <a:xfrm>
                <a:off x="3527595" y="3455443"/>
                <a:ext cx="1768093" cy="1283321"/>
              </a:xfrm>
              <a:custGeom>
                <a:avLst/>
                <a:gdLst>
                  <a:gd name="T0" fmla="*/ 279 w 305"/>
                  <a:gd name="T1" fmla="*/ 221 h 221"/>
                  <a:gd name="T2" fmla="*/ 74 w 305"/>
                  <a:gd name="T3" fmla="*/ 221 h 221"/>
                  <a:gd name="T4" fmla="*/ 53 w 305"/>
                  <a:gd name="T5" fmla="*/ 206 h 221"/>
                  <a:gd name="T6" fmla="*/ 2 w 305"/>
                  <a:gd name="T7" fmla="*/ 25 h 221"/>
                  <a:gd name="T8" fmla="*/ 25 w 305"/>
                  <a:gd name="T9" fmla="*/ 0 h 221"/>
                  <a:gd name="T10" fmla="*/ 232 w 305"/>
                  <a:gd name="T11" fmla="*/ 0 h 221"/>
                  <a:gd name="T12" fmla="*/ 255 w 305"/>
                  <a:gd name="T13" fmla="*/ 19 h 221"/>
                  <a:gd name="T14" fmla="*/ 300 w 305"/>
                  <a:gd name="T15" fmla="*/ 190 h 221"/>
                  <a:gd name="T16" fmla="*/ 279 w 305"/>
                  <a:gd name="T17" fmla="*/ 221 h 2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5" h="221">
                    <a:moveTo>
                      <a:pt x="279" y="221"/>
                    </a:moveTo>
                    <a:cubicBezTo>
                      <a:pt x="74" y="221"/>
                      <a:pt x="74" y="221"/>
                      <a:pt x="74" y="221"/>
                    </a:cubicBezTo>
                    <a:cubicBezTo>
                      <a:pt x="65" y="221"/>
                      <a:pt x="56" y="215"/>
                      <a:pt x="53" y="206"/>
                    </a:cubicBezTo>
                    <a:cubicBezTo>
                      <a:pt x="28" y="144"/>
                      <a:pt x="9" y="83"/>
                      <a:pt x="2" y="25"/>
                    </a:cubicBezTo>
                    <a:cubicBezTo>
                      <a:pt x="0" y="12"/>
                      <a:pt x="11" y="0"/>
                      <a:pt x="25" y="0"/>
                    </a:cubicBezTo>
                    <a:cubicBezTo>
                      <a:pt x="232" y="0"/>
                      <a:pt x="232" y="0"/>
                      <a:pt x="232" y="0"/>
                    </a:cubicBezTo>
                    <a:cubicBezTo>
                      <a:pt x="243" y="0"/>
                      <a:pt x="253" y="8"/>
                      <a:pt x="255" y="19"/>
                    </a:cubicBezTo>
                    <a:cubicBezTo>
                      <a:pt x="263" y="73"/>
                      <a:pt x="279" y="130"/>
                      <a:pt x="300" y="190"/>
                    </a:cubicBezTo>
                    <a:cubicBezTo>
                      <a:pt x="305" y="205"/>
                      <a:pt x="294" y="221"/>
                      <a:pt x="279" y="221"/>
                    </a:cubicBezTo>
                    <a:close/>
                  </a:path>
                </a:pathLst>
              </a:custGeom>
              <a:solidFill>
                <a:srgbClr val="ABDA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8E4D7F49-703E-4622-88AB-C0F75831EABA}"/>
                  </a:ext>
                </a:extLst>
              </p:cNvPr>
              <p:cNvSpPr/>
              <p:nvPr/>
            </p:nvSpPr>
            <p:spPr bwMode="auto">
              <a:xfrm>
                <a:off x="4310280" y="4523702"/>
                <a:ext cx="772108" cy="609930"/>
              </a:xfrm>
              <a:custGeom>
                <a:avLst/>
                <a:gdLst>
                  <a:gd name="T0" fmla="*/ 133 w 133"/>
                  <a:gd name="T1" fmla="*/ 105 h 105"/>
                  <a:gd name="T2" fmla="*/ 51 w 133"/>
                  <a:gd name="T3" fmla="*/ 105 h 105"/>
                  <a:gd name="T4" fmla="*/ 25 w 133"/>
                  <a:gd name="T5" fmla="*/ 86 h 105"/>
                  <a:gd name="T6" fmla="*/ 0 w 133"/>
                  <a:gd name="T7" fmla="*/ 1 h 105"/>
                  <a:gd name="T8" fmla="*/ 40 w 133"/>
                  <a:gd name="T9" fmla="*/ 0 h 105"/>
                  <a:gd name="T10" fmla="*/ 53 w 133"/>
                  <a:gd name="T11" fmla="*/ 1 h 105"/>
                  <a:gd name="T12" fmla="*/ 73 w 133"/>
                  <a:gd name="T13" fmla="*/ 67 h 105"/>
                  <a:gd name="T14" fmla="*/ 90 w 133"/>
                  <a:gd name="T15" fmla="*/ 81 h 105"/>
                  <a:gd name="T16" fmla="*/ 121 w 133"/>
                  <a:gd name="T17" fmla="*/ 86 h 105"/>
                  <a:gd name="T18" fmla="*/ 131 w 133"/>
                  <a:gd name="T19" fmla="*/ 96 h 105"/>
                  <a:gd name="T20" fmla="*/ 133 w 133"/>
                  <a:gd name="T21" fmla="*/ 105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33" h="105">
                    <a:moveTo>
                      <a:pt x="133" y="105"/>
                    </a:moveTo>
                    <a:cubicBezTo>
                      <a:pt x="51" y="105"/>
                      <a:pt x="51" y="105"/>
                      <a:pt x="51" y="105"/>
                    </a:cubicBezTo>
                    <a:cubicBezTo>
                      <a:pt x="39" y="105"/>
                      <a:pt x="29" y="97"/>
                      <a:pt x="25" y="86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4" y="1"/>
                      <a:pt x="27" y="0"/>
                      <a:pt x="40" y="0"/>
                    </a:cubicBezTo>
                    <a:cubicBezTo>
                      <a:pt x="45" y="0"/>
                      <a:pt x="49" y="0"/>
                      <a:pt x="53" y="1"/>
                    </a:cubicBezTo>
                    <a:cubicBezTo>
                      <a:pt x="73" y="67"/>
                      <a:pt x="73" y="67"/>
                      <a:pt x="73" y="67"/>
                    </a:cubicBezTo>
                    <a:cubicBezTo>
                      <a:pt x="76" y="75"/>
                      <a:pt x="82" y="80"/>
                      <a:pt x="90" y="81"/>
                    </a:cubicBezTo>
                    <a:cubicBezTo>
                      <a:pt x="121" y="86"/>
                      <a:pt x="121" y="86"/>
                      <a:pt x="121" y="86"/>
                    </a:cubicBezTo>
                    <a:cubicBezTo>
                      <a:pt x="126" y="87"/>
                      <a:pt x="130" y="91"/>
                      <a:pt x="131" y="96"/>
                    </a:cubicBezTo>
                    <a:lnTo>
                      <a:pt x="133" y="105"/>
                    </a:lnTo>
                    <a:close/>
                  </a:path>
                </a:pathLst>
              </a:custGeom>
              <a:solidFill>
                <a:srgbClr val="90C6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98DDE88A-FDE9-42B0-8915-8A9A3826CC26}"/>
                  </a:ext>
                </a:extLst>
              </p:cNvPr>
              <p:cNvSpPr/>
              <p:nvPr/>
            </p:nvSpPr>
            <p:spPr bwMode="auto">
              <a:xfrm>
                <a:off x="4542970" y="4523702"/>
                <a:ext cx="289100" cy="470669"/>
              </a:xfrm>
              <a:custGeom>
                <a:avLst/>
                <a:gdLst>
                  <a:gd name="T0" fmla="*/ 50 w 50"/>
                  <a:gd name="T1" fmla="*/ 81 h 81"/>
                  <a:gd name="T2" fmla="*/ 43 w 50"/>
                  <a:gd name="T3" fmla="*/ 81 h 81"/>
                  <a:gd name="T4" fmla="*/ 21 w 50"/>
                  <a:gd name="T5" fmla="*/ 65 h 81"/>
                  <a:gd name="T6" fmla="*/ 0 w 50"/>
                  <a:gd name="T7" fmla="*/ 0 h 81"/>
                  <a:gd name="T8" fmla="*/ 13 w 50"/>
                  <a:gd name="T9" fmla="*/ 1 h 81"/>
                  <a:gd name="T10" fmla="*/ 33 w 50"/>
                  <a:gd name="T11" fmla="*/ 67 h 81"/>
                  <a:gd name="T12" fmla="*/ 50 w 50"/>
                  <a:gd name="T13" fmla="*/ 81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0" h="81">
                    <a:moveTo>
                      <a:pt x="50" y="81"/>
                    </a:moveTo>
                    <a:cubicBezTo>
                      <a:pt x="43" y="81"/>
                      <a:pt x="43" y="81"/>
                      <a:pt x="43" y="81"/>
                    </a:cubicBezTo>
                    <a:cubicBezTo>
                      <a:pt x="33" y="80"/>
                      <a:pt x="25" y="74"/>
                      <a:pt x="21" y="65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5" y="0"/>
                      <a:pt x="9" y="0"/>
                      <a:pt x="13" y="1"/>
                    </a:cubicBezTo>
                    <a:cubicBezTo>
                      <a:pt x="33" y="67"/>
                      <a:pt x="33" y="67"/>
                      <a:pt x="33" y="67"/>
                    </a:cubicBezTo>
                    <a:cubicBezTo>
                      <a:pt x="36" y="75"/>
                      <a:pt x="42" y="80"/>
                      <a:pt x="50" y="81"/>
                    </a:cubicBezTo>
                    <a:close/>
                  </a:path>
                </a:pathLst>
              </a:custGeom>
              <a:solidFill>
                <a:srgbClr val="90C6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0AF7A108-A1BC-46D2-B9F7-B9E092C3CC30}"/>
                  </a:ext>
                </a:extLst>
              </p:cNvPr>
              <p:cNvSpPr/>
              <p:nvPr/>
            </p:nvSpPr>
            <p:spPr bwMode="auto">
              <a:xfrm>
                <a:off x="4299703" y="3954316"/>
                <a:ext cx="195672" cy="290863"/>
              </a:xfrm>
              <a:custGeom>
                <a:avLst/>
                <a:gdLst>
                  <a:gd name="T0" fmla="*/ 31 w 34"/>
                  <a:gd name="T1" fmla="*/ 22 h 50"/>
                  <a:gd name="T2" fmla="*/ 22 w 34"/>
                  <a:gd name="T3" fmla="*/ 48 h 50"/>
                  <a:gd name="T4" fmla="*/ 3 w 34"/>
                  <a:gd name="T5" fmla="*/ 28 h 50"/>
                  <a:gd name="T6" fmla="*/ 11 w 34"/>
                  <a:gd name="T7" fmla="*/ 2 h 50"/>
                  <a:gd name="T8" fmla="*/ 31 w 34"/>
                  <a:gd name="T9" fmla="*/ 22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" h="50">
                    <a:moveTo>
                      <a:pt x="31" y="22"/>
                    </a:moveTo>
                    <a:cubicBezTo>
                      <a:pt x="34" y="34"/>
                      <a:pt x="30" y="46"/>
                      <a:pt x="22" y="48"/>
                    </a:cubicBezTo>
                    <a:cubicBezTo>
                      <a:pt x="15" y="50"/>
                      <a:pt x="6" y="41"/>
                      <a:pt x="3" y="28"/>
                    </a:cubicBezTo>
                    <a:cubicBezTo>
                      <a:pt x="0" y="16"/>
                      <a:pt x="4" y="4"/>
                      <a:pt x="11" y="2"/>
                    </a:cubicBezTo>
                    <a:cubicBezTo>
                      <a:pt x="19" y="0"/>
                      <a:pt x="28" y="9"/>
                      <a:pt x="31" y="22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31D3E2B6-EDE8-4714-8023-A3B092C9278B}"/>
                </a:ext>
              </a:extLst>
            </p:cNvPr>
            <p:cNvGrpSpPr/>
            <p:nvPr/>
          </p:nvGrpSpPr>
          <p:grpSpPr>
            <a:xfrm>
              <a:off x="5159639" y="3857079"/>
              <a:ext cx="2824144" cy="1343648"/>
              <a:chOff x="5159639" y="3915135"/>
              <a:chExt cx="2824144" cy="1343648"/>
            </a:xfrm>
          </p:grpSpPr>
          <p:sp>
            <p:nvSpPr>
              <p:cNvPr id="165" name="Rectangle: Rounded Corners 164">
                <a:extLst>
                  <a:ext uri="{FF2B5EF4-FFF2-40B4-BE49-F238E27FC236}">
                    <a16:creationId xmlns:a16="http://schemas.microsoft.com/office/drawing/2014/main" id="{E7A4E16D-FD02-440B-9FAF-176A6B85985F}"/>
                  </a:ext>
                </a:extLst>
              </p:cNvPr>
              <p:cNvSpPr/>
              <p:nvPr/>
            </p:nvSpPr>
            <p:spPr>
              <a:xfrm>
                <a:off x="5159639" y="3915135"/>
                <a:ext cx="2824144" cy="1343648"/>
              </a:xfrm>
              <a:prstGeom prst="roundRect">
                <a:avLst>
                  <a:gd name="adj" fmla="val 13637"/>
                </a:avLst>
              </a:prstGeom>
              <a:solidFill>
                <a:schemeClr val="accent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DF5A92E5-D27D-4A52-8AEE-E8DB32FFE9C7}"/>
                  </a:ext>
                </a:extLst>
              </p:cNvPr>
              <p:cNvGrpSpPr/>
              <p:nvPr/>
            </p:nvGrpSpPr>
            <p:grpSpPr>
              <a:xfrm>
                <a:off x="5444877" y="4161548"/>
                <a:ext cx="2253668" cy="1063380"/>
                <a:chOff x="5366126" y="4174067"/>
                <a:chExt cx="2253668" cy="1063380"/>
              </a:xfrm>
            </p:grpSpPr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DEB60E43-555F-43A1-B8A5-F65ECBF49E4F}"/>
                    </a:ext>
                  </a:extLst>
                </p:cNvPr>
                <p:cNvGrpSpPr/>
                <p:nvPr/>
              </p:nvGrpSpPr>
              <p:grpSpPr>
                <a:xfrm>
                  <a:off x="5630123" y="4174067"/>
                  <a:ext cx="1989671" cy="1063380"/>
                  <a:chOff x="5553923" y="4174067"/>
                  <a:chExt cx="1989671" cy="1063380"/>
                </a:xfrm>
              </p:grpSpPr>
              <p:sp>
                <p:nvSpPr>
                  <p:cNvPr id="167" name="Rectangle 166">
                    <a:extLst>
                      <a:ext uri="{FF2B5EF4-FFF2-40B4-BE49-F238E27FC236}">
                        <a16:creationId xmlns:a16="http://schemas.microsoft.com/office/drawing/2014/main" id="{A0BF471D-7ADD-46E4-9231-80D992A52DD1}"/>
                      </a:ext>
                    </a:extLst>
                  </p:cNvPr>
                  <p:cNvSpPr/>
                  <p:nvPr/>
                </p:nvSpPr>
                <p:spPr>
                  <a:xfrm flipH="1">
                    <a:off x="5553923" y="4499424"/>
                    <a:ext cx="1989670" cy="738023"/>
                  </a:xfrm>
                  <a:prstGeom prst="rect">
                    <a:avLst/>
                  </a:prstGeom>
                  <a:ln>
                    <a:noFill/>
                  </a:ln>
                </p:spPr>
                <p:txBody>
                  <a:bodyPr wrap="square" lIns="91440" tIns="45720" rIns="91440" bIns="45720" anchor="t">
                    <a:spAutoFit/>
                  </a:bodyPr>
                  <a:lstStyle/>
                  <a:p>
                    <a:pPr marL="0" marR="0" lvl="0" indent="0" defTabSz="913765" rtl="0" eaLnBrk="1" fontAlgn="auto" latinLnBrk="0" hangingPunct="1">
                      <a:lnSpc>
                        <a:spcPct val="12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Pct val="25000"/>
                      <a:buFontTx/>
                      <a:buNone/>
                      <a:defRPr/>
                    </a:pPr>
                    <a:r>
                      <a:rPr kumimoji="0" lang="zh-CN" altLang="en-US" sz="1200" b="0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rPr>
                      <a:t>全城分类信息，信息密度高但地图弱、真伪难辨。</a:t>
                    </a:r>
                  </a:p>
                </p:txBody>
              </p: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D4C1477F-ECA3-4B2B-8D3B-39DF9A2CF29F}"/>
                      </a:ext>
                    </a:extLst>
                  </p:cNvPr>
                  <p:cNvSpPr txBox="1"/>
                  <p:nvPr/>
                </p:nvSpPr>
                <p:spPr>
                  <a:xfrm>
                    <a:off x="5553924" y="4174067"/>
                    <a:ext cx="198967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>
                      <a:lnSpc>
                        <a:spcPct val="100000"/>
                      </a:lnSpc>
                      <a:buSzPct val="25000"/>
                    </a:pPr>
                    <a:r>
                      <a:rPr lang="zh-CN" altLang="en-US" sz="1600" b="1" dirty="0"/>
                      <a:t>58 同城</a:t>
                    </a:r>
                  </a:p>
                </p:txBody>
              </p:sp>
            </p:grp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950F8F71-C58B-4C97-B65F-742F75AAB975}"/>
                    </a:ext>
                  </a:extLst>
                </p:cNvPr>
                <p:cNvSpPr/>
                <p:nvPr/>
              </p:nvSpPr>
              <p:spPr>
                <a:xfrm>
                  <a:off x="5366126" y="4257386"/>
                  <a:ext cx="229552" cy="229550"/>
                </a:xfrm>
                <a:prstGeom prst="roundRect">
                  <a:avLst/>
                </a:prstGeom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4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48D7A157-4B53-4582-9AC6-03311527CE84}"/>
                </a:ext>
              </a:extLst>
            </p:cNvPr>
            <p:cNvGrpSpPr/>
            <p:nvPr/>
          </p:nvGrpSpPr>
          <p:grpSpPr>
            <a:xfrm>
              <a:off x="8122120" y="3857079"/>
              <a:ext cx="2824144" cy="1343648"/>
              <a:chOff x="8122120" y="3915135"/>
              <a:chExt cx="2824144" cy="1343648"/>
            </a:xfrm>
          </p:grpSpPr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B9FCEBA0-9C23-4709-9F82-02FF3E0E9823}"/>
                  </a:ext>
                </a:extLst>
              </p:cNvPr>
              <p:cNvSpPr/>
              <p:nvPr/>
            </p:nvSpPr>
            <p:spPr>
              <a:xfrm>
                <a:off x="8122120" y="3915135"/>
                <a:ext cx="2824144" cy="1343648"/>
              </a:xfrm>
              <a:prstGeom prst="roundRect">
                <a:avLst>
                  <a:gd name="adj" fmla="val 13637"/>
                </a:avLst>
              </a:prstGeom>
              <a:solidFill>
                <a:schemeClr val="accent6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D948946F-8453-47A8-B672-15C05CF0B2F3}"/>
                  </a:ext>
                </a:extLst>
              </p:cNvPr>
              <p:cNvGrpSpPr/>
              <p:nvPr/>
            </p:nvGrpSpPr>
            <p:grpSpPr>
              <a:xfrm>
                <a:off x="8407358" y="4161548"/>
                <a:ext cx="2253668" cy="1063380"/>
                <a:chOff x="8328607" y="4174067"/>
                <a:chExt cx="2253668" cy="1063380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E012E561-2107-41D4-BEE1-0B857F6FAFBE}"/>
                    </a:ext>
                  </a:extLst>
                </p:cNvPr>
                <p:cNvGrpSpPr/>
                <p:nvPr/>
              </p:nvGrpSpPr>
              <p:grpSpPr>
                <a:xfrm>
                  <a:off x="8592604" y="4174067"/>
                  <a:ext cx="1989671" cy="1063380"/>
                  <a:chOff x="8516404" y="4174067"/>
                  <a:chExt cx="1989671" cy="1063380"/>
                </a:xfrm>
              </p:grpSpPr>
              <p:sp>
                <p:nvSpPr>
                  <p:cNvPr id="173" name="Rectangle 172">
                    <a:extLst>
                      <a:ext uri="{FF2B5EF4-FFF2-40B4-BE49-F238E27FC236}">
                        <a16:creationId xmlns:a16="http://schemas.microsoft.com/office/drawing/2014/main" id="{8B5BD15E-F3EA-45AC-8413-5CFA5ADB6F66}"/>
                      </a:ext>
                    </a:extLst>
                  </p:cNvPr>
                  <p:cNvSpPr/>
                  <p:nvPr/>
                </p:nvSpPr>
                <p:spPr>
                  <a:xfrm flipH="1">
                    <a:off x="8516404" y="4499424"/>
                    <a:ext cx="1989670" cy="738023"/>
                  </a:xfrm>
                  <a:prstGeom prst="rect">
                    <a:avLst/>
                  </a:prstGeom>
                  <a:ln>
                    <a:noFill/>
                  </a:ln>
                </p:spPr>
                <p:txBody>
                  <a:bodyPr wrap="square" lIns="91440" tIns="45720" rIns="91440" bIns="45720" anchor="t">
                    <a:spAutoFit/>
                  </a:bodyPr>
                  <a:lstStyle/>
                  <a:p>
                    <a:pPr marL="0" marR="0" lvl="0" indent="0" defTabSz="913765" rtl="0" eaLnBrk="1" fontAlgn="auto" latinLnBrk="0" hangingPunct="1">
                      <a:lnSpc>
                        <a:spcPct val="12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Pct val="25000"/>
                      <a:buFontTx/>
                      <a:buNone/>
                      <a:defRPr/>
                    </a:pPr>
                    <a:r>
                      <a:rPr kumimoji="0" lang="zh-CN" altLang="en-US" sz="1200" b="0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rPr>
                      <a:t>二手交易导向，本地属性弱，不支持需求发布。</a:t>
                    </a:r>
                  </a:p>
                </p:txBody>
              </p:sp>
              <p:sp>
                <p:nvSpPr>
                  <p:cNvPr id="174" name="TextBox 173">
                    <a:extLst>
                      <a:ext uri="{FF2B5EF4-FFF2-40B4-BE49-F238E27FC236}">
                        <a16:creationId xmlns:a16="http://schemas.microsoft.com/office/drawing/2014/main" id="{CF1F9794-5FAF-4FA0-A1C4-690945805C36}"/>
                      </a:ext>
                    </a:extLst>
                  </p:cNvPr>
                  <p:cNvSpPr txBox="1"/>
                  <p:nvPr/>
                </p:nvSpPr>
                <p:spPr>
                  <a:xfrm>
                    <a:off x="8516405" y="4174067"/>
                    <a:ext cx="198967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>
                      <a:lnSpc>
                        <a:spcPct val="100000"/>
                      </a:lnSpc>
                      <a:buSzPct val="25000"/>
                    </a:pPr>
                    <a:r>
                      <a:rPr lang="zh-CN" altLang="en-US" sz="1600" b="1" dirty="0"/>
                      <a:t>闲鱼</a:t>
                    </a:r>
                  </a:p>
                </p:txBody>
              </p:sp>
            </p:grpSp>
            <p:sp>
              <p:nvSpPr>
                <p:cNvPr id="175" name="Rectangle: Rounded Corners 174">
                  <a:extLst>
                    <a:ext uri="{FF2B5EF4-FFF2-40B4-BE49-F238E27FC236}">
                      <a16:creationId xmlns:a16="http://schemas.microsoft.com/office/drawing/2014/main" id="{8ADC2A4D-A1C6-4FE7-8CE7-1A21B5CABF28}"/>
                    </a:ext>
                  </a:extLst>
                </p:cNvPr>
                <p:cNvSpPr/>
                <p:nvPr/>
              </p:nvSpPr>
              <p:spPr>
                <a:xfrm>
                  <a:off x="8328607" y="4257386"/>
                  <a:ext cx="229552" cy="229550"/>
                </a:xfrm>
                <a:prstGeom prst="roundRect">
                  <a:avLst/>
                </a:prstGeom>
                <a:gradFill>
                  <a:gsLst>
                    <a:gs pos="0">
                      <a:schemeClr val="accent6">
                        <a:lumMod val="60000"/>
                        <a:lumOff val="40000"/>
                      </a:schemeClr>
                    </a:gs>
                    <a:gs pos="60000">
                      <a:schemeClr val="accent6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6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4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47224E10-B832-4623-AD1C-A573E97220F8}"/>
                </a:ext>
              </a:extLst>
            </p:cNvPr>
            <p:cNvGrpSpPr/>
            <p:nvPr/>
          </p:nvGrpSpPr>
          <p:grpSpPr>
            <a:xfrm>
              <a:off x="5159639" y="1669508"/>
              <a:ext cx="5267165" cy="962307"/>
              <a:chOff x="4424751" y="1891732"/>
              <a:chExt cx="4323855" cy="962307"/>
            </a:xfrm>
          </p:grpSpPr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24BB554E-E6B7-47F6-8823-95528A5FF086}"/>
                  </a:ext>
                </a:extLst>
              </p:cNvPr>
              <p:cNvSpPr txBox="1"/>
              <p:nvPr/>
            </p:nvSpPr>
            <p:spPr>
              <a:xfrm>
                <a:off x="4424751" y="1891732"/>
                <a:ext cx="2647381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spAutoFit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2400" b="1" dirty="0">
                    <a:solidFill>
                      <a:schemeClr val="tx1"/>
                    </a:solidFill>
                  </a:rPr>
                  <a:t>竞品格局</a:t>
                </a: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503A9BDD-C183-4F87-9F16-8D8884CB66D8}"/>
                  </a:ext>
                </a:extLst>
              </p:cNvPr>
              <p:cNvSpPr/>
              <p:nvPr/>
            </p:nvSpPr>
            <p:spPr>
              <a:xfrm flipH="1">
                <a:off x="4424751" y="2559215"/>
                <a:ext cx="4323855" cy="294824"/>
              </a:xfrm>
              <a:prstGeom prst="rect">
                <a:avLst/>
              </a:prstGeom>
              <a:ln>
                <a:noFill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邻里社区偏社交、撮合弱；58 到家为纯 B 端供给，不支持双向发布。</a:t>
                </a:r>
                <a:endPara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198" name="Title 197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竞品分析矩阵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43588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772156" y="1295203"/>
            <a:ext cx="10606067" cy="4641450"/>
            <a:chOff x="772156" y="1295203"/>
            <a:chExt cx="10606067" cy="4641450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42BD9D2-D073-403D-8F3E-D54E46F53F94}"/>
                </a:ext>
              </a:extLst>
            </p:cNvPr>
            <p:cNvSpPr/>
            <p:nvPr/>
          </p:nvSpPr>
          <p:spPr>
            <a:xfrm>
              <a:off x="6306038" y="3908530"/>
              <a:ext cx="5072185" cy="2028123"/>
            </a:xfrm>
            <a:prstGeom prst="roundRect">
              <a:avLst>
                <a:gd name="adj" fmla="val 4500"/>
              </a:avLst>
            </a:prstGeom>
            <a:blipFill rotWithShape="0">
              <a:blip r:embed="rId3"/>
              <a:srcRect/>
              <a:stretch>
                <a:fillRect t="-33600" b="-3360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B595A91-C9AB-4D15-85AA-60FB9541231B}"/>
                </a:ext>
              </a:extLst>
            </p:cNvPr>
            <p:cNvSpPr/>
            <p:nvPr/>
          </p:nvSpPr>
          <p:spPr>
            <a:xfrm>
              <a:off x="772746" y="3908530"/>
              <a:ext cx="5072185" cy="2028123"/>
            </a:xfrm>
            <a:prstGeom prst="roundRect">
              <a:avLst>
                <a:gd name="adj" fmla="val 4500"/>
              </a:avLst>
            </a:prstGeom>
            <a:blipFill rotWithShape="0">
              <a:blip r:embed="rId4"/>
              <a:srcRect/>
              <a:stretch>
                <a:fillRect t="-9760" b="-97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FCB51F8-DF27-4FAA-BE7E-B6D79384C538}"/>
                </a:ext>
              </a:extLst>
            </p:cNvPr>
            <p:cNvSpPr txBox="1"/>
            <p:nvPr/>
          </p:nvSpPr>
          <p:spPr>
            <a:xfrm>
              <a:off x="772746" y="1295203"/>
              <a:ext cx="688660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solidFill>
                    <a:schemeClr val="tx1"/>
                  </a:solidFill>
                </a:rPr>
                <a:t>差异化定位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9DC1F32-B702-4661-9095-9BAB554D416E}"/>
                </a:ext>
              </a:extLst>
            </p:cNvPr>
            <p:cNvSpPr txBox="1"/>
            <p:nvPr/>
          </p:nvSpPr>
          <p:spPr>
            <a:xfrm>
              <a:off x="772746" y="1932974"/>
              <a:ext cx="6886609" cy="29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ts val="1500"/>
                </a:lnSpc>
                <a:defRPr sz="900"/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/>
                <a:t>在全城平台与邻里社区之间，找到 5km 双向供需撮合的专属生态位。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3B7ED77-E6F1-4DAB-97A5-9B739C25288C}"/>
                </a:ext>
              </a:extLst>
            </p:cNvPr>
            <p:cNvSpPr txBox="1"/>
            <p:nvPr/>
          </p:nvSpPr>
          <p:spPr>
            <a:xfrm>
              <a:off x="1336298" y="2781588"/>
              <a:ext cx="3419727" cy="400110"/>
            </a:xfrm>
            <a:prstGeom prst="rect">
              <a:avLst/>
            </a:prstGeom>
            <a:noFill/>
          </p:spPr>
          <p:txBody>
            <a:bodyPr wrap="square" anchor="b">
              <a:normAutofit/>
            </a:bodyPr>
            <a:lstStyle>
              <a:defPPr>
                <a:defRPr lang="zh-CN"/>
              </a:defPPr>
              <a:lvl1pPr marR="0" lvl="0" indent="0" defTabSz="913765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 kumimoji="0" sz="2000" b="1" i="0" u="none" strike="noStrike" cap="none" spc="0" normalizeH="0" baseline="0">
                  <a:ln>
                    <a:noFill/>
                  </a:ln>
                  <a:effectLst/>
                  <a:uLnTx/>
                  <a:uFillTx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zh-CN" altLang="en-US" sz="1600" dirty="0"/>
                <a:t>vs 全城平台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C757C0B-4ECE-4D20-A42B-6810671DC830}"/>
                </a:ext>
              </a:extLst>
            </p:cNvPr>
            <p:cNvSpPr txBox="1"/>
            <p:nvPr/>
          </p:nvSpPr>
          <p:spPr>
            <a:xfrm>
              <a:off x="1336301" y="3181698"/>
              <a:ext cx="3419728" cy="29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ts val="1500"/>
                </a:lnSpc>
                <a:defRPr sz="900"/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/>
                <a:t>聚焦 5km + 双向 + 实名，避开全城信息淹没。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238DB1A-3123-40F1-BC22-BA1D5772BED8}"/>
                </a:ext>
              </a:extLst>
            </p:cNvPr>
            <p:cNvSpPr txBox="1"/>
            <p:nvPr/>
          </p:nvSpPr>
          <p:spPr>
            <a:xfrm>
              <a:off x="6870178" y="2781588"/>
              <a:ext cx="3419727" cy="400110"/>
            </a:xfrm>
            <a:prstGeom prst="rect">
              <a:avLst/>
            </a:prstGeom>
            <a:noFill/>
          </p:spPr>
          <p:txBody>
            <a:bodyPr wrap="square" anchor="b">
              <a:normAutofit/>
            </a:bodyPr>
            <a:lstStyle>
              <a:defPPr>
                <a:defRPr lang="zh-CN"/>
              </a:defPPr>
              <a:lvl1pPr marR="0" lvl="0" indent="0" defTabSz="913765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 kumimoji="0" sz="2000" b="1" i="0" u="none" strike="noStrike" cap="none" spc="0" normalizeH="0" baseline="0">
                  <a:ln>
                    <a:noFill/>
                  </a:ln>
                  <a:effectLst/>
                  <a:uLnTx/>
                  <a:uFillTx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zh-CN" altLang="en-US" sz="1600" dirty="0"/>
                <a:t>vs 二手与社区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B2B249C-FA95-4BCC-941A-B56B1047F376}"/>
                </a:ext>
              </a:extLst>
            </p:cNvPr>
            <p:cNvSpPr txBox="1"/>
            <p:nvPr/>
          </p:nvSpPr>
          <p:spPr>
            <a:xfrm>
              <a:off x="6870181" y="3181698"/>
              <a:ext cx="3419728" cy="29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ts val="1500"/>
                </a:lnSpc>
                <a:defRPr sz="900"/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/>
                <a:t>近场自取与服务为主，需求可发布，专业撮合。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764083A-A286-481C-A55A-FB3BF55AF840}"/>
                </a:ext>
              </a:extLst>
            </p:cNvPr>
            <p:cNvGrpSpPr/>
            <p:nvPr/>
          </p:nvGrpSpPr>
          <p:grpSpPr>
            <a:xfrm>
              <a:off x="772156" y="2781588"/>
              <a:ext cx="444222" cy="444220"/>
              <a:chOff x="3866383" y="2794007"/>
              <a:chExt cx="444222" cy="444220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2F1FEA04-0187-4774-8093-C96AAE882AB9}"/>
                  </a:ext>
                </a:extLst>
              </p:cNvPr>
              <p:cNvSpPr/>
              <p:nvPr/>
            </p:nvSpPr>
            <p:spPr>
              <a:xfrm>
                <a:off x="3866383" y="2794007"/>
                <a:ext cx="444222" cy="444220"/>
              </a:xfrm>
              <a:prstGeom prst="roundRect">
                <a:avLst/>
              </a:pr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95B552F-EAE2-4A84-9717-019D20C17214}"/>
                  </a:ext>
                </a:extLst>
              </p:cNvPr>
              <p:cNvSpPr/>
              <p:nvPr/>
            </p:nvSpPr>
            <p:spPr bwMode="auto">
              <a:xfrm>
                <a:off x="3985714" y="2939032"/>
                <a:ext cx="205561" cy="154170"/>
              </a:xfrm>
              <a:custGeom>
                <a:avLst/>
                <a:gdLst>
                  <a:gd name="connsiteX0" fmla="*/ 505433 w 533400"/>
                  <a:gd name="connsiteY0" fmla="*/ 621 h 400050"/>
                  <a:gd name="connsiteX1" fmla="*/ 534008 w 533400"/>
                  <a:gd name="connsiteY1" fmla="*/ 29196 h 400050"/>
                  <a:gd name="connsiteX2" fmla="*/ 534008 w 533400"/>
                  <a:gd name="connsiteY2" fmla="*/ 372096 h 400050"/>
                  <a:gd name="connsiteX3" fmla="*/ 505433 w 533400"/>
                  <a:gd name="connsiteY3" fmla="*/ 400671 h 400050"/>
                  <a:gd name="connsiteX4" fmla="*/ 29183 w 533400"/>
                  <a:gd name="connsiteY4" fmla="*/ 400671 h 400050"/>
                  <a:gd name="connsiteX5" fmla="*/ 608 w 533400"/>
                  <a:gd name="connsiteY5" fmla="*/ 372096 h 400050"/>
                  <a:gd name="connsiteX6" fmla="*/ 608 w 533400"/>
                  <a:gd name="connsiteY6" fmla="*/ 29196 h 400050"/>
                  <a:gd name="connsiteX7" fmla="*/ 29183 w 533400"/>
                  <a:gd name="connsiteY7" fmla="*/ 621 h 400050"/>
                  <a:gd name="connsiteX8" fmla="*/ 505433 w 533400"/>
                  <a:gd name="connsiteY8" fmla="*/ 621 h 400050"/>
                  <a:gd name="connsiteX9" fmla="*/ 391419 w 533400"/>
                  <a:gd name="connsiteY9" fmla="*/ 198646 h 400050"/>
                  <a:gd name="connsiteX10" fmla="*/ 351414 w 533400"/>
                  <a:gd name="connsiteY10" fmla="*/ 204170 h 400050"/>
                  <a:gd name="connsiteX11" fmla="*/ 351414 w 533400"/>
                  <a:gd name="connsiteY11" fmla="*/ 204170 h 400050"/>
                  <a:gd name="connsiteX12" fmla="*/ 267118 w 533400"/>
                  <a:gd name="connsiteY12" fmla="*/ 315613 h 400050"/>
                  <a:gd name="connsiteX13" fmla="*/ 264641 w 533400"/>
                  <a:gd name="connsiteY13" fmla="*/ 318470 h 400050"/>
                  <a:gd name="connsiteX14" fmla="*/ 224255 w 533400"/>
                  <a:gd name="connsiteY14" fmla="*/ 318756 h 400050"/>
                  <a:gd name="connsiteX15" fmla="*/ 224255 w 533400"/>
                  <a:gd name="connsiteY15" fmla="*/ 318756 h 400050"/>
                  <a:gd name="connsiteX16" fmla="*/ 162152 w 533400"/>
                  <a:gd name="connsiteY16" fmla="*/ 257415 h 400050"/>
                  <a:gd name="connsiteX17" fmla="*/ 160247 w 533400"/>
                  <a:gd name="connsiteY17" fmla="*/ 255701 h 400050"/>
                  <a:gd name="connsiteX18" fmla="*/ 120052 w 533400"/>
                  <a:gd name="connsiteY18" fmla="*/ 259606 h 400050"/>
                  <a:gd name="connsiteX19" fmla="*/ 120052 w 533400"/>
                  <a:gd name="connsiteY19" fmla="*/ 259606 h 400050"/>
                  <a:gd name="connsiteX20" fmla="*/ 32517 w 533400"/>
                  <a:gd name="connsiteY20" fmla="*/ 366095 h 400050"/>
                  <a:gd name="connsiteX21" fmla="*/ 30326 w 533400"/>
                  <a:gd name="connsiteY21" fmla="*/ 372096 h 400050"/>
                  <a:gd name="connsiteX22" fmla="*/ 39851 w 533400"/>
                  <a:gd name="connsiteY22" fmla="*/ 381621 h 400050"/>
                  <a:gd name="connsiteX23" fmla="*/ 39851 w 533400"/>
                  <a:gd name="connsiteY23" fmla="*/ 381621 h 400050"/>
                  <a:gd name="connsiteX24" fmla="*/ 497242 w 533400"/>
                  <a:gd name="connsiteY24" fmla="*/ 381621 h 400050"/>
                  <a:gd name="connsiteX25" fmla="*/ 502480 w 533400"/>
                  <a:gd name="connsiteY25" fmla="*/ 380002 h 400050"/>
                  <a:gd name="connsiteX26" fmla="*/ 505147 w 533400"/>
                  <a:gd name="connsiteY26" fmla="*/ 366762 h 400050"/>
                  <a:gd name="connsiteX27" fmla="*/ 505147 w 533400"/>
                  <a:gd name="connsiteY27" fmla="*/ 366762 h 400050"/>
                  <a:gd name="connsiteX28" fmla="*/ 397991 w 533400"/>
                  <a:gd name="connsiteY28" fmla="*/ 205504 h 400050"/>
                  <a:gd name="connsiteX29" fmla="*/ 391419 w 533400"/>
                  <a:gd name="connsiteY29" fmla="*/ 198646 h 400050"/>
                  <a:gd name="connsiteX30" fmla="*/ 95858 w 533400"/>
                  <a:gd name="connsiteY30" fmla="*/ 57771 h 400050"/>
                  <a:gd name="connsiteX31" fmla="*/ 57758 w 533400"/>
                  <a:gd name="connsiteY31" fmla="*/ 95871 h 400050"/>
                  <a:gd name="connsiteX32" fmla="*/ 95858 w 533400"/>
                  <a:gd name="connsiteY32" fmla="*/ 133971 h 400050"/>
                  <a:gd name="connsiteX33" fmla="*/ 133958 w 533400"/>
                  <a:gd name="connsiteY33" fmla="*/ 95871 h 400050"/>
                  <a:gd name="connsiteX34" fmla="*/ 95858 w 533400"/>
                  <a:gd name="connsiteY34" fmla="*/ 57771 h 400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533400" h="400050">
                    <a:moveTo>
                      <a:pt x="505433" y="621"/>
                    </a:moveTo>
                    <a:cubicBezTo>
                      <a:pt x="521245" y="621"/>
                      <a:pt x="534008" y="13385"/>
                      <a:pt x="534008" y="29196"/>
                    </a:cubicBezTo>
                    <a:lnTo>
                      <a:pt x="534008" y="372096"/>
                    </a:lnTo>
                    <a:cubicBezTo>
                      <a:pt x="534008" y="387907"/>
                      <a:pt x="521245" y="400671"/>
                      <a:pt x="505433" y="400671"/>
                    </a:cubicBezTo>
                    <a:lnTo>
                      <a:pt x="29183" y="400671"/>
                    </a:lnTo>
                    <a:cubicBezTo>
                      <a:pt x="13371" y="400671"/>
                      <a:pt x="608" y="387907"/>
                      <a:pt x="608" y="372096"/>
                    </a:cubicBezTo>
                    <a:lnTo>
                      <a:pt x="608" y="29196"/>
                    </a:lnTo>
                    <a:cubicBezTo>
                      <a:pt x="608" y="13385"/>
                      <a:pt x="13371" y="621"/>
                      <a:pt x="29183" y="621"/>
                    </a:cubicBezTo>
                    <a:lnTo>
                      <a:pt x="505433" y="621"/>
                    </a:lnTo>
                    <a:close/>
                    <a:moveTo>
                      <a:pt x="391419" y="198646"/>
                    </a:moveTo>
                    <a:cubicBezTo>
                      <a:pt x="378846" y="189121"/>
                      <a:pt x="360939" y="191597"/>
                      <a:pt x="351414" y="204170"/>
                    </a:cubicBezTo>
                    <a:lnTo>
                      <a:pt x="351414" y="204170"/>
                    </a:lnTo>
                    <a:lnTo>
                      <a:pt x="267118" y="315613"/>
                    </a:lnTo>
                    <a:cubicBezTo>
                      <a:pt x="266355" y="316660"/>
                      <a:pt x="265498" y="317518"/>
                      <a:pt x="264641" y="318470"/>
                    </a:cubicBezTo>
                    <a:cubicBezTo>
                      <a:pt x="253592" y="329710"/>
                      <a:pt x="235495" y="329805"/>
                      <a:pt x="224255" y="318756"/>
                    </a:cubicBezTo>
                    <a:lnTo>
                      <a:pt x="224255" y="318756"/>
                    </a:lnTo>
                    <a:lnTo>
                      <a:pt x="162152" y="257415"/>
                    </a:lnTo>
                    <a:cubicBezTo>
                      <a:pt x="161485" y="256844"/>
                      <a:pt x="160914" y="256177"/>
                      <a:pt x="160247" y="255701"/>
                    </a:cubicBezTo>
                    <a:cubicBezTo>
                      <a:pt x="148055" y="245699"/>
                      <a:pt x="130053" y="247414"/>
                      <a:pt x="120052" y="259606"/>
                    </a:cubicBezTo>
                    <a:lnTo>
                      <a:pt x="120052" y="259606"/>
                    </a:lnTo>
                    <a:lnTo>
                      <a:pt x="32517" y="366095"/>
                    </a:lnTo>
                    <a:cubicBezTo>
                      <a:pt x="31088" y="367810"/>
                      <a:pt x="30326" y="369905"/>
                      <a:pt x="30326" y="372096"/>
                    </a:cubicBezTo>
                    <a:cubicBezTo>
                      <a:pt x="30326" y="377335"/>
                      <a:pt x="34612" y="381621"/>
                      <a:pt x="39851" y="381621"/>
                    </a:cubicBezTo>
                    <a:lnTo>
                      <a:pt x="39851" y="381621"/>
                    </a:lnTo>
                    <a:lnTo>
                      <a:pt x="497242" y="381621"/>
                    </a:lnTo>
                    <a:cubicBezTo>
                      <a:pt x="499146" y="381621"/>
                      <a:pt x="500956" y="381050"/>
                      <a:pt x="502480" y="380002"/>
                    </a:cubicBezTo>
                    <a:cubicBezTo>
                      <a:pt x="506862" y="377049"/>
                      <a:pt x="508005" y="371144"/>
                      <a:pt x="505147" y="366762"/>
                    </a:cubicBezTo>
                    <a:lnTo>
                      <a:pt x="505147" y="366762"/>
                    </a:lnTo>
                    <a:lnTo>
                      <a:pt x="397991" y="205504"/>
                    </a:lnTo>
                    <a:cubicBezTo>
                      <a:pt x="396181" y="202932"/>
                      <a:pt x="393990" y="200551"/>
                      <a:pt x="391419" y="198646"/>
                    </a:cubicBezTo>
                    <a:close/>
                    <a:moveTo>
                      <a:pt x="95858" y="57771"/>
                    </a:moveTo>
                    <a:cubicBezTo>
                      <a:pt x="74808" y="57771"/>
                      <a:pt x="57758" y="74821"/>
                      <a:pt x="57758" y="95871"/>
                    </a:cubicBezTo>
                    <a:cubicBezTo>
                      <a:pt x="57758" y="116921"/>
                      <a:pt x="74808" y="133971"/>
                      <a:pt x="95858" y="133971"/>
                    </a:cubicBezTo>
                    <a:cubicBezTo>
                      <a:pt x="116908" y="133971"/>
                      <a:pt x="133958" y="116921"/>
                      <a:pt x="133958" y="95871"/>
                    </a:cubicBezTo>
                    <a:cubicBezTo>
                      <a:pt x="133958" y="74821"/>
                      <a:pt x="116908" y="57771"/>
                      <a:pt x="95858" y="5777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7364DAC-B3D2-48C6-AEFA-9F5D5D6C5D8C}"/>
                </a:ext>
              </a:extLst>
            </p:cNvPr>
            <p:cNvGrpSpPr/>
            <p:nvPr/>
          </p:nvGrpSpPr>
          <p:grpSpPr>
            <a:xfrm>
              <a:off x="6306037" y="2796978"/>
              <a:ext cx="444222" cy="444220"/>
              <a:chOff x="7078395" y="2794007"/>
              <a:chExt cx="444222" cy="444220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1E6A33D8-EE98-4316-B457-A00FF969316F}"/>
                  </a:ext>
                </a:extLst>
              </p:cNvPr>
              <p:cNvSpPr/>
              <p:nvPr/>
            </p:nvSpPr>
            <p:spPr>
              <a:xfrm>
                <a:off x="7078395" y="2794007"/>
                <a:ext cx="444222" cy="444220"/>
              </a:xfrm>
              <a:prstGeom prst="roundRect">
                <a:avLst/>
              </a:pr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29458B2-BC38-4C56-A2B0-03DE716BDF40}"/>
                  </a:ext>
                </a:extLst>
              </p:cNvPr>
              <p:cNvSpPr/>
              <p:nvPr/>
            </p:nvSpPr>
            <p:spPr bwMode="auto">
              <a:xfrm>
                <a:off x="7206741" y="2913337"/>
                <a:ext cx="187529" cy="205561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3827 w 495300"/>
                  <a:gd name="connsiteY2" fmla="*/ 484396 h 542925"/>
                  <a:gd name="connsiteX3" fmla="*/ 346973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567 w 495300"/>
                  <a:gd name="connsiteY8" fmla="*/ 524496 h 542925"/>
                  <a:gd name="connsiteX9" fmla="*/ 173713 w 495300"/>
                  <a:gd name="connsiteY9" fmla="*/ 484396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763 w 495300"/>
                  <a:gd name="connsiteY12" fmla="*/ 489539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777 w 495300"/>
                  <a:gd name="connsiteY15" fmla="*/ 489539 h 542925"/>
                  <a:gd name="connsiteX16" fmla="*/ 248770 w 495300"/>
                  <a:gd name="connsiteY16" fmla="*/ 495921 h 542925"/>
                  <a:gd name="connsiteX17" fmla="*/ 192763 w 495300"/>
                  <a:gd name="connsiteY17" fmla="*/ 489539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549" y="621"/>
                      <a:pt x="496420" y="111492"/>
                      <a:pt x="496420" y="248271"/>
                    </a:cubicBezTo>
                    <a:cubicBezTo>
                      <a:pt x="496420" y="358856"/>
                      <a:pt x="423935" y="452582"/>
                      <a:pt x="323827" y="484396"/>
                    </a:cubicBezTo>
                    <a:lnTo>
                      <a:pt x="346973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567" y="524496"/>
                    </a:lnTo>
                    <a:lnTo>
                      <a:pt x="173713" y="484396"/>
                    </a:lnTo>
                    <a:cubicBezTo>
                      <a:pt x="73605" y="452582"/>
                      <a:pt x="1120" y="358856"/>
                      <a:pt x="1120" y="248271"/>
                    </a:cubicBezTo>
                    <a:cubicBezTo>
                      <a:pt x="1120" y="111492"/>
                      <a:pt x="111991" y="621"/>
                      <a:pt x="248770" y="621"/>
                    </a:cubicBezTo>
                    <a:close/>
                    <a:moveTo>
                      <a:pt x="192763" y="489539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777" y="489539"/>
                    </a:lnTo>
                    <a:cubicBezTo>
                      <a:pt x="286775" y="493730"/>
                      <a:pt x="268010" y="495921"/>
                      <a:pt x="248770" y="495921"/>
                    </a:cubicBezTo>
                    <a:cubicBezTo>
                      <a:pt x="229530" y="495921"/>
                      <a:pt x="210765" y="493730"/>
                      <a:pt x="192763" y="489539"/>
                    </a:cubicBezTo>
                    <a:close/>
                    <a:moveTo>
                      <a:pt x="248770" y="143496"/>
                    </a:moveTo>
                    <a:cubicBezTo>
                      <a:pt x="190858" y="143496"/>
                      <a:pt x="143995" y="190359"/>
                      <a:pt x="143995" y="248271"/>
                    </a:cubicBezTo>
                    <a:cubicBezTo>
                      <a:pt x="143995" y="306183"/>
                      <a:pt x="190858" y="353046"/>
                      <a:pt x="248770" y="353046"/>
                    </a:cubicBezTo>
                    <a:cubicBezTo>
                      <a:pt x="306682" y="353046"/>
                      <a:pt x="353545" y="306183"/>
                      <a:pt x="353545" y="248271"/>
                    </a:cubicBezTo>
                    <a:cubicBezTo>
                      <a:pt x="353545" y="190359"/>
                      <a:pt x="306682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59927" y="114921"/>
                      <a:pt x="353545" y="121303"/>
                      <a:pt x="353545" y="129209"/>
                    </a:cubicBezTo>
                    <a:cubicBezTo>
                      <a:pt x="353545" y="137114"/>
                      <a:pt x="359927" y="143496"/>
                      <a:pt x="367833" y="143496"/>
                    </a:cubicBezTo>
                    <a:cubicBezTo>
                      <a:pt x="375738" y="143496"/>
                      <a:pt x="382120" y="137114"/>
                      <a:pt x="382120" y="129209"/>
                    </a:cubicBezTo>
                    <a:cubicBezTo>
                      <a:pt x="382120" y="121303"/>
                      <a:pt x="375738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</p:grpSp>
      </p:grpSp>
      <p:sp>
        <p:nvSpPr>
          <p:cNvPr id="23" name="Title 2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差异化小结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01210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5C22BEE-8E30-C4FE-E94C-D43BFC4DF754}"/>
              </a:ext>
            </a:extLst>
          </p:cNvPr>
          <p:cNvGrpSpPr/>
          <p:nvPr/>
        </p:nvGrpSpPr>
        <p:grpSpPr>
          <a:xfrm>
            <a:off x="660399" y="1191855"/>
            <a:ext cx="10858501" cy="4694108"/>
            <a:chOff x="660399" y="1191855"/>
            <a:chExt cx="10858501" cy="469410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9BA3772-C311-114B-DA3D-39E10655F880}"/>
                </a:ext>
              </a:extLst>
            </p:cNvPr>
            <p:cNvGrpSpPr/>
            <p:nvPr/>
          </p:nvGrpSpPr>
          <p:grpSpPr>
            <a:xfrm>
              <a:off x="660400" y="3126356"/>
              <a:ext cx="10858500" cy="2759607"/>
              <a:chOff x="660400" y="2783456"/>
              <a:chExt cx="10858500" cy="275960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87E0FA75-431B-0CA8-34DF-B5878C219057}"/>
                  </a:ext>
                </a:extLst>
              </p:cNvPr>
              <p:cNvGrpSpPr/>
              <p:nvPr/>
            </p:nvGrpSpPr>
            <p:grpSpPr>
              <a:xfrm>
                <a:off x="660400" y="2783456"/>
                <a:ext cx="3279382" cy="2759607"/>
                <a:chOff x="660400" y="2783456"/>
                <a:chExt cx="3279382" cy="2759607"/>
              </a:xfrm>
            </p:grpSpPr>
            <p:sp>
              <p:nvSpPr>
                <p:cNvPr id="3" name="Freeform: Shape 2">
                  <a:extLst>
                    <a:ext uri="{FF2B5EF4-FFF2-40B4-BE49-F238E27FC236}">
                      <a16:creationId xmlns:a16="http://schemas.microsoft.com/office/drawing/2014/main" id="{2D85C642-10FD-E4C5-CD30-CBE2E5FD91E3}"/>
                    </a:ext>
                  </a:extLst>
                </p:cNvPr>
                <p:cNvSpPr/>
                <p:nvPr/>
              </p:nvSpPr>
              <p:spPr bwMode="auto">
                <a:xfrm>
                  <a:off x="660400" y="3237021"/>
                  <a:ext cx="3279382" cy="2306042"/>
                </a:xfrm>
                <a:custGeom>
                  <a:avLst/>
                  <a:gdLst>
                    <a:gd name="connsiteX0" fmla="*/ 0 w 3279382"/>
                    <a:gd name="connsiteY0" fmla="*/ 0 h 779926"/>
                    <a:gd name="connsiteX1" fmla="*/ 3035615 w 3279382"/>
                    <a:gd name="connsiteY1" fmla="*/ 0 h 779926"/>
                    <a:gd name="connsiteX2" fmla="*/ 3279382 w 3279382"/>
                    <a:gd name="connsiteY2" fmla="*/ 388463 h 779926"/>
                    <a:gd name="connsiteX3" fmla="*/ 3035615 w 3279382"/>
                    <a:gd name="connsiteY3" fmla="*/ 779926 h 779926"/>
                    <a:gd name="connsiteX4" fmla="*/ 0 w 3279382"/>
                    <a:gd name="connsiteY4" fmla="*/ 779926 h 779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9382" h="779926">
                      <a:moveTo>
                        <a:pt x="0" y="0"/>
                      </a:moveTo>
                      <a:lnTo>
                        <a:pt x="3035615" y="0"/>
                      </a:lnTo>
                      <a:lnTo>
                        <a:pt x="3279382" y="388463"/>
                      </a:lnTo>
                      <a:lnTo>
                        <a:pt x="3035615" y="779926"/>
                      </a:lnTo>
                      <a:lnTo>
                        <a:pt x="0" y="779926"/>
                      </a:lnTo>
                      <a:close/>
                    </a:path>
                  </a:pathLst>
                </a:custGeom>
                <a:solidFill>
                  <a:schemeClr val="tx2">
                    <a:alpha val="1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/>
                </a:p>
              </p:txBody>
            </p:sp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45B80DE0-D01B-12B8-7E60-B92DD02A835A}"/>
                    </a:ext>
                  </a:extLst>
                </p:cNvPr>
                <p:cNvGrpSpPr/>
                <p:nvPr/>
              </p:nvGrpSpPr>
              <p:grpSpPr>
                <a:xfrm>
                  <a:off x="660400" y="2783456"/>
                  <a:ext cx="2560196" cy="2123009"/>
                  <a:chOff x="715963" y="3074859"/>
                  <a:chExt cx="2560196" cy="2123009"/>
                </a:xfrm>
              </p:grpSpPr>
              <p:sp>
                <p:nvSpPr>
                  <p:cNvPr id="5" name="Freeform: Shape 4">
                    <a:extLst>
                      <a:ext uri="{FF2B5EF4-FFF2-40B4-BE49-F238E27FC236}">
                        <a16:creationId xmlns:a16="http://schemas.microsoft.com/office/drawing/2014/main" id="{9A2A9692-5536-D6B9-C2DE-EF351886FFD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417491" y="3074859"/>
                    <a:ext cx="1157141" cy="925975"/>
                  </a:xfrm>
                  <a:custGeom>
                    <a:avLst/>
                    <a:gdLst>
                      <a:gd name="T0" fmla="*/ 637 w 881"/>
                      <a:gd name="T1" fmla="*/ 0 h 705"/>
                      <a:gd name="T2" fmla="*/ 0 w 881"/>
                      <a:gd name="T3" fmla="*/ 0 h 705"/>
                      <a:gd name="T4" fmla="*/ 245 w 881"/>
                      <a:gd name="T5" fmla="*/ 352 h 705"/>
                      <a:gd name="T6" fmla="*/ 0 w 881"/>
                      <a:gd name="T7" fmla="*/ 705 h 705"/>
                      <a:gd name="T8" fmla="*/ 637 w 881"/>
                      <a:gd name="T9" fmla="*/ 705 h 705"/>
                      <a:gd name="T10" fmla="*/ 881 w 881"/>
                      <a:gd name="T11" fmla="*/ 352 h 705"/>
                      <a:gd name="T12" fmla="*/ 637 w 881"/>
                      <a:gd name="T13" fmla="*/ 0 h 70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81" h="705">
                        <a:moveTo>
                          <a:pt x="637" y="0"/>
                        </a:moveTo>
                        <a:lnTo>
                          <a:pt x="0" y="0"/>
                        </a:lnTo>
                        <a:lnTo>
                          <a:pt x="245" y="352"/>
                        </a:lnTo>
                        <a:lnTo>
                          <a:pt x="0" y="705"/>
                        </a:lnTo>
                        <a:lnTo>
                          <a:pt x="637" y="705"/>
                        </a:lnTo>
                        <a:lnTo>
                          <a:pt x="881" y="352"/>
                        </a:lnTo>
                        <a:lnTo>
                          <a:pt x="637" y="0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zh-CN" altLang="en-US" dirty="0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60D7D280-1086-7B3F-E5DC-B3D48E648303}"/>
                      </a:ext>
                    </a:extLst>
                  </p:cNvPr>
                  <p:cNvSpPr/>
                  <p:nvPr/>
                </p:nvSpPr>
                <p:spPr>
                  <a:xfrm>
                    <a:off x="996419" y="4249234"/>
                    <a:ext cx="1999285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>
                      <a:lnSpc>
                        <a:spcPct val="100000"/>
                      </a:lnSpc>
                    </a:pPr>
                    <a:r>
                      <a:rPr kumimoji="1" lang="zh-CN" altLang="en-US" sz="1600" b="1" dirty="0">
                        <a:solidFill>
                          <a:schemeClr val="tx1"/>
                        </a:solidFill>
                      </a:rPr>
                      <a:t>就近供给密度</a:t>
                    </a:r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29188F35-A1DA-F025-73C3-EF993142A62F}"/>
                      </a:ext>
                    </a:extLst>
                  </p:cNvPr>
                  <p:cNvSpPr/>
                  <p:nvPr/>
                </p:nvSpPr>
                <p:spPr>
                  <a:xfrm>
                    <a:off x="715963" y="4681445"/>
                    <a:ext cx="2560196" cy="51642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>
                      <a:lnSpc>
                        <a:spcPct val="120000"/>
                      </a:lnSpc>
                    </a:pPr>
                    <a:r>
                      <a:rPr kumimoji="1" lang="zh-CN" altLang="en-US" sz="1200" dirty="0">
                        <a:solidFill>
                          <a:schemeClr val="tx1"/>
                        </a:solidFill>
                      </a:rPr>
                      <a:t>先做深 5km，再做广城市。</a:t>
                    </a:r>
                    <a:endParaRPr kumimoji="1" lang="en-US" altLang="zh-CN" sz="10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9DD992-1A27-DD5C-F391-0D0AC2165931}"/>
                      </a:ext>
                    </a:extLst>
                  </p:cNvPr>
                  <p:cNvSpPr/>
                  <p:nvPr/>
                </p:nvSpPr>
                <p:spPr>
                  <a:xfrm>
                    <a:off x="1732207" y="3307014"/>
                    <a:ext cx="527709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/>
                    <a:r>
                      <a:rPr kumimoji="1" lang="en-US" altLang="zh-CN" sz="2400" b="1" dirty="0">
                        <a:solidFill>
                          <a:schemeClr val="bg1"/>
                        </a:solidFill>
                      </a:rPr>
                      <a:t>01</a:t>
                    </a:r>
                  </a:p>
                </p:txBody>
              </p:sp>
            </p:grp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06A1926E-CCA5-6034-6108-7778F3966EFA}"/>
                  </a:ext>
                </a:extLst>
              </p:cNvPr>
              <p:cNvGrpSpPr/>
              <p:nvPr/>
            </p:nvGrpSpPr>
            <p:grpSpPr>
              <a:xfrm>
                <a:off x="4456309" y="2783456"/>
                <a:ext cx="3279382" cy="2759607"/>
                <a:chOff x="4456309" y="2783456"/>
                <a:chExt cx="3279382" cy="2759607"/>
              </a:xfrm>
            </p:grpSpPr>
            <p:sp>
              <p:nvSpPr>
                <p:cNvPr id="10" name="Freeform: Shape 9">
                  <a:extLst>
                    <a:ext uri="{FF2B5EF4-FFF2-40B4-BE49-F238E27FC236}">
                      <a16:creationId xmlns:a16="http://schemas.microsoft.com/office/drawing/2014/main" id="{68780F1D-B5B1-5EBE-065B-AF95C954DE9B}"/>
                    </a:ext>
                  </a:extLst>
                </p:cNvPr>
                <p:cNvSpPr/>
                <p:nvPr/>
              </p:nvSpPr>
              <p:spPr bwMode="auto">
                <a:xfrm>
                  <a:off x="4456309" y="3237021"/>
                  <a:ext cx="3279382" cy="2306042"/>
                </a:xfrm>
                <a:custGeom>
                  <a:avLst/>
                  <a:gdLst>
                    <a:gd name="connsiteX0" fmla="*/ 0 w 3279382"/>
                    <a:gd name="connsiteY0" fmla="*/ 0 h 779926"/>
                    <a:gd name="connsiteX1" fmla="*/ 3035615 w 3279382"/>
                    <a:gd name="connsiteY1" fmla="*/ 0 h 779926"/>
                    <a:gd name="connsiteX2" fmla="*/ 3279382 w 3279382"/>
                    <a:gd name="connsiteY2" fmla="*/ 388463 h 779926"/>
                    <a:gd name="connsiteX3" fmla="*/ 3035615 w 3279382"/>
                    <a:gd name="connsiteY3" fmla="*/ 779926 h 779926"/>
                    <a:gd name="connsiteX4" fmla="*/ 0 w 3279382"/>
                    <a:gd name="connsiteY4" fmla="*/ 779926 h 779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9382" h="779926">
                      <a:moveTo>
                        <a:pt x="0" y="0"/>
                      </a:moveTo>
                      <a:lnTo>
                        <a:pt x="3035615" y="0"/>
                      </a:lnTo>
                      <a:lnTo>
                        <a:pt x="3279382" y="388463"/>
                      </a:lnTo>
                      <a:lnTo>
                        <a:pt x="3035615" y="779926"/>
                      </a:lnTo>
                      <a:lnTo>
                        <a:pt x="0" y="779926"/>
                      </a:lnTo>
                      <a:close/>
                    </a:path>
                  </a:pathLst>
                </a:custGeom>
                <a:solidFill>
                  <a:schemeClr val="tx2">
                    <a:alpha val="1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/>
                </a:p>
              </p:txBody>
            </p:sp>
            <p:grpSp>
              <p:nvGrpSpPr>
                <p:cNvPr id="11" name="Group 10">
                  <a:extLst>
                    <a:ext uri="{FF2B5EF4-FFF2-40B4-BE49-F238E27FC236}">
                      <a16:creationId xmlns:a16="http://schemas.microsoft.com/office/drawing/2014/main" id="{8CB88BB3-BF62-908B-4AF3-DA8ED75A5011}"/>
                    </a:ext>
                  </a:extLst>
                </p:cNvPr>
                <p:cNvGrpSpPr/>
                <p:nvPr/>
              </p:nvGrpSpPr>
              <p:grpSpPr>
                <a:xfrm>
                  <a:off x="4456309" y="2783456"/>
                  <a:ext cx="2560196" cy="1901410"/>
                  <a:chOff x="715963" y="3074859"/>
                  <a:chExt cx="2560196" cy="1901410"/>
                </a:xfrm>
              </p:grpSpPr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D7C07564-4136-0898-ABC9-E6F3709A7CF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417491" y="3074859"/>
                    <a:ext cx="1157141" cy="925975"/>
                  </a:xfrm>
                  <a:custGeom>
                    <a:avLst/>
                    <a:gdLst>
                      <a:gd name="T0" fmla="*/ 637 w 881"/>
                      <a:gd name="T1" fmla="*/ 0 h 705"/>
                      <a:gd name="T2" fmla="*/ 0 w 881"/>
                      <a:gd name="T3" fmla="*/ 0 h 705"/>
                      <a:gd name="T4" fmla="*/ 245 w 881"/>
                      <a:gd name="T5" fmla="*/ 352 h 705"/>
                      <a:gd name="T6" fmla="*/ 0 w 881"/>
                      <a:gd name="T7" fmla="*/ 705 h 705"/>
                      <a:gd name="T8" fmla="*/ 637 w 881"/>
                      <a:gd name="T9" fmla="*/ 705 h 705"/>
                      <a:gd name="T10" fmla="*/ 881 w 881"/>
                      <a:gd name="T11" fmla="*/ 352 h 705"/>
                      <a:gd name="T12" fmla="*/ 637 w 881"/>
                      <a:gd name="T13" fmla="*/ 0 h 70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81" h="705">
                        <a:moveTo>
                          <a:pt x="637" y="0"/>
                        </a:moveTo>
                        <a:lnTo>
                          <a:pt x="0" y="0"/>
                        </a:lnTo>
                        <a:lnTo>
                          <a:pt x="245" y="352"/>
                        </a:lnTo>
                        <a:lnTo>
                          <a:pt x="0" y="705"/>
                        </a:lnTo>
                        <a:lnTo>
                          <a:pt x="637" y="705"/>
                        </a:lnTo>
                        <a:lnTo>
                          <a:pt x="881" y="352"/>
                        </a:lnTo>
                        <a:lnTo>
                          <a:pt x="637" y="0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zh-CN" altLang="en-US" dirty="0"/>
                  </a:p>
                </p:txBody>
              </p:sp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43EFEB5-38A5-EBCB-5EC4-9E8848FD134C}"/>
                      </a:ext>
                    </a:extLst>
                  </p:cNvPr>
                  <p:cNvSpPr/>
                  <p:nvPr/>
                </p:nvSpPr>
                <p:spPr>
                  <a:xfrm>
                    <a:off x="996419" y="4249234"/>
                    <a:ext cx="1999285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>
                      <a:lnSpc>
                        <a:spcPct val="100000"/>
                      </a:lnSpc>
                    </a:pPr>
                    <a:r>
                      <a:rPr kumimoji="1" lang="zh-CN" altLang="en-US" sz="1600" b="1" dirty="0">
                        <a:solidFill>
                          <a:schemeClr val="tx1"/>
                        </a:solidFill>
                      </a:rPr>
                      <a:t>双向数据沉淀</a:t>
                    </a:r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1845C64B-8BF1-54C3-3B48-0291F58C4D52}"/>
                      </a:ext>
                    </a:extLst>
                  </p:cNvPr>
                  <p:cNvSpPr/>
                  <p:nvPr/>
                </p:nvSpPr>
                <p:spPr>
                  <a:xfrm>
                    <a:off x="715963" y="4681445"/>
                    <a:ext cx="2560196" cy="2948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>
                      <a:lnSpc>
                        <a:spcPct val="120000"/>
                      </a:lnSpc>
                    </a:pPr>
                    <a:r>
                      <a:rPr kumimoji="1" lang="zh-CN" altLang="en-US" sz="1200" dirty="0">
                        <a:solidFill>
                          <a:schemeClr val="tx1"/>
                        </a:solidFill>
                      </a:rPr>
                      <a:t>资源与需求双向数据飞轮。</a:t>
                    </a:r>
                    <a:endParaRPr kumimoji="1" lang="en-US" altLang="zh-CN" sz="10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798253CE-DA6B-6790-7609-66983BA7E35B}"/>
                      </a:ext>
                    </a:extLst>
                  </p:cNvPr>
                  <p:cNvSpPr/>
                  <p:nvPr/>
                </p:nvSpPr>
                <p:spPr>
                  <a:xfrm>
                    <a:off x="1732207" y="3307014"/>
                    <a:ext cx="527709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/>
                    <a:r>
                      <a:rPr kumimoji="1" lang="en-US" altLang="zh-CN" sz="2400" b="1" dirty="0">
                        <a:solidFill>
                          <a:schemeClr val="bg1"/>
                        </a:solidFill>
                      </a:rPr>
                      <a:t>02</a:t>
                    </a:r>
                  </a:p>
                </p:txBody>
              </p:sp>
            </p:grp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1F7B718E-AB5D-D5F1-97A3-02CDEA0AAA8B}"/>
                  </a:ext>
                </a:extLst>
              </p:cNvPr>
              <p:cNvGrpSpPr/>
              <p:nvPr/>
            </p:nvGrpSpPr>
            <p:grpSpPr>
              <a:xfrm>
                <a:off x="8239518" y="2783456"/>
                <a:ext cx="3279382" cy="2759607"/>
                <a:chOff x="8239518" y="2783456"/>
                <a:chExt cx="3279382" cy="2759607"/>
              </a:xfrm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6186EC3C-2A37-B228-3E05-7B365D0479E1}"/>
                    </a:ext>
                  </a:extLst>
                </p:cNvPr>
                <p:cNvSpPr/>
                <p:nvPr/>
              </p:nvSpPr>
              <p:spPr bwMode="auto">
                <a:xfrm>
                  <a:off x="8239518" y="3237021"/>
                  <a:ext cx="3279382" cy="2306042"/>
                </a:xfrm>
                <a:custGeom>
                  <a:avLst/>
                  <a:gdLst>
                    <a:gd name="connsiteX0" fmla="*/ 0 w 3279382"/>
                    <a:gd name="connsiteY0" fmla="*/ 0 h 779926"/>
                    <a:gd name="connsiteX1" fmla="*/ 3035615 w 3279382"/>
                    <a:gd name="connsiteY1" fmla="*/ 0 h 779926"/>
                    <a:gd name="connsiteX2" fmla="*/ 3279382 w 3279382"/>
                    <a:gd name="connsiteY2" fmla="*/ 388463 h 779926"/>
                    <a:gd name="connsiteX3" fmla="*/ 3035615 w 3279382"/>
                    <a:gd name="connsiteY3" fmla="*/ 779926 h 779926"/>
                    <a:gd name="connsiteX4" fmla="*/ 0 w 3279382"/>
                    <a:gd name="connsiteY4" fmla="*/ 779926 h 779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9382" h="779926">
                      <a:moveTo>
                        <a:pt x="0" y="0"/>
                      </a:moveTo>
                      <a:lnTo>
                        <a:pt x="3035615" y="0"/>
                      </a:lnTo>
                      <a:lnTo>
                        <a:pt x="3279382" y="388463"/>
                      </a:lnTo>
                      <a:lnTo>
                        <a:pt x="3035615" y="779926"/>
                      </a:lnTo>
                      <a:lnTo>
                        <a:pt x="0" y="779926"/>
                      </a:lnTo>
                      <a:close/>
                    </a:path>
                  </a:pathLst>
                </a:custGeom>
                <a:solidFill>
                  <a:schemeClr val="tx2">
                    <a:alpha val="1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/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2EB67EDC-574C-6909-57AB-8C4D61B227D7}"/>
                    </a:ext>
                  </a:extLst>
                </p:cNvPr>
                <p:cNvGrpSpPr/>
                <p:nvPr/>
              </p:nvGrpSpPr>
              <p:grpSpPr>
                <a:xfrm>
                  <a:off x="8239518" y="2783456"/>
                  <a:ext cx="2560196" cy="1901410"/>
                  <a:chOff x="715963" y="3074859"/>
                  <a:chExt cx="2560196" cy="1901410"/>
                </a:xfrm>
              </p:grpSpPr>
              <p:sp>
                <p:nvSpPr>
                  <p:cNvPr id="19" name="Freeform: Shape 18">
                    <a:extLst>
                      <a:ext uri="{FF2B5EF4-FFF2-40B4-BE49-F238E27FC236}">
                        <a16:creationId xmlns:a16="http://schemas.microsoft.com/office/drawing/2014/main" id="{F5430111-85F9-A7BA-7B03-F96013E6623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417491" y="3074859"/>
                    <a:ext cx="1157141" cy="925975"/>
                  </a:xfrm>
                  <a:custGeom>
                    <a:avLst/>
                    <a:gdLst>
                      <a:gd name="T0" fmla="*/ 637 w 881"/>
                      <a:gd name="T1" fmla="*/ 0 h 705"/>
                      <a:gd name="T2" fmla="*/ 0 w 881"/>
                      <a:gd name="T3" fmla="*/ 0 h 705"/>
                      <a:gd name="T4" fmla="*/ 245 w 881"/>
                      <a:gd name="T5" fmla="*/ 352 h 705"/>
                      <a:gd name="T6" fmla="*/ 0 w 881"/>
                      <a:gd name="T7" fmla="*/ 705 h 705"/>
                      <a:gd name="T8" fmla="*/ 637 w 881"/>
                      <a:gd name="T9" fmla="*/ 705 h 705"/>
                      <a:gd name="T10" fmla="*/ 881 w 881"/>
                      <a:gd name="T11" fmla="*/ 352 h 705"/>
                      <a:gd name="T12" fmla="*/ 637 w 881"/>
                      <a:gd name="T13" fmla="*/ 0 h 70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81" h="705">
                        <a:moveTo>
                          <a:pt x="637" y="0"/>
                        </a:moveTo>
                        <a:lnTo>
                          <a:pt x="0" y="0"/>
                        </a:lnTo>
                        <a:lnTo>
                          <a:pt x="245" y="352"/>
                        </a:lnTo>
                        <a:lnTo>
                          <a:pt x="0" y="705"/>
                        </a:lnTo>
                        <a:lnTo>
                          <a:pt x="637" y="705"/>
                        </a:lnTo>
                        <a:lnTo>
                          <a:pt x="881" y="352"/>
                        </a:lnTo>
                        <a:lnTo>
                          <a:pt x="637" y="0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zh-CN" altLang="en-US" dirty="0"/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F2A9048-D5B9-4032-71D0-EF511211CE49}"/>
                      </a:ext>
                    </a:extLst>
                  </p:cNvPr>
                  <p:cNvSpPr/>
                  <p:nvPr/>
                </p:nvSpPr>
                <p:spPr>
                  <a:xfrm>
                    <a:off x="996419" y="4249234"/>
                    <a:ext cx="1999285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>
                      <a:lnSpc>
                        <a:spcPct val="100000"/>
                      </a:lnSpc>
                    </a:pPr>
                    <a:r>
                      <a:rPr kumimoji="1" lang="zh-CN" altLang="en-US" sz="1600" b="1" dirty="0">
                        <a:solidFill>
                          <a:schemeClr val="tx1"/>
                        </a:solidFill>
                      </a:rPr>
                      <a:t>本地信任资产</a:t>
                    </a:r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2C1C733B-06D4-28B3-B1AE-E428CF9B076C}"/>
                      </a:ext>
                    </a:extLst>
                  </p:cNvPr>
                  <p:cNvSpPr/>
                  <p:nvPr/>
                </p:nvSpPr>
                <p:spPr>
                  <a:xfrm>
                    <a:off x="715963" y="4681445"/>
                    <a:ext cx="2560196" cy="2948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>
                      <a:lnSpc>
                        <a:spcPct val="120000"/>
                      </a:lnSpc>
                    </a:pPr>
                    <a:r>
                      <a:rPr kumimoji="1" lang="zh-CN" altLang="en-US" sz="1200" dirty="0">
                        <a:solidFill>
                          <a:schemeClr val="tx1"/>
                        </a:solidFill>
                      </a:rPr>
                      <a:t>实名与资质认证数据积累。</a:t>
                    </a:r>
                    <a:endParaRPr kumimoji="1" lang="en-US" altLang="zh-CN" sz="10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E7CE8C9D-C085-9AF4-B462-512B0A635F05}"/>
                      </a:ext>
                    </a:extLst>
                  </p:cNvPr>
                  <p:cNvSpPr/>
                  <p:nvPr/>
                </p:nvSpPr>
                <p:spPr>
                  <a:xfrm>
                    <a:off x="1732207" y="3307014"/>
                    <a:ext cx="527709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 algn="ctr"/>
                    <a:r>
                      <a:rPr kumimoji="1" lang="en-US" altLang="zh-CN" sz="2400" b="1" dirty="0">
                        <a:solidFill>
                          <a:schemeClr val="bg1"/>
                        </a:solidFill>
                      </a:rPr>
                      <a:t>03</a:t>
                    </a:r>
                  </a:p>
                </p:txBody>
              </p:sp>
            </p:grpSp>
          </p:grp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0B11FF-3AF6-5C90-E336-591754FEE23A}"/>
                </a:ext>
              </a:extLst>
            </p:cNvPr>
            <p:cNvGrpSpPr/>
            <p:nvPr/>
          </p:nvGrpSpPr>
          <p:grpSpPr>
            <a:xfrm>
              <a:off x="660399" y="1191855"/>
              <a:ext cx="10858501" cy="777815"/>
              <a:chOff x="660399" y="1387153"/>
              <a:chExt cx="10858501" cy="777815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636879E-D277-327C-806B-984021509FB9}"/>
                  </a:ext>
                </a:extLst>
              </p:cNvPr>
              <p:cNvSpPr/>
              <p:nvPr/>
            </p:nvSpPr>
            <p:spPr>
              <a:xfrm>
                <a:off x="660400" y="1387153"/>
                <a:ext cx="10858500" cy="4616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  <a:buSzPct val="25000"/>
                </a:pPr>
                <a:r>
                  <a:rPr lang="zh-CN" altLang="en-US" sz="2400" b="1" dirty="0">
                    <a:solidFill>
                      <a:schemeClr val="tx1"/>
                    </a:solidFill>
                  </a:rPr>
                  <a:t>商业护城河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525334B-5A0A-12D8-A9B4-4E932B911172}"/>
                  </a:ext>
                </a:extLst>
              </p:cNvPr>
              <p:cNvSpPr/>
              <p:nvPr/>
            </p:nvSpPr>
            <p:spPr>
              <a:xfrm>
                <a:off x="660399" y="1870144"/>
                <a:ext cx="10858500" cy="29482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本期暂不变现，聚焦产品验证与用户增长，按顺序构建三层壁垒。</a:t>
                </a:r>
              </a:p>
            </p:txBody>
          </p:sp>
        </p:grpSp>
      </p:grpSp>
      <p:sp>
        <p:nvSpPr>
          <p:cNvPr id="32" name="Title 3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商业模式与护城河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43325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04.北极星与成功指标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/>
              <a:t>三乘积等权硬线 0.216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39261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9A7D489-026F-46C8-AD84-49E93D157431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1130300"/>
            <a:ext cx="12192000" cy="5013325"/>
            <a:chOff x="0" y="1130300"/>
            <a:chExt cx="12192000" cy="5013325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28221EBB-0697-455D-8776-29B5D07B249B}"/>
                </a:ext>
              </a:extLst>
            </p:cNvPr>
            <p:cNvSpPr/>
            <p:nvPr/>
          </p:nvSpPr>
          <p:spPr>
            <a:xfrm>
              <a:off x="0" y="3654000"/>
              <a:ext cx="12192000" cy="2489625"/>
            </a:xfrm>
            <a:prstGeom prst="roundRect">
              <a:avLst>
                <a:gd name="adj" fmla="val 750"/>
              </a:avLst>
            </a:prstGeom>
            <a:solidFill>
              <a:schemeClr val="tx1">
                <a:lumMod val="50000"/>
                <a:lumOff val="50000"/>
              </a:schemeClr>
            </a:solidFill>
          </p:spPr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lnSpc>
                  <a:spcPct val="150000"/>
                </a:lnSpc>
              </a:pPr>
              <a:endParaRPr lang="zh-CN" altLang="en-US" sz="1000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7719953-E0E0-4276-AADC-6D959C3D6A02}"/>
                </a:ext>
              </a:extLst>
            </p:cNvPr>
            <p:cNvGrpSpPr/>
            <p:nvPr/>
          </p:nvGrpSpPr>
          <p:grpSpPr>
            <a:xfrm>
              <a:off x="660400" y="4549453"/>
              <a:ext cx="3171329" cy="944997"/>
              <a:chOff x="983204" y="4549453"/>
              <a:chExt cx="2108063" cy="9449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4D60AE-06B1-4144-9288-3F7A1906A543}"/>
                  </a:ext>
                </a:extLst>
              </p:cNvPr>
              <p:cNvSpPr/>
              <p:nvPr/>
            </p:nvSpPr>
            <p:spPr bwMode="auto">
              <a:xfrm>
                <a:off x="983204" y="4937051"/>
                <a:ext cx="2108063" cy="5573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</a:rPr>
                  <a:t>5min 内被推送方点击占比，同类目 ≥20 条计分母。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90B98B8-63C4-4517-BB78-647A5093E3AF}"/>
                  </a:ext>
                </a:extLst>
              </p:cNvPr>
              <p:cNvSpPr txBox="1"/>
              <p:nvPr/>
            </p:nvSpPr>
            <p:spPr bwMode="auto">
              <a:xfrm>
                <a:off x="983204" y="4549453"/>
                <a:ext cx="2108063" cy="3875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zh-CN" altLang="en-US" sz="1600" b="1" dirty="0">
                    <a:solidFill>
                      <a:schemeClr val="bg1"/>
                    </a:solidFill>
                  </a:rPr>
                  <a:t>AI 匹配召回率</a:t>
                </a: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1E05CD-7341-4782-A1B8-FBFCEC32812B}"/>
                </a:ext>
              </a:extLst>
            </p:cNvPr>
            <p:cNvGrpSpPr/>
            <p:nvPr/>
          </p:nvGrpSpPr>
          <p:grpSpPr>
            <a:xfrm>
              <a:off x="1496699" y="2662368"/>
              <a:ext cx="1498730" cy="1652180"/>
              <a:chOff x="1286801" y="2585971"/>
              <a:chExt cx="1637331" cy="1804973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066F9C17-AEE5-4DBD-B6CF-4F985F1DBF44}"/>
                  </a:ext>
                </a:extLst>
              </p:cNvPr>
              <p:cNvSpPr/>
              <p:nvPr/>
            </p:nvSpPr>
            <p:spPr>
              <a:xfrm>
                <a:off x="1286801" y="2917055"/>
                <a:ext cx="1637331" cy="1473889"/>
              </a:xfrm>
              <a:prstGeom prst="roundRect">
                <a:avLst>
                  <a:gd name="adj" fmla="val 8050"/>
                </a:avLst>
              </a:prstGeom>
              <a:blipFill rotWithShape="0">
                <a:blip r:embed="rId3"/>
                <a:srcRect/>
                <a:stretch>
                  <a:fillRect l="-17590" r="-17590"/>
                </a:stretch>
              </a:blipFill>
              <a:ln w="38100">
                <a:solidFill>
                  <a:schemeClr val="bg1"/>
                </a:solidFill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14A44B3-C08C-42BF-B10F-6E12F99CA0C6}"/>
                  </a:ext>
                </a:extLst>
              </p:cNvPr>
              <p:cNvSpPr/>
              <p:nvPr/>
            </p:nvSpPr>
            <p:spPr bwMode="auto">
              <a:xfrm>
                <a:off x="1773505" y="2585971"/>
                <a:ext cx="663923" cy="66216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</p:spPr>
            <p:txBody>
              <a:bodyPr vert="horz" wrap="square" lIns="91440" tIns="45720" rIns="91440" bIns="45720" anchor="ctr" anchorCtr="1" compatLnSpc="1">
                <a:prstTxWarp prst="textNoShape">
                  <a:avLst/>
                </a:prstTxWarp>
                <a:normAutofit lnSpcReduction="10000"/>
              </a:bodyPr>
              <a:lstStyle/>
              <a:p>
                <a:pPr algn="ctr"/>
                <a:endParaRPr 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6828B938-07B1-4B49-BAD8-3B2461BCF8FA}"/>
                  </a:ext>
                </a:extLst>
              </p:cNvPr>
              <p:cNvSpPr/>
              <p:nvPr/>
            </p:nvSpPr>
            <p:spPr bwMode="auto">
              <a:xfrm>
                <a:off x="1945798" y="2763450"/>
                <a:ext cx="319336" cy="307208"/>
              </a:xfrm>
              <a:custGeom>
                <a:avLst/>
                <a:gdLst>
                  <a:gd name="connsiteX0" fmla="*/ 195114 w 608814"/>
                  <a:gd name="connsiteY0" fmla="*/ 351627 h 585693"/>
                  <a:gd name="connsiteX1" fmla="*/ 258290 w 608814"/>
                  <a:gd name="connsiteY1" fmla="*/ 351627 h 585693"/>
                  <a:gd name="connsiteX2" fmla="*/ 282731 w 608814"/>
                  <a:gd name="connsiteY2" fmla="*/ 376018 h 585693"/>
                  <a:gd name="connsiteX3" fmla="*/ 282731 w 608814"/>
                  <a:gd name="connsiteY3" fmla="*/ 561210 h 585693"/>
                  <a:gd name="connsiteX4" fmla="*/ 258290 w 608814"/>
                  <a:gd name="connsiteY4" fmla="*/ 585693 h 585693"/>
                  <a:gd name="connsiteX5" fmla="*/ 195114 w 608814"/>
                  <a:gd name="connsiteY5" fmla="*/ 585693 h 585693"/>
                  <a:gd name="connsiteX6" fmla="*/ 170673 w 608814"/>
                  <a:gd name="connsiteY6" fmla="*/ 561210 h 585693"/>
                  <a:gd name="connsiteX7" fmla="*/ 170673 w 608814"/>
                  <a:gd name="connsiteY7" fmla="*/ 376018 h 585693"/>
                  <a:gd name="connsiteX8" fmla="*/ 195114 w 608814"/>
                  <a:gd name="connsiteY8" fmla="*/ 351627 h 585693"/>
                  <a:gd name="connsiteX9" fmla="*/ 358100 w 608814"/>
                  <a:gd name="connsiteY9" fmla="*/ 249872 h 585693"/>
                  <a:gd name="connsiteX10" fmla="*/ 421316 w 608814"/>
                  <a:gd name="connsiteY10" fmla="*/ 249872 h 585693"/>
                  <a:gd name="connsiteX11" fmla="*/ 445737 w 608814"/>
                  <a:gd name="connsiteY11" fmla="*/ 274267 h 585693"/>
                  <a:gd name="connsiteX12" fmla="*/ 445737 w 608814"/>
                  <a:gd name="connsiteY12" fmla="*/ 561206 h 585693"/>
                  <a:gd name="connsiteX13" fmla="*/ 421316 w 608814"/>
                  <a:gd name="connsiteY13" fmla="*/ 585693 h 585693"/>
                  <a:gd name="connsiteX14" fmla="*/ 358100 w 608814"/>
                  <a:gd name="connsiteY14" fmla="*/ 585693 h 585693"/>
                  <a:gd name="connsiteX15" fmla="*/ 333679 w 608814"/>
                  <a:gd name="connsiteY15" fmla="*/ 561206 h 585693"/>
                  <a:gd name="connsiteX16" fmla="*/ 333679 w 608814"/>
                  <a:gd name="connsiteY16" fmla="*/ 274267 h 585693"/>
                  <a:gd name="connsiteX17" fmla="*/ 358100 w 608814"/>
                  <a:gd name="connsiteY17" fmla="*/ 249872 h 585693"/>
                  <a:gd name="connsiteX18" fmla="*/ 140260 w 608814"/>
                  <a:gd name="connsiteY18" fmla="*/ 224680 h 585693"/>
                  <a:gd name="connsiteX19" fmla="*/ 191844 w 608814"/>
                  <a:gd name="connsiteY19" fmla="*/ 276122 h 585693"/>
                  <a:gd name="connsiteX20" fmla="*/ 140260 w 608814"/>
                  <a:gd name="connsiteY20" fmla="*/ 327564 h 585693"/>
                  <a:gd name="connsiteX21" fmla="*/ 88676 w 608814"/>
                  <a:gd name="connsiteY21" fmla="*/ 276122 h 585693"/>
                  <a:gd name="connsiteX22" fmla="*/ 140260 w 608814"/>
                  <a:gd name="connsiteY22" fmla="*/ 224680 h 585693"/>
                  <a:gd name="connsiteX23" fmla="*/ 521177 w 608814"/>
                  <a:gd name="connsiteY23" fmla="*/ 148117 h 585693"/>
                  <a:gd name="connsiteX24" fmla="*/ 584301 w 608814"/>
                  <a:gd name="connsiteY24" fmla="*/ 148117 h 585693"/>
                  <a:gd name="connsiteX25" fmla="*/ 608814 w 608814"/>
                  <a:gd name="connsiteY25" fmla="*/ 172601 h 585693"/>
                  <a:gd name="connsiteX26" fmla="*/ 608814 w 608814"/>
                  <a:gd name="connsiteY26" fmla="*/ 561209 h 585693"/>
                  <a:gd name="connsiteX27" fmla="*/ 584301 w 608814"/>
                  <a:gd name="connsiteY27" fmla="*/ 585693 h 585693"/>
                  <a:gd name="connsiteX28" fmla="*/ 521177 w 608814"/>
                  <a:gd name="connsiteY28" fmla="*/ 585693 h 585693"/>
                  <a:gd name="connsiteX29" fmla="*/ 496756 w 608814"/>
                  <a:gd name="connsiteY29" fmla="*/ 561209 h 585693"/>
                  <a:gd name="connsiteX30" fmla="*/ 496756 w 608814"/>
                  <a:gd name="connsiteY30" fmla="*/ 172601 h 585693"/>
                  <a:gd name="connsiteX31" fmla="*/ 521177 w 608814"/>
                  <a:gd name="connsiteY31" fmla="*/ 148117 h 585693"/>
                  <a:gd name="connsiteX32" fmla="*/ 116229 w 608814"/>
                  <a:gd name="connsiteY32" fmla="*/ 131322 h 585693"/>
                  <a:gd name="connsiteX33" fmla="*/ 164246 w 608814"/>
                  <a:gd name="connsiteY33" fmla="*/ 131322 h 585693"/>
                  <a:gd name="connsiteX34" fmla="*/ 184061 w 608814"/>
                  <a:gd name="connsiteY34" fmla="*/ 151113 h 585693"/>
                  <a:gd name="connsiteX35" fmla="*/ 184061 w 608814"/>
                  <a:gd name="connsiteY35" fmla="*/ 171457 h 585693"/>
                  <a:gd name="connsiteX36" fmla="*/ 208669 w 608814"/>
                  <a:gd name="connsiteY36" fmla="*/ 186094 h 585693"/>
                  <a:gd name="connsiteX37" fmla="*/ 226641 w 608814"/>
                  <a:gd name="connsiteY37" fmla="*/ 175692 h 585693"/>
                  <a:gd name="connsiteX38" fmla="*/ 253737 w 608814"/>
                  <a:gd name="connsiteY38" fmla="*/ 182964 h 585693"/>
                  <a:gd name="connsiteX39" fmla="*/ 277792 w 608814"/>
                  <a:gd name="connsiteY39" fmla="*/ 224572 h 585693"/>
                  <a:gd name="connsiteX40" fmla="*/ 279727 w 608814"/>
                  <a:gd name="connsiteY40" fmla="*/ 239577 h 585693"/>
                  <a:gd name="connsiteX41" fmla="*/ 270511 w 608814"/>
                  <a:gd name="connsiteY41" fmla="*/ 251544 h 585693"/>
                  <a:gd name="connsiteX42" fmla="*/ 252355 w 608814"/>
                  <a:gd name="connsiteY42" fmla="*/ 262038 h 585693"/>
                  <a:gd name="connsiteX43" fmla="*/ 253829 w 608814"/>
                  <a:gd name="connsiteY43" fmla="*/ 276122 h 585693"/>
                  <a:gd name="connsiteX44" fmla="*/ 252355 w 608814"/>
                  <a:gd name="connsiteY44" fmla="*/ 290206 h 585693"/>
                  <a:gd name="connsiteX45" fmla="*/ 270511 w 608814"/>
                  <a:gd name="connsiteY45" fmla="*/ 300700 h 585693"/>
                  <a:gd name="connsiteX46" fmla="*/ 278714 w 608814"/>
                  <a:gd name="connsiteY46" fmla="*/ 325094 h 585693"/>
                  <a:gd name="connsiteX47" fmla="*/ 258253 w 608814"/>
                  <a:gd name="connsiteY47" fmla="*/ 321136 h 585693"/>
                  <a:gd name="connsiteX48" fmla="*/ 195858 w 608814"/>
                  <a:gd name="connsiteY48" fmla="*/ 321136 h 585693"/>
                  <a:gd name="connsiteX49" fmla="*/ 212171 w 608814"/>
                  <a:gd name="connsiteY49" fmla="*/ 276122 h 585693"/>
                  <a:gd name="connsiteX50" fmla="*/ 140191 w 608814"/>
                  <a:gd name="connsiteY50" fmla="*/ 204320 h 585693"/>
                  <a:gd name="connsiteX51" fmla="*/ 68304 w 608814"/>
                  <a:gd name="connsiteY51" fmla="*/ 276122 h 585693"/>
                  <a:gd name="connsiteX52" fmla="*/ 140191 w 608814"/>
                  <a:gd name="connsiteY52" fmla="*/ 348016 h 585693"/>
                  <a:gd name="connsiteX53" fmla="*/ 148486 w 608814"/>
                  <a:gd name="connsiteY53" fmla="*/ 347095 h 585693"/>
                  <a:gd name="connsiteX54" fmla="*/ 140099 w 608814"/>
                  <a:gd name="connsiteY54" fmla="*/ 376000 h 585693"/>
                  <a:gd name="connsiteX55" fmla="*/ 140099 w 608814"/>
                  <a:gd name="connsiteY55" fmla="*/ 420922 h 585693"/>
                  <a:gd name="connsiteX56" fmla="*/ 116229 w 608814"/>
                  <a:gd name="connsiteY56" fmla="*/ 420922 h 585693"/>
                  <a:gd name="connsiteX57" fmla="*/ 96413 w 608814"/>
                  <a:gd name="connsiteY57" fmla="*/ 401131 h 585693"/>
                  <a:gd name="connsiteX58" fmla="*/ 96413 w 608814"/>
                  <a:gd name="connsiteY58" fmla="*/ 380787 h 585693"/>
                  <a:gd name="connsiteX59" fmla="*/ 71806 w 608814"/>
                  <a:gd name="connsiteY59" fmla="*/ 366150 h 585693"/>
                  <a:gd name="connsiteX60" fmla="*/ 53742 w 608814"/>
                  <a:gd name="connsiteY60" fmla="*/ 376552 h 585693"/>
                  <a:gd name="connsiteX61" fmla="*/ 38719 w 608814"/>
                  <a:gd name="connsiteY61" fmla="*/ 378577 h 585693"/>
                  <a:gd name="connsiteX62" fmla="*/ 26738 w 608814"/>
                  <a:gd name="connsiteY62" fmla="*/ 369372 h 585693"/>
                  <a:gd name="connsiteX63" fmla="*/ 2683 w 608814"/>
                  <a:gd name="connsiteY63" fmla="*/ 327764 h 585693"/>
                  <a:gd name="connsiteX64" fmla="*/ 9872 w 608814"/>
                  <a:gd name="connsiteY64" fmla="*/ 300700 h 585693"/>
                  <a:gd name="connsiteX65" fmla="*/ 28120 w 608814"/>
                  <a:gd name="connsiteY65" fmla="*/ 290206 h 585693"/>
                  <a:gd name="connsiteX66" fmla="*/ 26645 w 608814"/>
                  <a:gd name="connsiteY66" fmla="*/ 276122 h 585693"/>
                  <a:gd name="connsiteX67" fmla="*/ 28120 w 608814"/>
                  <a:gd name="connsiteY67" fmla="*/ 262038 h 585693"/>
                  <a:gd name="connsiteX68" fmla="*/ 9872 w 608814"/>
                  <a:gd name="connsiteY68" fmla="*/ 251544 h 585693"/>
                  <a:gd name="connsiteX69" fmla="*/ 2683 w 608814"/>
                  <a:gd name="connsiteY69" fmla="*/ 224572 h 585693"/>
                  <a:gd name="connsiteX70" fmla="*/ 26738 w 608814"/>
                  <a:gd name="connsiteY70" fmla="*/ 182964 h 585693"/>
                  <a:gd name="connsiteX71" fmla="*/ 38719 w 608814"/>
                  <a:gd name="connsiteY71" fmla="*/ 173759 h 585693"/>
                  <a:gd name="connsiteX72" fmla="*/ 53742 w 608814"/>
                  <a:gd name="connsiteY72" fmla="*/ 175692 h 585693"/>
                  <a:gd name="connsiteX73" fmla="*/ 71806 w 608814"/>
                  <a:gd name="connsiteY73" fmla="*/ 186094 h 585693"/>
                  <a:gd name="connsiteX74" fmla="*/ 96413 w 608814"/>
                  <a:gd name="connsiteY74" fmla="*/ 171457 h 585693"/>
                  <a:gd name="connsiteX75" fmla="*/ 96413 w 608814"/>
                  <a:gd name="connsiteY75" fmla="*/ 151113 h 585693"/>
                  <a:gd name="connsiteX76" fmla="*/ 116229 w 608814"/>
                  <a:gd name="connsiteY76" fmla="*/ 131322 h 585693"/>
                  <a:gd name="connsiteX77" fmla="*/ 445756 w 608814"/>
                  <a:gd name="connsiteY77" fmla="*/ 83476 h 585693"/>
                  <a:gd name="connsiteX78" fmla="*/ 414140 w 608814"/>
                  <a:gd name="connsiteY78" fmla="*/ 115044 h 585693"/>
                  <a:gd name="connsiteX79" fmla="*/ 445756 w 608814"/>
                  <a:gd name="connsiteY79" fmla="*/ 146520 h 585693"/>
                  <a:gd name="connsiteX80" fmla="*/ 477371 w 608814"/>
                  <a:gd name="connsiteY80" fmla="*/ 115044 h 585693"/>
                  <a:gd name="connsiteX81" fmla="*/ 445756 w 608814"/>
                  <a:gd name="connsiteY81" fmla="*/ 83476 h 585693"/>
                  <a:gd name="connsiteX82" fmla="*/ 426676 w 608814"/>
                  <a:gd name="connsiteY82" fmla="*/ 0 h 585693"/>
                  <a:gd name="connsiteX83" fmla="*/ 464835 w 608814"/>
                  <a:gd name="connsiteY83" fmla="*/ 0 h 585693"/>
                  <a:gd name="connsiteX84" fmla="*/ 480597 w 608814"/>
                  <a:gd name="connsiteY84" fmla="*/ 15738 h 585693"/>
                  <a:gd name="connsiteX85" fmla="*/ 480597 w 608814"/>
                  <a:gd name="connsiteY85" fmla="*/ 31936 h 585693"/>
                  <a:gd name="connsiteX86" fmla="*/ 500138 w 608814"/>
                  <a:gd name="connsiteY86" fmla="*/ 43533 h 585693"/>
                  <a:gd name="connsiteX87" fmla="*/ 514425 w 608814"/>
                  <a:gd name="connsiteY87" fmla="*/ 35249 h 585693"/>
                  <a:gd name="connsiteX88" fmla="*/ 535901 w 608814"/>
                  <a:gd name="connsiteY88" fmla="*/ 40956 h 585693"/>
                  <a:gd name="connsiteX89" fmla="*/ 554981 w 608814"/>
                  <a:gd name="connsiteY89" fmla="*/ 73996 h 585693"/>
                  <a:gd name="connsiteX90" fmla="*/ 556640 w 608814"/>
                  <a:gd name="connsiteY90" fmla="*/ 85961 h 585693"/>
                  <a:gd name="connsiteX91" fmla="*/ 549266 w 608814"/>
                  <a:gd name="connsiteY91" fmla="*/ 95440 h 585693"/>
                  <a:gd name="connsiteX92" fmla="*/ 534887 w 608814"/>
                  <a:gd name="connsiteY92" fmla="*/ 103815 h 585693"/>
                  <a:gd name="connsiteX93" fmla="*/ 535993 w 608814"/>
                  <a:gd name="connsiteY93" fmla="*/ 115044 h 585693"/>
                  <a:gd name="connsiteX94" fmla="*/ 535717 w 608814"/>
                  <a:gd name="connsiteY94" fmla="*/ 117621 h 585693"/>
                  <a:gd name="connsiteX95" fmla="*/ 521153 w 608814"/>
                  <a:gd name="connsiteY95" fmla="*/ 117621 h 585693"/>
                  <a:gd name="connsiteX96" fmla="*/ 466126 w 608814"/>
                  <a:gd name="connsiteY96" fmla="*/ 172565 h 585693"/>
                  <a:gd name="connsiteX97" fmla="*/ 466126 w 608814"/>
                  <a:gd name="connsiteY97" fmla="*/ 229719 h 585693"/>
                  <a:gd name="connsiteX98" fmla="*/ 466126 w 608814"/>
                  <a:gd name="connsiteY98" fmla="*/ 242604 h 585693"/>
                  <a:gd name="connsiteX99" fmla="*/ 453590 w 608814"/>
                  <a:gd name="connsiteY99" fmla="*/ 229995 h 585693"/>
                  <a:gd name="connsiteX100" fmla="*/ 421330 w 608814"/>
                  <a:gd name="connsiteY100" fmla="*/ 219319 h 585693"/>
                  <a:gd name="connsiteX101" fmla="*/ 411928 w 608814"/>
                  <a:gd name="connsiteY101" fmla="*/ 219319 h 585693"/>
                  <a:gd name="connsiteX102" fmla="*/ 410914 w 608814"/>
                  <a:gd name="connsiteY102" fmla="*/ 214257 h 585693"/>
                  <a:gd name="connsiteX103" fmla="*/ 410914 w 608814"/>
                  <a:gd name="connsiteY103" fmla="*/ 198059 h 585693"/>
                  <a:gd name="connsiteX104" fmla="*/ 391373 w 608814"/>
                  <a:gd name="connsiteY104" fmla="*/ 186463 h 585693"/>
                  <a:gd name="connsiteX105" fmla="*/ 377086 w 608814"/>
                  <a:gd name="connsiteY105" fmla="*/ 194746 h 585693"/>
                  <a:gd name="connsiteX106" fmla="*/ 365104 w 608814"/>
                  <a:gd name="connsiteY106" fmla="*/ 196310 h 585693"/>
                  <a:gd name="connsiteX107" fmla="*/ 355610 w 608814"/>
                  <a:gd name="connsiteY107" fmla="*/ 189040 h 585693"/>
                  <a:gd name="connsiteX108" fmla="*/ 336530 w 608814"/>
                  <a:gd name="connsiteY108" fmla="*/ 155999 h 585693"/>
                  <a:gd name="connsiteX109" fmla="*/ 342245 w 608814"/>
                  <a:gd name="connsiteY109" fmla="*/ 134463 h 585693"/>
                  <a:gd name="connsiteX110" fmla="*/ 356716 w 608814"/>
                  <a:gd name="connsiteY110" fmla="*/ 126180 h 585693"/>
                  <a:gd name="connsiteX111" fmla="*/ 355518 w 608814"/>
                  <a:gd name="connsiteY111" fmla="*/ 115044 h 585693"/>
                  <a:gd name="connsiteX112" fmla="*/ 356716 w 608814"/>
                  <a:gd name="connsiteY112" fmla="*/ 103815 h 585693"/>
                  <a:gd name="connsiteX113" fmla="*/ 342245 w 608814"/>
                  <a:gd name="connsiteY113" fmla="*/ 95440 h 585693"/>
                  <a:gd name="connsiteX114" fmla="*/ 336530 w 608814"/>
                  <a:gd name="connsiteY114" fmla="*/ 73996 h 585693"/>
                  <a:gd name="connsiteX115" fmla="*/ 355610 w 608814"/>
                  <a:gd name="connsiteY115" fmla="*/ 40956 h 585693"/>
                  <a:gd name="connsiteX116" fmla="*/ 365104 w 608814"/>
                  <a:gd name="connsiteY116" fmla="*/ 33685 h 585693"/>
                  <a:gd name="connsiteX117" fmla="*/ 377086 w 608814"/>
                  <a:gd name="connsiteY117" fmla="*/ 35249 h 585693"/>
                  <a:gd name="connsiteX118" fmla="*/ 391373 w 608814"/>
                  <a:gd name="connsiteY118" fmla="*/ 43533 h 585693"/>
                  <a:gd name="connsiteX119" fmla="*/ 410914 w 608814"/>
                  <a:gd name="connsiteY119" fmla="*/ 31936 h 585693"/>
                  <a:gd name="connsiteX120" fmla="*/ 410914 w 608814"/>
                  <a:gd name="connsiteY120" fmla="*/ 15738 h 585693"/>
                  <a:gd name="connsiteX121" fmla="*/ 426676 w 608814"/>
                  <a:gd name="connsiteY121" fmla="*/ 0 h 58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</a:cxnLst>
                <a:rect l="l" t="t" r="r" b="b"/>
                <a:pathLst>
                  <a:path w="608814" h="585693">
                    <a:moveTo>
                      <a:pt x="195114" y="351627"/>
                    </a:moveTo>
                    <a:lnTo>
                      <a:pt x="258290" y="351627"/>
                    </a:lnTo>
                    <a:cubicBezTo>
                      <a:pt x="271848" y="351627"/>
                      <a:pt x="282731" y="362580"/>
                      <a:pt x="282731" y="376018"/>
                    </a:cubicBezTo>
                    <a:lnTo>
                      <a:pt x="282731" y="561210"/>
                    </a:lnTo>
                    <a:cubicBezTo>
                      <a:pt x="282731" y="574740"/>
                      <a:pt x="271848" y="585693"/>
                      <a:pt x="258290" y="585693"/>
                    </a:cubicBezTo>
                    <a:lnTo>
                      <a:pt x="195114" y="585693"/>
                    </a:lnTo>
                    <a:cubicBezTo>
                      <a:pt x="181556" y="585693"/>
                      <a:pt x="170673" y="574740"/>
                      <a:pt x="170673" y="561210"/>
                    </a:cubicBezTo>
                    <a:lnTo>
                      <a:pt x="170673" y="376018"/>
                    </a:lnTo>
                    <a:cubicBezTo>
                      <a:pt x="170673" y="362580"/>
                      <a:pt x="181556" y="351627"/>
                      <a:pt x="195114" y="351627"/>
                    </a:cubicBezTo>
                    <a:close/>
                    <a:moveTo>
                      <a:pt x="358100" y="249872"/>
                    </a:moveTo>
                    <a:lnTo>
                      <a:pt x="421316" y="249872"/>
                    </a:lnTo>
                    <a:cubicBezTo>
                      <a:pt x="434771" y="249872"/>
                      <a:pt x="445737" y="260735"/>
                      <a:pt x="445737" y="274267"/>
                    </a:cubicBezTo>
                    <a:lnTo>
                      <a:pt x="445737" y="561206"/>
                    </a:lnTo>
                    <a:cubicBezTo>
                      <a:pt x="445737" y="574738"/>
                      <a:pt x="434771" y="585693"/>
                      <a:pt x="421316" y="585693"/>
                    </a:cubicBezTo>
                    <a:lnTo>
                      <a:pt x="358100" y="585693"/>
                    </a:lnTo>
                    <a:cubicBezTo>
                      <a:pt x="344645" y="585693"/>
                      <a:pt x="333679" y="574738"/>
                      <a:pt x="333679" y="561206"/>
                    </a:cubicBezTo>
                    <a:lnTo>
                      <a:pt x="333679" y="274267"/>
                    </a:lnTo>
                    <a:cubicBezTo>
                      <a:pt x="333679" y="260735"/>
                      <a:pt x="344645" y="249872"/>
                      <a:pt x="358100" y="249872"/>
                    </a:cubicBezTo>
                    <a:close/>
                    <a:moveTo>
                      <a:pt x="140260" y="224680"/>
                    </a:moveTo>
                    <a:cubicBezTo>
                      <a:pt x="168749" y="224680"/>
                      <a:pt x="191844" y="247711"/>
                      <a:pt x="191844" y="276122"/>
                    </a:cubicBezTo>
                    <a:cubicBezTo>
                      <a:pt x="191844" y="304533"/>
                      <a:pt x="168749" y="327564"/>
                      <a:pt x="140260" y="327564"/>
                    </a:cubicBezTo>
                    <a:cubicBezTo>
                      <a:pt x="111771" y="327564"/>
                      <a:pt x="88676" y="304533"/>
                      <a:pt x="88676" y="276122"/>
                    </a:cubicBezTo>
                    <a:cubicBezTo>
                      <a:pt x="88676" y="247711"/>
                      <a:pt x="111771" y="224680"/>
                      <a:pt x="140260" y="224680"/>
                    </a:cubicBezTo>
                    <a:close/>
                    <a:moveTo>
                      <a:pt x="521177" y="148117"/>
                    </a:moveTo>
                    <a:lnTo>
                      <a:pt x="584301" y="148117"/>
                    </a:lnTo>
                    <a:cubicBezTo>
                      <a:pt x="597848" y="148117"/>
                      <a:pt x="608814" y="159070"/>
                      <a:pt x="608814" y="172601"/>
                    </a:cubicBezTo>
                    <a:lnTo>
                      <a:pt x="608814" y="561209"/>
                    </a:lnTo>
                    <a:cubicBezTo>
                      <a:pt x="608814" y="574740"/>
                      <a:pt x="597848" y="585693"/>
                      <a:pt x="584301" y="585693"/>
                    </a:cubicBezTo>
                    <a:lnTo>
                      <a:pt x="521177" y="585693"/>
                    </a:lnTo>
                    <a:cubicBezTo>
                      <a:pt x="507722" y="585693"/>
                      <a:pt x="496756" y="574740"/>
                      <a:pt x="496756" y="561209"/>
                    </a:cubicBezTo>
                    <a:lnTo>
                      <a:pt x="496756" y="172601"/>
                    </a:lnTo>
                    <a:cubicBezTo>
                      <a:pt x="496756" y="159070"/>
                      <a:pt x="507722" y="148117"/>
                      <a:pt x="521177" y="148117"/>
                    </a:cubicBezTo>
                    <a:close/>
                    <a:moveTo>
                      <a:pt x="116229" y="131322"/>
                    </a:moveTo>
                    <a:lnTo>
                      <a:pt x="164246" y="131322"/>
                    </a:lnTo>
                    <a:cubicBezTo>
                      <a:pt x="175214" y="131322"/>
                      <a:pt x="184061" y="140159"/>
                      <a:pt x="184061" y="151113"/>
                    </a:cubicBezTo>
                    <a:lnTo>
                      <a:pt x="184061" y="171457"/>
                    </a:lnTo>
                    <a:cubicBezTo>
                      <a:pt x="193001" y="175231"/>
                      <a:pt x="201019" y="180386"/>
                      <a:pt x="208669" y="186094"/>
                    </a:cubicBezTo>
                    <a:lnTo>
                      <a:pt x="226641" y="175692"/>
                    </a:lnTo>
                    <a:cubicBezTo>
                      <a:pt x="236134" y="170261"/>
                      <a:pt x="248300" y="173482"/>
                      <a:pt x="253737" y="182964"/>
                    </a:cubicBezTo>
                    <a:lnTo>
                      <a:pt x="277792" y="224572"/>
                    </a:lnTo>
                    <a:cubicBezTo>
                      <a:pt x="280465" y="229083"/>
                      <a:pt x="281110" y="234514"/>
                      <a:pt x="279727" y="239577"/>
                    </a:cubicBezTo>
                    <a:cubicBezTo>
                      <a:pt x="278437" y="244640"/>
                      <a:pt x="275119" y="248966"/>
                      <a:pt x="270511" y="251544"/>
                    </a:cubicBezTo>
                    <a:lnTo>
                      <a:pt x="252355" y="262038"/>
                    </a:lnTo>
                    <a:cubicBezTo>
                      <a:pt x="253000" y="266733"/>
                      <a:pt x="253829" y="271335"/>
                      <a:pt x="253829" y="276122"/>
                    </a:cubicBezTo>
                    <a:cubicBezTo>
                      <a:pt x="253829" y="281001"/>
                      <a:pt x="253000" y="285604"/>
                      <a:pt x="252355" y="290206"/>
                    </a:cubicBezTo>
                    <a:lnTo>
                      <a:pt x="270511" y="300700"/>
                    </a:lnTo>
                    <a:cubicBezTo>
                      <a:pt x="279174" y="305671"/>
                      <a:pt x="282308" y="316165"/>
                      <a:pt x="278714" y="325094"/>
                    </a:cubicBezTo>
                    <a:cubicBezTo>
                      <a:pt x="272354" y="322609"/>
                      <a:pt x="265442" y="321136"/>
                      <a:pt x="258253" y="321136"/>
                    </a:cubicBezTo>
                    <a:lnTo>
                      <a:pt x="195858" y="321136"/>
                    </a:lnTo>
                    <a:cubicBezTo>
                      <a:pt x="205904" y="308709"/>
                      <a:pt x="212171" y="293244"/>
                      <a:pt x="212171" y="276122"/>
                    </a:cubicBezTo>
                    <a:cubicBezTo>
                      <a:pt x="212171" y="236539"/>
                      <a:pt x="179914" y="204320"/>
                      <a:pt x="140191" y="204320"/>
                    </a:cubicBezTo>
                    <a:cubicBezTo>
                      <a:pt x="100561" y="204320"/>
                      <a:pt x="68304" y="236539"/>
                      <a:pt x="68304" y="276122"/>
                    </a:cubicBezTo>
                    <a:cubicBezTo>
                      <a:pt x="68304" y="315797"/>
                      <a:pt x="100561" y="348016"/>
                      <a:pt x="140191" y="348016"/>
                    </a:cubicBezTo>
                    <a:cubicBezTo>
                      <a:pt x="143048" y="348016"/>
                      <a:pt x="145721" y="347463"/>
                      <a:pt x="148486" y="347095"/>
                    </a:cubicBezTo>
                    <a:cubicBezTo>
                      <a:pt x="143233" y="355564"/>
                      <a:pt x="140099" y="365414"/>
                      <a:pt x="140099" y="376000"/>
                    </a:cubicBezTo>
                    <a:lnTo>
                      <a:pt x="140099" y="420922"/>
                    </a:lnTo>
                    <a:lnTo>
                      <a:pt x="116229" y="420922"/>
                    </a:lnTo>
                    <a:cubicBezTo>
                      <a:pt x="105261" y="420922"/>
                      <a:pt x="96413" y="412085"/>
                      <a:pt x="96413" y="401131"/>
                    </a:cubicBezTo>
                    <a:lnTo>
                      <a:pt x="96413" y="380787"/>
                    </a:lnTo>
                    <a:cubicBezTo>
                      <a:pt x="87474" y="377013"/>
                      <a:pt x="79455" y="371950"/>
                      <a:pt x="71806" y="366150"/>
                    </a:cubicBezTo>
                    <a:lnTo>
                      <a:pt x="53742" y="376552"/>
                    </a:lnTo>
                    <a:cubicBezTo>
                      <a:pt x="49226" y="379222"/>
                      <a:pt x="43788" y="379866"/>
                      <a:pt x="38719" y="378577"/>
                    </a:cubicBezTo>
                    <a:cubicBezTo>
                      <a:pt x="33650" y="377197"/>
                      <a:pt x="29318" y="373883"/>
                      <a:pt x="26738" y="369372"/>
                    </a:cubicBezTo>
                    <a:lnTo>
                      <a:pt x="2683" y="327764"/>
                    </a:lnTo>
                    <a:cubicBezTo>
                      <a:pt x="-2847" y="318282"/>
                      <a:pt x="471" y="306131"/>
                      <a:pt x="9872" y="300700"/>
                    </a:cubicBezTo>
                    <a:lnTo>
                      <a:pt x="28120" y="290206"/>
                    </a:lnTo>
                    <a:cubicBezTo>
                      <a:pt x="27475" y="285604"/>
                      <a:pt x="26645" y="281001"/>
                      <a:pt x="26645" y="276122"/>
                    </a:cubicBezTo>
                    <a:cubicBezTo>
                      <a:pt x="26645" y="271335"/>
                      <a:pt x="27475" y="266733"/>
                      <a:pt x="28120" y="262038"/>
                    </a:cubicBezTo>
                    <a:lnTo>
                      <a:pt x="9872" y="251544"/>
                    </a:lnTo>
                    <a:cubicBezTo>
                      <a:pt x="471" y="246113"/>
                      <a:pt x="-2847" y="233962"/>
                      <a:pt x="2683" y="224572"/>
                    </a:cubicBezTo>
                    <a:lnTo>
                      <a:pt x="26738" y="182964"/>
                    </a:lnTo>
                    <a:cubicBezTo>
                      <a:pt x="29318" y="178361"/>
                      <a:pt x="33650" y="175139"/>
                      <a:pt x="38719" y="173759"/>
                    </a:cubicBezTo>
                    <a:cubicBezTo>
                      <a:pt x="43788" y="172378"/>
                      <a:pt x="49226" y="173114"/>
                      <a:pt x="53742" y="175692"/>
                    </a:cubicBezTo>
                    <a:lnTo>
                      <a:pt x="71806" y="186094"/>
                    </a:lnTo>
                    <a:cubicBezTo>
                      <a:pt x="79455" y="180386"/>
                      <a:pt x="87474" y="175231"/>
                      <a:pt x="96413" y="171457"/>
                    </a:cubicBezTo>
                    <a:lnTo>
                      <a:pt x="96413" y="151113"/>
                    </a:lnTo>
                    <a:cubicBezTo>
                      <a:pt x="96413" y="140159"/>
                      <a:pt x="105261" y="131322"/>
                      <a:pt x="116229" y="131322"/>
                    </a:cubicBezTo>
                    <a:close/>
                    <a:moveTo>
                      <a:pt x="445756" y="83476"/>
                    </a:moveTo>
                    <a:cubicBezTo>
                      <a:pt x="428335" y="83476"/>
                      <a:pt x="414140" y="97557"/>
                      <a:pt x="414140" y="115044"/>
                    </a:cubicBezTo>
                    <a:cubicBezTo>
                      <a:pt x="414140" y="132438"/>
                      <a:pt x="428335" y="146520"/>
                      <a:pt x="445756" y="146520"/>
                    </a:cubicBezTo>
                    <a:cubicBezTo>
                      <a:pt x="463176" y="146520"/>
                      <a:pt x="477371" y="132438"/>
                      <a:pt x="477371" y="115044"/>
                    </a:cubicBezTo>
                    <a:cubicBezTo>
                      <a:pt x="477371" y="97557"/>
                      <a:pt x="463176" y="83476"/>
                      <a:pt x="445756" y="83476"/>
                    </a:cubicBezTo>
                    <a:close/>
                    <a:moveTo>
                      <a:pt x="426676" y="0"/>
                    </a:moveTo>
                    <a:lnTo>
                      <a:pt x="464835" y="0"/>
                    </a:lnTo>
                    <a:cubicBezTo>
                      <a:pt x="473500" y="0"/>
                      <a:pt x="480597" y="7087"/>
                      <a:pt x="480597" y="15738"/>
                    </a:cubicBezTo>
                    <a:lnTo>
                      <a:pt x="480597" y="31936"/>
                    </a:lnTo>
                    <a:cubicBezTo>
                      <a:pt x="487694" y="34881"/>
                      <a:pt x="494054" y="38931"/>
                      <a:pt x="500138" y="43533"/>
                    </a:cubicBezTo>
                    <a:lnTo>
                      <a:pt x="514425" y="35249"/>
                    </a:lnTo>
                    <a:cubicBezTo>
                      <a:pt x="521983" y="30924"/>
                      <a:pt x="531569" y="33501"/>
                      <a:pt x="535901" y="40956"/>
                    </a:cubicBezTo>
                    <a:lnTo>
                      <a:pt x="554981" y="73996"/>
                    </a:lnTo>
                    <a:cubicBezTo>
                      <a:pt x="557101" y="77585"/>
                      <a:pt x="557654" y="81911"/>
                      <a:pt x="556640" y="85961"/>
                    </a:cubicBezTo>
                    <a:cubicBezTo>
                      <a:pt x="555534" y="89918"/>
                      <a:pt x="552861" y="93415"/>
                      <a:pt x="549266" y="95440"/>
                    </a:cubicBezTo>
                    <a:lnTo>
                      <a:pt x="534887" y="103815"/>
                    </a:lnTo>
                    <a:cubicBezTo>
                      <a:pt x="535348" y="107497"/>
                      <a:pt x="535993" y="111178"/>
                      <a:pt x="535993" y="115044"/>
                    </a:cubicBezTo>
                    <a:cubicBezTo>
                      <a:pt x="535993" y="115872"/>
                      <a:pt x="535809" y="116700"/>
                      <a:pt x="535717" y="117621"/>
                    </a:cubicBezTo>
                    <a:lnTo>
                      <a:pt x="521153" y="117621"/>
                    </a:lnTo>
                    <a:cubicBezTo>
                      <a:pt x="490828" y="117621"/>
                      <a:pt x="466126" y="142286"/>
                      <a:pt x="466126" y="172565"/>
                    </a:cubicBezTo>
                    <a:lnTo>
                      <a:pt x="466126" y="229719"/>
                    </a:lnTo>
                    <a:lnTo>
                      <a:pt x="466126" y="242604"/>
                    </a:lnTo>
                    <a:cubicBezTo>
                      <a:pt x="462715" y="237726"/>
                      <a:pt x="458383" y="233493"/>
                      <a:pt x="453590" y="229995"/>
                    </a:cubicBezTo>
                    <a:cubicBezTo>
                      <a:pt x="444465" y="223369"/>
                      <a:pt x="433404" y="219319"/>
                      <a:pt x="421330" y="219319"/>
                    </a:cubicBezTo>
                    <a:lnTo>
                      <a:pt x="411928" y="219319"/>
                    </a:lnTo>
                    <a:cubicBezTo>
                      <a:pt x="411375" y="217755"/>
                      <a:pt x="410914" y="216098"/>
                      <a:pt x="410914" y="214257"/>
                    </a:cubicBezTo>
                    <a:lnTo>
                      <a:pt x="410914" y="198059"/>
                    </a:lnTo>
                    <a:cubicBezTo>
                      <a:pt x="403817" y="195114"/>
                      <a:pt x="397457" y="191064"/>
                      <a:pt x="391373" y="186463"/>
                    </a:cubicBezTo>
                    <a:lnTo>
                      <a:pt x="377086" y="194746"/>
                    </a:lnTo>
                    <a:cubicBezTo>
                      <a:pt x="373492" y="196863"/>
                      <a:pt x="369160" y="197415"/>
                      <a:pt x="365104" y="196310"/>
                    </a:cubicBezTo>
                    <a:cubicBezTo>
                      <a:pt x="361140" y="195206"/>
                      <a:pt x="357638" y="192629"/>
                      <a:pt x="355610" y="189040"/>
                    </a:cubicBezTo>
                    <a:lnTo>
                      <a:pt x="336530" y="155999"/>
                    </a:lnTo>
                    <a:cubicBezTo>
                      <a:pt x="332198" y="148452"/>
                      <a:pt x="334687" y="138881"/>
                      <a:pt x="342245" y="134463"/>
                    </a:cubicBezTo>
                    <a:lnTo>
                      <a:pt x="356716" y="126180"/>
                    </a:lnTo>
                    <a:cubicBezTo>
                      <a:pt x="356163" y="122498"/>
                      <a:pt x="355518" y="118817"/>
                      <a:pt x="355518" y="115044"/>
                    </a:cubicBezTo>
                    <a:cubicBezTo>
                      <a:pt x="355518" y="111178"/>
                      <a:pt x="356163" y="107497"/>
                      <a:pt x="356716" y="103815"/>
                    </a:cubicBezTo>
                    <a:lnTo>
                      <a:pt x="342245" y="95440"/>
                    </a:lnTo>
                    <a:cubicBezTo>
                      <a:pt x="334687" y="91115"/>
                      <a:pt x="332198" y="81543"/>
                      <a:pt x="336530" y="73996"/>
                    </a:cubicBezTo>
                    <a:lnTo>
                      <a:pt x="355610" y="40956"/>
                    </a:lnTo>
                    <a:cubicBezTo>
                      <a:pt x="357638" y="37366"/>
                      <a:pt x="361140" y="34789"/>
                      <a:pt x="365104" y="33685"/>
                    </a:cubicBezTo>
                    <a:cubicBezTo>
                      <a:pt x="369160" y="32580"/>
                      <a:pt x="373492" y="33133"/>
                      <a:pt x="377086" y="35249"/>
                    </a:cubicBezTo>
                    <a:lnTo>
                      <a:pt x="391373" y="43533"/>
                    </a:lnTo>
                    <a:cubicBezTo>
                      <a:pt x="397457" y="38931"/>
                      <a:pt x="403817" y="34881"/>
                      <a:pt x="410914" y="31936"/>
                    </a:cubicBezTo>
                    <a:lnTo>
                      <a:pt x="410914" y="15738"/>
                    </a:lnTo>
                    <a:cubicBezTo>
                      <a:pt x="410914" y="7087"/>
                      <a:pt x="418011" y="0"/>
                      <a:pt x="4266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85000" lnSpcReduction="20000"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116D814-0383-467F-8B8F-C4C555BF35CE}"/>
                </a:ext>
              </a:extLst>
            </p:cNvPr>
            <p:cNvCxnSpPr>
              <a:cxnSpLocks/>
            </p:cNvCxnSpPr>
            <p:nvPr/>
          </p:nvCxnSpPr>
          <p:spPr>
            <a:xfrm>
              <a:off x="8011443" y="4323699"/>
              <a:ext cx="0" cy="167203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F80D407-80CE-4FA7-9384-38DDFC410F0C}"/>
                </a:ext>
              </a:extLst>
            </p:cNvPr>
            <p:cNvSpPr txBox="1"/>
            <p:nvPr/>
          </p:nvSpPr>
          <p:spPr>
            <a:xfrm>
              <a:off x="673099" y="1130300"/>
              <a:ext cx="10845800" cy="5819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solidFill>
                    <a:schemeClr val="tx1"/>
                  </a:solidFill>
                </a:rPr>
                <a:t>三乘积北极星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DC521BF-BD7C-4110-8907-32071B0BB7B9}"/>
                </a:ext>
              </a:extLst>
            </p:cNvPr>
            <p:cNvSpPr txBox="1"/>
            <p:nvPr/>
          </p:nvSpPr>
          <p:spPr>
            <a:xfrm>
              <a:off x="673101" y="1712226"/>
              <a:ext cx="10845796" cy="594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北极星 = AI 匹配召回率 × 分类图层加载成功率 × 完整发布率，等权相乘 0.6×0.6×0.6 = 0.216，任一轴为 0 则整体为 0；该值为首版拍定基线，第 4 周依实测校准。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04E14E4-6ED1-430A-83A7-6BC7E4271C0A}"/>
                </a:ext>
              </a:extLst>
            </p:cNvPr>
            <p:cNvGrpSpPr/>
            <p:nvPr/>
          </p:nvGrpSpPr>
          <p:grpSpPr>
            <a:xfrm>
              <a:off x="8347571" y="4549453"/>
              <a:ext cx="3171329" cy="944997"/>
              <a:chOff x="983204" y="4549453"/>
              <a:chExt cx="2108063" cy="944997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54F30A2-8F80-402D-B05A-D1D502BF59C9}"/>
                  </a:ext>
                </a:extLst>
              </p:cNvPr>
              <p:cNvSpPr/>
              <p:nvPr/>
            </p:nvSpPr>
            <p:spPr bwMode="auto">
              <a:xfrm>
                <a:off x="983204" y="4937051"/>
                <a:ext cx="2108063" cy="5573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</a:rPr>
                  <a:t>图层切换 P95 ≤300ms，POC 通过后承诺，基线 ≥0.6。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F57E38-EA41-4CFF-8A27-381A558E1196}"/>
                  </a:ext>
                </a:extLst>
              </p:cNvPr>
              <p:cNvSpPr txBox="1"/>
              <p:nvPr/>
            </p:nvSpPr>
            <p:spPr bwMode="auto">
              <a:xfrm>
                <a:off x="983204" y="4549453"/>
                <a:ext cx="2108063" cy="3875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zh-CN" altLang="en-US" sz="1600" b="1" dirty="0">
                    <a:solidFill>
                      <a:schemeClr val="bg1"/>
                    </a:solidFill>
                  </a:rPr>
                  <a:t>图层加载成功率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6DE292B-B64A-4FE2-88EE-2FD9F9E3F041}"/>
                </a:ext>
              </a:extLst>
            </p:cNvPr>
            <p:cNvGrpSpPr/>
            <p:nvPr/>
          </p:nvGrpSpPr>
          <p:grpSpPr>
            <a:xfrm>
              <a:off x="9183870" y="2662368"/>
              <a:ext cx="1498730" cy="1652180"/>
              <a:chOff x="1286801" y="2585971"/>
              <a:chExt cx="1637331" cy="180497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747DCA6F-DB4B-4E39-8967-DC962EB84B4F}"/>
                  </a:ext>
                </a:extLst>
              </p:cNvPr>
              <p:cNvSpPr/>
              <p:nvPr/>
            </p:nvSpPr>
            <p:spPr>
              <a:xfrm>
                <a:off x="1286801" y="2917055"/>
                <a:ext cx="1637331" cy="1473889"/>
              </a:xfrm>
              <a:prstGeom prst="roundRect">
                <a:avLst>
                  <a:gd name="adj" fmla="val 8050"/>
                </a:avLst>
              </a:prstGeom>
              <a:blipFill rotWithShape="0">
                <a:blip r:embed="rId4"/>
                <a:srcRect/>
                <a:stretch>
                  <a:fillRect l="-73370" r="-73370"/>
                </a:stretch>
              </a:blipFill>
              <a:ln w="38100">
                <a:solidFill>
                  <a:schemeClr val="bg1"/>
                </a:solidFill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6B0EDCD-D554-413E-884D-68F37355F633}"/>
                  </a:ext>
                </a:extLst>
              </p:cNvPr>
              <p:cNvSpPr/>
              <p:nvPr/>
            </p:nvSpPr>
            <p:spPr bwMode="auto">
              <a:xfrm>
                <a:off x="1773505" y="2585971"/>
                <a:ext cx="663923" cy="66216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</p:spPr>
            <p:txBody>
              <a:bodyPr vert="horz" wrap="square" lIns="91440" tIns="45720" rIns="91440" bIns="45720" anchor="ctr" anchorCtr="1" compatLnSpc="1">
                <a:prstTxWarp prst="textNoShape">
                  <a:avLst/>
                </a:prstTxWarp>
                <a:normAutofit lnSpcReduction="10000"/>
              </a:bodyPr>
              <a:lstStyle/>
              <a:p>
                <a:pPr algn="ctr"/>
                <a:endParaRPr 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83B1193E-488A-4C91-9498-CD3367E54E50}"/>
                  </a:ext>
                </a:extLst>
              </p:cNvPr>
              <p:cNvSpPr/>
              <p:nvPr/>
            </p:nvSpPr>
            <p:spPr bwMode="auto">
              <a:xfrm>
                <a:off x="1945798" y="2763450"/>
                <a:ext cx="319336" cy="307208"/>
              </a:xfrm>
              <a:custGeom>
                <a:avLst/>
                <a:gdLst>
                  <a:gd name="connsiteX0" fmla="*/ 195114 w 608814"/>
                  <a:gd name="connsiteY0" fmla="*/ 351627 h 585693"/>
                  <a:gd name="connsiteX1" fmla="*/ 258290 w 608814"/>
                  <a:gd name="connsiteY1" fmla="*/ 351627 h 585693"/>
                  <a:gd name="connsiteX2" fmla="*/ 282731 w 608814"/>
                  <a:gd name="connsiteY2" fmla="*/ 376018 h 585693"/>
                  <a:gd name="connsiteX3" fmla="*/ 282731 w 608814"/>
                  <a:gd name="connsiteY3" fmla="*/ 561210 h 585693"/>
                  <a:gd name="connsiteX4" fmla="*/ 258290 w 608814"/>
                  <a:gd name="connsiteY4" fmla="*/ 585693 h 585693"/>
                  <a:gd name="connsiteX5" fmla="*/ 195114 w 608814"/>
                  <a:gd name="connsiteY5" fmla="*/ 585693 h 585693"/>
                  <a:gd name="connsiteX6" fmla="*/ 170673 w 608814"/>
                  <a:gd name="connsiteY6" fmla="*/ 561210 h 585693"/>
                  <a:gd name="connsiteX7" fmla="*/ 170673 w 608814"/>
                  <a:gd name="connsiteY7" fmla="*/ 376018 h 585693"/>
                  <a:gd name="connsiteX8" fmla="*/ 195114 w 608814"/>
                  <a:gd name="connsiteY8" fmla="*/ 351627 h 585693"/>
                  <a:gd name="connsiteX9" fmla="*/ 358100 w 608814"/>
                  <a:gd name="connsiteY9" fmla="*/ 249872 h 585693"/>
                  <a:gd name="connsiteX10" fmla="*/ 421316 w 608814"/>
                  <a:gd name="connsiteY10" fmla="*/ 249872 h 585693"/>
                  <a:gd name="connsiteX11" fmla="*/ 445737 w 608814"/>
                  <a:gd name="connsiteY11" fmla="*/ 274267 h 585693"/>
                  <a:gd name="connsiteX12" fmla="*/ 445737 w 608814"/>
                  <a:gd name="connsiteY12" fmla="*/ 561206 h 585693"/>
                  <a:gd name="connsiteX13" fmla="*/ 421316 w 608814"/>
                  <a:gd name="connsiteY13" fmla="*/ 585693 h 585693"/>
                  <a:gd name="connsiteX14" fmla="*/ 358100 w 608814"/>
                  <a:gd name="connsiteY14" fmla="*/ 585693 h 585693"/>
                  <a:gd name="connsiteX15" fmla="*/ 333679 w 608814"/>
                  <a:gd name="connsiteY15" fmla="*/ 561206 h 585693"/>
                  <a:gd name="connsiteX16" fmla="*/ 333679 w 608814"/>
                  <a:gd name="connsiteY16" fmla="*/ 274267 h 585693"/>
                  <a:gd name="connsiteX17" fmla="*/ 358100 w 608814"/>
                  <a:gd name="connsiteY17" fmla="*/ 249872 h 585693"/>
                  <a:gd name="connsiteX18" fmla="*/ 140260 w 608814"/>
                  <a:gd name="connsiteY18" fmla="*/ 224680 h 585693"/>
                  <a:gd name="connsiteX19" fmla="*/ 191844 w 608814"/>
                  <a:gd name="connsiteY19" fmla="*/ 276122 h 585693"/>
                  <a:gd name="connsiteX20" fmla="*/ 140260 w 608814"/>
                  <a:gd name="connsiteY20" fmla="*/ 327564 h 585693"/>
                  <a:gd name="connsiteX21" fmla="*/ 88676 w 608814"/>
                  <a:gd name="connsiteY21" fmla="*/ 276122 h 585693"/>
                  <a:gd name="connsiteX22" fmla="*/ 140260 w 608814"/>
                  <a:gd name="connsiteY22" fmla="*/ 224680 h 585693"/>
                  <a:gd name="connsiteX23" fmla="*/ 521177 w 608814"/>
                  <a:gd name="connsiteY23" fmla="*/ 148117 h 585693"/>
                  <a:gd name="connsiteX24" fmla="*/ 584301 w 608814"/>
                  <a:gd name="connsiteY24" fmla="*/ 148117 h 585693"/>
                  <a:gd name="connsiteX25" fmla="*/ 608814 w 608814"/>
                  <a:gd name="connsiteY25" fmla="*/ 172601 h 585693"/>
                  <a:gd name="connsiteX26" fmla="*/ 608814 w 608814"/>
                  <a:gd name="connsiteY26" fmla="*/ 561209 h 585693"/>
                  <a:gd name="connsiteX27" fmla="*/ 584301 w 608814"/>
                  <a:gd name="connsiteY27" fmla="*/ 585693 h 585693"/>
                  <a:gd name="connsiteX28" fmla="*/ 521177 w 608814"/>
                  <a:gd name="connsiteY28" fmla="*/ 585693 h 585693"/>
                  <a:gd name="connsiteX29" fmla="*/ 496756 w 608814"/>
                  <a:gd name="connsiteY29" fmla="*/ 561209 h 585693"/>
                  <a:gd name="connsiteX30" fmla="*/ 496756 w 608814"/>
                  <a:gd name="connsiteY30" fmla="*/ 172601 h 585693"/>
                  <a:gd name="connsiteX31" fmla="*/ 521177 w 608814"/>
                  <a:gd name="connsiteY31" fmla="*/ 148117 h 585693"/>
                  <a:gd name="connsiteX32" fmla="*/ 116229 w 608814"/>
                  <a:gd name="connsiteY32" fmla="*/ 131322 h 585693"/>
                  <a:gd name="connsiteX33" fmla="*/ 164246 w 608814"/>
                  <a:gd name="connsiteY33" fmla="*/ 131322 h 585693"/>
                  <a:gd name="connsiteX34" fmla="*/ 184061 w 608814"/>
                  <a:gd name="connsiteY34" fmla="*/ 151113 h 585693"/>
                  <a:gd name="connsiteX35" fmla="*/ 184061 w 608814"/>
                  <a:gd name="connsiteY35" fmla="*/ 171457 h 585693"/>
                  <a:gd name="connsiteX36" fmla="*/ 208669 w 608814"/>
                  <a:gd name="connsiteY36" fmla="*/ 186094 h 585693"/>
                  <a:gd name="connsiteX37" fmla="*/ 226641 w 608814"/>
                  <a:gd name="connsiteY37" fmla="*/ 175692 h 585693"/>
                  <a:gd name="connsiteX38" fmla="*/ 253737 w 608814"/>
                  <a:gd name="connsiteY38" fmla="*/ 182964 h 585693"/>
                  <a:gd name="connsiteX39" fmla="*/ 277792 w 608814"/>
                  <a:gd name="connsiteY39" fmla="*/ 224572 h 585693"/>
                  <a:gd name="connsiteX40" fmla="*/ 279727 w 608814"/>
                  <a:gd name="connsiteY40" fmla="*/ 239577 h 585693"/>
                  <a:gd name="connsiteX41" fmla="*/ 270511 w 608814"/>
                  <a:gd name="connsiteY41" fmla="*/ 251544 h 585693"/>
                  <a:gd name="connsiteX42" fmla="*/ 252355 w 608814"/>
                  <a:gd name="connsiteY42" fmla="*/ 262038 h 585693"/>
                  <a:gd name="connsiteX43" fmla="*/ 253829 w 608814"/>
                  <a:gd name="connsiteY43" fmla="*/ 276122 h 585693"/>
                  <a:gd name="connsiteX44" fmla="*/ 252355 w 608814"/>
                  <a:gd name="connsiteY44" fmla="*/ 290206 h 585693"/>
                  <a:gd name="connsiteX45" fmla="*/ 270511 w 608814"/>
                  <a:gd name="connsiteY45" fmla="*/ 300700 h 585693"/>
                  <a:gd name="connsiteX46" fmla="*/ 278714 w 608814"/>
                  <a:gd name="connsiteY46" fmla="*/ 325094 h 585693"/>
                  <a:gd name="connsiteX47" fmla="*/ 258253 w 608814"/>
                  <a:gd name="connsiteY47" fmla="*/ 321136 h 585693"/>
                  <a:gd name="connsiteX48" fmla="*/ 195858 w 608814"/>
                  <a:gd name="connsiteY48" fmla="*/ 321136 h 585693"/>
                  <a:gd name="connsiteX49" fmla="*/ 212171 w 608814"/>
                  <a:gd name="connsiteY49" fmla="*/ 276122 h 585693"/>
                  <a:gd name="connsiteX50" fmla="*/ 140191 w 608814"/>
                  <a:gd name="connsiteY50" fmla="*/ 204320 h 585693"/>
                  <a:gd name="connsiteX51" fmla="*/ 68304 w 608814"/>
                  <a:gd name="connsiteY51" fmla="*/ 276122 h 585693"/>
                  <a:gd name="connsiteX52" fmla="*/ 140191 w 608814"/>
                  <a:gd name="connsiteY52" fmla="*/ 348016 h 585693"/>
                  <a:gd name="connsiteX53" fmla="*/ 148486 w 608814"/>
                  <a:gd name="connsiteY53" fmla="*/ 347095 h 585693"/>
                  <a:gd name="connsiteX54" fmla="*/ 140099 w 608814"/>
                  <a:gd name="connsiteY54" fmla="*/ 376000 h 585693"/>
                  <a:gd name="connsiteX55" fmla="*/ 140099 w 608814"/>
                  <a:gd name="connsiteY55" fmla="*/ 420922 h 585693"/>
                  <a:gd name="connsiteX56" fmla="*/ 116229 w 608814"/>
                  <a:gd name="connsiteY56" fmla="*/ 420922 h 585693"/>
                  <a:gd name="connsiteX57" fmla="*/ 96413 w 608814"/>
                  <a:gd name="connsiteY57" fmla="*/ 401131 h 585693"/>
                  <a:gd name="connsiteX58" fmla="*/ 96413 w 608814"/>
                  <a:gd name="connsiteY58" fmla="*/ 380787 h 585693"/>
                  <a:gd name="connsiteX59" fmla="*/ 71806 w 608814"/>
                  <a:gd name="connsiteY59" fmla="*/ 366150 h 585693"/>
                  <a:gd name="connsiteX60" fmla="*/ 53742 w 608814"/>
                  <a:gd name="connsiteY60" fmla="*/ 376552 h 585693"/>
                  <a:gd name="connsiteX61" fmla="*/ 38719 w 608814"/>
                  <a:gd name="connsiteY61" fmla="*/ 378577 h 585693"/>
                  <a:gd name="connsiteX62" fmla="*/ 26738 w 608814"/>
                  <a:gd name="connsiteY62" fmla="*/ 369372 h 585693"/>
                  <a:gd name="connsiteX63" fmla="*/ 2683 w 608814"/>
                  <a:gd name="connsiteY63" fmla="*/ 327764 h 585693"/>
                  <a:gd name="connsiteX64" fmla="*/ 9872 w 608814"/>
                  <a:gd name="connsiteY64" fmla="*/ 300700 h 585693"/>
                  <a:gd name="connsiteX65" fmla="*/ 28120 w 608814"/>
                  <a:gd name="connsiteY65" fmla="*/ 290206 h 585693"/>
                  <a:gd name="connsiteX66" fmla="*/ 26645 w 608814"/>
                  <a:gd name="connsiteY66" fmla="*/ 276122 h 585693"/>
                  <a:gd name="connsiteX67" fmla="*/ 28120 w 608814"/>
                  <a:gd name="connsiteY67" fmla="*/ 262038 h 585693"/>
                  <a:gd name="connsiteX68" fmla="*/ 9872 w 608814"/>
                  <a:gd name="connsiteY68" fmla="*/ 251544 h 585693"/>
                  <a:gd name="connsiteX69" fmla="*/ 2683 w 608814"/>
                  <a:gd name="connsiteY69" fmla="*/ 224572 h 585693"/>
                  <a:gd name="connsiteX70" fmla="*/ 26738 w 608814"/>
                  <a:gd name="connsiteY70" fmla="*/ 182964 h 585693"/>
                  <a:gd name="connsiteX71" fmla="*/ 38719 w 608814"/>
                  <a:gd name="connsiteY71" fmla="*/ 173759 h 585693"/>
                  <a:gd name="connsiteX72" fmla="*/ 53742 w 608814"/>
                  <a:gd name="connsiteY72" fmla="*/ 175692 h 585693"/>
                  <a:gd name="connsiteX73" fmla="*/ 71806 w 608814"/>
                  <a:gd name="connsiteY73" fmla="*/ 186094 h 585693"/>
                  <a:gd name="connsiteX74" fmla="*/ 96413 w 608814"/>
                  <a:gd name="connsiteY74" fmla="*/ 171457 h 585693"/>
                  <a:gd name="connsiteX75" fmla="*/ 96413 w 608814"/>
                  <a:gd name="connsiteY75" fmla="*/ 151113 h 585693"/>
                  <a:gd name="connsiteX76" fmla="*/ 116229 w 608814"/>
                  <a:gd name="connsiteY76" fmla="*/ 131322 h 585693"/>
                  <a:gd name="connsiteX77" fmla="*/ 445756 w 608814"/>
                  <a:gd name="connsiteY77" fmla="*/ 83476 h 585693"/>
                  <a:gd name="connsiteX78" fmla="*/ 414140 w 608814"/>
                  <a:gd name="connsiteY78" fmla="*/ 115044 h 585693"/>
                  <a:gd name="connsiteX79" fmla="*/ 445756 w 608814"/>
                  <a:gd name="connsiteY79" fmla="*/ 146520 h 585693"/>
                  <a:gd name="connsiteX80" fmla="*/ 477371 w 608814"/>
                  <a:gd name="connsiteY80" fmla="*/ 115044 h 585693"/>
                  <a:gd name="connsiteX81" fmla="*/ 445756 w 608814"/>
                  <a:gd name="connsiteY81" fmla="*/ 83476 h 585693"/>
                  <a:gd name="connsiteX82" fmla="*/ 426676 w 608814"/>
                  <a:gd name="connsiteY82" fmla="*/ 0 h 585693"/>
                  <a:gd name="connsiteX83" fmla="*/ 464835 w 608814"/>
                  <a:gd name="connsiteY83" fmla="*/ 0 h 585693"/>
                  <a:gd name="connsiteX84" fmla="*/ 480597 w 608814"/>
                  <a:gd name="connsiteY84" fmla="*/ 15738 h 585693"/>
                  <a:gd name="connsiteX85" fmla="*/ 480597 w 608814"/>
                  <a:gd name="connsiteY85" fmla="*/ 31936 h 585693"/>
                  <a:gd name="connsiteX86" fmla="*/ 500138 w 608814"/>
                  <a:gd name="connsiteY86" fmla="*/ 43533 h 585693"/>
                  <a:gd name="connsiteX87" fmla="*/ 514425 w 608814"/>
                  <a:gd name="connsiteY87" fmla="*/ 35249 h 585693"/>
                  <a:gd name="connsiteX88" fmla="*/ 535901 w 608814"/>
                  <a:gd name="connsiteY88" fmla="*/ 40956 h 585693"/>
                  <a:gd name="connsiteX89" fmla="*/ 554981 w 608814"/>
                  <a:gd name="connsiteY89" fmla="*/ 73996 h 585693"/>
                  <a:gd name="connsiteX90" fmla="*/ 556640 w 608814"/>
                  <a:gd name="connsiteY90" fmla="*/ 85961 h 585693"/>
                  <a:gd name="connsiteX91" fmla="*/ 549266 w 608814"/>
                  <a:gd name="connsiteY91" fmla="*/ 95440 h 585693"/>
                  <a:gd name="connsiteX92" fmla="*/ 534887 w 608814"/>
                  <a:gd name="connsiteY92" fmla="*/ 103815 h 585693"/>
                  <a:gd name="connsiteX93" fmla="*/ 535993 w 608814"/>
                  <a:gd name="connsiteY93" fmla="*/ 115044 h 585693"/>
                  <a:gd name="connsiteX94" fmla="*/ 535717 w 608814"/>
                  <a:gd name="connsiteY94" fmla="*/ 117621 h 585693"/>
                  <a:gd name="connsiteX95" fmla="*/ 521153 w 608814"/>
                  <a:gd name="connsiteY95" fmla="*/ 117621 h 585693"/>
                  <a:gd name="connsiteX96" fmla="*/ 466126 w 608814"/>
                  <a:gd name="connsiteY96" fmla="*/ 172565 h 585693"/>
                  <a:gd name="connsiteX97" fmla="*/ 466126 w 608814"/>
                  <a:gd name="connsiteY97" fmla="*/ 229719 h 585693"/>
                  <a:gd name="connsiteX98" fmla="*/ 466126 w 608814"/>
                  <a:gd name="connsiteY98" fmla="*/ 242604 h 585693"/>
                  <a:gd name="connsiteX99" fmla="*/ 453590 w 608814"/>
                  <a:gd name="connsiteY99" fmla="*/ 229995 h 585693"/>
                  <a:gd name="connsiteX100" fmla="*/ 421330 w 608814"/>
                  <a:gd name="connsiteY100" fmla="*/ 219319 h 585693"/>
                  <a:gd name="connsiteX101" fmla="*/ 411928 w 608814"/>
                  <a:gd name="connsiteY101" fmla="*/ 219319 h 585693"/>
                  <a:gd name="connsiteX102" fmla="*/ 410914 w 608814"/>
                  <a:gd name="connsiteY102" fmla="*/ 214257 h 585693"/>
                  <a:gd name="connsiteX103" fmla="*/ 410914 w 608814"/>
                  <a:gd name="connsiteY103" fmla="*/ 198059 h 585693"/>
                  <a:gd name="connsiteX104" fmla="*/ 391373 w 608814"/>
                  <a:gd name="connsiteY104" fmla="*/ 186463 h 585693"/>
                  <a:gd name="connsiteX105" fmla="*/ 377086 w 608814"/>
                  <a:gd name="connsiteY105" fmla="*/ 194746 h 585693"/>
                  <a:gd name="connsiteX106" fmla="*/ 365104 w 608814"/>
                  <a:gd name="connsiteY106" fmla="*/ 196310 h 585693"/>
                  <a:gd name="connsiteX107" fmla="*/ 355610 w 608814"/>
                  <a:gd name="connsiteY107" fmla="*/ 189040 h 585693"/>
                  <a:gd name="connsiteX108" fmla="*/ 336530 w 608814"/>
                  <a:gd name="connsiteY108" fmla="*/ 155999 h 585693"/>
                  <a:gd name="connsiteX109" fmla="*/ 342245 w 608814"/>
                  <a:gd name="connsiteY109" fmla="*/ 134463 h 585693"/>
                  <a:gd name="connsiteX110" fmla="*/ 356716 w 608814"/>
                  <a:gd name="connsiteY110" fmla="*/ 126180 h 585693"/>
                  <a:gd name="connsiteX111" fmla="*/ 355518 w 608814"/>
                  <a:gd name="connsiteY111" fmla="*/ 115044 h 585693"/>
                  <a:gd name="connsiteX112" fmla="*/ 356716 w 608814"/>
                  <a:gd name="connsiteY112" fmla="*/ 103815 h 585693"/>
                  <a:gd name="connsiteX113" fmla="*/ 342245 w 608814"/>
                  <a:gd name="connsiteY113" fmla="*/ 95440 h 585693"/>
                  <a:gd name="connsiteX114" fmla="*/ 336530 w 608814"/>
                  <a:gd name="connsiteY114" fmla="*/ 73996 h 585693"/>
                  <a:gd name="connsiteX115" fmla="*/ 355610 w 608814"/>
                  <a:gd name="connsiteY115" fmla="*/ 40956 h 585693"/>
                  <a:gd name="connsiteX116" fmla="*/ 365104 w 608814"/>
                  <a:gd name="connsiteY116" fmla="*/ 33685 h 585693"/>
                  <a:gd name="connsiteX117" fmla="*/ 377086 w 608814"/>
                  <a:gd name="connsiteY117" fmla="*/ 35249 h 585693"/>
                  <a:gd name="connsiteX118" fmla="*/ 391373 w 608814"/>
                  <a:gd name="connsiteY118" fmla="*/ 43533 h 585693"/>
                  <a:gd name="connsiteX119" fmla="*/ 410914 w 608814"/>
                  <a:gd name="connsiteY119" fmla="*/ 31936 h 585693"/>
                  <a:gd name="connsiteX120" fmla="*/ 410914 w 608814"/>
                  <a:gd name="connsiteY120" fmla="*/ 15738 h 585693"/>
                  <a:gd name="connsiteX121" fmla="*/ 426676 w 608814"/>
                  <a:gd name="connsiteY121" fmla="*/ 0 h 58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</a:cxnLst>
                <a:rect l="l" t="t" r="r" b="b"/>
                <a:pathLst>
                  <a:path w="608814" h="585693">
                    <a:moveTo>
                      <a:pt x="195114" y="351627"/>
                    </a:moveTo>
                    <a:lnTo>
                      <a:pt x="258290" y="351627"/>
                    </a:lnTo>
                    <a:cubicBezTo>
                      <a:pt x="271848" y="351627"/>
                      <a:pt x="282731" y="362580"/>
                      <a:pt x="282731" y="376018"/>
                    </a:cubicBezTo>
                    <a:lnTo>
                      <a:pt x="282731" y="561210"/>
                    </a:lnTo>
                    <a:cubicBezTo>
                      <a:pt x="282731" y="574740"/>
                      <a:pt x="271848" y="585693"/>
                      <a:pt x="258290" y="585693"/>
                    </a:cubicBezTo>
                    <a:lnTo>
                      <a:pt x="195114" y="585693"/>
                    </a:lnTo>
                    <a:cubicBezTo>
                      <a:pt x="181556" y="585693"/>
                      <a:pt x="170673" y="574740"/>
                      <a:pt x="170673" y="561210"/>
                    </a:cubicBezTo>
                    <a:lnTo>
                      <a:pt x="170673" y="376018"/>
                    </a:lnTo>
                    <a:cubicBezTo>
                      <a:pt x="170673" y="362580"/>
                      <a:pt x="181556" y="351627"/>
                      <a:pt x="195114" y="351627"/>
                    </a:cubicBezTo>
                    <a:close/>
                    <a:moveTo>
                      <a:pt x="358100" y="249872"/>
                    </a:moveTo>
                    <a:lnTo>
                      <a:pt x="421316" y="249872"/>
                    </a:lnTo>
                    <a:cubicBezTo>
                      <a:pt x="434771" y="249872"/>
                      <a:pt x="445737" y="260735"/>
                      <a:pt x="445737" y="274267"/>
                    </a:cubicBezTo>
                    <a:lnTo>
                      <a:pt x="445737" y="561206"/>
                    </a:lnTo>
                    <a:cubicBezTo>
                      <a:pt x="445737" y="574738"/>
                      <a:pt x="434771" y="585693"/>
                      <a:pt x="421316" y="585693"/>
                    </a:cubicBezTo>
                    <a:lnTo>
                      <a:pt x="358100" y="585693"/>
                    </a:lnTo>
                    <a:cubicBezTo>
                      <a:pt x="344645" y="585693"/>
                      <a:pt x="333679" y="574738"/>
                      <a:pt x="333679" y="561206"/>
                    </a:cubicBezTo>
                    <a:lnTo>
                      <a:pt x="333679" y="274267"/>
                    </a:lnTo>
                    <a:cubicBezTo>
                      <a:pt x="333679" y="260735"/>
                      <a:pt x="344645" y="249872"/>
                      <a:pt x="358100" y="249872"/>
                    </a:cubicBezTo>
                    <a:close/>
                    <a:moveTo>
                      <a:pt x="140260" y="224680"/>
                    </a:moveTo>
                    <a:cubicBezTo>
                      <a:pt x="168749" y="224680"/>
                      <a:pt x="191844" y="247711"/>
                      <a:pt x="191844" y="276122"/>
                    </a:cubicBezTo>
                    <a:cubicBezTo>
                      <a:pt x="191844" y="304533"/>
                      <a:pt x="168749" y="327564"/>
                      <a:pt x="140260" y="327564"/>
                    </a:cubicBezTo>
                    <a:cubicBezTo>
                      <a:pt x="111771" y="327564"/>
                      <a:pt x="88676" y="304533"/>
                      <a:pt x="88676" y="276122"/>
                    </a:cubicBezTo>
                    <a:cubicBezTo>
                      <a:pt x="88676" y="247711"/>
                      <a:pt x="111771" y="224680"/>
                      <a:pt x="140260" y="224680"/>
                    </a:cubicBezTo>
                    <a:close/>
                    <a:moveTo>
                      <a:pt x="521177" y="148117"/>
                    </a:moveTo>
                    <a:lnTo>
                      <a:pt x="584301" y="148117"/>
                    </a:lnTo>
                    <a:cubicBezTo>
                      <a:pt x="597848" y="148117"/>
                      <a:pt x="608814" y="159070"/>
                      <a:pt x="608814" y="172601"/>
                    </a:cubicBezTo>
                    <a:lnTo>
                      <a:pt x="608814" y="561209"/>
                    </a:lnTo>
                    <a:cubicBezTo>
                      <a:pt x="608814" y="574740"/>
                      <a:pt x="597848" y="585693"/>
                      <a:pt x="584301" y="585693"/>
                    </a:cubicBezTo>
                    <a:lnTo>
                      <a:pt x="521177" y="585693"/>
                    </a:lnTo>
                    <a:cubicBezTo>
                      <a:pt x="507722" y="585693"/>
                      <a:pt x="496756" y="574740"/>
                      <a:pt x="496756" y="561209"/>
                    </a:cubicBezTo>
                    <a:lnTo>
                      <a:pt x="496756" y="172601"/>
                    </a:lnTo>
                    <a:cubicBezTo>
                      <a:pt x="496756" y="159070"/>
                      <a:pt x="507722" y="148117"/>
                      <a:pt x="521177" y="148117"/>
                    </a:cubicBezTo>
                    <a:close/>
                    <a:moveTo>
                      <a:pt x="116229" y="131322"/>
                    </a:moveTo>
                    <a:lnTo>
                      <a:pt x="164246" y="131322"/>
                    </a:lnTo>
                    <a:cubicBezTo>
                      <a:pt x="175214" y="131322"/>
                      <a:pt x="184061" y="140159"/>
                      <a:pt x="184061" y="151113"/>
                    </a:cubicBezTo>
                    <a:lnTo>
                      <a:pt x="184061" y="171457"/>
                    </a:lnTo>
                    <a:cubicBezTo>
                      <a:pt x="193001" y="175231"/>
                      <a:pt x="201019" y="180386"/>
                      <a:pt x="208669" y="186094"/>
                    </a:cubicBezTo>
                    <a:lnTo>
                      <a:pt x="226641" y="175692"/>
                    </a:lnTo>
                    <a:cubicBezTo>
                      <a:pt x="236134" y="170261"/>
                      <a:pt x="248300" y="173482"/>
                      <a:pt x="253737" y="182964"/>
                    </a:cubicBezTo>
                    <a:lnTo>
                      <a:pt x="277792" y="224572"/>
                    </a:lnTo>
                    <a:cubicBezTo>
                      <a:pt x="280465" y="229083"/>
                      <a:pt x="281110" y="234514"/>
                      <a:pt x="279727" y="239577"/>
                    </a:cubicBezTo>
                    <a:cubicBezTo>
                      <a:pt x="278437" y="244640"/>
                      <a:pt x="275119" y="248966"/>
                      <a:pt x="270511" y="251544"/>
                    </a:cubicBezTo>
                    <a:lnTo>
                      <a:pt x="252355" y="262038"/>
                    </a:lnTo>
                    <a:cubicBezTo>
                      <a:pt x="253000" y="266733"/>
                      <a:pt x="253829" y="271335"/>
                      <a:pt x="253829" y="276122"/>
                    </a:cubicBezTo>
                    <a:cubicBezTo>
                      <a:pt x="253829" y="281001"/>
                      <a:pt x="253000" y="285604"/>
                      <a:pt x="252355" y="290206"/>
                    </a:cubicBezTo>
                    <a:lnTo>
                      <a:pt x="270511" y="300700"/>
                    </a:lnTo>
                    <a:cubicBezTo>
                      <a:pt x="279174" y="305671"/>
                      <a:pt x="282308" y="316165"/>
                      <a:pt x="278714" y="325094"/>
                    </a:cubicBezTo>
                    <a:cubicBezTo>
                      <a:pt x="272354" y="322609"/>
                      <a:pt x="265442" y="321136"/>
                      <a:pt x="258253" y="321136"/>
                    </a:cubicBezTo>
                    <a:lnTo>
                      <a:pt x="195858" y="321136"/>
                    </a:lnTo>
                    <a:cubicBezTo>
                      <a:pt x="205904" y="308709"/>
                      <a:pt x="212171" y="293244"/>
                      <a:pt x="212171" y="276122"/>
                    </a:cubicBezTo>
                    <a:cubicBezTo>
                      <a:pt x="212171" y="236539"/>
                      <a:pt x="179914" y="204320"/>
                      <a:pt x="140191" y="204320"/>
                    </a:cubicBezTo>
                    <a:cubicBezTo>
                      <a:pt x="100561" y="204320"/>
                      <a:pt x="68304" y="236539"/>
                      <a:pt x="68304" y="276122"/>
                    </a:cubicBezTo>
                    <a:cubicBezTo>
                      <a:pt x="68304" y="315797"/>
                      <a:pt x="100561" y="348016"/>
                      <a:pt x="140191" y="348016"/>
                    </a:cubicBezTo>
                    <a:cubicBezTo>
                      <a:pt x="143048" y="348016"/>
                      <a:pt x="145721" y="347463"/>
                      <a:pt x="148486" y="347095"/>
                    </a:cubicBezTo>
                    <a:cubicBezTo>
                      <a:pt x="143233" y="355564"/>
                      <a:pt x="140099" y="365414"/>
                      <a:pt x="140099" y="376000"/>
                    </a:cubicBezTo>
                    <a:lnTo>
                      <a:pt x="140099" y="420922"/>
                    </a:lnTo>
                    <a:lnTo>
                      <a:pt x="116229" y="420922"/>
                    </a:lnTo>
                    <a:cubicBezTo>
                      <a:pt x="105261" y="420922"/>
                      <a:pt x="96413" y="412085"/>
                      <a:pt x="96413" y="401131"/>
                    </a:cubicBezTo>
                    <a:lnTo>
                      <a:pt x="96413" y="380787"/>
                    </a:lnTo>
                    <a:cubicBezTo>
                      <a:pt x="87474" y="377013"/>
                      <a:pt x="79455" y="371950"/>
                      <a:pt x="71806" y="366150"/>
                    </a:cubicBezTo>
                    <a:lnTo>
                      <a:pt x="53742" y="376552"/>
                    </a:lnTo>
                    <a:cubicBezTo>
                      <a:pt x="49226" y="379222"/>
                      <a:pt x="43788" y="379866"/>
                      <a:pt x="38719" y="378577"/>
                    </a:cubicBezTo>
                    <a:cubicBezTo>
                      <a:pt x="33650" y="377197"/>
                      <a:pt x="29318" y="373883"/>
                      <a:pt x="26738" y="369372"/>
                    </a:cubicBezTo>
                    <a:lnTo>
                      <a:pt x="2683" y="327764"/>
                    </a:lnTo>
                    <a:cubicBezTo>
                      <a:pt x="-2847" y="318282"/>
                      <a:pt x="471" y="306131"/>
                      <a:pt x="9872" y="300700"/>
                    </a:cubicBezTo>
                    <a:lnTo>
                      <a:pt x="28120" y="290206"/>
                    </a:lnTo>
                    <a:cubicBezTo>
                      <a:pt x="27475" y="285604"/>
                      <a:pt x="26645" y="281001"/>
                      <a:pt x="26645" y="276122"/>
                    </a:cubicBezTo>
                    <a:cubicBezTo>
                      <a:pt x="26645" y="271335"/>
                      <a:pt x="27475" y="266733"/>
                      <a:pt x="28120" y="262038"/>
                    </a:cubicBezTo>
                    <a:lnTo>
                      <a:pt x="9872" y="251544"/>
                    </a:lnTo>
                    <a:cubicBezTo>
                      <a:pt x="471" y="246113"/>
                      <a:pt x="-2847" y="233962"/>
                      <a:pt x="2683" y="224572"/>
                    </a:cubicBezTo>
                    <a:lnTo>
                      <a:pt x="26738" y="182964"/>
                    </a:lnTo>
                    <a:cubicBezTo>
                      <a:pt x="29318" y="178361"/>
                      <a:pt x="33650" y="175139"/>
                      <a:pt x="38719" y="173759"/>
                    </a:cubicBezTo>
                    <a:cubicBezTo>
                      <a:pt x="43788" y="172378"/>
                      <a:pt x="49226" y="173114"/>
                      <a:pt x="53742" y="175692"/>
                    </a:cubicBezTo>
                    <a:lnTo>
                      <a:pt x="71806" y="186094"/>
                    </a:lnTo>
                    <a:cubicBezTo>
                      <a:pt x="79455" y="180386"/>
                      <a:pt x="87474" y="175231"/>
                      <a:pt x="96413" y="171457"/>
                    </a:cubicBezTo>
                    <a:lnTo>
                      <a:pt x="96413" y="151113"/>
                    </a:lnTo>
                    <a:cubicBezTo>
                      <a:pt x="96413" y="140159"/>
                      <a:pt x="105261" y="131322"/>
                      <a:pt x="116229" y="131322"/>
                    </a:cubicBezTo>
                    <a:close/>
                    <a:moveTo>
                      <a:pt x="445756" y="83476"/>
                    </a:moveTo>
                    <a:cubicBezTo>
                      <a:pt x="428335" y="83476"/>
                      <a:pt x="414140" y="97557"/>
                      <a:pt x="414140" y="115044"/>
                    </a:cubicBezTo>
                    <a:cubicBezTo>
                      <a:pt x="414140" y="132438"/>
                      <a:pt x="428335" y="146520"/>
                      <a:pt x="445756" y="146520"/>
                    </a:cubicBezTo>
                    <a:cubicBezTo>
                      <a:pt x="463176" y="146520"/>
                      <a:pt x="477371" y="132438"/>
                      <a:pt x="477371" y="115044"/>
                    </a:cubicBezTo>
                    <a:cubicBezTo>
                      <a:pt x="477371" y="97557"/>
                      <a:pt x="463176" y="83476"/>
                      <a:pt x="445756" y="83476"/>
                    </a:cubicBezTo>
                    <a:close/>
                    <a:moveTo>
                      <a:pt x="426676" y="0"/>
                    </a:moveTo>
                    <a:lnTo>
                      <a:pt x="464835" y="0"/>
                    </a:lnTo>
                    <a:cubicBezTo>
                      <a:pt x="473500" y="0"/>
                      <a:pt x="480597" y="7087"/>
                      <a:pt x="480597" y="15738"/>
                    </a:cubicBezTo>
                    <a:lnTo>
                      <a:pt x="480597" y="31936"/>
                    </a:lnTo>
                    <a:cubicBezTo>
                      <a:pt x="487694" y="34881"/>
                      <a:pt x="494054" y="38931"/>
                      <a:pt x="500138" y="43533"/>
                    </a:cubicBezTo>
                    <a:lnTo>
                      <a:pt x="514425" y="35249"/>
                    </a:lnTo>
                    <a:cubicBezTo>
                      <a:pt x="521983" y="30924"/>
                      <a:pt x="531569" y="33501"/>
                      <a:pt x="535901" y="40956"/>
                    </a:cubicBezTo>
                    <a:lnTo>
                      <a:pt x="554981" y="73996"/>
                    </a:lnTo>
                    <a:cubicBezTo>
                      <a:pt x="557101" y="77585"/>
                      <a:pt x="557654" y="81911"/>
                      <a:pt x="556640" y="85961"/>
                    </a:cubicBezTo>
                    <a:cubicBezTo>
                      <a:pt x="555534" y="89918"/>
                      <a:pt x="552861" y="93415"/>
                      <a:pt x="549266" y="95440"/>
                    </a:cubicBezTo>
                    <a:lnTo>
                      <a:pt x="534887" y="103815"/>
                    </a:lnTo>
                    <a:cubicBezTo>
                      <a:pt x="535348" y="107497"/>
                      <a:pt x="535993" y="111178"/>
                      <a:pt x="535993" y="115044"/>
                    </a:cubicBezTo>
                    <a:cubicBezTo>
                      <a:pt x="535993" y="115872"/>
                      <a:pt x="535809" y="116700"/>
                      <a:pt x="535717" y="117621"/>
                    </a:cubicBezTo>
                    <a:lnTo>
                      <a:pt x="521153" y="117621"/>
                    </a:lnTo>
                    <a:cubicBezTo>
                      <a:pt x="490828" y="117621"/>
                      <a:pt x="466126" y="142286"/>
                      <a:pt x="466126" y="172565"/>
                    </a:cubicBezTo>
                    <a:lnTo>
                      <a:pt x="466126" y="229719"/>
                    </a:lnTo>
                    <a:lnTo>
                      <a:pt x="466126" y="242604"/>
                    </a:lnTo>
                    <a:cubicBezTo>
                      <a:pt x="462715" y="237726"/>
                      <a:pt x="458383" y="233493"/>
                      <a:pt x="453590" y="229995"/>
                    </a:cubicBezTo>
                    <a:cubicBezTo>
                      <a:pt x="444465" y="223369"/>
                      <a:pt x="433404" y="219319"/>
                      <a:pt x="421330" y="219319"/>
                    </a:cubicBezTo>
                    <a:lnTo>
                      <a:pt x="411928" y="219319"/>
                    </a:lnTo>
                    <a:cubicBezTo>
                      <a:pt x="411375" y="217755"/>
                      <a:pt x="410914" y="216098"/>
                      <a:pt x="410914" y="214257"/>
                    </a:cubicBezTo>
                    <a:lnTo>
                      <a:pt x="410914" y="198059"/>
                    </a:lnTo>
                    <a:cubicBezTo>
                      <a:pt x="403817" y="195114"/>
                      <a:pt x="397457" y="191064"/>
                      <a:pt x="391373" y="186463"/>
                    </a:cubicBezTo>
                    <a:lnTo>
                      <a:pt x="377086" y="194746"/>
                    </a:lnTo>
                    <a:cubicBezTo>
                      <a:pt x="373492" y="196863"/>
                      <a:pt x="369160" y="197415"/>
                      <a:pt x="365104" y="196310"/>
                    </a:cubicBezTo>
                    <a:cubicBezTo>
                      <a:pt x="361140" y="195206"/>
                      <a:pt x="357638" y="192629"/>
                      <a:pt x="355610" y="189040"/>
                    </a:cubicBezTo>
                    <a:lnTo>
                      <a:pt x="336530" y="155999"/>
                    </a:lnTo>
                    <a:cubicBezTo>
                      <a:pt x="332198" y="148452"/>
                      <a:pt x="334687" y="138881"/>
                      <a:pt x="342245" y="134463"/>
                    </a:cubicBezTo>
                    <a:lnTo>
                      <a:pt x="356716" y="126180"/>
                    </a:lnTo>
                    <a:cubicBezTo>
                      <a:pt x="356163" y="122498"/>
                      <a:pt x="355518" y="118817"/>
                      <a:pt x="355518" y="115044"/>
                    </a:cubicBezTo>
                    <a:cubicBezTo>
                      <a:pt x="355518" y="111178"/>
                      <a:pt x="356163" y="107497"/>
                      <a:pt x="356716" y="103815"/>
                    </a:cubicBezTo>
                    <a:lnTo>
                      <a:pt x="342245" y="95440"/>
                    </a:lnTo>
                    <a:cubicBezTo>
                      <a:pt x="334687" y="91115"/>
                      <a:pt x="332198" y="81543"/>
                      <a:pt x="336530" y="73996"/>
                    </a:cubicBezTo>
                    <a:lnTo>
                      <a:pt x="355610" y="40956"/>
                    </a:lnTo>
                    <a:cubicBezTo>
                      <a:pt x="357638" y="37366"/>
                      <a:pt x="361140" y="34789"/>
                      <a:pt x="365104" y="33685"/>
                    </a:cubicBezTo>
                    <a:cubicBezTo>
                      <a:pt x="369160" y="32580"/>
                      <a:pt x="373492" y="33133"/>
                      <a:pt x="377086" y="35249"/>
                    </a:cubicBezTo>
                    <a:lnTo>
                      <a:pt x="391373" y="43533"/>
                    </a:lnTo>
                    <a:cubicBezTo>
                      <a:pt x="397457" y="38931"/>
                      <a:pt x="403817" y="34881"/>
                      <a:pt x="410914" y="31936"/>
                    </a:cubicBezTo>
                    <a:lnTo>
                      <a:pt x="410914" y="15738"/>
                    </a:lnTo>
                    <a:cubicBezTo>
                      <a:pt x="410914" y="7087"/>
                      <a:pt x="418011" y="0"/>
                      <a:pt x="4266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85000" lnSpcReduction="20000"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5B57C49-966E-4216-ADAC-0C805151A906}"/>
                </a:ext>
              </a:extLst>
            </p:cNvPr>
            <p:cNvGrpSpPr/>
            <p:nvPr/>
          </p:nvGrpSpPr>
          <p:grpSpPr>
            <a:xfrm>
              <a:off x="4503986" y="4549453"/>
              <a:ext cx="3171329" cy="944997"/>
              <a:chOff x="983204" y="4549453"/>
              <a:chExt cx="2108063" cy="9449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E99A1D5-DAA7-4C93-BCBE-E0F8E146E113}"/>
                  </a:ext>
                </a:extLst>
              </p:cNvPr>
              <p:cNvSpPr/>
              <p:nvPr/>
            </p:nvSpPr>
            <p:spPr bwMode="auto">
              <a:xfrm>
                <a:off x="983204" y="4937051"/>
                <a:ext cx="2108063" cy="5573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</a:rPr>
                  <a:t>信息完整度达绿档的发布占比，基线 ≥0.6。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7D3489B-4BE1-4B6F-8603-B60C2F9CD710}"/>
                  </a:ext>
                </a:extLst>
              </p:cNvPr>
              <p:cNvSpPr txBox="1"/>
              <p:nvPr/>
            </p:nvSpPr>
            <p:spPr bwMode="auto">
              <a:xfrm>
                <a:off x="983204" y="4549453"/>
                <a:ext cx="2108063" cy="3875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zh-CN" altLang="en-US" sz="1600" b="1" dirty="0">
                    <a:solidFill>
                      <a:schemeClr val="bg1"/>
                    </a:solidFill>
                  </a:rPr>
                  <a:t>完整发布率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349B55C-471C-4933-87C7-5DC84BF88F4F}"/>
                </a:ext>
              </a:extLst>
            </p:cNvPr>
            <p:cNvGrpSpPr/>
            <p:nvPr/>
          </p:nvGrpSpPr>
          <p:grpSpPr>
            <a:xfrm>
              <a:off x="5340284" y="2662368"/>
              <a:ext cx="1498730" cy="1652180"/>
              <a:chOff x="1286801" y="2585971"/>
              <a:chExt cx="1637331" cy="1804973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54109800-EB99-4E1F-8068-016FB5323F7B}"/>
                  </a:ext>
                </a:extLst>
              </p:cNvPr>
              <p:cNvSpPr/>
              <p:nvPr/>
            </p:nvSpPr>
            <p:spPr>
              <a:xfrm>
                <a:off x="1286801" y="2917055"/>
                <a:ext cx="1637331" cy="1473889"/>
              </a:xfrm>
              <a:prstGeom prst="roundRect">
                <a:avLst>
                  <a:gd name="adj" fmla="val 8050"/>
                </a:avLst>
              </a:prstGeom>
              <a:blipFill rotWithShape="0">
                <a:blip r:embed="rId5"/>
                <a:srcRect/>
                <a:stretch>
                  <a:fillRect l="-17460" r="-17460"/>
                </a:stretch>
              </a:blipFill>
              <a:ln w="38100">
                <a:solidFill>
                  <a:schemeClr val="bg1"/>
                </a:solidFill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4080C3C-4727-4CCF-BF42-1A4DBFA49DAC}"/>
                  </a:ext>
                </a:extLst>
              </p:cNvPr>
              <p:cNvSpPr/>
              <p:nvPr/>
            </p:nvSpPr>
            <p:spPr bwMode="auto">
              <a:xfrm>
                <a:off x="1773505" y="2585971"/>
                <a:ext cx="663923" cy="66216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</a:ln>
            </p:spPr>
            <p:txBody>
              <a:bodyPr vert="horz" wrap="square" lIns="91440" tIns="45720" rIns="91440" bIns="45720" anchor="ctr" anchorCtr="1" compatLnSpc="1">
                <a:prstTxWarp prst="textNoShape">
                  <a:avLst/>
                </a:prstTxWarp>
                <a:normAutofit lnSpcReduction="10000"/>
              </a:bodyPr>
              <a:lstStyle/>
              <a:p>
                <a:pPr algn="ctr"/>
                <a:endParaRPr 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A9BD9FA-2DE7-4548-B255-2A054F25C2E2}"/>
                  </a:ext>
                </a:extLst>
              </p:cNvPr>
              <p:cNvSpPr/>
              <p:nvPr/>
            </p:nvSpPr>
            <p:spPr bwMode="auto">
              <a:xfrm>
                <a:off x="1945798" y="2763450"/>
                <a:ext cx="319336" cy="307208"/>
              </a:xfrm>
              <a:custGeom>
                <a:avLst/>
                <a:gdLst>
                  <a:gd name="connsiteX0" fmla="*/ 195114 w 608814"/>
                  <a:gd name="connsiteY0" fmla="*/ 351627 h 585693"/>
                  <a:gd name="connsiteX1" fmla="*/ 258290 w 608814"/>
                  <a:gd name="connsiteY1" fmla="*/ 351627 h 585693"/>
                  <a:gd name="connsiteX2" fmla="*/ 282731 w 608814"/>
                  <a:gd name="connsiteY2" fmla="*/ 376018 h 585693"/>
                  <a:gd name="connsiteX3" fmla="*/ 282731 w 608814"/>
                  <a:gd name="connsiteY3" fmla="*/ 561210 h 585693"/>
                  <a:gd name="connsiteX4" fmla="*/ 258290 w 608814"/>
                  <a:gd name="connsiteY4" fmla="*/ 585693 h 585693"/>
                  <a:gd name="connsiteX5" fmla="*/ 195114 w 608814"/>
                  <a:gd name="connsiteY5" fmla="*/ 585693 h 585693"/>
                  <a:gd name="connsiteX6" fmla="*/ 170673 w 608814"/>
                  <a:gd name="connsiteY6" fmla="*/ 561210 h 585693"/>
                  <a:gd name="connsiteX7" fmla="*/ 170673 w 608814"/>
                  <a:gd name="connsiteY7" fmla="*/ 376018 h 585693"/>
                  <a:gd name="connsiteX8" fmla="*/ 195114 w 608814"/>
                  <a:gd name="connsiteY8" fmla="*/ 351627 h 585693"/>
                  <a:gd name="connsiteX9" fmla="*/ 358100 w 608814"/>
                  <a:gd name="connsiteY9" fmla="*/ 249872 h 585693"/>
                  <a:gd name="connsiteX10" fmla="*/ 421316 w 608814"/>
                  <a:gd name="connsiteY10" fmla="*/ 249872 h 585693"/>
                  <a:gd name="connsiteX11" fmla="*/ 445737 w 608814"/>
                  <a:gd name="connsiteY11" fmla="*/ 274267 h 585693"/>
                  <a:gd name="connsiteX12" fmla="*/ 445737 w 608814"/>
                  <a:gd name="connsiteY12" fmla="*/ 561206 h 585693"/>
                  <a:gd name="connsiteX13" fmla="*/ 421316 w 608814"/>
                  <a:gd name="connsiteY13" fmla="*/ 585693 h 585693"/>
                  <a:gd name="connsiteX14" fmla="*/ 358100 w 608814"/>
                  <a:gd name="connsiteY14" fmla="*/ 585693 h 585693"/>
                  <a:gd name="connsiteX15" fmla="*/ 333679 w 608814"/>
                  <a:gd name="connsiteY15" fmla="*/ 561206 h 585693"/>
                  <a:gd name="connsiteX16" fmla="*/ 333679 w 608814"/>
                  <a:gd name="connsiteY16" fmla="*/ 274267 h 585693"/>
                  <a:gd name="connsiteX17" fmla="*/ 358100 w 608814"/>
                  <a:gd name="connsiteY17" fmla="*/ 249872 h 585693"/>
                  <a:gd name="connsiteX18" fmla="*/ 140260 w 608814"/>
                  <a:gd name="connsiteY18" fmla="*/ 224680 h 585693"/>
                  <a:gd name="connsiteX19" fmla="*/ 191844 w 608814"/>
                  <a:gd name="connsiteY19" fmla="*/ 276122 h 585693"/>
                  <a:gd name="connsiteX20" fmla="*/ 140260 w 608814"/>
                  <a:gd name="connsiteY20" fmla="*/ 327564 h 585693"/>
                  <a:gd name="connsiteX21" fmla="*/ 88676 w 608814"/>
                  <a:gd name="connsiteY21" fmla="*/ 276122 h 585693"/>
                  <a:gd name="connsiteX22" fmla="*/ 140260 w 608814"/>
                  <a:gd name="connsiteY22" fmla="*/ 224680 h 585693"/>
                  <a:gd name="connsiteX23" fmla="*/ 521177 w 608814"/>
                  <a:gd name="connsiteY23" fmla="*/ 148117 h 585693"/>
                  <a:gd name="connsiteX24" fmla="*/ 584301 w 608814"/>
                  <a:gd name="connsiteY24" fmla="*/ 148117 h 585693"/>
                  <a:gd name="connsiteX25" fmla="*/ 608814 w 608814"/>
                  <a:gd name="connsiteY25" fmla="*/ 172601 h 585693"/>
                  <a:gd name="connsiteX26" fmla="*/ 608814 w 608814"/>
                  <a:gd name="connsiteY26" fmla="*/ 561209 h 585693"/>
                  <a:gd name="connsiteX27" fmla="*/ 584301 w 608814"/>
                  <a:gd name="connsiteY27" fmla="*/ 585693 h 585693"/>
                  <a:gd name="connsiteX28" fmla="*/ 521177 w 608814"/>
                  <a:gd name="connsiteY28" fmla="*/ 585693 h 585693"/>
                  <a:gd name="connsiteX29" fmla="*/ 496756 w 608814"/>
                  <a:gd name="connsiteY29" fmla="*/ 561209 h 585693"/>
                  <a:gd name="connsiteX30" fmla="*/ 496756 w 608814"/>
                  <a:gd name="connsiteY30" fmla="*/ 172601 h 585693"/>
                  <a:gd name="connsiteX31" fmla="*/ 521177 w 608814"/>
                  <a:gd name="connsiteY31" fmla="*/ 148117 h 585693"/>
                  <a:gd name="connsiteX32" fmla="*/ 116229 w 608814"/>
                  <a:gd name="connsiteY32" fmla="*/ 131322 h 585693"/>
                  <a:gd name="connsiteX33" fmla="*/ 164246 w 608814"/>
                  <a:gd name="connsiteY33" fmla="*/ 131322 h 585693"/>
                  <a:gd name="connsiteX34" fmla="*/ 184061 w 608814"/>
                  <a:gd name="connsiteY34" fmla="*/ 151113 h 585693"/>
                  <a:gd name="connsiteX35" fmla="*/ 184061 w 608814"/>
                  <a:gd name="connsiteY35" fmla="*/ 171457 h 585693"/>
                  <a:gd name="connsiteX36" fmla="*/ 208669 w 608814"/>
                  <a:gd name="connsiteY36" fmla="*/ 186094 h 585693"/>
                  <a:gd name="connsiteX37" fmla="*/ 226641 w 608814"/>
                  <a:gd name="connsiteY37" fmla="*/ 175692 h 585693"/>
                  <a:gd name="connsiteX38" fmla="*/ 253737 w 608814"/>
                  <a:gd name="connsiteY38" fmla="*/ 182964 h 585693"/>
                  <a:gd name="connsiteX39" fmla="*/ 277792 w 608814"/>
                  <a:gd name="connsiteY39" fmla="*/ 224572 h 585693"/>
                  <a:gd name="connsiteX40" fmla="*/ 279727 w 608814"/>
                  <a:gd name="connsiteY40" fmla="*/ 239577 h 585693"/>
                  <a:gd name="connsiteX41" fmla="*/ 270511 w 608814"/>
                  <a:gd name="connsiteY41" fmla="*/ 251544 h 585693"/>
                  <a:gd name="connsiteX42" fmla="*/ 252355 w 608814"/>
                  <a:gd name="connsiteY42" fmla="*/ 262038 h 585693"/>
                  <a:gd name="connsiteX43" fmla="*/ 253829 w 608814"/>
                  <a:gd name="connsiteY43" fmla="*/ 276122 h 585693"/>
                  <a:gd name="connsiteX44" fmla="*/ 252355 w 608814"/>
                  <a:gd name="connsiteY44" fmla="*/ 290206 h 585693"/>
                  <a:gd name="connsiteX45" fmla="*/ 270511 w 608814"/>
                  <a:gd name="connsiteY45" fmla="*/ 300700 h 585693"/>
                  <a:gd name="connsiteX46" fmla="*/ 278714 w 608814"/>
                  <a:gd name="connsiteY46" fmla="*/ 325094 h 585693"/>
                  <a:gd name="connsiteX47" fmla="*/ 258253 w 608814"/>
                  <a:gd name="connsiteY47" fmla="*/ 321136 h 585693"/>
                  <a:gd name="connsiteX48" fmla="*/ 195858 w 608814"/>
                  <a:gd name="connsiteY48" fmla="*/ 321136 h 585693"/>
                  <a:gd name="connsiteX49" fmla="*/ 212171 w 608814"/>
                  <a:gd name="connsiteY49" fmla="*/ 276122 h 585693"/>
                  <a:gd name="connsiteX50" fmla="*/ 140191 w 608814"/>
                  <a:gd name="connsiteY50" fmla="*/ 204320 h 585693"/>
                  <a:gd name="connsiteX51" fmla="*/ 68304 w 608814"/>
                  <a:gd name="connsiteY51" fmla="*/ 276122 h 585693"/>
                  <a:gd name="connsiteX52" fmla="*/ 140191 w 608814"/>
                  <a:gd name="connsiteY52" fmla="*/ 348016 h 585693"/>
                  <a:gd name="connsiteX53" fmla="*/ 148486 w 608814"/>
                  <a:gd name="connsiteY53" fmla="*/ 347095 h 585693"/>
                  <a:gd name="connsiteX54" fmla="*/ 140099 w 608814"/>
                  <a:gd name="connsiteY54" fmla="*/ 376000 h 585693"/>
                  <a:gd name="connsiteX55" fmla="*/ 140099 w 608814"/>
                  <a:gd name="connsiteY55" fmla="*/ 420922 h 585693"/>
                  <a:gd name="connsiteX56" fmla="*/ 116229 w 608814"/>
                  <a:gd name="connsiteY56" fmla="*/ 420922 h 585693"/>
                  <a:gd name="connsiteX57" fmla="*/ 96413 w 608814"/>
                  <a:gd name="connsiteY57" fmla="*/ 401131 h 585693"/>
                  <a:gd name="connsiteX58" fmla="*/ 96413 w 608814"/>
                  <a:gd name="connsiteY58" fmla="*/ 380787 h 585693"/>
                  <a:gd name="connsiteX59" fmla="*/ 71806 w 608814"/>
                  <a:gd name="connsiteY59" fmla="*/ 366150 h 585693"/>
                  <a:gd name="connsiteX60" fmla="*/ 53742 w 608814"/>
                  <a:gd name="connsiteY60" fmla="*/ 376552 h 585693"/>
                  <a:gd name="connsiteX61" fmla="*/ 38719 w 608814"/>
                  <a:gd name="connsiteY61" fmla="*/ 378577 h 585693"/>
                  <a:gd name="connsiteX62" fmla="*/ 26738 w 608814"/>
                  <a:gd name="connsiteY62" fmla="*/ 369372 h 585693"/>
                  <a:gd name="connsiteX63" fmla="*/ 2683 w 608814"/>
                  <a:gd name="connsiteY63" fmla="*/ 327764 h 585693"/>
                  <a:gd name="connsiteX64" fmla="*/ 9872 w 608814"/>
                  <a:gd name="connsiteY64" fmla="*/ 300700 h 585693"/>
                  <a:gd name="connsiteX65" fmla="*/ 28120 w 608814"/>
                  <a:gd name="connsiteY65" fmla="*/ 290206 h 585693"/>
                  <a:gd name="connsiteX66" fmla="*/ 26645 w 608814"/>
                  <a:gd name="connsiteY66" fmla="*/ 276122 h 585693"/>
                  <a:gd name="connsiteX67" fmla="*/ 28120 w 608814"/>
                  <a:gd name="connsiteY67" fmla="*/ 262038 h 585693"/>
                  <a:gd name="connsiteX68" fmla="*/ 9872 w 608814"/>
                  <a:gd name="connsiteY68" fmla="*/ 251544 h 585693"/>
                  <a:gd name="connsiteX69" fmla="*/ 2683 w 608814"/>
                  <a:gd name="connsiteY69" fmla="*/ 224572 h 585693"/>
                  <a:gd name="connsiteX70" fmla="*/ 26738 w 608814"/>
                  <a:gd name="connsiteY70" fmla="*/ 182964 h 585693"/>
                  <a:gd name="connsiteX71" fmla="*/ 38719 w 608814"/>
                  <a:gd name="connsiteY71" fmla="*/ 173759 h 585693"/>
                  <a:gd name="connsiteX72" fmla="*/ 53742 w 608814"/>
                  <a:gd name="connsiteY72" fmla="*/ 175692 h 585693"/>
                  <a:gd name="connsiteX73" fmla="*/ 71806 w 608814"/>
                  <a:gd name="connsiteY73" fmla="*/ 186094 h 585693"/>
                  <a:gd name="connsiteX74" fmla="*/ 96413 w 608814"/>
                  <a:gd name="connsiteY74" fmla="*/ 171457 h 585693"/>
                  <a:gd name="connsiteX75" fmla="*/ 96413 w 608814"/>
                  <a:gd name="connsiteY75" fmla="*/ 151113 h 585693"/>
                  <a:gd name="connsiteX76" fmla="*/ 116229 w 608814"/>
                  <a:gd name="connsiteY76" fmla="*/ 131322 h 585693"/>
                  <a:gd name="connsiteX77" fmla="*/ 445756 w 608814"/>
                  <a:gd name="connsiteY77" fmla="*/ 83476 h 585693"/>
                  <a:gd name="connsiteX78" fmla="*/ 414140 w 608814"/>
                  <a:gd name="connsiteY78" fmla="*/ 115044 h 585693"/>
                  <a:gd name="connsiteX79" fmla="*/ 445756 w 608814"/>
                  <a:gd name="connsiteY79" fmla="*/ 146520 h 585693"/>
                  <a:gd name="connsiteX80" fmla="*/ 477371 w 608814"/>
                  <a:gd name="connsiteY80" fmla="*/ 115044 h 585693"/>
                  <a:gd name="connsiteX81" fmla="*/ 445756 w 608814"/>
                  <a:gd name="connsiteY81" fmla="*/ 83476 h 585693"/>
                  <a:gd name="connsiteX82" fmla="*/ 426676 w 608814"/>
                  <a:gd name="connsiteY82" fmla="*/ 0 h 585693"/>
                  <a:gd name="connsiteX83" fmla="*/ 464835 w 608814"/>
                  <a:gd name="connsiteY83" fmla="*/ 0 h 585693"/>
                  <a:gd name="connsiteX84" fmla="*/ 480597 w 608814"/>
                  <a:gd name="connsiteY84" fmla="*/ 15738 h 585693"/>
                  <a:gd name="connsiteX85" fmla="*/ 480597 w 608814"/>
                  <a:gd name="connsiteY85" fmla="*/ 31936 h 585693"/>
                  <a:gd name="connsiteX86" fmla="*/ 500138 w 608814"/>
                  <a:gd name="connsiteY86" fmla="*/ 43533 h 585693"/>
                  <a:gd name="connsiteX87" fmla="*/ 514425 w 608814"/>
                  <a:gd name="connsiteY87" fmla="*/ 35249 h 585693"/>
                  <a:gd name="connsiteX88" fmla="*/ 535901 w 608814"/>
                  <a:gd name="connsiteY88" fmla="*/ 40956 h 585693"/>
                  <a:gd name="connsiteX89" fmla="*/ 554981 w 608814"/>
                  <a:gd name="connsiteY89" fmla="*/ 73996 h 585693"/>
                  <a:gd name="connsiteX90" fmla="*/ 556640 w 608814"/>
                  <a:gd name="connsiteY90" fmla="*/ 85961 h 585693"/>
                  <a:gd name="connsiteX91" fmla="*/ 549266 w 608814"/>
                  <a:gd name="connsiteY91" fmla="*/ 95440 h 585693"/>
                  <a:gd name="connsiteX92" fmla="*/ 534887 w 608814"/>
                  <a:gd name="connsiteY92" fmla="*/ 103815 h 585693"/>
                  <a:gd name="connsiteX93" fmla="*/ 535993 w 608814"/>
                  <a:gd name="connsiteY93" fmla="*/ 115044 h 585693"/>
                  <a:gd name="connsiteX94" fmla="*/ 535717 w 608814"/>
                  <a:gd name="connsiteY94" fmla="*/ 117621 h 585693"/>
                  <a:gd name="connsiteX95" fmla="*/ 521153 w 608814"/>
                  <a:gd name="connsiteY95" fmla="*/ 117621 h 585693"/>
                  <a:gd name="connsiteX96" fmla="*/ 466126 w 608814"/>
                  <a:gd name="connsiteY96" fmla="*/ 172565 h 585693"/>
                  <a:gd name="connsiteX97" fmla="*/ 466126 w 608814"/>
                  <a:gd name="connsiteY97" fmla="*/ 229719 h 585693"/>
                  <a:gd name="connsiteX98" fmla="*/ 466126 w 608814"/>
                  <a:gd name="connsiteY98" fmla="*/ 242604 h 585693"/>
                  <a:gd name="connsiteX99" fmla="*/ 453590 w 608814"/>
                  <a:gd name="connsiteY99" fmla="*/ 229995 h 585693"/>
                  <a:gd name="connsiteX100" fmla="*/ 421330 w 608814"/>
                  <a:gd name="connsiteY100" fmla="*/ 219319 h 585693"/>
                  <a:gd name="connsiteX101" fmla="*/ 411928 w 608814"/>
                  <a:gd name="connsiteY101" fmla="*/ 219319 h 585693"/>
                  <a:gd name="connsiteX102" fmla="*/ 410914 w 608814"/>
                  <a:gd name="connsiteY102" fmla="*/ 214257 h 585693"/>
                  <a:gd name="connsiteX103" fmla="*/ 410914 w 608814"/>
                  <a:gd name="connsiteY103" fmla="*/ 198059 h 585693"/>
                  <a:gd name="connsiteX104" fmla="*/ 391373 w 608814"/>
                  <a:gd name="connsiteY104" fmla="*/ 186463 h 585693"/>
                  <a:gd name="connsiteX105" fmla="*/ 377086 w 608814"/>
                  <a:gd name="connsiteY105" fmla="*/ 194746 h 585693"/>
                  <a:gd name="connsiteX106" fmla="*/ 365104 w 608814"/>
                  <a:gd name="connsiteY106" fmla="*/ 196310 h 585693"/>
                  <a:gd name="connsiteX107" fmla="*/ 355610 w 608814"/>
                  <a:gd name="connsiteY107" fmla="*/ 189040 h 585693"/>
                  <a:gd name="connsiteX108" fmla="*/ 336530 w 608814"/>
                  <a:gd name="connsiteY108" fmla="*/ 155999 h 585693"/>
                  <a:gd name="connsiteX109" fmla="*/ 342245 w 608814"/>
                  <a:gd name="connsiteY109" fmla="*/ 134463 h 585693"/>
                  <a:gd name="connsiteX110" fmla="*/ 356716 w 608814"/>
                  <a:gd name="connsiteY110" fmla="*/ 126180 h 585693"/>
                  <a:gd name="connsiteX111" fmla="*/ 355518 w 608814"/>
                  <a:gd name="connsiteY111" fmla="*/ 115044 h 585693"/>
                  <a:gd name="connsiteX112" fmla="*/ 356716 w 608814"/>
                  <a:gd name="connsiteY112" fmla="*/ 103815 h 585693"/>
                  <a:gd name="connsiteX113" fmla="*/ 342245 w 608814"/>
                  <a:gd name="connsiteY113" fmla="*/ 95440 h 585693"/>
                  <a:gd name="connsiteX114" fmla="*/ 336530 w 608814"/>
                  <a:gd name="connsiteY114" fmla="*/ 73996 h 585693"/>
                  <a:gd name="connsiteX115" fmla="*/ 355610 w 608814"/>
                  <a:gd name="connsiteY115" fmla="*/ 40956 h 585693"/>
                  <a:gd name="connsiteX116" fmla="*/ 365104 w 608814"/>
                  <a:gd name="connsiteY116" fmla="*/ 33685 h 585693"/>
                  <a:gd name="connsiteX117" fmla="*/ 377086 w 608814"/>
                  <a:gd name="connsiteY117" fmla="*/ 35249 h 585693"/>
                  <a:gd name="connsiteX118" fmla="*/ 391373 w 608814"/>
                  <a:gd name="connsiteY118" fmla="*/ 43533 h 585693"/>
                  <a:gd name="connsiteX119" fmla="*/ 410914 w 608814"/>
                  <a:gd name="connsiteY119" fmla="*/ 31936 h 585693"/>
                  <a:gd name="connsiteX120" fmla="*/ 410914 w 608814"/>
                  <a:gd name="connsiteY120" fmla="*/ 15738 h 585693"/>
                  <a:gd name="connsiteX121" fmla="*/ 426676 w 608814"/>
                  <a:gd name="connsiteY121" fmla="*/ 0 h 58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</a:cxnLst>
                <a:rect l="l" t="t" r="r" b="b"/>
                <a:pathLst>
                  <a:path w="608814" h="585693">
                    <a:moveTo>
                      <a:pt x="195114" y="351627"/>
                    </a:moveTo>
                    <a:lnTo>
                      <a:pt x="258290" y="351627"/>
                    </a:lnTo>
                    <a:cubicBezTo>
                      <a:pt x="271848" y="351627"/>
                      <a:pt x="282731" y="362580"/>
                      <a:pt x="282731" y="376018"/>
                    </a:cubicBezTo>
                    <a:lnTo>
                      <a:pt x="282731" y="561210"/>
                    </a:lnTo>
                    <a:cubicBezTo>
                      <a:pt x="282731" y="574740"/>
                      <a:pt x="271848" y="585693"/>
                      <a:pt x="258290" y="585693"/>
                    </a:cubicBezTo>
                    <a:lnTo>
                      <a:pt x="195114" y="585693"/>
                    </a:lnTo>
                    <a:cubicBezTo>
                      <a:pt x="181556" y="585693"/>
                      <a:pt x="170673" y="574740"/>
                      <a:pt x="170673" y="561210"/>
                    </a:cubicBezTo>
                    <a:lnTo>
                      <a:pt x="170673" y="376018"/>
                    </a:lnTo>
                    <a:cubicBezTo>
                      <a:pt x="170673" y="362580"/>
                      <a:pt x="181556" y="351627"/>
                      <a:pt x="195114" y="351627"/>
                    </a:cubicBezTo>
                    <a:close/>
                    <a:moveTo>
                      <a:pt x="358100" y="249872"/>
                    </a:moveTo>
                    <a:lnTo>
                      <a:pt x="421316" y="249872"/>
                    </a:lnTo>
                    <a:cubicBezTo>
                      <a:pt x="434771" y="249872"/>
                      <a:pt x="445737" y="260735"/>
                      <a:pt x="445737" y="274267"/>
                    </a:cubicBezTo>
                    <a:lnTo>
                      <a:pt x="445737" y="561206"/>
                    </a:lnTo>
                    <a:cubicBezTo>
                      <a:pt x="445737" y="574738"/>
                      <a:pt x="434771" y="585693"/>
                      <a:pt x="421316" y="585693"/>
                    </a:cubicBezTo>
                    <a:lnTo>
                      <a:pt x="358100" y="585693"/>
                    </a:lnTo>
                    <a:cubicBezTo>
                      <a:pt x="344645" y="585693"/>
                      <a:pt x="333679" y="574738"/>
                      <a:pt x="333679" y="561206"/>
                    </a:cubicBezTo>
                    <a:lnTo>
                      <a:pt x="333679" y="274267"/>
                    </a:lnTo>
                    <a:cubicBezTo>
                      <a:pt x="333679" y="260735"/>
                      <a:pt x="344645" y="249872"/>
                      <a:pt x="358100" y="249872"/>
                    </a:cubicBezTo>
                    <a:close/>
                    <a:moveTo>
                      <a:pt x="140260" y="224680"/>
                    </a:moveTo>
                    <a:cubicBezTo>
                      <a:pt x="168749" y="224680"/>
                      <a:pt x="191844" y="247711"/>
                      <a:pt x="191844" y="276122"/>
                    </a:cubicBezTo>
                    <a:cubicBezTo>
                      <a:pt x="191844" y="304533"/>
                      <a:pt x="168749" y="327564"/>
                      <a:pt x="140260" y="327564"/>
                    </a:cubicBezTo>
                    <a:cubicBezTo>
                      <a:pt x="111771" y="327564"/>
                      <a:pt x="88676" y="304533"/>
                      <a:pt x="88676" y="276122"/>
                    </a:cubicBezTo>
                    <a:cubicBezTo>
                      <a:pt x="88676" y="247711"/>
                      <a:pt x="111771" y="224680"/>
                      <a:pt x="140260" y="224680"/>
                    </a:cubicBezTo>
                    <a:close/>
                    <a:moveTo>
                      <a:pt x="521177" y="148117"/>
                    </a:moveTo>
                    <a:lnTo>
                      <a:pt x="584301" y="148117"/>
                    </a:lnTo>
                    <a:cubicBezTo>
                      <a:pt x="597848" y="148117"/>
                      <a:pt x="608814" y="159070"/>
                      <a:pt x="608814" y="172601"/>
                    </a:cubicBezTo>
                    <a:lnTo>
                      <a:pt x="608814" y="561209"/>
                    </a:lnTo>
                    <a:cubicBezTo>
                      <a:pt x="608814" y="574740"/>
                      <a:pt x="597848" y="585693"/>
                      <a:pt x="584301" y="585693"/>
                    </a:cubicBezTo>
                    <a:lnTo>
                      <a:pt x="521177" y="585693"/>
                    </a:lnTo>
                    <a:cubicBezTo>
                      <a:pt x="507722" y="585693"/>
                      <a:pt x="496756" y="574740"/>
                      <a:pt x="496756" y="561209"/>
                    </a:cubicBezTo>
                    <a:lnTo>
                      <a:pt x="496756" y="172601"/>
                    </a:lnTo>
                    <a:cubicBezTo>
                      <a:pt x="496756" y="159070"/>
                      <a:pt x="507722" y="148117"/>
                      <a:pt x="521177" y="148117"/>
                    </a:cubicBezTo>
                    <a:close/>
                    <a:moveTo>
                      <a:pt x="116229" y="131322"/>
                    </a:moveTo>
                    <a:lnTo>
                      <a:pt x="164246" y="131322"/>
                    </a:lnTo>
                    <a:cubicBezTo>
                      <a:pt x="175214" y="131322"/>
                      <a:pt x="184061" y="140159"/>
                      <a:pt x="184061" y="151113"/>
                    </a:cubicBezTo>
                    <a:lnTo>
                      <a:pt x="184061" y="171457"/>
                    </a:lnTo>
                    <a:cubicBezTo>
                      <a:pt x="193001" y="175231"/>
                      <a:pt x="201019" y="180386"/>
                      <a:pt x="208669" y="186094"/>
                    </a:cubicBezTo>
                    <a:lnTo>
                      <a:pt x="226641" y="175692"/>
                    </a:lnTo>
                    <a:cubicBezTo>
                      <a:pt x="236134" y="170261"/>
                      <a:pt x="248300" y="173482"/>
                      <a:pt x="253737" y="182964"/>
                    </a:cubicBezTo>
                    <a:lnTo>
                      <a:pt x="277792" y="224572"/>
                    </a:lnTo>
                    <a:cubicBezTo>
                      <a:pt x="280465" y="229083"/>
                      <a:pt x="281110" y="234514"/>
                      <a:pt x="279727" y="239577"/>
                    </a:cubicBezTo>
                    <a:cubicBezTo>
                      <a:pt x="278437" y="244640"/>
                      <a:pt x="275119" y="248966"/>
                      <a:pt x="270511" y="251544"/>
                    </a:cubicBezTo>
                    <a:lnTo>
                      <a:pt x="252355" y="262038"/>
                    </a:lnTo>
                    <a:cubicBezTo>
                      <a:pt x="253000" y="266733"/>
                      <a:pt x="253829" y="271335"/>
                      <a:pt x="253829" y="276122"/>
                    </a:cubicBezTo>
                    <a:cubicBezTo>
                      <a:pt x="253829" y="281001"/>
                      <a:pt x="253000" y="285604"/>
                      <a:pt x="252355" y="290206"/>
                    </a:cubicBezTo>
                    <a:lnTo>
                      <a:pt x="270511" y="300700"/>
                    </a:lnTo>
                    <a:cubicBezTo>
                      <a:pt x="279174" y="305671"/>
                      <a:pt x="282308" y="316165"/>
                      <a:pt x="278714" y="325094"/>
                    </a:cubicBezTo>
                    <a:cubicBezTo>
                      <a:pt x="272354" y="322609"/>
                      <a:pt x="265442" y="321136"/>
                      <a:pt x="258253" y="321136"/>
                    </a:cubicBezTo>
                    <a:lnTo>
                      <a:pt x="195858" y="321136"/>
                    </a:lnTo>
                    <a:cubicBezTo>
                      <a:pt x="205904" y="308709"/>
                      <a:pt x="212171" y="293244"/>
                      <a:pt x="212171" y="276122"/>
                    </a:cubicBezTo>
                    <a:cubicBezTo>
                      <a:pt x="212171" y="236539"/>
                      <a:pt x="179914" y="204320"/>
                      <a:pt x="140191" y="204320"/>
                    </a:cubicBezTo>
                    <a:cubicBezTo>
                      <a:pt x="100561" y="204320"/>
                      <a:pt x="68304" y="236539"/>
                      <a:pt x="68304" y="276122"/>
                    </a:cubicBezTo>
                    <a:cubicBezTo>
                      <a:pt x="68304" y="315797"/>
                      <a:pt x="100561" y="348016"/>
                      <a:pt x="140191" y="348016"/>
                    </a:cubicBezTo>
                    <a:cubicBezTo>
                      <a:pt x="143048" y="348016"/>
                      <a:pt x="145721" y="347463"/>
                      <a:pt x="148486" y="347095"/>
                    </a:cubicBezTo>
                    <a:cubicBezTo>
                      <a:pt x="143233" y="355564"/>
                      <a:pt x="140099" y="365414"/>
                      <a:pt x="140099" y="376000"/>
                    </a:cubicBezTo>
                    <a:lnTo>
                      <a:pt x="140099" y="420922"/>
                    </a:lnTo>
                    <a:lnTo>
                      <a:pt x="116229" y="420922"/>
                    </a:lnTo>
                    <a:cubicBezTo>
                      <a:pt x="105261" y="420922"/>
                      <a:pt x="96413" y="412085"/>
                      <a:pt x="96413" y="401131"/>
                    </a:cubicBezTo>
                    <a:lnTo>
                      <a:pt x="96413" y="380787"/>
                    </a:lnTo>
                    <a:cubicBezTo>
                      <a:pt x="87474" y="377013"/>
                      <a:pt x="79455" y="371950"/>
                      <a:pt x="71806" y="366150"/>
                    </a:cubicBezTo>
                    <a:lnTo>
                      <a:pt x="53742" y="376552"/>
                    </a:lnTo>
                    <a:cubicBezTo>
                      <a:pt x="49226" y="379222"/>
                      <a:pt x="43788" y="379866"/>
                      <a:pt x="38719" y="378577"/>
                    </a:cubicBezTo>
                    <a:cubicBezTo>
                      <a:pt x="33650" y="377197"/>
                      <a:pt x="29318" y="373883"/>
                      <a:pt x="26738" y="369372"/>
                    </a:cubicBezTo>
                    <a:lnTo>
                      <a:pt x="2683" y="327764"/>
                    </a:lnTo>
                    <a:cubicBezTo>
                      <a:pt x="-2847" y="318282"/>
                      <a:pt x="471" y="306131"/>
                      <a:pt x="9872" y="300700"/>
                    </a:cubicBezTo>
                    <a:lnTo>
                      <a:pt x="28120" y="290206"/>
                    </a:lnTo>
                    <a:cubicBezTo>
                      <a:pt x="27475" y="285604"/>
                      <a:pt x="26645" y="281001"/>
                      <a:pt x="26645" y="276122"/>
                    </a:cubicBezTo>
                    <a:cubicBezTo>
                      <a:pt x="26645" y="271335"/>
                      <a:pt x="27475" y="266733"/>
                      <a:pt x="28120" y="262038"/>
                    </a:cubicBezTo>
                    <a:lnTo>
                      <a:pt x="9872" y="251544"/>
                    </a:lnTo>
                    <a:cubicBezTo>
                      <a:pt x="471" y="246113"/>
                      <a:pt x="-2847" y="233962"/>
                      <a:pt x="2683" y="224572"/>
                    </a:cubicBezTo>
                    <a:lnTo>
                      <a:pt x="26738" y="182964"/>
                    </a:lnTo>
                    <a:cubicBezTo>
                      <a:pt x="29318" y="178361"/>
                      <a:pt x="33650" y="175139"/>
                      <a:pt x="38719" y="173759"/>
                    </a:cubicBezTo>
                    <a:cubicBezTo>
                      <a:pt x="43788" y="172378"/>
                      <a:pt x="49226" y="173114"/>
                      <a:pt x="53742" y="175692"/>
                    </a:cubicBezTo>
                    <a:lnTo>
                      <a:pt x="71806" y="186094"/>
                    </a:lnTo>
                    <a:cubicBezTo>
                      <a:pt x="79455" y="180386"/>
                      <a:pt x="87474" y="175231"/>
                      <a:pt x="96413" y="171457"/>
                    </a:cubicBezTo>
                    <a:lnTo>
                      <a:pt x="96413" y="151113"/>
                    </a:lnTo>
                    <a:cubicBezTo>
                      <a:pt x="96413" y="140159"/>
                      <a:pt x="105261" y="131322"/>
                      <a:pt x="116229" y="131322"/>
                    </a:cubicBezTo>
                    <a:close/>
                    <a:moveTo>
                      <a:pt x="445756" y="83476"/>
                    </a:moveTo>
                    <a:cubicBezTo>
                      <a:pt x="428335" y="83476"/>
                      <a:pt x="414140" y="97557"/>
                      <a:pt x="414140" y="115044"/>
                    </a:cubicBezTo>
                    <a:cubicBezTo>
                      <a:pt x="414140" y="132438"/>
                      <a:pt x="428335" y="146520"/>
                      <a:pt x="445756" y="146520"/>
                    </a:cubicBezTo>
                    <a:cubicBezTo>
                      <a:pt x="463176" y="146520"/>
                      <a:pt x="477371" y="132438"/>
                      <a:pt x="477371" y="115044"/>
                    </a:cubicBezTo>
                    <a:cubicBezTo>
                      <a:pt x="477371" y="97557"/>
                      <a:pt x="463176" y="83476"/>
                      <a:pt x="445756" y="83476"/>
                    </a:cubicBezTo>
                    <a:close/>
                    <a:moveTo>
                      <a:pt x="426676" y="0"/>
                    </a:moveTo>
                    <a:lnTo>
                      <a:pt x="464835" y="0"/>
                    </a:lnTo>
                    <a:cubicBezTo>
                      <a:pt x="473500" y="0"/>
                      <a:pt x="480597" y="7087"/>
                      <a:pt x="480597" y="15738"/>
                    </a:cubicBezTo>
                    <a:lnTo>
                      <a:pt x="480597" y="31936"/>
                    </a:lnTo>
                    <a:cubicBezTo>
                      <a:pt x="487694" y="34881"/>
                      <a:pt x="494054" y="38931"/>
                      <a:pt x="500138" y="43533"/>
                    </a:cubicBezTo>
                    <a:lnTo>
                      <a:pt x="514425" y="35249"/>
                    </a:lnTo>
                    <a:cubicBezTo>
                      <a:pt x="521983" y="30924"/>
                      <a:pt x="531569" y="33501"/>
                      <a:pt x="535901" y="40956"/>
                    </a:cubicBezTo>
                    <a:lnTo>
                      <a:pt x="554981" y="73996"/>
                    </a:lnTo>
                    <a:cubicBezTo>
                      <a:pt x="557101" y="77585"/>
                      <a:pt x="557654" y="81911"/>
                      <a:pt x="556640" y="85961"/>
                    </a:cubicBezTo>
                    <a:cubicBezTo>
                      <a:pt x="555534" y="89918"/>
                      <a:pt x="552861" y="93415"/>
                      <a:pt x="549266" y="95440"/>
                    </a:cubicBezTo>
                    <a:lnTo>
                      <a:pt x="534887" y="103815"/>
                    </a:lnTo>
                    <a:cubicBezTo>
                      <a:pt x="535348" y="107497"/>
                      <a:pt x="535993" y="111178"/>
                      <a:pt x="535993" y="115044"/>
                    </a:cubicBezTo>
                    <a:cubicBezTo>
                      <a:pt x="535993" y="115872"/>
                      <a:pt x="535809" y="116700"/>
                      <a:pt x="535717" y="117621"/>
                    </a:cubicBezTo>
                    <a:lnTo>
                      <a:pt x="521153" y="117621"/>
                    </a:lnTo>
                    <a:cubicBezTo>
                      <a:pt x="490828" y="117621"/>
                      <a:pt x="466126" y="142286"/>
                      <a:pt x="466126" y="172565"/>
                    </a:cubicBezTo>
                    <a:lnTo>
                      <a:pt x="466126" y="229719"/>
                    </a:lnTo>
                    <a:lnTo>
                      <a:pt x="466126" y="242604"/>
                    </a:lnTo>
                    <a:cubicBezTo>
                      <a:pt x="462715" y="237726"/>
                      <a:pt x="458383" y="233493"/>
                      <a:pt x="453590" y="229995"/>
                    </a:cubicBezTo>
                    <a:cubicBezTo>
                      <a:pt x="444465" y="223369"/>
                      <a:pt x="433404" y="219319"/>
                      <a:pt x="421330" y="219319"/>
                    </a:cubicBezTo>
                    <a:lnTo>
                      <a:pt x="411928" y="219319"/>
                    </a:lnTo>
                    <a:cubicBezTo>
                      <a:pt x="411375" y="217755"/>
                      <a:pt x="410914" y="216098"/>
                      <a:pt x="410914" y="214257"/>
                    </a:cubicBezTo>
                    <a:lnTo>
                      <a:pt x="410914" y="198059"/>
                    </a:lnTo>
                    <a:cubicBezTo>
                      <a:pt x="403817" y="195114"/>
                      <a:pt x="397457" y="191064"/>
                      <a:pt x="391373" y="186463"/>
                    </a:cubicBezTo>
                    <a:lnTo>
                      <a:pt x="377086" y="194746"/>
                    </a:lnTo>
                    <a:cubicBezTo>
                      <a:pt x="373492" y="196863"/>
                      <a:pt x="369160" y="197415"/>
                      <a:pt x="365104" y="196310"/>
                    </a:cubicBezTo>
                    <a:cubicBezTo>
                      <a:pt x="361140" y="195206"/>
                      <a:pt x="357638" y="192629"/>
                      <a:pt x="355610" y="189040"/>
                    </a:cubicBezTo>
                    <a:lnTo>
                      <a:pt x="336530" y="155999"/>
                    </a:lnTo>
                    <a:cubicBezTo>
                      <a:pt x="332198" y="148452"/>
                      <a:pt x="334687" y="138881"/>
                      <a:pt x="342245" y="134463"/>
                    </a:cubicBezTo>
                    <a:lnTo>
                      <a:pt x="356716" y="126180"/>
                    </a:lnTo>
                    <a:cubicBezTo>
                      <a:pt x="356163" y="122498"/>
                      <a:pt x="355518" y="118817"/>
                      <a:pt x="355518" y="115044"/>
                    </a:cubicBezTo>
                    <a:cubicBezTo>
                      <a:pt x="355518" y="111178"/>
                      <a:pt x="356163" y="107497"/>
                      <a:pt x="356716" y="103815"/>
                    </a:cubicBezTo>
                    <a:lnTo>
                      <a:pt x="342245" y="95440"/>
                    </a:lnTo>
                    <a:cubicBezTo>
                      <a:pt x="334687" y="91115"/>
                      <a:pt x="332198" y="81543"/>
                      <a:pt x="336530" y="73996"/>
                    </a:cubicBezTo>
                    <a:lnTo>
                      <a:pt x="355610" y="40956"/>
                    </a:lnTo>
                    <a:cubicBezTo>
                      <a:pt x="357638" y="37366"/>
                      <a:pt x="361140" y="34789"/>
                      <a:pt x="365104" y="33685"/>
                    </a:cubicBezTo>
                    <a:cubicBezTo>
                      <a:pt x="369160" y="32580"/>
                      <a:pt x="373492" y="33133"/>
                      <a:pt x="377086" y="35249"/>
                    </a:cubicBezTo>
                    <a:lnTo>
                      <a:pt x="391373" y="43533"/>
                    </a:lnTo>
                    <a:cubicBezTo>
                      <a:pt x="397457" y="38931"/>
                      <a:pt x="403817" y="34881"/>
                      <a:pt x="410914" y="31936"/>
                    </a:cubicBezTo>
                    <a:lnTo>
                      <a:pt x="410914" y="15738"/>
                    </a:lnTo>
                    <a:cubicBezTo>
                      <a:pt x="410914" y="7087"/>
                      <a:pt x="418011" y="0"/>
                      <a:pt x="42667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85000" lnSpcReduction="20000"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5D7D14-C5A4-4D9C-98F9-CF7F9704003E}"/>
                </a:ext>
              </a:extLst>
            </p:cNvPr>
            <p:cNvCxnSpPr>
              <a:cxnSpLocks/>
            </p:cNvCxnSpPr>
            <p:nvPr/>
          </p:nvCxnSpPr>
          <p:spPr>
            <a:xfrm>
              <a:off x="4167859" y="4323699"/>
              <a:ext cx="0" cy="167203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itle 29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三乘积北极星指标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82536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60400" y="1222633"/>
            <a:ext cx="10858500" cy="4276554"/>
            <a:chOff x="660400" y="1222633"/>
            <a:chExt cx="10858500" cy="4276554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CE77DC51-C006-4B0A-BDE6-9F066A4D0CCC}"/>
                </a:ext>
              </a:extLst>
            </p:cNvPr>
            <p:cNvSpPr/>
            <p:nvPr/>
          </p:nvSpPr>
          <p:spPr>
            <a:xfrm>
              <a:off x="660400" y="4139960"/>
              <a:ext cx="2344400" cy="1359227"/>
            </a:xfrm>
            <a:prstGeom prst="roundRect">
              <a:avLst>
                <a:gd name="adj" fmla="val 7172"/>
              </a:avLst>
            </a:prstGeom>
            <a:blipFill rotWithShape="0">
              <a:blip r:embed="rId3"/>
              <a:srcRect/>
              <a:stretch>
                <a:fillRect t="-7710" b="-771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7EC5CD3-3F5C-4190-B968-7BDC99C010A2}"/>
                </a:ext>
              </a:extLst>
            </p:cNvPr>
            <p:cNvGrpSpPr>
              <a:grpSpLocks/>
            </p:cNvGrpSpPr>
            <p:nvPr/>
          </p:nvGrpSpPr>
          <p:grpSpPr>
            <a:xfrm>
              <a:off x="660400" y="1222633"/>
              <a:ext cx="5540926" cy="1013716"/>
              <a:chOff x="2492016" y="4214586"/>
              <a:chExt cx="2974766" cy="1013716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916E6B59-185C-4DAA-AF12-ABC10E343EA0}"/>
                  </a:ext>
                </a:extLst>
              </p:cNvPr>
              <p:cNvSpPr/>
              <p:nvPr/>
            </p:nvSpPr>
            <p:spPr>
              <a:xfrm>
                <a:off x="2492017" y="4807701"/>
                <a:ext cx="2974765" cy="42060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t" anchorCtr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三项关键决策为北极星落地提供保障，避免指标空转与排期阻塞。</a:t>
                </a: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35534C8-3FA3-4933-A938-49F1235056CA}"/>
                  </a:ext>
                </a:extLst>
              </p:cNvPr>
              <p:cNvSpPr/>
              <p:nvPr/>
            </p:nvSpPr>
            <p:spPr>
              <a:xfrm>
                <a:off x="2492016" y="4214586"/>
                <a:ext cx="2974765" cy="58744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b" anchorCtr="0">
                <a:sp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关键决策与兜底</a:t>
                </a:r>
              </a:p>
            </p:txBody>
          </p: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AF8F480-BF0A-4905-8872-2749E8C5D9DC}"/>
                </a:ext>
              </a:extLst>
            </p:cNvPr>
            <p:cNvGrpSpPr/>
            <p:nvPr/>
          </p:nvGrpSpPr>
          <p:grpSpPr>
            <a:xfrm>
              <a:off x="3498433" y="2932604"/>
              <a:ext cx="8020467" cy="2411348"/>
              <a:chOff x="3498433" y="2932604"/>
              <a:chExt cx="8020467" cy="2411348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90CCED40-D660-4B11-86A8-6AB5CA96C0BA}"/>
                  </a:ext>
                </a:extLst>
              </p:cNvPr>
              <p:cNvGrpSpPr/>
              <p:nvPr/>
            </p:nvGrpSpPr>
            <p:grpSpPr>
              <a:xfrm>
                <a:off x="9174499" y="2932604"/>
                <a:ext cx="2344401" cy="2411348"/>
                <a:chOff x="4381398" y="2932604"/>
                <a:chExt cx="3068301" cy="2411348"/>
              </a:xfrm>
            </p:grpSpPr>
            <p:grpSp>
              <p:nvGrpSpPr>
                <p:cNvPr id="155" name="Group 154">
                  <a:extLst>
                    <a:ext uri="{FF2B5EF4-FFF2-40B4-BE49-F238E27FC236}">
                      <a16:creationId xmlns:a16="http://schemas.microsoft.com/office/drawing/2014/main" id="{8FC710FC-CA31-4919-8852-4D13C2D9A995}"/>
                    </a:ext>
                  </a:extLst>
                </p:cNvPr>
                <p:cNvGrpSpPr/>
                <p:nvPr/>
              </p:nvGrpSpPr>
              <p:grpSpPr>
                <a:xfrm>
                  <a:off x="4381399" y="4139960"/>
                  <a:ext cx="3068300" cy="1203992"/>
                  <a:chOff x="2926262" y="3947957"/>
                  <a:chExt cx="2806761" cy="1203992"/>
                </a:xfrm>
              </p:grpSpPr>
              <p:grpSp>
                <p:nvGrpSpPr>
                  <p:cNvPr id="157" name="Group 156">
                    <a:extLst>
                      <a:ext uri="{FF2B5EF4-FFF2-40B4-BE49-F238E27FC236}">
                        <a16:creationId xmlns:a16="http://schemas.microsoft.com/office/drawing/2014/main" id="{2A47F4AB-9522-4A2C-828D-19AFA8BC131E}"/>
                      </a:ext>
                    </a:extLst>
                  </p:cNvPr>
                  <p:cNvGrpSpPr/>
                  <p:nvPr/>
                </p:nvGrpSpPr>
                <p:grpSpPr>
                  <a:xfrm>
                    <a:off x="2926262" y="4039744"/>
                    <a:ext cx="2806761" cy="1112205"/>
                    <a:chOff x="2492017" y="2712768"/>
                    <a:chExt cx="2806761" cy="1112205"/>
                  </a:xfrm>
                </p:grpSpPr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2D1D808E-48A2-4012-9DAC-3FAD63941B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2712768"/>
                      <a:ext cx="2806761" cy="464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b" anchorCtr="0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kumimoji="1" lang="zh-CN" altLang="en-US" sz="1600" b="1" dirty="0">
                          <a:solidFill>
                            <a:schemeClr val="tx1"/>
                          </a:solidFill>
                        </a:rPr>
                        <a:t>聚合阈值</a:t>
                      </a:r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12113F2F-F9D0-415F-A77B-F7148A354B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3182773"/>
                      <a:ext cx="2806761" cy="6422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t" anchorCtr="0">
                      <a:sp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</a:rPr>
                        <a:t>工作 3 条、房屋 5 条、生活 8 条，车辆服务参照生活类。</a:t>
                      </a:r>
                    </a:p>
                  </p:txBody>
                </p:sp>
              </p:grpSp>
              <p:cxnSp>
                <p:nvCxnSpPr>
                  <p:cNvPr id="158" name="Straight Arrow Connector 157">
                    <a:extLst>
                      <a:ext uri="{FF2B5EF4-FFF2-40B4-BE49-F238E27FC236}">
                        <a16:creationId xmlns:a16="http://schemas.microsoft.com/office/drawing/2014/main" id="{81A9EDED-9B0F-4828-B65D-B2E77D2314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26262" y="3947957"/>
                    <a:ext cx="2806761" cy="0"/>
                  </a:xfrm>
                  <a:prstGeom prst="straightConnector1">
                    <a:avLst/>
                  </a:prstGeom>
                  <a:ln w="25400">
                    <a:solidFill>
                      <a:schemeClr val="accent1"/>
                    </a:solidFill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2C54383C-E544-46D1-838C-C53AEAFA2BC7}"/>
                    </a:ext>
                  </a:extLst>
                </p:cNvPr>
                <p:cNvSpPr txBox="1"/>
                <p:nvPr/>
              </p:nvSpPr>
              <p:spPr>
                <a:xfrm>
                  <a:off x="4381398" y="2932604"/>
                  <a:ext cx="1930270" cy="1572326"/>
                </a:xfrm>
                <a:prstGeom prst="rect">
                  <a:avLst/>
                </a:prstGeom>
                <a:noFill/>
              </p:spPr>
              <p:txBody>
                <a:bodyPr wrap="square" lIns="108000" tIns="108000" rIns="108000" bIns="108000" rtlCol="0" anchor="ctr" anchorCtr="0">
                  <a:spAutoFit/>
                </a:bodyPr>
                <a:lstStyle/>
                <a:p>
                  <a:r>
                    <a:rPr kumimoji="1" lang="en-US" altLang="zh-CN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rPr>
                    <a:t>03</a:t>
                  </a:r>
                  <a:endParaRPr kumimoji="1" lang="zh-CN" altLang="en-US" sz="8800" b="1" dirty="0">
                    <a:solidFill>
                      <a:schemeClr val="tx1">
                        <a:lumMod val="50000"/>
                        <a:lumOff val="50000"/>
                        <a:alpha val="2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0DE2A22E-2740-41E4-A7A0-9443A6A304C0}"/>
                  </a:ext>
                </a:extLst>
              </p:cNvPr>
              <p:cNvGrpSpPr/>
              <p:nvPr/>
            </p:nvGrpSpPr>
            <p:grpSpPr>
              <a:xfrm>
                <a:off x="3498433" y="2932604"/>
                <a:ext cx="2344400" cy="2411348"/>
                <a:chOff x="4381399" y="2932604"/>
                <a:chExt cx="3068300" cy="2411348"/>
              </a:xfrm>
            </p:grpSpPr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F083F46B-5F21-491D-AC81-7D4ADDEB4F35}"/>
                    </a:ext>
                  </a:extLst>
                </p:cNvPr>
                <p:cNvGrpSpPr/>
                <p:nvPr/>
              </p:nvGrpSpPr>
              <p:grpSpPr>
                <a:xfrm>
                  <a:off x="4381399" y="4139960"/>
                  <a:ext cx="3068300" cy="1203992"/>
                  <a:chOff x="2926262" y="3947957"/>
                  <a:chExt cx="2806761" cy="1203992"/>
                </a:xfrm>
              </p:grpSpPr>
              <p:grpSp>
                <p:nvGrpSpPr>
                  <p:cNvPr id="114" name="Group 113">
                    <a:extLst>
                      <a:ext uri="{FF2B5EF4-FFF2-40B4-BE49-F238E27FC236}">
                        <a16:creationId xmlns:a16="http://schemas.microsoft.com/office/drawing/2014/main" id="{79082DD3-4B9C-4B81-B3C1-095C91F98EC2}"/>
                      </a:ext>
                    </a:extLst>
                  </p:cNvPr>
                  <p:cNvGrpSpPr/>
                  <p:nvPr/>
                </p:nvGrpSpPr>
                <p:grpSpPr>
                  <a:xfrm>
                    <a:off x="2926262" y="4039744"/>
                    <a:ext cx="2806761" cy="1112205"/>
                    <a:chOff x="2492017" y="2712768"/>
                    <a:chExt cx="2806761" cy="1112205"/>
                  </a:xfrm>
                </p:grpSpPr>
                <p:sp>
                  <p:nvSpPr>
                    <p:cNvPr id="116" name="Rectangle 115">
                      <a:extLst>
                        <a:ext uri="{FF2B5EF4-FFF2-40B4-BE49-F238E27FC236}">
                          <a16:creationId xmlns:a16="http://schemas.microsoft.com/office/drawing/2014/main" id="{CE875014-6D52-447D-A118-09562293E0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2712768"/>
                      <a:ext cx="2806761" cy="464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b" anchorCtr="0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kumimoji="1" lang="zh-CN" altLang="en-US" sz="1600" b="1" dirty="0">
                          <a:solidFill>
                            <a:schemeClr val="tx1"/>
                          </a:solidFill>
                        </a:rPr>
                        <a:t>等权硬线</a:t>
                      </a:r>
                    </a:p>
                  </p:txBody>
                </p:sp>
                <p:sp>
                  <p:nvSpPr>
                    <p:cNvPr id="117" name="Rectangle 116">
                      <a:extLst>
                        <a:ext uri="{FF2B5EF4-FFF2-40B4-BE49-F238E27FC236}">
                          <a16:creationId xmlns:a16="http://schemas.microsoft.com/office/drawing/2014/main" id="{0DCDFEB6-271D-4D18-99B1-157799D87D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3182773"/>
                      <a:ext cx="2806761" cy="6422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t" anchorCtr="0">
                      <a:sp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</a:rPr>
                        <a:t>首批设为冷启动观察期不考核，第二批起正式纳入 KPI。</a:t>
                      </a:r>
                    </a:p>
                  </p:txBody>
                </p:sp>
              </p:grpSp>
              <p:cxnSp>
                <p:nvCxnSpPr>
                  <p:cNvPr id="115" name="Straight Arrow Connector 114">
                    <a:extLst>
                      <a:ext uri="{FF2B5EF4-FFF2-40B4-BE49-F238E27FC236}">
                        <a16:creationId xmlns:a16="http://schemas.microsoft.com/office/drawing/2014/main" id="{7E7F2112-1F31-4050-ADAC-1789C2CA9F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26262" y="3947957"/>
                    <a:ext cx="2806761" cy="0"/>
                  </a:xfrm>
                  <a:prstGeom prst="straightConnector1">
                    <a:avLst/>
                  </a:prstGeom>
                  <a:ln w="25400">
                    <a:solidFill>
                      <a:schemeClr val="accent1"/>
                    </a:solidFill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E3AEC1BE-31CB-4948-B129-41FC6D5B1B8C}"/>
                    </a:ext>
                  </a:extLst>
                </p:cNvPr>
                <p:cNvSpPr txBox="1"/>
                <p:nvPr/>
              </p:nvSpPr>
              <p:spPr>
                <a:xfrm>
                  <a:off x="4381399" y="2932604"/>
                  <a:ext cx="1930270" cy="1572326"/>
                </a:xfrm>
                <a:prstGeom prst="rect">
                  <a:avLst/>
                </a:prstGeom>
                <a:noFill/>
              </p:spPr>
              <p:txBody>
                <a:bodyPr wrap="square" lIns="108000" tIns="108000" rIns="108000" bIns="108000" rtlCol="0" anchor="ctr" anchorCtr="0">
                  <a:spAutoFit/>
                </a:bodyPr>
                <a:lstStyle/>
                <a:p>
                  <a:r>
                    <a:rPr kumimoji="1" lang="en-US" altLang="zh-CN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rPr>
                    <a:t>01</a:t>
                  </a:r>
                  <a:endParaRPr kumimoji="1" lang="zh-CN" altLang="en-US" sz="8800" b="1" dirty="0">
                    <a:solidFill>
                      <a:schemeClr val="tx1">
                        <a:lumMod val="50000"/>
                        <a:lumOff val="50000"/>
                        <a:alpha val="20000"/>
                      </a:schemeClr>
                    </a:solidFill>
                  </a:endParaRPr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6F426DF-A3EC-429E-80B9-0D0A7C320651}"/>
                  </a:ext>
                </a:extLst>
              </p:cNvPr>
              <p:cNvGrpSpPr/>
              <p:nvPr/>
            </p:nvGrpSpPr>
            <p:grpSpPr>
              <a:xfrm>
                <a:off x="6336466" y="2932604"/>
                <a:ext cx="2344400" cy="2411348"/>
                <a:chOff x="4381399" y="2932604"/>
                <a:chExt cx="3068300" cy="2411348"/>
              </a:xfrm>
            </p:grpSpPr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25B1B385-436D-4800-816D-6976275A7AEB}"/>
                    </a:ext>
                  </a:extLst>
                </p:cNvPr>
                <p:cNvGrpSpPr/>
                <p:nvPr/>
              </p:nvGrpSpPr>
              <p:grpSpPr>
                <a:xfrm>
                  <a:off x="4381399" y="4139960"/>
                  <a:ext cx="3068300" cy="1203992"/>
                  <a:chOff x="2926262" y="3947957"/>
                  <a:chExt cx="2806761" cy="1203992"/>
                </a:xfrm>
              </p:grpSpPr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47462C5C-0266-49FA-9123-70404C7B0B3D}"/>
                      </a:ext>
                    </a:extLst>
                  </p:cNvPr>
                  <p:cNvGrpSpPr/>
                  <p:nvPr/>
                </p:nvGrpSpPr>
                <p:grpSpPr>
                  <a:xfrm>
                    <a:off x="2926262" y="4039744"/>
                    <a:ext cx="2806761" cy="1112205"/>
                    <a:chOff x="2492017" y="2712768"/>
                    <a:chExt cx="2806761" cy="1112205"/>
                  </a:xfrm>
                </p:grpSpPr>
                <p:sp>
                  <p:nvSpPr>
                    <p:cNvPr id="32" name="Rectangle 31">
                      <a:extLst>
                        <a:ext uri="{FF2B5EF4-FFF2-40B4-BE49-F238E27FC236}">
                          <a16:creationId xmlns:a16="http://schemas.microsoft.com/office/drawing/2014/main" id="{04F178EE-E21F-41B9-84B4-18F96792AB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2712768"/>
                      <a:ext cx="2806761" cy="464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b" anchorCtr="0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kumimoji="1" lang="zh-CN" altLang="en-US" sz="1600" b="1" dirty="0">
                          <a:solidFill>
                            <a:schemeClr val="tx1"/>
                          </a:solidFill>
                        </a:rPr>
                        <a:t>性能兜底</a:t>
                      </a:r>
                    </a:p>
                  </p:txBody>
                </p: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2B635E04-121A-457F-A3C5-26D697F9D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92017" y="3182773"/>
                      <a:ext cx="2806761" cy="6422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108000" tIns="108000" rIns="108000" bIns="108000" rtlCol="0" anchor="t" anchorCtr="0">
                      <a:sp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</a:rPr>
                        <a:t>首批前置 1 天聚合性能 POC，通过后承诺 SLA，配降级开关。</a:t>
                      </a:r>
                    </a:p>
                  </p:txBody>
                </p:sp>
              </p:grpSp>
              <p:cxnSp>
                <p:nvCxnSpPr>
                  <p:cNvPr id="31" name="Straight Arrow Connector 30">
                    <a:extLst>
                      <a:ext uri="{FF2B5EF4-FFF2-40B4-BE49-F238E27FC236}">
                        <a16:creationId xmlns:a16="http://schemas.microsoft.com/office/drawing/2014/main" id="{D4AC9934-C29A-484C-BC6C-AA476B57E9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26262" y="3947957"/>
                    <a:ext cx="2806761" cy="0"/>
                  </a:xfrm>
                  <a:prstGeom prst="straightConnector1">
                    <a:avLst/>
                  </a:prstGeom>
                  <a:ln w="25400">
                    <a:solidFill>
                      <a:schemeClr val="accent1"/>
                    </a:solidFill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83AB63C-4858-44EC-AD4B-374290A691AD}"/>
                    </a:ext>
                  </a:extLst>
                </p:cNvPr>
                <p:cNvSpPr txBox="1"/>
                <p:nvPr/>
              </p:nvSpPr>
              <p:spPr>
                <a:xfrm>
                  <a:off x="4381399" y="2932604"/>
                  <a:ext cx="1930270" cy="1572326"/>
                </a:xfrm>
                <a:prstGeom prst="rect">
                  <a:avLst/>
                </a:prstGeom>
                <a:noFill/>
              </p:spPr>
              <p:txBody>
                <a:bodyPr wrap="square" lIns="108000" tIns="108000" rIns="108000" bIns="108000" rtlCol="0" anchor="ctr" anchorCtr="0">
                  <a:spAutoFit/>
                </a:bodyPr>
                <a:lstStyle/>
                <a:p>
                  <a:r>
                    <a:rPr kumimoji="1" lang="en-US" altLang="zh-CN" sz="8800" b="1" dirty="0">
                      <a:solidFill>
                        <a:schemeClr val="tx1">
                          <a:lumMod val="50000"/>
                          <a:lumOff val="50000"/>
                          <a:alpha val="20000"/>
                        </a:schemeClr>
                      </a:solidFill>
                    </a:rPr>
                    <a:t>02</a:t>
                  </a:r>
                  <a:endParaRPr kumimoji="1" lang="zh-CN" altLang="en-US" sz="8800" b="1" dirty="0">
                    <a:solidFill>
                      <a:schemeClr val="tx1">
                        <a:lumMod val="50000"/>
                        <a:lumOff val="50000"/>
                        <a:alpha val="20000"/>
                      </a:schemeClr>
                    </a:solidFill>
                  </a:endParaRPr>
                </a:p>
              </p:txBody>
            </p:sp>
          </p:grpSp>
        </p:grpSp>
      </p:grpSp>
      <p:sp>
        <p:nvSpPr>
          <p:cNvPr id="162" name="Title 16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关键决策与兜底机制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4276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lock Arc 6">
            <a:extLst>
              <a:ext uri="{FF2B5EF4-FFF2-40B4-BE49-F238E27FC236}">
                <a16:creationId xmlns:a16="http://schemas.microsoft.com/office/drawing/2014/main" id="{E0BE5065-7C2C-DFDE-BB6C-32CBF372219B}"/>
              </a:ext>
            </a:extLst>
          </p:cNvPr>
          <p:cNvSpPr/>
          <p:nvPr/>
        </p:nvSpPr>
        <p:spPr>
          <a:xfrm flipH="1">
            <a:off x="943428" y="1182866"/>
            <a:ext cx="3158671" cy="3158671"/>
          </a:xfrm>
          <a:prstGeom prst="blockArc">
            <a:avLst>
              <a:gd name="adj1" fmla="val 15993410"/>
              <a:gd name="adj2" fmla="val 13253"/>
              <a:gd name="adj3" fmla="val 17861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A0FA34A-F3E9-CB2D-7996-8E6053EA02EF}"/>
              </a:ext>
            </a:extLst>
          </p:cNvPr>
          <p:cNvGrpSpPr/>
          <p:nvPr/>
        </p:nvGrpSpPr>
        <p:grpSpPr>
          <a:xfrm>
            <a:off x="2714171" y="1286345"/>
            <a:ext cx="6763657" cy="726026"/>
            <a:chOff x="-106025" y="2679843"/>
            <a:chExt cx="11190196" cy="72602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5110A56-ED65-7A08-32F2-88FF69D7CF9A}"/>
                </a:ext>
              </a:extLst>
            </p:cNvPr>
            <p:cNvSpPr/>
            <p:nvPr/>
          </p:nvSpPr>
          <p:spPr>
            <a:xfrm flipH="1">
              <a:off x="-106025" y="3111045"/>
              <a:ext cx="9504686" cy="294824"/>
            </a:xfrm>
            <a:prstGeom prst="rect">
              <a:avLst/>
            </a:prstGeom>
            <a:ln>
              <a:noFill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defTabSz="913765">
                <a:lnSpc>
                  <a:spcPct val="120000"/>
                </a:lnSpc>
                <a:buSzPct val="25000"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BRD/MRD/PRD 三件套齐备且逻辑自洽，信息撮合闭环完整定义、无交易断点。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B559D6D-5279-F4CB-BC29-F8686F75E748}"/>
                </a:ext>
              </a:extLst>
            </p:cNvPr>
            <p:cNvSpPr txBox="1"/>
            <p:nvPr/>
          </p:nvSpPr>
          <p:spPr>
            <a:xfrm>
              <a:off x="-106025" y="2679843"/>
              <a:ext cx="1119019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spAutoFit/>
            </a:bodyPr>
            <a:lstStyle/>
            <a:p>
              <a:pPr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本期成功标准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79EA29C8-3EC0-6373-9B05-7013458C3143}"/>
              </a:ext>
            </a:extLst>
          </p:cNvPr>
          <p:cNvSpPr/>
          <p:nvPr/>
        </p:nvSpPr>
        <p:spPr>
          <a:xfrm>
            <a:off x="8940597" y="0"/>
            <a:ext cx="2578303" cy="6858000"/>
          </a:xfrm>
          <a:prstGeom prst="rect">
            <a:avLst/>
          </a:prstGeom>
          <a:solidFill>
            <a:schemeClr val="tx2">
              <a:alpha val="15000"/>
            </a:schemeClr>
          </a:solidFill>
          <a:ln w="12700" cap="flat">
            <a:noFill/>
            <a:prstDash val="solid"/>
            <a:miter/>
          </a:ln>
        </p:spPr>
        <p:txBody>
          <a:bodyPr lIns="91440" tIns="93600" rIns="91440" bIns="45720" rtlCol="0" anchor="ctr"/>
          <a:lstStyle/>
          <a:p>
            <a:pPr algn="ctr"/>
            <a:endParaRPr kumimoji="1" lang="zh-CN" altLang="en-US" sz="1050">
              <a:solidFill>
                <a:schemeClr val="tx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D93E99A-4711-BB81-ADFB-0B8E34DC9626}"/>
              </a:ext>
            </a:extLst>
          </p:cNvPr>
          <p:cNvGrpSpPr/>
          <p:nvPr/>
        </p:nvGrpSpPr>
        <p:grpSpPr>
          <a:xfrm>
            <a:off x="2826471" y="2969785"/>
            <a:ext cx="4951000" cy="632101"/>
            <a:chOff x="3182071" y="3123711"/>
            <a:chExt cx="4951000" cy="632101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38196DF-5293-D41E-BB46-42EA6972A3EA}"/>
                </a:ext>
              </a:extLst>
            </p:cNvPr>
            <p:cNvSpPr/>
            <p:nvPr/>
          </p:nvSpPr>
          <p:spPr>
            <a:xfrm>
              <a:off x="3182071" y="3226247"/>
              <a:ext cx="226228" cy="275406"/>
            </a:xfrm>
            <a:custGeom>
              <a:avLst/>
              <a:gdLst>
                <a:gd name="connsiteX0" fmla="*/ 284197 w 438150"/>
                <a:gd name="connsiteY0" fmla="*/ 621 h 533400"/>
                <a:gd name="connsiteX1" fmla="*/ 286102 w 438150"/>
                <a:gd name="connsiteY1" fmla="*/ 621 h 533400"/>
                <a:gd name="connsiteX2" fmla="*/ 286102 w 438150"/>
                <a:gd name="connsiteY2" fmla="*/ 124446 h 533400"/>
                <a:gd name="connsiteX3" fmla="*/ 286102 w 438150"/>
                <a:gd name="connsiteY3" fmla="*/ 126351 h 533400"/>
                <a:gd name="connsiteX4" fmla="*/ 314677 w 438150"/>
                <a:gd name="connsiteY4" fmla="*/ 153021 h 533400"/>
                <a:gd name="connsiteX5" fmla="*/ 314677 w 438150"/>
                <a:gd name="connsiteY5" fmla="*/ 153021 h 533400"/>
                <a:gd name="connsiteX6" fmla="*/ 438502 w 438150"/>
                <a:gd name="connsiteY6" fmla="*/ 153021 h 533400"/>
                <a:gd name="connsiteX7" fmla="*/ 438502 w 438150"/>
                <a:gd name="connsiteY7" fmla="*/ 154926 h 533400"/>
                <a:gd name="connsiteX8" fmla="*/ 438502 w 438150"/>
                <a:gd name="connsiteY8" fmla="*/ 505446 h 533400"/>
                <a:gd name="connsiteX9" fmla="*/ 409927 w 438150"/>
                <a:gd name="connsiteY9" fmla="*/ 534021 h 533400"/>
                <a:gd name="connsiteX10" fmla="*/ 28927 w 438150"/>
                <a:gd name="connsiteY10" fmla="*/ 534021 h 533400"/>
                <a:gd name="connsiteX11" fmla="*/ 352 w 438150"/>
                <a:gd name="connsiteY11" fmla="*/ 505446 h 533400"/>
                <a:gd name="connsiteX12" fmla="*/ 352 w 438150"/>
                <a:gd name="connsiteY12" fmla="*/ 29196 h 533400"/>
                <a:gd name="connsiteX13" fmla="*/ 28927 w 438150"/>
                <a:gd name="connsiteY13" fmla="*/ 621 h 533400"/>
                <a:gd name="connsiteX14" fmla="*/ 284197 w 438150"/>
                <a:gd name="connsiteY14" fmla="*/ 621 h 533400"/>
                <a:gd name="connsiteX15" fmla="*/ 248002 w 438150"/>
                <a:gd name="connsiteY15" fmla="*/ 200646 h 533400"/>
                <a:gd name="connsiteX16" fmla="*/ 152752 w 438150"/>
                <a:gd name="connsiteY16" fmla="*/ 200646 h 533400"/>
                <a:gd name="connsiteX17" fmla="*/ 152752 w 438150"/>
                <a:gd name="connsiteY17" fmla="*/ 410196 h 533400"/>
                <a:gd name="connsiteX18" fmla="*/ 171802 w 438150"/>
                <a:gd name="connsiteY18" fmla="*/ 410196 h 533400"/>
                <a:gd name="connsiteX19" fmla="*/ 171802 w 438150"/>
                <a:gd name="connsiteY19" fmla="*/ 314946 h 533400"/>
                <a:gd name="connsiteX20" fmla="*/ 248002 w 438150"/>
                <a:gd name="connsiteY20" fmla="*/ 314946 h 533400"/>
                <a:gd name="connsiteX21" fmla="*/ 249907 w 438150"/>
                <a:gd name="connsiteY21" fmla="*/ 314946 h 533400"/>
                <a:gd name="connsiteX22" fmla="*/ 305152 w 438150"/>
                <a:gd name="connsiteY22" fmla="*/ 257796 h 533400"/>
                <a:gd name="connsiteX23" fmla="*/ 248002 w 438150"/>
                <a:gd name="connsiteY23" fmla="*/ 200646 h 533400"/>
                <a:gd name="connsiteX24" fmla="*/ 248002 w 438150"/>
                <a:gd name="connsiteY24" fmla="*/ 200646 h 533400"/>
                <a:gd name="connsiteX25" fmla="*/ 248002 w 438150"/>
                <a:gd name="connsiteY25" fmla="*/ 219696 h 533400"/>
                <a:gd name="connsiteX26" fmla="*/ 286102 w 438150"/>
                <a:gd name="connsiteY26" fmla="*/ 257796 h 533400"/>
                <a:gd name="connsiteX27" fmla="*/ 248002 w 438150"/>
                <a:gd name="connsiteY27" fmla="*/ 295896 h 533400"/>
                <a:gd name="connsiteX28" fmla="*/ 248002 w 438150"/>
                <a:gd name="connsiteY28" fmla="*/ 295896 h 533400"/>
                <a:gd name="connsiteX29" fmla="*/ 171802 w 438150"/>
                <a:gd name="connsiteY29" fmla="*/ 295896 h 533400"/>
                <a:gd name="connsiteX30" fmla="*/ 171802 w 438150"/>
                <a:gd name="connsiteY30" fmla="*/ 219696 h 533400"/>
                <a:gd name="connsiteX31" fmla="*/ 248002 w 438150"/>
                <a:gd name="connsiteY31" fmla="*/ 219696 h 533400"/>
                <a:gd name="connsiteX32" fmla="*/ 428977 w 438150"/>
                <a:gd name="connsiteY32" fmla="*/ 133971 h 533400"/>
                <a:gd name="connsiteX33" fmla="*/ 314677 w 438150"/>
                <a:gd name="connsiteY33" fmla="*/ 133971 h 533400"/>
                <a:gd name="connsiteX34" fmla="*/ 313724 w 438150"/>
                <a:gd name="connsiteY34" fmla="*/ 133971 h 533400"/>
                <a:gd name="connsiteX35" fmla="*/ 305152 w 438150"/>
                <a:gd name="connsiteY35" fmla="*/ 124446 h 533400"/>
                <a:gd name="connsiteX36" fmla="*/ 305152 w 438150"/>
                <a:gd name="connsiteY36" fmla="*/ 124446 h 533400"/>
                <a:gd name="connsiteX37" fmla="*/ 305152 w 438150"/>
                <a:gd name="connsiteY37" fmla="*/ 10146 h 533400"/>
                <a:gd name="connsiteX38" fmla="*/ 428977 w 438150"/>
                <a:gd name="connsiteY38" fmla="*/ 133971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38150" h="533400">
                  <a:moveTo>
                    <a:pt x="284197" y="621"/>
                  </a:moveTo>
                  <a:cubicBezTo>
                    <a:pt x="285149" y="621"/>
                    <a:pt x="286102" y="621"/>
                    <a:pt x="286102" y="621"/>
                  </a:cubicBezTo>
                  <a:lnTo>
                    <a:pt x="286102" y="124446"/>
                  </a:lnTo>
                  <a:lnTo>
                    <a:pt x="286102" y="126351"/>
                  </a:lnTo>
                  <a:cubicBezTo>
                    <a:pt x="287055" y="141591"/>
                    <a:pt x="299437" y="153021"/>
                    <a:pt x="314677" y="153021"/>
                  </a:cubicBezTo>
                  <a:lnTo>
                    <a:pt x="314677" y="153021"/>
                  </a:lnTo>
                  <a:lnTo>
                    <a:pt x="438502" y="153021"/>
                  </a:lnTo>
                  <a:cubicBezTo>
                    <a:pt x="438502" y="153974"/>
                    <a:pt x="438502" y="154926"/>
                    <a:pt x="438502" y="154926"/>
                  </a:cubicBezTo>
                  <a:lnTo>
                    <a:pt x="438502" y="505446"/>
                  </a:lnTo>
                  <a:cubicBezTo>
                    <a:pt x="438502" y="521639"/>
                    <a:pt x="426120" y="534021"/>
                    <a:pt x="409927" y="534021"/>
                  </a:cubicBezTo>
                  <a:lnTo>
                    <a:pt x="28927" y="534021"/>
                  </a:lnTo>
                  <a:cubicBezTo>
                    <a:pt x="12734" y="534021"/>
                    <a:pt x="352" y="521639"/>
                    <a:pt x="352" y="505446"/>
                  </a:cubicBezTo>
                  <a:lnTo>
                    <a:pt x="352" y="29196"/>
                  </a:lnTo>
                  <a:cubicBezTo>
                    <a:pt x="352" y="13004"/>
                    <a:pt x="12734" y="621"/>
                    <a:pt x="28927" y="621"/>
                  </a:cubicBezTo>
                  <a:lnTo>
                    <a:pt x="284197" y="621"/>
                  </a:lnTo>
                  <a:close/>
                  <a:moveTo>
                    <a:pt x="248002" y="200646"/>
                  </a:moveTo>
                  <a:lnTo>
                    <a:pt x="152752" y="200646"/>
                  </a:lnTo>
                  <a:lnTo>
                    <a:pt x="152752" y="410196"/>
                  </a:lnTo>
                  <a:lnTo>
                    <a:pt x="171802" y="410196"/>
                  </a:lnTo>
                  <a:lnTo>
                    <a:pt x="171802" y="314946"/>
                  </a:lnTo>
                  <a:lnTo>
                    <a:pt x="248002" y="314946"/>
                  </a:lnTo>
                  <a:lnTo>
                    <a:pt x="249907" y="314946"/>
                  </a:lnTo>
                  <a:cubicBezTo>
                    <a:pt x="280387" y="313994"/>
                    <a:pt x="305152" y="288276"/>
                    <a:pt x="305152" y="257796"/>
                  </a:cubicBezTo>
                  <a:cubicBezTo>
                    <a:pt x="305152" y="226364"/>
                    <a:pt x="279434" y="200646"/>
                    <a:pt x="248002" y="200646"/>
                  </a:cubicBezTo>
                  <a:lnTo>
                    <a:pt x="248002" y="200646"/>
                  </a:lnTo>
                  <a:close/>
                  <a:moveTo>
                    <a:pt x="248002" y="219696"/>
                  </a:moveTo>
                  <a:cubicBezTo>
                    <a:pt x="268957" y="219696"/>
                    <a:pt x="286102" y="236841"/>
                    <a:pt x="286102" y="257796"/>
                  </a:cubicBezTo>
                  <a:cubicBezTo>
                    <a:pt x="286102" y="278751"/>
                    <a:pt x="268957" y="295896"/>
                    <a:pt x="248002" y="295896"/>
                  </a:cubicBezTo>
                  <a:lnTo>
                    <a:pt x="248002" y="295896"/>
                  </a:lnTo>
                  <a:lnTo>
                    <a:pt x="171802" y="295896"/>
                  </a:lnTo>
                  <a:lnTo>
                    <a:pt x="171802" y="219696"/>
                  </a:lnTo>
                  <a:lnTo>
                    <a:pt x="248002" y="219696"/>
                  </a:lnTo>
                  <a:close/>
                  <a:moveTo>
                    <a:pt x="428977" y="133971"/>
                  </a:moveTo>
                  <a:lnTo>
                    <a:pt x="314677" y="133971"/>
                  </a:lnTo>
                  <a:lnTo>
                    <a:pt x="313724" y="133971"/>
                  </a:lnTo>
                  <a:cubicBezTo>
                    <a:pt x="308962" y="133019"/>
                    <a:pt x="305152" y="129209"/>
                    <a:pt x="305152" y="124446"/>
                  </a:cubicBezTo>
                  <a:lnTo>
                    <a:pt x="305152" y="124446"/>
                  </a:lnTo>
                  <a:lnTo>
                    <a:pt x="305152" y="10146"/>
                  </a:lnTo>
                  <a:lnTo>
                    <a:pt x="428977" y="133971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lIns="91440" tIns="45720" rIns="216000" bIns="4572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2B8E587-B8EE-36FB-7FD9-F3D4930DA526}"/>
                </a:ext>
              </a:extLst>
            </p:cNvPr>
            <p:cNvGrpSpPr/>
            <p:nvPr/>
          </p:nvGrpSpPr>
          <p:grpSpPr>
            <a:xfrm>
              <a:off x="3505667" y="3123711"/>
              <a:ext cx="4627404" cy="632101"/>
              <a:chOff x="3505667" y="3123711"/>
              <a:chExt cx="4627404" cy="632101"/>
            </a:xfrm>
          </p:grpSpPr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AF283FBF-D5E6-F6F0-D73E-D27CEF80F489}"/>
                  </a:ext>
                </a:extLst>
              </p:cNvPr>
              <p:cNvSpPr/>
              <p:nvPr/>
            </p:nvSpPr>
            <p:spPr>
              <a:xfrm>
                <a:off x="3505667" y="3335211"/>
                <a:ext cx="4627404" cy="420601"/>
              </a:xfrm>
              <a:prstGeom prst="roundRect">
                <a:avLst>
                  <a:gd name="adj" fmla="val 0"/>
                </a:avLst>
              </a:prstGeom>
              <a:noFill/>
              <a:ln w="6055" cap="flat">
                <a:noFill/>
                <a:prstDash val="solid"/>
                <a:miter/>
              </a:ln>
            </p:spPr>
            <p:txBody>
              <a:bodyPr wrap="square" lIns="216000" tIns="108000" rIns="216000" bIns="108000" rtlCol="0" anchor="ctr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/>
                  <a:t>5km 差异化在地图、列表、发布三处均落地。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03C403F-FA85-A2AE-D9BF-EF3C44D7825C}"/>
                  </a:ext>
                </a:extLst>
              </p:cNvPr>
              <p:cNvSpPr/>
              <p:nvPr/>
            </p:nvSpPr>
            <p:spPr>
              <a:xfrm>
                <a:off x="3622541" y="3123711"/>
                <a:ext cx="1766642" cy="2616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kumimoji="1" lang="zh-CN" altLang="en-US" sz="1600" b="1" dirty="0">
                    <a:solidFill>
                      <a:schemeClr val="tx1"/>
                    </a:solidFill>
                  </a:rPr>
                  <a:t>近场体验</a:t>
                </a: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499F7EC-FF73-EF5B-D72A-3EEAC650E31B}"/>
              </a:ext>
            </a:extLst>
          </p:cNvPr>
          <p:cNvGrpSpPr/>
          <p:nvPr/>
        </p:nvGrpSpPr>
        <p:grpSpPr>
          <a:xfrm>
            <a:off x="2826471" y="4672805"/>
            <a:ext cx="4951000" cy="632101"/>
            <a:chOff x="3182071" y="3123711"/>
            <a:chExt cx="4951000" cy="632101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E8BBD62-CE4F-BCEC-FE15-F5D5C8A28D2C}"/>
                </a:ext>
              </a:extLst>
            </p:cNvPr>
            <p:cNvSpPr/>
            <p:nvPr/>
          </p:nvSpPr>
          <p:spPr>
            <a:xfrm>
              <a:off x="3182071" y="3226247"/>
              <a:ext cx="226228" cy="275406"/>
            </a:xfrm>
            <a:custGeom>
              <a:avLst/>
              <a:gdLst>
                <a:gd name="connsiteX0" fmla="*/ 284197 w 438150"/>
                <a:gd name="connsiteY0" fmla="*/ 621 h 533400"/>
                <a:gd name="connsiteX1" fmla="*/ 286102 w 438150"/>
                <a:gd name="connsiteY1" fmla="*/ 621 h 533400"/>
                <a:gd name="connsiteX2" fmla="*/ 286102 w 438150"/>
                <a:gd name="connsiteY2" fmla="*/ 124446 h 533400"/>
                <a:gd name="connsiteX3" fmla="*/ 286102 w 438150"/>
                <a:gd name="connsiteY3" fmla="*/ 126351 h 533400"/>
                <a:gd name="connsiteX4" fmla="*/ 314677 w 438150"/>
                <a:gd name="connsiteY4" fmla="*/ 153021 h 533400"/>
                <a:gd name="connsiteX5" fmla="*/ 314677 w 438150"/>
                <a:gd name="connsiteY5" fmla="*/ 153021 h 533400"/>
                <a:gd name="connsiteX6" fmla="*/ 438502 w 438150"/>
                <a:gd name="connsiteY6" fmla="*/ 153021 h 533400"/>
                <a:gd name="connsiteX7" fmla="*/ 438502 w 438150"/>
                <a:gd name="connsiteY7" fmla="*/ 154926 h 533400"/>
                <a:gd name="connsiteX8" fmla="*/ 438502 w 438150"/>
                <a:gd name="connsiteY8" fmla="*/ 505446 h 533400"/>
                <a:gd name="connsiteX9" fmla="*/ 409927 w 438150"/>
                <a:gd name="connsiteY9" fmla="*/ 534021 h 533400"/>
                <a:gd name="connsiteX10" fmla="*/ 28927 w 438150"/>
                <a:gd name="connsiteY10" fmla="*/ 534021 h 533400"/>
                <a:gd name="connsiteX11" fmla="*/ 352 w 438150"/>
                <a:gd name="connsiteY11" fmla="*/ 505446 h 533400"/>
                <a:gd name="connsiteX12" fmla="*/ 352 w 438150"/>
                <a:gd name="connsiteY12" fmla="*/ 29196 h 533400"/>
                <a:gd name="connsiteX13" fmla="*/ 28927 w 438150"/>
                <a:gd name="connsiteY13" fmla="*/ 621 h 533400"/>
                <a:gd name="connsiteX14" fmla="*/ 284197 w 438150"/>
                <a:gd name="connsiteY14" fmla="*/ 621 h 533400"/>
                <a:gd name="connsiteX15" fmla="*/ 248002 w 438150"/>
                <a:gd name="connsiteY15" fmla="*/ 200646 h 533400"/>
                <a:gd name="connsiteX16" fmla="*/ 152752 w 438150"/>
                <a:gd name="connsiteY16" fmla="*/ 200646 h 533400"/>
                <a:gd name="connsiteX17" fmla="*/ 152752 w 438150"/>
                <a:gd name="connsiteY17" fmla="*/ 410196 h 533400"/>
                <a:gd name="connsiteX18" fmla="*/ 171802 w 438150"/>
                <a:gd name="connsiteY18" fmla="*/ 410196 h 533400"/>
                <a:gd name="connsiteX19" fmla="*/ 171802 w 438150"/>
                <a:gd name="connsiteY19" fmla="*/ 314946 h 533400"/>
                <a:gd name="connsiteX20" fmla="*/ 248002 w 438150"/>
                <a:gd name="connsiteY20" fmla="*/ 314946 h 533400"/>
                <a:gd name="connsiteX21" fmla="*/ 249907 w 438150"/>
                <a:gd name="connsiteY21" fmla="*/ 314946 h 533400"/>
                <a:gd name="connsiteX22" fmla="*/ 305152 w 438150"/>
                <a:gd name="connsiteY22" fmla="*/ 257796 h 533400"/>
                <a:gd name="connsiteX23" fmla="*/ 248002 w 438150"/>
                <a:gd name="connsiteY23" fmla="*/ 200646 h 533400"/>
                <a:gd name="connsiteX24" fmla="*/ 248002 w 438150"/>
                <a:gd name="connsiteY24" fmla="*/ 200646 h 533400"/>
                <a:gd name="connsiteX25" fmla="*/ 248002 w 438150"/>
                <a:gd name="connsiteY25" fmla="*/ 219696 h 533400"/>
                <a:gd name="connsiteX26" fmla="*/ 286102 w 438150"/>
                <a:gd name="connsiteY26" fmla="*/ 257796 h 533400"/>
                <a:gd name="connsiteX27" fmla="*/ 248002 w 438150"/>
                <a:gd name="connsiteY27" fmla="*/ 295896 h 533400"/>
                <a:gd name="connsiteX28" fmla="*/ 248002 w 438150"/>
                <a:gd name="connsiteY28" fmla="*/ 295896 h 533400"/>
                <a:gd name="connsiteX29" fmla="*/ 171802 w 438150"/>
                <a:gd name="connsiteY29" fmla="*/ 295896 h 533400"/>
                <a:gd name="connsiteX30" fmla="*/ 171802 w 438150"/>
                <a:gd name="connsiteY30" fmla="*/ 219696 h 533400"/>
                <a:gd name="connsiteX31" fmla="*/ 248002 w 438150"/>
                <a:gd name="connsiteY31" fmla="*/ 219696 h 533400"/>
                <a:gd name="connsiteX32" fmla="*/ 428977 w 438150"/>
                <a:gd name="connsiteY32" fmla="*/ 133971 h 533400"/>
                <a:gd name="connsiteX33" fmla="*/ 314677 w 438150"/>
                <a:gd name="connsiteY33" fmla="*/ 133971 h 533400"/>
                <a:gd name="connsiteX34" fmla="*/ 313724 w 438150"/>
                <a:gd name="connsiteY34" fmla="*/ 133971 h 533400"/>
                <a:gd name="connsiteX35" fmla="*/ 305152 w 438150"/>
                <a:gd name="connsiteY35" fmla="*/ 124446 h 533400"/>
                <a:gd name="connsiteX36" fmla="*/ 305152 w 438150"/>
                <a:gd name="connsiteY36" fmla="*/ 124446 h 533400"/>
                <a:gd name="connsiteX37" fmla="*/ 305152 w 438150"/>
                <a:gd name="connsiteY37" fmla="*/ 10146 h 533400"/>
                <a:gd name="connsiteX38" fmla="*/ 428977 w 438150"/>
                <a:gd name="connsiteY38" fmla="*/ 133971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38150" h="533400">
                  <a:moveTo>
                    <a:pt x="284197" y="621"/>
                  </a:moveTo>
                  <a:cubicBezTo>
                    <a:pt x="285149" y="621"/>
                    <a:pt x="286102" y="621"/>
                    <a:pt x="286102" y="621"/>
                  </a:cubicBezTo>
                  <a:lnTo>
                    <a:pt x="286102" y="124446"/>
                  </a:lnTo>
                  <a:lnTo>
                    <a:pt x="286102" y="126351"/>
                  </a:lnTo>
                  <a:cubicBezTo>
                    <a:pt x="287055" y="141591"/>
                    <a:pt x="299437" y="153021"/>
                    <a:pt x="314677" y="153021"/>
                  </a:cubicBezTo>
                  <a:lnTo>
                    <a:pt x="314677" y="153021"/>
                  </a:lnTo>
                  <a:lnTo>
                    <a:pt x="438502" y="153021"/>
                  </a:lnTo>
                  <a:cubicBezTo>
                    <a:pt x="438502" y="153974"/>
                    <a:pt x="438502" y="154926"/>
                    <a:pt x="438502" y="154926"/>
                  </a:cubicBezTo>
                  <a:lnTo>
                    <a:pt x="438502" y="505446"/>
                  </a:lnTo>
                  <a:cubicBezTo>
                    <a:pt x="438502" y="521639"/>
                    <a:pt x="426120" y="534021"/>
                    <a:pt x="409927" y="534021"/>
                  </a:cubicBezTo>
                  <a:lnTo>
                    <a:pt x="28927" y="534021"/>
                  </a:lnTo>
                  <a:cubicBezTo>
                    <a:pt x="12734" y="534021"/>
                    <a:pt x="352" y="521639"/>
                    <a:pt x="352" y="505446"/>
                  </a:cubicBezTo>
                  <a:lnTo>
                    <a:pt x="352" y="29196"/>
                  </a:lnTo>
                  <a:cubicBezTo>
                    <a:pt x="352" y="13004"/>
                    <a:pt x="12734" y="621"/>
                    <a:pt x="28927" y="621"/>
                  </a:cubicBezTo>
                  <a:lnTo>
                    <a:pt x="284197" y="621"/>
                  </a:lnTo>
                  <a:close/>
                  <a:moveTo>
                    <a:pt x="248002" y="200646"/>
                  </a:moveTo>
                  <a:lnTo>
                    <a:pt x="152752" y="200646"/>
                  </a:lnTo>
                  <a:lnTo>
                    <a:pt x="152752" y="410196"/>
                  </a:lnTo>
                  <a:lnTo>
                    <a:pt x="171802" y="410196"/>
                  </a:lnTo>
                  <a:lnTo>
                    <a:pt x="171802" y="314946"/>
                  </a:lnTo>
                  <a:lnTo>
                    <a:pt x="248002" y="314946"/>
                  </a:lnTo>
                  <a:lnTo>
                    <a:pt x="249907" y="314946"/>
                  </a:lnTo>
                  <a:cubicBezTo>
                    <a:pt x="280387" y="313994"/>
                    <a:pt x="305152" y="288276"/>
                    <a:pt x="305152" y="257796"/>
                  </a:cubicBezTo>
                  <a:cubicBezTo>
                    <a:pt x="305152" y="226364"/>
                    <a:pt x="279434" y="200646"/>
                    <a:pt x="248002" y="200646"/>
                  </a:cubicBezTo>
                  <a:lnTo>
                    <a:pt x="248002" y="200646"/>
                  </a:lnTo>
                  <a:close/>
                  <a:moveTo>
                    <a:pt x="248002" y="219696"/>
                  </a:moveTo>
                  <a:cubicBezTo>
                    <a:pt x="268957" y="219696"/>
                    <a:pt x="286102" y="236841"/>
                    <a:pt x="286102" y="257796"/>
                  </a:cubicBezTo>
                  <a:cubicBezTo>
                    <a:pt x="286102" y="278751"/>
                    <a:pt x="268957" y="295896"/>
                    <a:pt x="248002" y="295896"/>
                  </a:cubicBezTo>
                  <a:lnTo>
                    <a:pt x="248002" y="295896"/>
                  </a:lnTo>
                  <a:lnTo>
                    <a:pt x="171802" y="295896"/>
                  </a:lnTo>
                  <a:lnTo>
                    <a:pt x="171802" y="219696"/>
                  </a:lnTo>
                  <a:lnTo>
                    <a:pt x="248002" y="219696"/>
                  </a:lnTo>
                  <a:close/>
                  <a:moveTo>
                    <a:pt x="428977" y="133971"/>
                  </a:moveTo>
                  <a:lnTo>
                    <a:pt x="314677" y="133971"/>
                  </a:lnTo>
                  <a:lnTo>
                    <a:pt x="313724" y="133971"/>
                  </a:lnTo>
                  <a:cubicBezTo>
                    <a:pt x="308962" y="133019"/>
                    <a:pt x="305152" y="129209"/>
                    <a:pt x="305152" y="124446"/>
                  </a:cubicBezTo>
                  <a:lnTo>
                    <a:pt x="305152" y="124446"/>
                  </a:lnTo>
                  <a:lnTo>
                    <a:pt x="305152" y="10146"/>
                  </a:lnTo>
                  <a:lnTo>
                    <a:pt x="428977" y="133971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lIns="91440" tIns="45720" rIns="216000" bIns="4572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B6FA041-9A3B-8D78-AF78-2C81D71D84E4}"/>
                </a:ext>
              </a:extLst>
            </p:cNvPr>
            <p:cNvGrpSpPr/>
            <p:nvPr/>
          </p:nvGrpSpPr>
          <p:grpSpPr>
            <a:xfrm>
              <a:off x="3505667" y="3123711"/>
              <a:ext cx="4627404" cy="632101"/>
              <a:chOff x="3505667" y="3123711"/>
              <a:chExt cx="4627404" cy="632101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3160D6C6-2D11-37F1-E744-293A635848B5}"/>
                  </a:ext>
                </a:extLst>
              </p:cNvPr>
              <p:cNvSpPr/>
              <p:nvPr/>
            </p:nvSpPr>
            <p:spPr>
              <a:xfrm>
                <a:off x="3505667" y="3335211"/>
                <a:ext cx="4627404" cy="420601"/>
              </a:xfrm>
              <a:prstGeom prst="roundRect">
                <a:avLst>
                  <a:gd name="adj" fmla="val 0"/>
                </a:avLst>
              </a:prstGeom>
              <a:noFill/>
              <a:ln w="6055" cap="flat">
                <a:noFill/>
                <a:prstDash val="solid"/>
                <a:miter/>
              </a:ln>
            </p:spPr>
            <p:txBody>
              <a:bodyPr wrap="square" lIns="216000" tIns="108000" rIns="216000" bIns="108000" rtlCol="0" anchor="ctr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/>
                  <a:t>双向发布机制在资源与需求两态均可闭环。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20A8FAB-1C7B-B2EE-ADFE-938C41F657A3}"/>
                  </a:ext>
                </a:extLst>
              </p:cNvPr>
              <p:cNvSpPr/>
              <p:nvPr/>
            </p:nvSpPr>
            <p:spPr>
              <a:xfrm>
                <a:off x="3622541" y="3123711"/>
                <a:ext cx="1766642" cy="2616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kumimoji="1" lang="zh-CN" altLang="en-US" sz="1600" b="1" dirty="0">
                    <a:solidFill>
                      <a:schemeClr val="tx1"/>
                    </a:solidFill>
                  </a:rPr>
                  <a:t>双向闭环</a:t>
                </a:r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D883042-6DDB-46FB-4153-CB43D0036B3C}"/>
              </a:ext>
            </a:extLst>
          </p:cNvPr>
          <p:cNvGrpSpPr/>
          <p:nvPr/>
        </p:nvGrpSpPr>
        <p:grpSpPr>
          <a:xfrm>
            <a:off x="2826471" y="5524314"/>
            <a:ext cx="4951000" cy="742901"/>
            <a:chOff x="3182071" y="3123711"/>
            <a:chExt cx="4951000" cy="742901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1B1C64B-EFB7-548D-63B7-4879F122A8F4}"/>
                </a:ext>
              </a:extLst>
            </p:cNvPr>
            <p:cNvSpPr/>
            <p:nvPr/>
          </p:nvSpPr>
          <p:spPr>
            <a:xfrm>
              <a:off x="3182071" y="3226247"/>
              <a:ext cx="226228" cy="275406"/>
            </a:xfrm>
            <a:custGeom>
              <a:avLst/>
              <a:gdLst>
                <a:gd name="connsiteX0" fmla="*/ 284197 w 438150"/>
                <a:gd name="connsiteY0" fmla="*/ 621 h 533400"/>
                <a:gd name="connsiteX1" fmla="*/ 286102 w 438150"/>
                <a:gd name="connsiteY1" fmla="*/ 621 h 533400"/>
                <a:gd name="connsiteX2" fmla="*/ 286102 w 438150"/>
                <a:gd name="connsiteY2" fmla="*/ 124446 h 533400"/>
                <a:gd name="connsiteX3" fmla="*/ 286102 w 438150"/>
                <a:gd name="connsiteY3" fmla="*/ 126351 h 533400"/>
                <a:gd name="connsiteX4" fmla="*/ 314677 w 438150"/>
                <a:gd name="connsiteY4" fmla="*/ 153021 h 533400"/>
                <a:gd name="connsiteX5" fmla="*/ 314677 w 438150"/>
                <a:gd name="connsiteY5" fmla="*/ 153021 h 533400"/>
                <a:gd name="connsiteX6" fmla="*/ 438502 w 438150"/>
                <a:gd name="connsiteY6" fmla="*/ 153021 h 533400"/>
                <a:gd name="connsiteX7" fmla="*/ 438502 w 438150"/>
                <a:gd name="connsiteY7" fmla="*/ 154926 h 533400"/>
                <a:gd name="connsiteX8" fmla="*/ 438502 w 438150"/>
                <a:gd name="connsiteY8" fmla="*/ 505446 h 533400"/>
                <a:gd name="connsiteX9" fmla="*/ 409927 w 438150"/>
                <a:gd name="connsiteY9" fmla="*/ 534021 h 533400"/>
                <a:gd name="connsiteX10" fmla="*/ 28927 w 438150"/>
                <a:gd name="connsiteY10" fmla="*/ 534021 h 533400"/>
                <a:gd name="connsiteX11" fmla="*/ 352 w 438150"/>
                <a:gd name="connsiteY11" fmla="*/ 505446 h 533400"/>
                <a:gd name="connsiteX12" fmla="*/ 352 w 438150"/>
                <a:gd name="connsiteY12" fmla="*/ 29196 h 533400"/>
                <a:gd name="connsiteX13" fmla="*/ 28927 w 438150"/>
                <a:gd name="connsiteY13" fmla="*/ 621 h 533400"/>
                <a:gd name="connsiteX14" fmla="*/ 284197 w 438150"/>
                <a:gd name="connsiteY14" fmla="*/ 621 h 533400"/>
                <a:gd name="connsiteX15" fmla="*/ 248002 w 438150"/>
                <a:gd name="connsiteY15" fmla="*/ 200646 h 533400"/>
                <a:gd name="connsiteX16" fmla="*/ 152752 w 438150"/>
                <a:gd name="connsiteY16" fmla="*/ 200646 h 533400"/>
                <a:gd name="connsiteX17" fmla="*/ 152752 w 438150"/>
                <a:gd name="connsiteY17" fmla="*/ 410196 h 533400"/>
                <a:gd name="connsiteX18" fmla="*/ 171802 w 438150"/>
                <a:gd name="connsiteY18" fmla="*/ 410196 h 533400"/>
                <a:gd name="connsiteX19" fmla="*/ 171802 w 438150"/>
                <a:gd name="connsiteY19" fmla="*/ 314946 h 533400"/>
                <a:gd name="connsiteX20" fmla="*/ 248002 w 438150"/>
                <a:gd name="connsiteY20" fmla="*/ 314946 h 533400"/>
                <a:gd name="connsiteX21" fmla="*/ 249907 w 438150"/>
                <a:gd name="connsiteY21" fmla="*/ 314946 h 533400"/>
                <a:gd name="connsiteX22" fmla="*/ 305152 w 438150"/>
                <a:gd name="connsiteY22" fmla="*/ 257796 h 533400"/>
                <a:gd name="connsiteX23" fmla="*/ 248002 w 438150"/>
                <a:gd name="connsiteY23" fmla="*/ 200646 h 533400"/>
                <a:gd name="connsiteX24" fmla="*/ 248002 w 438150"/>
                <a:gd name="connsiteY24" fmla="*/ 200646 h 533400"/>
                <a:gd name="connsiteX25" fmla="*/ 248002 w 438150"/>
                <a:gd name="connsiteY25" fmla="*/ 219696 h 533400"/>
                <a:gd name="connsiteX26" fmla="*/ 286102 w 438150"/>
                <a:gd name="connsiteY26" fmla="*/ 257796 h 533400"/>
                <a:gd name="connsiteX27" fmla="*/ 248002 w 438150"/>
                <a:gd name="connsiteY27" fmla="*/ 295896 h 533400"/>
                <a:gd name="connsiteX28" fmla="*/ 248002 w 438150"/>
                <a:gd name="connsiteY28" fmla="*/ 295896 h 533400"/>
                <a:gd name="connsiteX29" fmla="*/ 171802 w 438150"/>
                <a:gd name="connsiteY29" fmla="*/ 295896 h 533400"/>
                <a:gd name="connsiteX30" fmla="*/ 171802 w 438150"/>
                <a:gd name="connsiteY30" fmla="*/ 219696 h 533400"/>
                <a:gd name="connsiteX31" fmla="*/ 248002 w 438150"/>
                <a:gd name="connsiteY31" fmla="*/ 219696 h 533400"/>
                <a:gd name="connsiteX32" fmla="*/ 428977 w 438150"/>
                <a:gd name="connsiteY32" fmla="*/ 133971 h 533400"/>
                <a:gd name="connsiteX33" fmla="*/ 314677 w 438150"/>
                <a:gd name="connsiteY33" fmla="*/ 133971 h 533400"/>
                <a:gd name="connsiteX34" fmla="*/ 313724 w 438150"/>
                <a:gd name="connsiteY34" fmla="*/ 133971 h 533400"/>
                <a:gd name="connsiteX35" fmla="*/ 305152 w 438150"/>
                <a:gd name="connsiteY35" fmla="*/ 124446 h 533400"/>
                <a:gd name="connsiteX36" fmla="*/ 305152 w 438150"/>
                <a:gd name="connsiteY36" fmla="*/ 124446 h 533400"/>
                <a:gd name="connsiteX37" fmla="*/ 305152 w 438150"/>
                <a:gd name="connsiteY37" fmla="*/ 10146 h 533400"/>
                <a:gd name="connsiteX38" fmla="*/ 428977 w 438150"/>
                <a:gd name="connsiteY38" fmla="*/ 133971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38150" h="533400">
                  <a:moveTo>
                    <a:pt x="284197" y="621"/>
                  </a:moveTo>
                  <a:cubicBezTo>
                    <a:pt x="285149" y="621"/>
                    <a:pt x="286102" y="621"/>
                    <a:pt x="286102" y="621"/>
                  </a:cubicBezTo>
                  <a:lnTo>
                    <a:pt x="286102" y="124446"/>
                  </a:lnTo>
                  <a:lnTo>
                    <a:pt x="286102" y="126351"/>
                  </a:lnTo>
                  <a:cubicBezTo>
                    <a:pt x="287055" y="141591"/>
                    <a:pt x="299437" y="153021"/>
                    <a:pt x="314677" y="153021"/>
                  </a:cubicBezTo>
                  <a:lnTo>
                    <a:pt x="314677" y="153021"/>
                  </a:lnTo>
                  <a:lnTo>
                    <a:pt x="438502" y="153021"/>
                  </a:lnTo>
                  <a:cubicBezTo>
                    <a:pt x="438502" y="153974"/>
                    <a:pt x="438502" y="154926"/>
                    <a:pt x="438502" y="154926"/>
                  </a:cubicBezTo>
                  <a:lnTo>
                    <a:pt x="438502" y="505446"/>
                  </a:lnTo>
                  <a:cubicBezTo>
                    <a:pt x="438502" y="521639"/>
                    <a:pt x="426120" y="534021"/>
                    <a:pt x="409927" y="534021"/>
                  </a:cubicBezTo>
                  <a:lnTo>
                    <a:pt x="28927" y="534021"/>
                  </a:lnTo>
                  <a:cubicBezTo>
                    <a:pt x="12734" y="534021"/>
                    <a:pt x="352" y="521639"/>
                    <a:pt x="352" y="505446"/>
                  </a:cubicBezTo>
                  <a:lnTo>
                    <a:pt x="352" y="29196"/>
                  </a:lnTo>
                  <a:cubicBezTo>
                    <a:pt x="352" y="13004"/>
                    <a:pt x="12734" y="621"/>
                    <a:pt x="28927" y="621"/>
                  </a:cubicBezTo>
                  <a:lnTo>
                    <a:pt x="284197" y="621"/>
                  </a:lnTo>
                  <a:close/>
                  <a:moveTo>
                    <a:pt x="248002" y="200646"/>
                  </a:moveTo>
                  <a:lnTo>
                    <a:pt x="152752" y="200646"/>
                  </a:lnTo>
                  <a:lnTo>
                    <a:pt x="152752" y="410196"/>
                  </a:lnTo>
                  <a:lnTo>
                    <a:pt x="171802" y="410196"/>
                  </a:lnTo>
                  <a:lnTo>
                    <a:pt x="171802" y="314946"/>
                  </a:lnTo>
                  <a:lnTo>
                    <a:pt x="248002" y="314946"/>
                  </a:lnTo>
                  <a:lnTo>
                    <a:pt x="249907" y="314946"/>
                  </a:lnTo>
                  <a:cubicBezTo>
                    <a:pt x="280387" y="313994"/>
                    <a:pt x="305152" y="288276"/>
                    <a:pt x="305152" y="257796"/>
                  </a:cubicBezTo>
                  <a:cubicBezTo>
                    <a:pt x="305152" y="226364"/>
                    <a:pt x="279434" y="200646"/>
                    <a:pt x="248002" y="200646"/>
                  </a:cubicBezTo>
                  <a:lnTo>
                    <a:pt x="248002" y="200646"/>
                  </a:lnTo>
                  <a:close/>
                  <a:moveTo>
                    <a:pt x="248002" y="219696"/>
                  </a:moveTo>
                  <a:cubicBezTo>
                    <a:pt x="268957" y="219696"/>
                    <a:pt x="286102" y="236841"/>
                    <a:pt x="286102" y="257796"/>
                  </a:cubicBezTo>
                  <a:cubicBezTo>
                    <a:pt x="286102" y="278751"/>
                    <a:pt x="268957" y="295896"/>
                    <a:pt x="248002" y="295896"/>
                  </a:cubicBezTo>
                  <a:lnTo>
                    <a:pt x="248002" y="295896"/>
                  </a:lnTo>
                  <a:lnTo>
                    <a:pt x="171802" y="295896"/>
                  </a:lnTo>
                  <a:lnTo>
                    <a:pt x="171802" y="219696"/>
                  </a:lnTo>
                  <a:lnTo>
                    <a:pt x="248002" y="219696"/>
                  </a:lnTo>
                  <a:close/>
                  <a:moveTo>
                    <a:pt x="428977" y="133971"/>
                  </a:moveTo>
                  <a:lnTo>
                    <a:pt x="314677" y="133971"/>
                  </a:lnTo>
                  <a:lnTo>
                    <a:pt x="313724" y="133971"/>
                  </a:lnTo>
                  <a:cubicBezTo>
                    <a:pt x="308962" y="133019"/>
                    <a:pt x="305152" y="129209"/>
                    <a:pt x="305152" y="124446"/>
                  </a:cubicBezTo>
                  <a:lnTo>
                    <a:pt x="305152" y="124446"/>
                  </a:lnTo>
                  <a:lnTo>
                    <a:pt x="305152" y="10146"/>
                  </a:lnTo>
                  <a:lnTo>
                    <a:pt x="428977" y="133971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lIns="91440" tIns="45720" rIns="216000" bIns="4572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4B0086C-36BF-943A-96F3-12C2A88362D8}"/>
                </a:ext>
              </a:extLst>
            </p:cNvPr>
            <p:cNvGrpSpPr/>
            <p:nvPr/>
          </p:nvGrpSpPr>
          <p:grpSpPr>
            <a:xfrm>
              <a:off x="3505667" y="3123711"/>
              <a:ext cx="4627404" cy="742901"/>
              <a:chOff x="3505667" y="3123711"/>
              <a:chExt cx="4627404" cy="742901"/>
            </a:xfrm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273F5660-F6C7-0045-F90B-7FB85D73BA51}"/>
                  </a:ext>
                </a:extLst>
              </p:cNvPr>
              <p:cNvSpPr/>
              <p:nvPr/>
            </p:nvSpPr>
            <p:spPr>
              <a:xfrm>
                <a:off x="3505667" y="3224412"/>
                <a:ext cx="4627404" cy="642200"/>
              </a:xfrm>
              <a:prstGeom prst="roundRect">
                <a:avLst>
                  <a:gd name="adj" fmla="val 0"/>
                </a:avLst>
              </a:prstGeom>
              <a:noFill/>
              <a:ln w="6055" cap="flat">
                <a:noFill/>
                <a:prstDash val="solid"/>
                <a:miter/>
              </a:ln>
            </p:spPr>
            <p:txBody>
              <a:bodyPr wrap="square" lIns="216000" tIns="108000" rIns="216000" bIns="108000" rtlCol="0" anchor="ctr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/>
                  <a:t>视觉设计系统建立规范，实名认证与受限态转正流程定义清晰。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0E6A11C-6530-71A7-1644-821AA1B23ADB}"/>
                  </a:ext>
                </a:extLst>
              </p:cNvPr>
              <p:cNvSpPr/>
              <p:nvPr/>
            </p:nvSpPr>
            <p:spPr>
              <a:xfrm>
                <a:off x="3622541" y="3123711"/>
                <a:ext cx="1766642" cy="2616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kumimoji="1" lang="zh-CN" altLang="en-US" sz="1600" b="1" dirty="0">
                    <a:solidFill>
                      <a:schemeClr val="tx1"/>
                    </a:solidFill>
                  </a:rPr>
                  <a:t>体验与信任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45FCE64-1F63-4768-663B-F78820775AA5}"/>
              </a:ext>
            </a:extLst>
          </p:cNvPr>
          <p:cNvGrpSpPr/>
          <p:nvPr/>
        </p:nvGrpSpPr>
        <p:grpSpPr>
          <a:xfrm>
            <a:off x="2826471" y="3821295"/>
            <a:ext cx="4951000" cy="742901"/>
            <a:chOff x="3182071" y="3123711"/>
            <a:chExt cx="4951000" cy="742901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1782EFA-A8F6-2B1E-AC22-A00048AF190E}"/>
                </a:ext>
              </a:extLst>
            </p:cNvPr>
            <p:cNvSpPr/>
            <p:nvPr/>
          </p:nvSpPr>
          <p:spPr>
            <a:xfrm>
              <a:off x="3182071" y="3226247"/>
              <a:ext cx="226228" cy="275406"/>
            </a:xfrm>
            <a:custGeom>
              <a:avLst/>
              <a:gdLst>
                <a:gd name="connsiteX0" fmla="*/ 284197 w 438150"/>
                <a:gd name="connsiteY0" fmla="*/ 621 h 533400"/>
                <a:gd name="connsiteX1" fmla="*/ 286102 w 438150"/>
                <a:gd name="connsiteY1" fmla="*/ 621 h 533400"/>
                <a:gd name="connsiteX2" fmla="*/ 286102 w 438150"/>
                <a:gd name="connsiteY2" fmla="*/ 124446 h 533400"/>
                <a:gd name="connsiteX3" fmla="*/ 286102 w 438150"/>
                <a:gd name="connsiteY3" fmla="*/ 126351 h 533400"/>
                <a:gd name="connsiteX4" fmla="*/ 314677 w 438150"/>
                <a:gd name="connsiteY4" fmla="*/ 153021 h 533400"/>
                <a:gd name="connsiteX5" fmla="*/ 314677 w 438150"/>
                <a:gd name="connsiteY5" fmla="*/ 153021 h 533400"/>
                <a:gd name="connsiteX6" fmla="*/ 438502 w 438150"/>
                <a:gd name="connsiteY6" fmla="*/ 153021 h 533400"/>
                <a:gd name="connsiteX7" fmla="*/ 438502 w 438150"/>
                <a:gd name="connsiteY7" fmla="*/ 154926 h 533400"/>
                <a:gd name="connsiteX8" fmla="*/ 438502 w 438150"/>
                <a:gd name="connsiteY8" fmla="*/ 505446 h 533400"/>
                <a:gd name="connsiteX9" fmla="*/ 409927 w 438150"/>
                <a:gd name="connsiteY9" fmla="*/ 534021 h 533400"/>
                <a:gd name="connsiteX10" fmla="*/ 28927 w 438150"/>
                <a:gd name="connsiteY10" fmla="*/ 534021 h 533400"/>
                <a:gd name="connsiteX11" fmla="*/ 352 w 438150"/>
                <a:gd name="connsiteY11" fmla="*/ 505446 h 533400"/>
                <a:gd name="connsiteX12" fmla="*/ 352 w 438150"/>
                <a:gd name="connsiteY12" fmla="*/ 29196 h 533400"/>
                <a:gd name="connsiteX13" fmla="*/ 28927 w 438150"/>
                <a:gd name="connsiteY13" fmla="*/ 621 h 533400"/>
                <a:gd name="connsiteX14" fmla="*/ 284197 w 438150"/>
                <a:gd name="connsiteY14" fmla="*/ 621 h 533400"/>
                <a:gd name="connsiteX15" fmla="*/ 248002 w 438150"/>
                <a:gd name="connsiteY15" fmla="*/ 200646 h 533400"/>
                <a:gd name="connsiteX16" fmla="*/ 152752 w 438150"/>
                <a:gd name="connsiteY16" fmla="*/ 200646 h 533400"/>
                <a:gd name="connsiteX17" fmla="*/ 152752 w 438150"/>
                <a:gd name="connsiteY17" fmla="*/ 410196 h 533400"/>
                <a:gd name="connsiteX18" fmla="*/ 171802 w 438150"/>
                <a:gd name="connsiteY18" fmla="*/ 410196 h 533400"/>
                <a:gd name="connsiteX19" fmla="*/ 171802 w 438150"/>
                <a:gd name="connsiteY19" fmla="*/ 314946 h 533400"/>
                <a:gd name="connsiteX20" fmla="*/ 248002 w 438150"/>
                <a:gd name="connsiteY20" fmla="*/ 314946 h 533400"/>
                <a:gd name="connsiteX21" fmla="*/ 249907 w 438150"/>
                <a:gd name="connsiteY21" fmla="*/ 314946 h 533400"/>
                <a:gd name="connsiteX22" fmla="*/ 305152 w 438150"/>
                <a:gd name="connsiteY22" fmla="*/ 257796 h 533400"/>
                <a:gd name="connsiteX23" fmla="*/ 248002 w 438150"/>
                <a:gd name="connsiteY23" fmla="*/ 200646 h 533400"/>
                <a:gd name="connsiteX24" fmla="*/ 248002 w 438150"/>
                <a:gd name="connsiteY24" fmla="*/ 200646 h 533400"/>
                <a:gd name="connsiteX25" fmla="*/ 248002 w 438150"/>
                <a:gd name="connsiteY25" fmla="*/ 219696 h 533400"/>
                <a:gd name="connsiteX26" fmla="*/ 286102 w 438150"/>
                <a:gd name="connsiteY26" fmla="*/ 257796 h 533400"/>
                <a:gd name="connsiteX27" fmla="*/ 248002 w 438150"/>
                <a:gd name="connsiteY27" fmla="*/ 295896 h 533400"/>
                <a:gd name="connsiteX28" fmla="*/ 248002 w 438150"/>
                <a:gd name="connsiteY28" fmla="*/ 295896 h 533400"/>
                <a:gd name="connsiteX29" fmla="*/ 171802 w 438150"/>
                <a:gd name="connsiteY29" fmla="*/ 295896 h 533400"/>
                <a:gd name="connsiteX30" fmla="*/ 171802 w 438150"/>
                <a:gd name="connsiteY30" fmla="*/ 219696 h 533400"/>
                <a:gd name="connsiteX31" fmla="*/ 248002 w 438150"/>
                <a:gd name="connsiteY31" fmla="*/ 219696 h 533400"/>
                <a:gd name="connsiteX32" fmla="*/ 428977 w 438150"/>
                <a:gd name="connsiteY32" fmla="*/ 133971 h 533400"/>
                <a:gd name="connsiteX33" fmla="*/ 314677 w 438150"/>
                <a:gd name="connsiteY33" fmla="*/ 133971 h 533400"/>
                <a:gd name="connsiteX34" fmla="*/ 313724 w 438150"/>
                <a:gd name="connsiteY34" fmla="*/ 133971 h 533400"/>
                <a:gd name="connsiteX35" fmla="*/ 305152 w 438150"/>
                <a:gd name="connsiteY35" fmla="*/ 124446 h 533400"/>
                <a:gd name="connsiteX36" fmla="*/ 305152 w 438150"/>
                <a:gd name="connsiteY36" fmla="*/ 124446 h 533400"/>
                <a:gd name="connsiteX37" fmla="*/ 305152 w 438150"/>
                <a:gd name="connsiteY37" fmla="*/ 10146 h 533400"/>
                <a:gd name="connsiteX38" fmla="*/ 428977 w 438150"/>
                <a:gd name="connsiteY38" fmla="*/ 133971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38150" h="533400">
                  <a:moveTo>
                    <a:pt x="284197" y="621"/>
                  </a:moveTo>
                  <a:cubicBezTo>
                    <a:pt x="285149" y="621"/>
                    <a:pt x="286102" y="621"/>
                    <a:pt x="286102" y="621"/>
                  </a:cubicBezTo>
                  <a:lnTo>
                    <a:pt x="286102" y="124446"/>
                  </a:lnTo>
                  <a:lnTo>
                    <a:pt x="286102" y="126351"/>
                  </a:lnTo>
                  <a:cubicBezTo>
                    <a:pt x="287055" y="141591"/>
                    <a:pt x="299437" y="153021"/>
                    <a:pt x="314677" y="153021"/>
                  </a:cubicBezTo>
                  <a:lnTo>
                    <a:pt x="314677" y="153021"/>
                  </a:lnTo>
                  <a:lnTo>
                    <a:pt x="438502" y="153021"/>
                  </a:lnTo>
                  <a:cubicBezTo>
                    <a:pt x="438502" y="153974"/>
                    <a:pt x="438502" y="154926"/>
                    <a:pt x="438502" y="154926"/>
                  </a:cubicBezTo>
                  <a:lnTo>
                    <a:pt x="438502" y="505446"/>
                  </a:lnTo>
                  <a:cubicBezTo>
                    <a:pt x="438502" y="521639"/>
                    <a:pt x="426120" y="534021"/>
                    <a:pt x="409927" y="534021"/>
                  </a:cubicBezTo>
                  <a:lnTo>
                    <a:pt x="28927" y="534021"/>
                  </a:lnTo>
                  <a:cubicBezTo>
                    <a:pt x="12734" y="534021"/>
                    <a:pt x="352" y="521639"/>
                    <a:pt x="352" y="505446"/>
                  </a:cubicBezTo>
                  <a:lnTo>
                    <a:pt x="352" y="29196"/>
                  </a:lnTo>
                  <a:cubicBezTo>
                    <a:pt x="352" y="13004"/>
                    <a:pt x="12734" y="621"/>
                    <a:pt x="28927" y="621"/>
                  </a:cubicBezTo>
                  <a:lnTo>
                    <a:pt x="284197" y="621"/>
                  </a:lnTo>
                  <a:close/>
                  <a:moveTo>
                    <a:pt x="248002" y="200646"/>
                  </a:moveTo>
                  <a:lnTo>
                    <a:pt x="152752" y="200646"/>
                  </a:lnTo>
                  <a:lnTo>
                    <a:pt x="152752" y="410196"/>
                  </a:lnTo>
                  <a:lnTo>
                    <a:pt x="171802" y="410196"/>
                  </a:lnTo>
                  <a:lnTo>
                    <a:pt x="171802" y="314946"/>
                  </a:lnTo>
                  <a:lnTo>
                    <a:pt x="248002" y="314946"/>
                  </a:lnTo>
                  <a:lnTo>
                    <a:pt x="249907" y="314946"/>
                  </a:lnTo>
                  <a:cubicBezTo>
                    <a:pt x="280387" y="313994"/>
                    <a:pt x="305152" y="288276"/>
                    <a:pt x="305152" y="257796"/>
                  </a:cubicBezTo>
                  <a:cubicBezTo>
                    <a:pt x="305152" y="226364"/>
                    <a:pt x="279434" y="200646"/>
                    <a:pt x="248002" y="200646"/>
                  </a:cubicBezTo>
                  <a:lnTo>
                    <a:pt x="248002" y="200646"/>
                  </a:lnTo>
                  <a:close/>
                  <a:moveTo>
                    <a:pt x="248002" y="219696"/>
                  </a:moveTo>
                  <a:cubicBezTo>
                    <a:pt x="268957" y="219696"/>
                    <a:pt x="286102" y="236841"/>
                    <a:pt x="286102" y="257796"/>
                  </a:cubicBezTo>
                  <a:cubicBezTo>
                    <a:pt x="286102" y="278751"/>
                    <a:pt x="268957" y="295896"/>
                    <a:pt x="248002" y="295896"/>
                  </a:cubicBezTo>
                  <a:lnTo>
                    <a:pt x="248002" y="295896"/>
                  </a:lnTo>
                  <a:lnTo>
                    <a:pt x="171802" y="295896"/>
                  </a:lnTo>
                  <a:lnTo>
                    <a:pt x="171802" y="219696"/>
                  </a:lnTo>
                  <a:lnTo>
                    <a:pt x="248002" y="219696"/>
                  </a:lnTo>
                  <a:close/>
                  <a:moveTo>
                    <a:pt x="428977" y="133971"/>
                  </a:moveTo>
                  <a:lnTo>
                    <a:pt x="314677" y="133971"/>
                  </a:lnTo>
                  <a:lnTo>
                    <a:pt x="313724" y="133971"/>
                  </a:lnTo>
                  <a:cubicBezTo>
                    <a:pt x="308962" y="133019"/>
                    <a:pt x="305152" y="129209"/>
                    <a:pt x="305152" y="124446"/>
                  </a:cubicBezTo>
                  <a:lnTo>
                    <a:pt x="305152" y="124446"/>
                  </a:lnTo>
                  <a:lnTo>
                    <a:pt x="305152" y="10146"/>
                  </a:lnTo>
                  <a:lnTo>
                    <a:pt x="428977" y="133971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lIns="91440" tIns="45720" rIns="216000" bIns="45720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B5AC497-CDEA-6F29-BB17-09D35B0CD189}"/>
                </a:ext>
              </a:extLst>
            </p:cNvPr>
            <p:cNvGrpSpPr/>
            <p:nvPr/>
          </p:nvGrpSpPr>
          <p:grpSpPr>
            <a:xfrm>
              <a:off x="3505667" y="3123711"/>
              <a:ext cx="4627404" cy="742901"/>
              <a:chOff x="3505667" y="3123711"/>
              <a:chExt cx="4627404" cy="742901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23D8DE46-0F0C-C151-CBCE-3164BE670337}"/>
                  </a:ext>
                </a:extLst>
              </p:cNvPr>
              <p:cNvSpPr/>
              <p:nvPr/>
            </p:nvSpPr>
            <p:spPr>
              <a:xfrm>
                <a:off x="3505667" y="3224412"/>
                <a:ext cx="4627404" cy="642200"/>
              </a:xfrm>
              <a:prstGeom prst="roundRect">
                <a:avLst>
                  <a:gd name="adj" fmla="val 0"/>
                </a:avLst>
              </a:prstGeom>
              <a:noFill/>
              <a:ln w="6055" cap="flat">
                <a:noFill/>
                <a:prstDash val="solid"/>
                <a:miter/>
              </a:ln>
            </p:spPr>
            <p:txBody>
              <a:bodyPr wrap="square" lIns="216000" tIns="108000" rIns="216000" bIns="108000" rtlCol="0" anchor="ctr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/>
                  <a:t>三乘积北极星 ≥0.216，三轴均 ≥0.6，以第 4 周校准值验收。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54C25BC-5869-2F50-70D2-5E6F3AA60130}"/>
                  </a:ext>
                </a:extLst>
              </p:cNvPr>
              <p:cNvSpPr/>
              <p:nvPr/>
            </p:nvSpPr>
            <p:spPr>
              <a:xfrm>
                <a:off x="3622541" y="3123711"/>
                <a:ext cx="1766642" cy="2616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kumimoji="1" lang="zh-CN" altLang="en-US" sz="1600" b="1" dirty="0">
                    <a:solidFill>
                      <a:schemeClr val="tx1"/>
                    </a:solidFill>
                  </a:rPr>
                  <a:t>北极星达标</a:t>
                </a:r>
              </a:p>
            </p:txBody>
          </p:sp>
        </p:grpSp>
      </p:grpSp>
      <p:sp>
        <p:nvSpPr>
          <p:cNvPr id="36" name="Title 35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成功标准与验收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76413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05.滚动 MVP 路线图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/>
              <a:t>三批交付与风险应对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5732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11E2C30-DCB9-4ACA-BE2C-5F63922E1EE0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1130300"/>
            <a:ext cx="12192000" cy="5003800"/>
            <a:chOff x="0" y="1130300"/>
            <a:chExt cx="12192000" cy="50038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674AADB-8882-4C58-A8A0-A5A80E5C573D}"/>
                </a:ext>
              </a:extLst>
            </p:cNvPr>
            <p:cNvGrpSpPr/>
            <p:nvPr/>
          </p:nvGrpSpPr>
          <p:grpSpPr>
            <a:xfrm>
              <a:off x="1079028" y="1130300"/>
              <a:ext cx="10021243" cy="1151173"/>
              <a:chOff x="660401" y="4826974"/>
              <a:chExt cx="10858500" cy="1151173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526A6D4-3938-483E-AE04-387A4D4F50AE}"/>
                  </a:ext>
                </a:extLst>
              </p:cNvPr>
              <p:cNvSpPr txBox="1"/>
              <p:nvPr/>
            </p:nvSpPr>
            <p:spPr>
              <a:xfrm>
                <a:off x="660401" y="5244598"/>
                <a:ext cx="10858499" cy="7335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buSzPct val="25000"/>
                </a:pPr>
                <a:r>
                  <a:rPr lang="zh-CN" altLang="en-US" sz="1200" dirty="0"/>
                  <a:t>按绝对日期锚点分批交付，9/30 交内测包，11/25 商店上架。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912A863-473E-4A90-BEE6-44BFAF3EC2FB}"/>
                  </a:ext>
                </a:extLst>
              </p:cNvPr>
              <p:cNvSpPr/>
              <p:nvPr/>
            </p:nvSpPr>
            <p:spPr>
              <a:xfrm>
                <a:off x="660402" y="4826974"/>
                <a:ext cx="10858499" cy="417624"/>
              </a:xfrm>
              <a:prstGeom prst="rect">
                <a:avLst/>
              </a:prstGeom>
              <a:noFill/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92500" lnSpcReduction="1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>
                  <a:lnSpc>
                    <a:spcPct val="100000"/>
                  </a:lnSpc>
                </a:pPr>
                <a:r>
                  <a:rPr lang="zh-CN" altLang="en-US" sz="2400" b="1" dirty="0"/>
                  <a:t>滚动 MVP 路线图</a:t>
                </a:r>
                <a:endParaRPr lang="id-ID" altLang="zh-CN" b="1" dirty="0">
                  <a:solidFill>
                    <a:schemeClr val="accent1"/>
                  </a:solidFill>
                </a:endParaRPr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2042791-E0A1-49B5-814A-6C180FA22D46}"/>
                </a:ext>
              </a:extLst>
            </p:cNvPr>
            <p:cNvSpPr/>
            <p:nvPr/>
          </p:nvSpPr>
          <p:spPr>
            <a:xfrm>
              <a:off x="0" y="4390931"/>
              <a:ext cx="12192000" cy="61563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 cap="rnd">
              <a:noFill/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B1D864-F701-42CB-8EE6-83C61F488A9C}"/>
                </a:ext>
              </a:extLst>
            </p:cNvPr>
            <p:cNvGrpSpPr/>
            <p:nvPr/>
          </p:nvGrpSpPr>
          <p:grpSpPr>
            <a:xfrm>
              <a:off x="660400" y="2504603"/>
              <a:ext cx="3369248" cy="3629497"/>
              <a:chOff x="660400" y="2504603"/>
              <a:chExt cx="3431766" cy="3629497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9F1B890-4C23-48E6-8E95-6A35FEBDEFCC}"/>
                  </a:ext>
                </a:extLst>
              </p:cNvPr>
              <p:cNvSpPr/>
              <p:nvPr/>
            </p:nvSpPr>
            <p:spPr>
              <a:xfrm>
                <a:off x="660400" y="2504603"/>
                <a:ext cx="3431766" cy="1886328"/>
              </a:xfrm>
              <a:prstGeom prst="rect">
                <a:avLst/>
              </a:prstGeom>
              <a:blipFill rotWithShape="0">
                <a:blip r:embed="rId3"/>
                <a:srcRect/>
                <a:stretch>
                  <a:fillRect t="-1020" b="-1020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56639E96-A565-47B6-907E-4462AE385314}"/>
                  </a:ext>
                </a:extLst>
              </p:cNvPr>
              <p:cNvGrpSpPr/>
              <p:nvPr/>
            </p:nvGrpSpPr>
            <p:grpSpPr>
              <a:xfrm>
                <a:off x="660400" y="4468004"/>
                <a:ext cx="3431766" cy="1666096"/>
                <a:chOff x="743997" y="4468004"/>
                <a:chExt cx="3264572" cy="1666096"/>
              </a:xfrm>
            </p:grpSpPr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21D2456-A6A6-43F5-AD86-0A010D24A2F0}"/>
                    </a:ext>
                  </a:extLst>
                </p:cNvPr>
                <p:cNvSpPr txBox="1"/>
                <p:nvPr/>
              </p:nvSpPr>
              <p:spPr>
                <a:xfrm>
                  <a:off x="743997" y="4468004"/>
                  <a:ext cx="3264572" cy="461488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</a:pPr>
                  <a:r>
                    <a:rPr lang="zh-CN" altLang="en-US" sz="1600" b="1" dirty="0">
                      <a:solidFill>
                        <a:schemeClr val="bg1"/>
                      </a:solidFill>
                    </a:rPr>
                    <a:t>第一批｜08/24-09/30</a:t>
                  </a:r>
                  <a:endParaRPr lang="id-ID" sz="16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F8E07573-A8E5-42F7-B445-E2E8E3B47ABD}"/>
                    </a:ext>
                  </a:extLst>
                </p:cNvPr>
                <p:cNvSpPr/>
                <p:nvPr/>
              </p:nvSpPr>
              <p:spPr bwMode="auto">
                <a:xfrm>
                  <a:off x="743997" y="5006565"/>
                  <a:ext cx="3264572" cy="112753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20000"/>
                    </a:lnSpc>
                  </a:pPr>
                  <a:r>
                    <a:rPr lang="zh-CN" altLang="en-US" sz="1200" dirty="0"/>
                    <a:t>五大 P0 闭环、地图分类图层、完整度分级、聚合 POC，交付内测包。</a:t>
                  </a:r>
                </a:p>
              </p:txBody>
            </p: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CA8488D-F70E-428E-A0F3-3284C9A99641}"/>
                </a:ext>
              </a:extLst>
            </p:cNvPr>
            <p:cNvGrpSpPr/>
            <p:nvPr/>
          </p:nvGrpSpPr>
          <p:grpSpPr>
            <a:xfrm>
              <a:off x="4405027" y="2504603"/>
              <a:ext cx="3369248" cy="3629497"/>
              <a:chOff x="660400" y="2504603"/>
              <a:chExt cx="3431766" cy="3629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798C1E5-D1E3-4471-A06E-6879789FBA3E}"/>
                  </a:ext>
                </a:extLst>
              </p:cNvPr>
              <p:cNvSpPr/>
              <p:nvPr/>
            </p:nvSpPr>
            <p:spPr>
              <a:xfrm>
                <a:off x="660400" y="2504603"/>
                <a:ext cx="3431766" cy="1886328"/>
              </a:xfrm>
              <a:prstGeom prst="rect">
                <a:avLst/>
              </a:prstGeom>
              <a:blipFill rotWithShape="0">
                <a:blip r:embed="rId4"/>
                <a:srcRect/>
                <a:stretch>
                  <a:fillRect t="-2050" b="-2050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54B1FEB-B821-4079-BE89-DF5F260CCC02}"/>
                  </a:ext>
                </a:extLst>
              </p:cNvPr>
              <p:cNvGrpSpPr/>
              <p:nvPr/>
            </p:nvGrpSpPr>
            <p:grpSpPr>
              <a:xfrm>
                <a:off x="660400" y="4468004"/>
                <a:ext cx="3431766" cy="1666096"/>
                <a:chOff x="743997" y="4468004"/>
                <a:chExt cx="3264572" cy="1666096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41869B8-0BFC-4100-A8B1-1D0BB97D459A}"/>
                    </a:ext>
                  </a:extLst>
                </p:cNvPr>
                <p:cNvSpPr txBox="1"/>
                <p:nvPr/>
              </p:nvSpPr>
              <p:spPr>
                <a:xfrm>
                  <a:off x="743997" y="4468004"/>
                  <a:ext cx="3264572" cy="461488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</a:pPr>
                  <a:r>
                    <a:rPr lang="zh-CN" altLang="en-US" sz="1600" b="1" dirty="0">
                      <a:solidFill>
                        <a:schemeClr val="bg1"/>
                      </a:solidFill>
                    </a:rPr>
                    <a:t>合规窗口｜10/01-11/25</a:t>
                  </a:r>
                  <a:endParaRPr lang="id-ID" sz="16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5308DBAF-8DDE-4AC8-8347-3D296D92DEC0}"/>
                    </a:ext>
                  </a:extLst>
                </p:cNvPr>
                <p:cNvSpPr/>
                <p:nvPr/>
              </p:nvSpPr>
              <p:spPr bwMode="auto">
                <a:xfrm>
                  <a:off x="743997" y="5006565"/>
                  <a:ext cx="3264572" cy="112753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20000"/>
                    </a:lnSpc>
                  </a:pPr>
                  <a:r>
                    <a:rPr lang="zh-CN" altLang="en-US" sz="1200" dirty="0"/>
                    <a:t>运营治理后台 7 页、公安备案、安全评估，软著下证后提审上架。</a:t>
                  </a:r>
                </a:p>
              </p:txBody>
            </p:sp>
          </p:grp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AA5B4D6-F706-4D52-B94E-EA795AF18936}"/>
                </a:ext>
              </a:extLst>
            </p:cNvPr>
            <p:cNvGrpSpPr/>
            <p:nvPr/>
          </p:nvGrpSpPr>
          <p:grpSpPr>
            <a:xfrm>
              <a:off x="8149652" y="2504603"/>
              <a:ext cx="3369248" cy="3629497"/>
              <a:chOff x="660400" y="2504603"/>
              <a:chExt cx="3431766" cy="3629497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04F3D1A-3CF7-4BF6-B7F8-E069CF4A4574}"/>
                  </a:ext>
                </a:extLst>
              </p:cNvPr>
              <p:cNvSpPr/>
              <p:nvPr/>
            </p:nvSpPr>
            <p:spPr>
              <a:xfrm>
                <a:off x="660400" y="2504603"/>
                <a:ext cx="3431766" cy="1886328"/>
              </a:xfrm>
              <a:prstGeom prst="rect">
                <a:avLst/>
              </a:prstGeom>
              <a:blipFill rotWithShape="0">
                <a:blip r:embed="rId5"/>
                <a:srcRect/>
                <a:stretch>
                  <a:fillRect t="-1020" b="-1020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229F3AEB-1C9C-45EB-9345-ED2B54D923AB}"/>
                  </a:ext>
                </a:extLst>
              </p:cNvPr>
              <p:cNvGrpSpPr/>
              <p:nvPr/>
            </p:nvGrpSpPr>
            <p:grpSpPr>
              <a:xfrm>
                <a:off x="660400" y="4468004"/>
                <a:ext cx="3431766" cy="1666096"/>
                <a:chOff x="743997" y="4468004"/>
                <a:chExt cx="3264572" cy="1666096"/>
              </a:xfrm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C1F5E14-3B78-4E08-A9CF-896D1859F62C}"/>
                    </a:ext>
                  </a:extLst>
                </p:cNvPr>
                <p:cNvSpPr txBox="1"/>
                <p:nvPr/>
              </p:nvSpPr>
              <p:spPr>
                <a:xfrm>
                  <a:off x="743997" y="4468004"/>
                  <a:ext cx="3264572" cy="461488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</a:pPr>
                  <a:r>
                    <a:rPr lang="zh-CN" altLang="en-US" sz="1600" b="1" dirty="0">
                      <a:solidFill>
                        <a:schemeClr val="bg1"/>
                      </a:solidFill>
                    </a:rPr>
                    <a:t>后续批次｜11/26 起</a:t>
                  </a:r>
                  <a:endParaRPr lang="id-ID" sz="16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E387ADE-4C1E-48FF-A32E-F62A5EA86C28}"/>
                    </a:ext>
                  </a:extLst>
                </p:cNvPr>
                <p:cNvSpPr/>
                <p:nvPr/>
              </p:nvSpPr>
              <p:spPr bwMode="auto">
                <a:xfrm>
                  <a:off x="743997" y="5006565"/>
                  <a:ext cx="3264572" cy="112753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20000"/>
                    </a:lnSpc>
                  </a:pPr>
                  <a:r>
                    <a:rPr lang="zh-CN" altLang="en-US" sz="1200" dirty="0"/>
                    <a:t>匹配三阶段与双向推送、AI 发布、动态蜂窝，2027/04 联动。</a:t>
                  </a:r>
                </a:p>
              </p:txBody>
            </p:sp>
          </p:grpSp>
        </p:grpSp>
      </p:grpSp>
      <p:sp>
        <p:nvSpPr>
          <p:cNvPr id="23" name="Title 2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滚动 MVP 路线图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56186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5B1388B-3432-4E35-87DB-4E2A4473F68B}"/>
              </a:ext>
            </a:extLst>
          </p:cNvPr>
          <p:cNvGrpSpPr/>
          <p:nvPr/>
        </p:nvGrpSpPr>
        <p:grpSpPr>
          <a:xfrm>
            <a:off x="6622528" y="4951938"/>
            <a:ext cx="3450550" cy="1033956"/>
            <a:chOff x="6622528" y="4951938"/>
            <a:chExt cx="3450550" cy="103395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02912EC-8780-4B72-A493-0CBCB7A2DAF2}"/>
                </a:ext>
              </a:extLst>
            </p:cNvPr>
            <p:cNvSpPr txBox="1"/>
            <p:nvPr/>
          </p:nvSpPr>
          <p:spPr>
            <a:xfrm>
              <a:off x="7448469" y="5075049"/>
              <a:ext cx="262460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AI 清单未过评审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CB49B0B-09E9-4567-BCB8-B6CD25C649C5}"/>
                </a:ext>
              </a:extLst>
            </p:cNvPr>
            <p:cNvSpPr/>
            <p:nvPr/>
          </p:nvSpPr>
          <p:spPr>
            <a:xfrm flipH="1">
              <a:off x="7448465" y="5401119"/>
              <a:ext cx="2624609" cy="584775"/>
            </a:xfrm>
            <a:prstGeom prst="rect">
              <a:avLst/>
            </a:prstGeom>
            <a:ln>
              <a:noFill/>
            </a:ln>
          </p:spPr>
          <p:txBody>
            <a:bodyPr wrap="square" lIns="91440" tIns="45720" rIns="91440" bIns="45720" anchor="t">
              <a:noAutofit/>
            </a:bodyPr>
            <a:lstStyle/>
            <a:p>
              <a:pPr marL="0" marR="0" lvl="0" indent="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三色清单附录 + 前置验收 + 决策评审强制流程。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FD38D7-C386-46D7-806B-16E03FF51F55}"/>
                </a:ext>
              </a:extLst>
            </p:cNvPr>
            <p:cNvSpPr txBox="1"/>
            <p:nvPr/>
          </p:nvSpPr>
          <p:spPr>
            <a:xfrm>
              <a:off x="6622528" y="4951938"/>
              <a:ext cx="639919" cy="58477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3200" b="1" i="1" dirty="0">
                  <a:solidFill>
                    <a:schemeClr val="tx2"/>
                  </a:solidFill>
                </a:rPr>
                <a:t>03</a:t>
              </a:r>
              <a:endParaRPr lang="zh-CN" altLang="en-US" sz="3200" b="1" i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1FBAFF6-7855-4C54-A60D-0D1A17FB54AE}"/>
              </a:ext>
            </a:extLst>
          </p:cNvPr>
          <p:cNvGrpSpPr/>
          <p:nvPr/>
        </p:nvGrpSpPr>
        <p:grpSpPr>
          <a:xfrm>
            <a:off x="6622529" y="2383462"/>
            <a:ext cx="3418893" cy="1033956"/>
            <a:chOff x="6622529" y="2570908"/>
            <a:chExt cx="3418893" cy="103395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64B4DF-61E5-4976-8C41-7DFBDE76D4C5}"/>
                </a:ext>
              </a:extLst>
            </p:cNvPr>
            <p:cNvSpPr txBox="1"/>
            <p:nvPr/>
          </p:nvSpPr>
          <p:spPr>
            <a:xfrm>
              <a:off x="7416812" y="2694019"/>
              <a:ext cx="262461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供给密度不足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001C09C-AC6F-40FE-A3E3-962EE6C7452B}"/>
                </a:ext>
              </a:extLst>
            </p:cNvPr>
            <p:cNvSpPr/>
            <p:nvPr/>
          </p:nvSpPr>
          <p:spPr>
            <a:xfrm flipH="1">
              <a:off x="7416809" y="3020089"/>
              <a:ext cx="2624610" cy="584775"/>
            </a:xfrm>
            <a:prstGeom prst="rect">
              <a:avLst/>
            </a:prstGeom>
            <a:ln>
              <a:noFill/>
            </a:ln>
          </p:spPr>
          <p:txBody>
            <a:bodyPr wrap="square" lIns="91440" tIns="45720" rIns="91440" bIns="45720" anchor="t">
              <a:noAutofit/>
            </a:bodyPr>
            <a:lstStyle/>
            <a:p>
              <a:pPr marL="0" marR="0" lvl="0" indent="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冷启动 18 条种子供给踩阈值 + 双向灰度开关。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DF9266C-D98D-465F-A468-C4E46FB08001}"/>
                </a:ext>
              </a:extLst>
            </p:cNvPr>
            <p:cNvSpPr txBox="1"/>
            <p:nvPr/>
          </p:nvSpPr>
          <p:spPr>
            <a:xfrm>
              <a:off x="6622529" y="2570908"/>
              <a:ext cx="639919" cy="58477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3200" b="1" i="1" dirty="0">
                  <a:solidFill>
                    <a:schemeClr val="accent1"/>
                  </a:solidFill>
                </a:rPr>
                <a:t>01</a:t>
              </a:r>
              <a:endParaRPr lang="zh-CN" altLang="en-US" sz="3200" b="1" i="1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388CDB9-E09B-49D4-9230-63AB3A54D736}"/>
              </a:ext>
            </a:extLst>
          </p:cNvPr>
          <p:cNvGrpSpPr/>
          <p:nvPr/>
        </p:nvGrpSpPr>
        <p:grpSpPr>
          <a:xfrm>
            <a:off x="6622529" y="3666010"/>
            <a:ext cx="3418893" cy="1037336"/>
            <a:chOff x="6622529" y="3759733"/>
            <a:chExt cx="3418893" cy="103733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D5DEE68-88C1-4976-BD58-806CF10B0CB0}"/>
                </a:ext>
              </a:extLst>
            </p:cNvPr>
            <p:cNvSpPr txBox="1"/>
            <p:nvPr/>
          </p:nvSpPr>
          <p:spPr>
            <a:xfrm>
              <a:off x="7416812" y="3886224"/>
              <a:ext cx="262461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地图性能退化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6A63328-0E3C-4DC9-A36E-1E0249A7E43C}"/>
                </a:ext>
              </a:extLst>
            </p:cNvPr>
            <p:cNvSpPr/>
            <p:nvPr/>
          </p:nvSpPr>
          <p:spPr>
            <a:xfrm flipH="1">
              <a:off x="7416809" y="4212294"/>
              <a:ext cx="2624610" cy="584775"/>
            </a:xfrm>
            <a:prstGeom prst="rect">
              <a:avLst/>
            </a:prstGeom>
            <a:ln>
              <a:noFill/>
            </a:ln>
          </p:spPr>
          <p:txBody>
            <a:bodyPr wrap="square" lIns="91440" tIns="45720" rIns="91440" bIns="45720" anchor="t">
              <a:noAutofit/>
            </a:bodyPr>
            <a:lstStyle/>
            <a:p>
              <a:pPr marL="0" marR="0" lvl="0" indent="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前置聚合性能 POC + 埋点告警 + 性能降级开关。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EFED675-60E3-462D-89E9-0B9BB622DEC5}"/>
                </a:ext>
              </a:extLst>
            </p:cNvPr>
            <p:cNvSpPr txBox="1"/>
            <p:nvPr/>
          </p:nvSpPr>
          <p:spPr>
            <a:xfrm>
              <a:off x="6622529" y="3759733"/>
              <a:ext cx="639919" cy="58477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3200" b="1" i="1" dirty="0">
                  <a:solidFill>
                    <a:schemeClr val="tx2"/>
                  </a:solidFill>
                </a:rPr>
                <a:t>02</a:t>
              </a:r>
              <a:endParaRPr lang="zh-CN" altLang="en-US" sz="3200" b="1" i="1" dirty="0">
                <a:solidFill>
                  <a:schemeClr val="tx2"/>
                </a:solidFill>
              </a:endParaRPr>
            </a:p>
          </p:txBody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99E85CA5-AEAF-4BFB-9A8A-2BB38F24D0C5}"/>
              </a:ext>
            </a:extLst>
          </p:cNvPr>
          <p:cNvSpPr/>
          <p:nvPr/>
        </p:nvSpPr>
        <p:spPr bwMode="auto">
          <a:xfrm>
            <a:off x="941246" y="2332639"/>
            <a:ext cx="3811603" cy="3743969"/>
          </a:xfrm>
          <a:custGeom>
            <a:avLst/>
            <a:gdLst>
              <a:gd name="T0" fmla="*/ 1254 w 1400"/>
              <a:gd name="T1" fmla="*/ 0 h 1375"/>
              <a:gd name="T2" fmla="*/ 146 w 1400"/>
              <a:gd name="T3" fmla="*/ 120 h 1375"/>
              <a:gd name="T4" fmla="*/ 0 w 1400"/>
              <a:gd name="T5" fmla="*/ 265 h 1375"/>
              <a:gd name="T6" fmla="*/ 0 w 1400"/>
              <a:gd name="T7" fmla="*/ 1122 h 1375"/>
              <a:gd name="T8" fmla="*/ 146 w 1400"/>
              <a:gd name="T9" fmla="*/ 1267 h 1375"/>
              <a:gd name="T10" fmla="*/ 1254 w 1400"/>
              <a:gd name="T11" fmla="*/ 1375 h 1375"/>
              <a:gd name="T12" fmla="*/ 1400 w 1400"/>
              <a:gd name="T13" fmla="*/ 1230 h 1375"/>
              <a:gd name="T14" fmla="*/ 1400 w 1400"/>
              <a:gd name="T15" fmla="*/ 145 h 1375"/>
              <a:gd name="T16" fmla="*/ 1254 w 1400"/>
              <a:gd name="T17" fmla="*/ 0 h 137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400" h="1375">
                <a:moveTo>
                  <a:pt x="1254" y="0"/>
                </a:moveTo>
                <a:cubicBezTo>
                  <a:pt x="146" y="120"/>
                  <a:pt x="146" y="120"/>
                  <a:pt x="146" y="120"/>
                </a:cubicBezTo>
                <a:cubicBezTo>
                  <a:pt x="66" y="120"/>
                  <a:pt x="0" y="185"/>
                  <a:pt x="0" y="265"/>
                </a:cubicBezTo>
                <a:cubicBezTo>
                  <a:pt x="0" y="1122"/>
                  <a:pt x="0" y="1122"/>
                  <a:pt x="0" y="1122"/>
                </a:cubicBezTo>
                <a:cubicBezTo>
                  <a:pt x="0" y="1202"/>
                  <a:pt x="66" y="1267"/>
                  <a:pt x="146" y="1267"/>
                </a:cubicBezTo>
                <a:cubicBezTo>
                  <a:pt x="1254" y="1375"/>
                  <a:pt x="1254" y="1375"/>
                  <a:pt x="1254" y="1375"/>
                </a:cubicBezTo>
                <a:cubicBezTo>
                  <a:pt x="1334" y="1375"/>
                  <a:pt x="1400" y="1310"/>
                  <a:pt x="1400" y="1230"/>
                </a:cubicBezTo>
                <a:cubicBezTo>
                  <a:pt x="1400" y="145"/>
                  <a:pt x="1400" y="145"/>
                  <a:pt x="1400" y="145"/>
                </a:cubicBezTo>
                <a:cubicBezTo>
                  <a:pt x="1400" y="65"/>
                  <a:pt x="1334" y="0"/>
                  <a:pt x="1254" y="0"/>
                </a:cubicBezTo>
              </a:path>
            </a:pathLst>
          </a:custGeom>
          <a:blipFill rotWithShape="0">
            <a:blip r:embed="rId3"/>
            <a:srcRect/>
            <a:stretch>
              <a:fillRect l="-23730" r="-23730"/>
            </a:stretch>
          </a:blipFill>
          <a:ln w="38100">
            <a:noFill/>
            <a:round/>
            <a:headEnd/>
            <a:tailE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b="1">
              <a:solidFill>
                <a:schemeClr val="lt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F8A0A0-9514-4087-9A17-4004558A3071}"/>
              </a:ext>
            </a:extLst>
          </p:cNvPr>
          <p:cNvSpPr/>
          <p:nvPr/>
        </p:nvSpPr>
        <p:spPr>
          <a:xfrm>
            <a:off x="660400" y="885439"/>
            <a:ext cx="10858500" cy="834825"/>
          </a:xfrm>
          <a:prstGeom prst="rect">
            <a:avLst/>
          </a:prstGeom>
        </p:spPr>
        <p:txBody>
          <a:bodyPr wrap="square" anchor="b" anchorCtr="0">
            <a:noAutofit/>
          </a:bodyPr>
          <a:lstStyle/>
          <a:p>
            <a:pPr algn="ctr">
              <a:lnSpc>
                <a:spcPct val="100000"/>
              </a:lnSpc>
              <a:buSzPct val="25000"/>
            </a:pPr>
            <a:r>
              <a:rPr lang="zh-CN" altLang="en-US" sz="2400" b="1" dirty="0">
                <a:solidFill>
                  <a:schemeClr val="tx1"/>
                </a:solidFill>
              </a:rPr>
              <a:t>关键风险与应对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7699DA-5CB7-4535-8242-729391733204}"/>
              </a:ext>
            </a:extLst>
          </p:cNvPr>
          <p:cNvSpPr txBox="1"/>
          <p:nvPr/>
        </p:nvSpPr>
        <p:spPr>
          <a:xfrm>
            <a:off x="660400" y="1732964"/>
            <a:ext cx="10858500" cy="29482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200">
                <a:solidFill>
                  <a:schemeClr val="bg1">
                    <a:lumMod val="50000"/>
                  </a:schemeClr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供给密度、性能退化、评审阻塞三类高优风险均已配置明确应对方案。</a:t>
            </a:r>
          </a:p>
        </p:txBody>
      </p:sp>
      <p:sp>
        <p:nvSpPr>
          <p:cNvPr id="33" name="Title 3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风险与应对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59034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B36C6B78-BB28-A822-C902-F81452AAFDDF}"/>
              </a:ext>
            </a:extLst>
          </p:cNvPr>
          <p:cNvGrpSpPr/>
          <p:nvPr/>
        </p:nvGrpSpPr>
        <p:grpSpPr>
          <a:xfrm>
            <a:off x="660400" y="1130300"/>
            <a:ext cx="10871199" cy="5003800"/>
            <a:chOff x="660400" y="1130300"/>
            <a:chExt cx="10871199" cy="500380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A2B125F-5142-336B-4A83-C38DC5F06017}"/>
                </a:ext>
              </a:extLst>
            </p:cNvPr>
            <p:cNvSpPr txBox="1"/>
            <p:nvPr/>
          </p:nvSpPr>
          <p:spPr>
            <a:xfrm>
              <a:off x="660400" y="1130300"/>
              <a:ext cx="95327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solidFill>
                    <a:schemeClr val="tx1"/>
                  </a:solidFill>
                </a:rPr>
                <a:t>资源与依赖</a:t>
              </a:r>
              <a:endParaRPr kumimoji="0" lang="en-US" altLang="zh-CN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C114BCF-8ACF-92F3-D79E-64124BF6D10D}"/>
                </a:ext>
              </a:extLst>
            </p:cNvPr>
            <p:cNvSpPr txBox="1"/>
            <p:nvPr/>
          </p:nvSpPr>
          <p:spPr>
            <a:xfrm>
              <a:off x="660400" y="1715075"/>
              <a:ext cx="9532720" cy="29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ts val="1500"/>
                </a:lnSpc>
                <a:defRPr sz="900"/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/>
                <a:t>首批为单人加 AI 辅助，理想配置在获得资源后逐步补齐。</a:t>
              </a:r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145021D-81F6-AF0F-8431-8A651F050ED1}"/>
                </a:ext>
              </a:extLst>
            </p:cNvPr>
            <p:cNvGrpSpPr/>
            <p:nvPr/>
          </p:nvGrpSpPr>
          <p:grpSpPr>
            <a:xfrm>
              <a:off x="660401" y="2879969"/>
              <a:ext cx="2824474" cy="3254131"/>
              <a:chOff x="660401" y="2601316"/>
              <a:chExt cx="2824474" cy="3254131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F9D98E8F-E0B2-24EB-58E0-32E73441EAEC}"/>
                  </a:ext>
                </a:extLst>
              </p:cNvPr>
              <p:cNvSpPr/>
              <p:nvPr/>
            </p:nvSpPr>
            <p:spPr>
              <a:xfrm>
                <a:off x="660401" y="2601316"/>
                <a:ext cx="2824474" cy="3254131"/>
              </a:xfrm>
              <a:prstGeom prst="roundRect">
                <a:avLst>
                  <a:gd name="adj" fmla="val 8000"/>
                </a:avLst>
              </a:prstGeom>
              <a:solidFill>
                <a:schemeClr val="bg1"/>
              </a:solidFill>
              <a:ln w="12700" cap="flat">
                <a:solidFill>
                  <a:schemeClr val="accent1"/>
                </a:solidFill>
                <a:prstDash val="solid"/>
                <a:miter/>
              </a:ln>
              <a:effectLst>
                <a:outerShdw dist="50800" dir="2700000" algn="ctr" rotWithShape="0">
                  <a:schemeClr val="accent1"/>
                </a:outerShdw>
              </a:effectLst>
            </p:spPr>
            <p:txBody>
              <a:bodyPr rtlCol="0" anchor="ctr"/>
              <a:lstStyle/>
              <a:p>
                <a:endParaRPr lang="en-US" altLang="zh-CN" dirty="0">
                  <a:solidFill>
                    <a:schemeClr val="accent1"/>
                  </a:solidFill>
                </a:endParaRP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5894C574-A4F3-9C8E-7B63-1E43ADBEA4F6}"/>
                  </a:ext>
                </a:extLst>
              </p:cNvPr>
              <p:cNvGrpSpPr/>
              <p:nvPr/>
            </p:nvGrpSpPr>
            <p:grpSpPr>
              <a:xfrm>
                <a:off x="765380" y="3085868"/>
                <a:ext cx="2614517" cy="1610081"/>
                <a:chOff x="934727" y="3085868"/>
                <a:chExt cx="2614517" cy="1610081"/>
              </a:xfrm>
            </p:grpSpPr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C0FF574-7C3B-825B-07DF-12B3448AFD9F}"/>
                    </a:ext>
                  </a:extLst>
                </p:cNvPr>
                <p:cNvSpPr txBox="1"/>
                <p:nvPr/>
              </p:nvSpPr>
              <p:spPr>
                <a:xfrm>
                  <a:off x="934727" y="3085868"/>
                  <a:ext cx="954108" cy="923330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ctr" anchorCtr="0">
                  <a:spAutoFit/>
                </a:bodyPr>
                <a:lstStyle/>
                <a:p>
                  <a:r>
                    <a:rPr kumimoji="1" lang="en-US" altLang="zh-CN" sz="5400" b="1" dirty="0">
                      <a:solidFill>
                        <a:schemeClr val="accent1"/>
                      </a:solidFill>
                    </a:rPr>
                    <a:t>01</a:t>
                  </a:r>
                  <a:endParaRPr kumimoji="1" lang="zh-CN" altLang="en-US" sz="5400" b="1" dirty="0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472CBB02-7BF6-DF1F-A234-03CBCEB6A47A}"/>
                    </a:ext>
                  </a:extLst>
                </p:cNvPr>
                <p:cNvSpPr/>
                <p:nvPr/>
              </p:nvSpPr>
              <p:spPr>
                <a:xfrm>
                  <a:off x="934727" y="3968914"/>
                  <a:ext cx="1999285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核心团队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5EE33D0-578D-DB69-76FF-E050BB9BCEAC}"/>
                    </a:ext>
                  </a:extLst>
                </p:cNvPr>
                <p:cNvSpPr/>
                <p:nvPr/>
              </p:nvSpPr>
              <p:spPr>
                <a:xfrm>
                  <a:off x="934727" y="4401125"/>
                  <a:ext cx="2614517" cy="29482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产品、设计、Flutter 客户端、后端、算法</a:t>
                  </a:r>
                  <a:endParaRPr kumimoji="1" lang="en-US" altLang="zh-CN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AA0F5D7-85CE-BEAE-3709-10F5D549D867}"/>
                </a:ext>
              </a:extLst>
            </p:cNvPr>
            <p:cNvGrpSpPr/>
            <p:nvPr/>
          </p:nvGrpSpPr>
          <p:grpSpPr>
            <a:xfrm>
              <a:off x="4683763" y="2879969"/>
              <a:ext cx="2824474" cy="3254131"/>
              <a:chOff x="660401" y="2601316"/>
              <a:chExt cx="2824474" cy="3254131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BDD902C7-C1B4-8C8D-7365-065E54136C22}"/>
                  </a:ext>
                </a:extLst>
              </p:cNvPr>
              <p:cNvSpPr/>
              <p:nvPr/>
            </p:nvSpPr>
            <p:spPr>
              <a:xfrm>
                <a:off x="660401" y="2601316"/>
                <a:ext cx="2824474" cy="3254131"/>
              </a:xfrm>
              <a:prstGeom prst="roundRect">
                <a:avLst>
                  <a:gd name="adj" fmla="val 8000"/>
                </a:avLst>
              </a:prstGeom>
              <a:solidFill>
                <a:schemeClr val="bg1"/>
              </a:solidFill>
              <a:ln w="12700" cap="flat">
                <a:solidFill>
                  <a:schemeClr val="tx2"/>
                </a:solidFill>
                <a:prstDash val="solid"/>
                <a:miter/>
              </a:ln>
              <a:effectLst>
                <a:outerShdw dist="50800" dir="2700000" algn="ctr" rotWithShape="0">
                  <a:schemeClr val="tx2"/>
                </a:outerShdw>
              </a:effectLst>
            </p:spPr>
            <p:txBody>
              <a:bodyPr rtlCol="0" anchor="ctr"/>
              <a:lstStyle/>
              <a:p>
                <a:endParaRPr lang="en-US" altLang="zh-CN" dirty="0"/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750D84B5-7B85-2FDD-368E-30BC2F674184}"/>
                  </a:ext>
                </a:extLst>
              </p:cNvPr>
              <p:cNvGrpSpPr/>
              <p:nvPr/>
            </p:nvGrpSpPr>
            <p:grpSpPr>
              <a:xfrm>
                <a:off x="765380" y="3085868"/>
                <a:ext cx="2614517" cy="1610081"/>
                <a:chOff x="934727" y="3085868"/>
                <a:chExt cx="2614517" cy="1610081"/>
              </a:xfrm>
            </p:grpSpPr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5734924-263D-A024-6FB5-1580C1080DA1}"/>
                    </a:ext>
                  </a:extLst>
                </p:cNvPr>
                <p:cNvSpPr txBox="1"/>
                <p:nvPr/>
              </p:nvSpPr>
              <p:spPr>
                <a:xfrm>
                  <a:off x="934727" y="3085868"/>
                  <a:ext cx="954108" cy="923330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ctr" anchorCtr="0">
                  <a:spAutoFit/>
                </a:bodyPr>
                <a:lstStyle/>
                <a:p>
                  <a:r>
                    <a:rPr kumimoji="1" lang="en-US" altLang="zh-CN" sz="5400" b="1" dirty="0">
                      <a:solidFill>
                        <a:schemeClr val="tx2"/>
                      </a:solidFill>
                    </a:rPr>
                    <a:t>02</a:t>
                  </a:r>
                  <a:endParaRPr kumimoji="1" lang="zh-CN" altLang="en-US" sz="5400" b="1" dirty="0">
                    <a:solidFill>
                      <a:schemeClr val="tx2"/>
                    </a:solidFill>
                  </a:endParaRP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D821466B-9D61-387C-FE76-EAD83EC09065}"/>
                    </a:ext>
                  </a:extLst>
                </p:cNvPr>
                <p:cNvSpPr/>
                <p:nvPr/>
              </p:nvSpPr>
              <p:spPr>
                <a:xfrm>
                  <a:off x="934727" y="3968914"/>
                  <a:ext cx="1999285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外部依赖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B983DC0C-2FAB-1DE2-8CC5-78CE89395687}"/>
                    </a:ext>
                  </a:extLst>
                </p:cNvPr>
                <p:cNvSpPr/>
                <p:nvPr/>
              </p:nvSpPr>
              <p:spPr>
                <a:xfrm>
                  <a:off x="934727" y="4401125"/>
                  <a:ext cx="2614517" cy="29482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高德原生 SDK、实名认证、内容审核</a:t>
                  </a:r>
                  <a:endParaRPr kumimoji="1" lang="en-US" altLang="zh-CN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2C568F3-92DB-55D6-1C58-28779592B93E}"/>
                </a:ext>
              </a:extLst>
            </p:cNvPr>
            <p:cNvGrpSpPr/>
            <p:nvPr/>
          </p:nvGrpSpPr>
          <p:grpSpPr>
            <a:xfrm>
              <a:off x="8707125" y="2879969"/>
              <a:ext cx="2824474" cy="3254131"/>
              <a:chOff x="660401" y="2601316"/>
              <a:chExt cx="2824474" cy="3254131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785AA08-ACCA-54F0-F7FB-6CDEEF0CEA57}"/>
                  </a:ext>
                </a:extLst>
              </p:cNvPr>
              <p:cNvSpPr/>
              <p:nvPr/>
            </p:nvSpPr>
            <p:spPr>
              <a:xfrm>
                <a:off x="660401" y="2601316"/>
                <a:ext cx="2824474" cy="3254131"/>
              </a:xfrm>
              <a:prstGeom prst="roundRect">
                <a:avLst>
                  <a:gd name="adj" fmla="val 8000"/>
                </a:avLst>
              </a:prstGeom>
              <a:solidFill>
                <a:schemeClr val="bg1"/>
              </a:solidFill>
              <a:ln w="12700" cap="flat">
                <a:solidFill>
                  <a:schemeClr val="tx2"/>
                </a:solidFill>
                <a:prstDash val="solid"/>
                <a:miter/>
              </a:ln>
              <a:effectLst>
                <a:outerShdw dist="50800" dir="2700000" algn="ctr" rotWithShape="0">
                  <a:schemeClr val="tx2"/>
                </a:outerShdw>
              </a:effectLst>
            </p:spPr>
            <p:txBody>
              <a:bodyPr rtlCol="0" anchor="ctr"/>
              <a:lstStyle/>
              <a:p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57BACC38-7C5D-C90D-DD4B-51752B0B5CBF}"/>
                  </a:ext>
                </a:extLst>
              </p:cNvPr>
              <p:cNvGrpSpPr/>
              <p:nvPr/>
            </p:nvGrpSpPr>
            <p:grpSpPr>
              <a:xfrm>
                <a:off x="765380" y="3085868"/>
                <a:ext cx="2614517" cy="1610081"/>
                <a:chOff x="934727" y="3085868"/>
                <a:chExt cx="2614517" cy="1610081"/>
              </a:xfrm>
            </p:grpSpPr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749D5BF-2EC4-4CEE-C2D5-5A0D0B9060EC}"/>
                    </a:ext>
                  </a:extLst>
                </p:cNvPr>
                <p:cNvSpPr txBox="1"/>
                <p:nvPr/>
              </p:nvSpPr>
              <p:spPr>
                <a:xfrm>
                  <a:off x="934727" y="3085868"/>
                  <a:ext cx="954108" cy="923330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ctr" anchorCtr="0">
                  <a:spAutoFit/>
                </a:bodyPr>
                <a:lstStyle/>
                <a:p>
                  <a:r>
                    <a:rPr kumimoji="1" lang="en-US" altLang="zh-CN" sz="5400" b="1" dirty="0">
                      <a:solidFill>
                        <a:schemeClr val="tx2"/>
                      </a:solidFill>
                    </a:rPr>
                    <a:t>03</a:t>
                  </a:r>
                  <a:endParaRPr kumimoji="1" lang="zh-CN" altLang="en-US" sz="5400" b="1" dirty="0">
                    <a:solidFill>
                      <a:schemeClr val="tx2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A1D8AE2F-F886-4CC2-71F0-2C3DE9833949}"/>
                    </a:ext>
                  </a:extLst>
                </p:cNvPr>
                <p:cNvSpPr/>
                <p:nvPr/>
              </p:nvSpPr>
              <p:spPr>
                <a:xfrm>
                  <a:off x="934727" y="3968914"/>
                  <a:ext cx="1999285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合规要点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4A79A80F-0D58-D910-ED15-B514E0C0C9AE}"/>
                    </a:ext>
                  </a:extLst>
                </p:cNvPr>
                <p:cNvSpPr/>
                <p:nvPr/>
              </p:nvSpPr>
              <p:spPr>
                <a:xfrm>
                  <a:off x="934727" y="4401125"/>
                  <a:ext cx="2614517" cy="29482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软著 60 工作日、ICP 与 APP 备案、企业主体</a:t>
                  </a:r>
                  <a:endParaRPr kumimoji="1" lang="en-US" altLang="zh-CN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A5F34FAA-E367-6F7F-DAE7-22BA74A44352}"/>
                </a:ext>
              </a:extLst>
            </p:cNvPr>
            <p:cNvSpPr/>
            <p:nvPr/>
          </p:nvSpPr>
          <p:spPr>
            <a:xfrm>
              <a:off x="3812889" y="4247567"/>
              <a:ext cx="574435" cy="661089"/>
            </a:xfrm>
            <a:prstGeom prst="rightArrow">
              <a:avLst/>
            </a:prstGeom>
            <a:solidFill>
              <a:schemeClr val="tx2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01E72F54-FC21-859E-0323-0C658A7CBCF3}"/>
                </a:ext>
              </a:extLst>
            </p:cNvPr>
            <p:cNvSpPr/>
            <p:nvPr/>
          </p:nvSpPr>
          <p:spPr>
            <a:xfrm>
              <a:off x="7820463" y="4247566"/>
              <a:ext cx="574435" cy="661089"/>
            </a:xfrm>
            <a:prstGeom prst="rightArrow">
              <a:avLst/>
            </a:prstGeom>
            <a:solidFill>
              <a:schemeClr val="tx2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6" name="Title 25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资源与依赖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80857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Thank You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产品经理：刘杰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/>
              <a:t>找鸭找 APP · BRD v2.1 评审版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2095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IMAGE" val="New_Batches_0407_Outline/20240407/images_texture_8001_9000/136e2685-da3e-46c7-9b6f-45b3703cdbe8-1.source.default.zh-Hans.jpg"/>
  <p:tag name="OFFICEPLUS.THEME" val="New_Batches_0407_Outline/20240407/images_texture_8001_9000/136e2685-da3e-46c7-9b6f-45b3703cdbe8-1.source.default.zh-Hans-5.pptx"/>
  <p:tag name="OFFICEPLUS.OUTLINE" val="1744035"/>
  <p:tag name="OFFICEPLUS.OUTLINEEXTERNAL" val="06774edd-c867-7326-5cab-fc5a659f42c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03a12446-4040-4dad-8d54-bb681f10892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7bbc12ee-40ec-489f-ab8c-4fa55cf2bf59"/>
  <p:tag name="OFFICEPLUS.TEMPLATE" val="28d67dd3-61fe-4c81-b9af-e895c260dca3.pptx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1148842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2f38a169-d8db-404f-bcd0-1f31caec2321.pptx"/>
  <p:tag name="OFFICEPLUS.TAG" val="bd142c3d-b2ac-49d2-945d-a40ea7d68a02"/>
  <p:tag name="OFFICEPLUS.OUTLINECONTENT" val="4341436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3d92073f-abde-43e0-9e86-c3de26b3d62c.pptx"/>
  <p:tag name="OFFICEPLUS.TAG" val="bd142c3d-b2ac-49d2-945d-a40ea7d68a02"/>
  <p:tag name="OFFICEPLUS.OUTLINECONTENT" val="4341437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2c74be83-da7d-412b-b3b4-856b900ed24e.pptx"/>
  <p:tag name="OFFICEPLUS.TAG" val="bd142c3d-b2ac-49d2-945d-a40ea7d68a02"/>
  <p:tag name="OFFICEPLUS.OUTLINECONTENT" val="4341437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1148842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dfed739c-9231-4e46-99c3-c889f0a61ec7.pptx"/>
  <p:tag name="OFFICEPLUS.TAG" val="bd142c3d-b2ac-49d2-945d-a40ea7d68a02"/>
  <p:tag name="OFFICEPLUS.OUTLINECONTENT" val="4341437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983f6273-f2cc-4544-a59a-5e7bb0dc67c2.pptx"/>
  <p:tag name="OFFICEPLUS.TAG" val="bd142c3d-b2ac-49d2-945d-a40ea7d68a02"/>
  <p:tag name="OFFICEPLUS.OUTLINECONTENT" val="4341438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ba781c6e-0d9c-426f-a7b4-af1878773f64.pptx"/>
  <p:tag name="OFFICEPLUS.TAG" val="bd142c3d-b2ac-49d2-945d-a40ea7d68a02"/>
  <p:tag name="OFFICEPLUS.OUTLINECONTENT" val="4341438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1148843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c95e0156-fb43-4cf5-8eea-0f25a2d195a5.pptx"/>
  <p:tag name="OFFICEPLUS.TAG" val="2beb2bf3-40ba-4876-8eff-8450af69fbd8"/>
  <p:tag name="OFFICEPLUS.OUTLINECONTENT" val="4341439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9b32f738-915f-44b7-8a45-1d071770fc43.pptx"/>
  <p:tag name="OFFICEPLUS.TAG" val="bd142c3d-b2ac-49d2-945d-a40ea7d68a02"/>
  <p:tag name="OFFICEPLUS.OUTLINECONTENT" val="43414394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cab8497e-8f97-43cd-9e78-6a136c213d35.pptx"/>
  <p:tag name="OFFICEPLUS.TAG" val="bd142c3d-b2ac-49d2-945d-a40ea7d68a02"/>
  <p:tag name="OFFICEPLUS.OUTLINECONTENT" val="4341439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1148843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f965b191-3969-4379-b471-705e236e1451.pptx"/>
  <p:tag name="OFFICEPLUS.TAG" val="bd142c3d-b2ac-49d2-945d-a40ea7d68a02"/>
  <p:tag name="OFFICEPLUS.OUTLINECONTENT" val="4341440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a8681911-42ee-4dc7-a124-7d78761b16be.pptx"/>
  <p:tag name="OFFICEPLUS.TAG" val="bd142c3d-b2ac-49d2-945d-a40ea7d68a02"/>
  <p:tag name="OFFICEPLUS.OUTLINECONTENT" val="4341440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e0f11ef8-5f1f-4bf9-8525-2dff97757bb6.pptx"/>
  <p:tag name="OFFICEPLUS.TAG" val="bd142c3d-b2ac-49d2-945d-a40ea7d68a02"/>
  <p:tag name="OFFICEPLUS.OUTLINECONTENT" val="43414406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11488435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d54ef2d4-6884-4b12-9ef8-f817d511018c.pptx"/>
  <p:tag name="OFFICEPLUS.TAG" val="bd142c3d-b2ac-49d2-945d-a40ea7d68a02"/>
  <p:tag name="OFFICEPLUS.OUTLINECONTENT" val="4341441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11ec0530-91b3-4703-9ed7-2e025b1e6564.pptx"/>
  <p:tag name="OFFICEPLUS.TAG" val="bd142c3d-b2ac-49d2-945d-a40ea7d68a02"/>
  <p:tag name="OFFICEPLUS.OUTLINECONTENT" val="43414413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62b453d4-b714-4290-a53d-91a235ff70d3.pptx"/>
  <p:tag name="OFFICEPLUS.TAG" val="bd142c3d-b2ac-49d2-945d-a40ea7d68a02"/>
  <p:tag name="OFFICEPLUS.OUTLINECONTENT" val="4341441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e69c5ac3-dafd-4b9a-bbf1-d26a1016f816"/>
</p:tagLst>
</file>

<file path=ppt/theme/theme1.xml><?xml version="1.0" encoding="utf-8"?>
<a:theme xmlns:a="http://schemas.openxmlformats.org/drawingml/2006/main" name="Designed by OfficePLUS">
  <a:themeElements>
    <a:clrScheme name="OfficePLUS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5775FF"/>
      </a:accent1>
      <a:accent2>
        <a:srgbClr val="0039B4"/>
      </a:accent2>
      <a:accent3>
        <a:srgbClr val="3BCDFF"/>
      </a:accent3>
      <a:accent4>
        <a:srgbClr val="001C7F"/>
      </a:accent4>
      <a:accent5>
        <a:srgbClr val="67CEFF"/>
      </a:accent5>
      <a:accent6>
        <a:srgbClr val="1488FF"/>
      </a:accent6>
      <a:hlink>
        <a:srgbClr val="4472C4"/>
      </a:hlink>
      <a:folHlink>
        <a:srgbClr val="BFBFBF"/>
      </a:folHlink>
    </a:clrScheme>
    <a:fontScheme name="OfficePLU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1179</Words>
  <Application>Microsoft Office PowerPoint</Application>
  <PresentationFormat>Widescreen</PresentationFormat>
  <Paragraphs>199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等线</vt:lpstr>
      <vt:lpstr>Arial</vt:lpstr>
      <vt:lpstr>Designed by OfficePLUS</vt:lpstr>
      <vt:lpstr>技术创新引领</vt:lpstr>
      <vt:lpstr>PowerPoint Presentation</vt:lpstr>
      <vt:lpstr>01.公司技术成果展示</vt:lpstr>
      <vt:lpstr>核心技术展示</vt:lpstr>
      <vt:lpstr>创新理念分享</vt:lpstr>
      <vt:lpstr>创新与成果转化</vt:lpstr>
      <vt:lpstr>02.研发团队的工作方式</vt:lpstr>
      <vt:lpstr>研发团队介绍</vt:lpstr>
      <vt:lpstr>工作方式解析</vt:lpstr>
      <vt:lpstr>效率提升策略</vt:lpstr>
      <vt:lpstr>03.公司在行业的影响力</vt:lpstr>
      <vt:lpstr>行业地位分析</vt:lpstr>
      <vt:lpstr>探讨，技术的魅力</vt:lpstr>
      <vt:lpstr>领导者之路</vt:lpstr>
      <vt:lpstr>04.公司技术革新案例分享</vt:lpstr>
      <vt:lpstr>案例一解析</vt:lpstr>
      <vt:lpstr>案例二解析</vt:lpstr>
      <vt:lpstr>未来影响预测</vt:lpstr>
      <vt:lpstr>05.共享与发展的呼吁</vt:lpstr>
      <vt:lpstr>技术实力展现</vt:lpstr>
      <vt:lpstr>行业发展倡议</vt:lpstr>
      <vt:lpstr>未来合作展望</vt:lpstr>
      <vt:lpstr>Thank You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admini</cp:lastModifiedBy>
  <cp:revision>2</cp:revision>
  <dcterms:created xsi:type="dcterms:W3CDTF">2023-07-20T03:04:31Z</dcterms:created>
  <dcterms:modified xsi:type="dcterms:W3CDTF">2024-05-14T09:09:17Z</dcterms:modified>
</cp:coreProperties>
</file>