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57" d="100"/>
          <a:sy n="57" d="100"/>
        </p:scale>
        <p:origin x="38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A5B53B-2C55-40D6-AE14-415ECD07755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D77524-5E54-C514-EB2E-B180078AF82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E5D13E-DB8F-FD34-98C2-0C257CAAD2D6}"/>
                </a:ext>
              </a:extLst>
            </p:cNvPr>
            <p:cNvSpPr/>
            <p:nvPr/>
          </p:nvSpPr>
          <p:spPr>
            <a:xfrm>
              <a:off x="1" y="0"/>
              <a:ext cx="6222343" cy="6858000"/>
            </a:xfrm>
            <a:custGeom>
              <a:avLst/>
              <a:gdLst>
                <a:gd name="connsiteX0" fmla="*/ 0 w 6222343"/>
                <a:gd name="connsiteY0" fmla="*/ 0 h 6858000"/>
                <a:gd name="connsiteX1" fmla="*/ 6215599 w 6222343"/>
                <a:gd name="connsiteY1" fmla="*/ 0 h 6858000"/>
                <a:gd name="connsiteX2" fmla="*/ 6160817 w 6222343"/>
                <a:gd name="connsiteY2" fmla="*/ 119192 h 6858000"/>
                <a:gd name="connsiteX3" fmla="*/ 5476558 w 6222343"/>
                <a:gd name="connsiteY3" fmla="*/ 3421332 h 6858000"/>
                <a:gd name="connsiteX4" fmla="*/ 6166237 w 6222343"/>
                <a:gd name="connsiteY4" fmla="*/ 6736534 h 6858000"/>
                <a:gd name="connsiteX5" fmla="*/ 6222343 w 6222343"/>
                <a:gd name="connsiteY5" fmla="*/ 6858000 h 6858000"/>
                <a:gd name="connsiteX6" fmla="*/ 0 w 622234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2343" h="6858000">
                  <a:moveTo>
                    <a:pt x="0" y="0"/>
                  </a:moveTo>
                  <a:lnTo>
                    <a:pt x="6215599" y="0"/>
                  </a:lnTo>
                  <a:lnTo>
                    <a:pt x="6160817" y="119192"/>
                  </a:lnTo>
                  <a:cubicBezTo>
                    <a:pt x="5720452" y="1130416"/>
                    <a:pt x="5476558" y="2246948"/>
                    <a:pt x="5476558" y="3421332"/>
                  </a:cubicBezTo>
                  <a:cubicBezTo>
                    <a:pt x="5476558" y="4601501"/>
                    <a:pt x="5722259" y="5722010"/>
                    <a:pt x="6166237" y="6736534"/>
                  </a:cubicBezTo>
                  <a:lnTo>
                    <a:pt x="6222343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3E8FB8D-7EEF-02A0-BE2A-7EAF7825B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406" y="0"/>
              <a:ext cx="970370" cy="6858000"/>
            </a:xfrm>
            <a:custGeom>
              <a:avLst/>
              <a:gdLst>
                <a:gd name="connsiteX0" fmla="*/ 805686 w 970370"/>
                <a:gd name="connsiteY0" fmla="*/ 0 h 6858000"/>
                <a:gd name="connsiteX1" fmla="*/ 963626 w 970370"/>
                <a:gd name="connsiteY1" fmla="*/ 0 h 6858000"/>
                <a:gd name="connsiteX2" fmla="*/ 908844 w 970370"/>
                <a:gd name="connsiteY2" fmla="*/ 119192 h 6858000"/>
                <a:gd name="connsiteX3" fmla="*/ 224585 w 970370"/>
                <a:gd name="connsiteY3" fmla="*/ 3421332 h 6858000"/>
                <a:gd name="connsiteX4" fmla="*/ 914264 w 970370"/>
                <a:gd name="connsiteY4" fmla="*/ 6736534 h 6858000"/>
                <a:gd name="connsiteX5" fmla="*/ 970370 w 970370"/>
                <a:gd name="connsiteY5" fmla="*/ 6858000 h 6858000"/>
                <a:gd name="connsiteX6" fmla="*/ 340460 w 970370"/>
                <a:gd name="connsiteY6" fmla="*/ 6858000 h 6858000"/>
                <a:gd name="connsiteX7" fmla="*/ 301274 w 970370"/>
                <a:gd name="connsiteY7" fmla="*/ 6709785 h 6858000"/>
                <a:gd name="connsiteX8" fmla="*/ 0 w 970370"/>
                <a:gd name="connsiteY8" fmla="*/ 4134110 h 6858000"/>
                <a:gd name="connsiteX9" fmla="*/ 745964 w 970370"/>
                <a:gd name="connsiteY9" fmla="*/ 14402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0370" h="6858000">
                  <a:moveTo>
                    <a:pt x="805686" y="0"/>
                  </a:moveTo>
                  <a:lnTo>
                    <a:pt x="963626" y="0"/>
                  </a:lnTo>
                  <a:lnTo>
                    <a:pt x="908844" y="119192"/>
                  </a:lnTo>
                  <a:cubicBezTo>
                    <a:pt x="468479" y="1130416"/>
                    <a:pt x="224585" y="2246948"/>
                    <a:pt x="224585" y="3421332"/>
                  </a:cubicBezTo>
                  <a:cubicBezTo>
                    <a:pt x="224585" y="4601501"/>
                    <a:pt x="470286" y="5722010"/>
                    <a:pt x="914264" y="6736534"/>
                  </a:cubicBezTo>
                  <a:lnTo>
                    <a:pt x="970370" y="6858000"/>
                  </a:lnTo>
                  <a:lnTo>
                    <a:pt x="340460" y="6858000"/>
                  </a:lnTo>
                  <a:lnTo>
                    <a:pt x="301274" y="6709785"/>
                  </a:lnTo>
                  <a:cubicBezTo>
                    <a:pt x="104632" y="5888497"/>
                    <a:pt x="0" y="5025383"/>
                    <a:pt x="0" y="4134110"/>
                  </a:cubicBezTo>
                  <a:cubicBezTo>
                    <a:pt x="0" y="2715062"/>
                    <a:pt x="265888" y="1365920"/>
                    <a:pt x="745964" y="14402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BBB2CB0-6C4C-C4F1-B038-A61E156A66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786580" y="4642864"/>
              <a:ext cx="2405420" cy="2215136"/>
            </a:xfrm>
            <a:custGeom>
              <a:avLst/>
              <a:gdLst>
                <a:gd name="connsiteX0" fmla="*/ 0 w 2405420"/>
                <a:gd name="connsiteY0" fmla="*/ 0 h 2215136"/>
                <a:gd name="connsiteX1" fmla="*/ 0 w 2405420"/>
                <a:gd name="connsiteY1" fmla="*/ 2215136 h 2215136"/>
                <a:gd name="connsiteX2" fmla="*/ 2405420 w 2405420"/>
                <a:gd name="connsiteY2" fmla="*/ 2215136 h 2215136"/>
                <a:gd name="connsiteX3" fmla="*/ 2321449 w 2405420"/>
                <a:gd name="connsiteY3" fmla="*/ 1985067 h 2215136"/>
                <a:gd name="connsiteX4" fmla="*/ 189238 w 2405420"/>
                <a:gd name="connsiteY4" fmla="*/ 51092 h 221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5420" h="2215136">
                  <a:moveTo>
                    <a:pt x="0" y="0"/>
                  </a:moveTo>
                  <a:lnTo>
                    <a:pt x="0" y="2215136"/>
                  </a:lnTo>
                  <a:lnTo>
                    <a:pt x="2405420" y="2215136"/>
                  </a:lnTo>
                  <a:lnTo>
                    <a:pt x="2321449" y="1985067"/>
                  </a:lnTo>
                  <a:cubicBezTo>
                    <a:pt x="1932884" y="1064048"/>
                    <a:pt x="1153170" y="350368"/>
                    <a:pt x="189238" y="5109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3AD0A4-6945-3BAF-05ED-C4F9558FC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044101" cy="4476750"/>
            </a:xfrm>
            <a:custGeom>
              <a:avLst/>
              <a:gdLst>
                <a:gd name="T0" fmla="*/ 0 w 364"/>
                <a:gd name="T1" fmla="*/ 796 h 796"/>
                <a:gd name="T2" fmla="*/ 364 w 364"/>
                <a:gd name="T3" fmla="*/ 278 h 796"/>
                <a:gd name="T4" fmla="*/ 289 w 364"/>
                <a:gd name="T5" fmla="*/ 0 h 796"/>
                <a:gd name="T6" fmla="*/ 0 w 364"/>
                <a:gd name="T7" fmla="*/ 0 h 796"/>
                <a:gd name="T8" fmla="*/ 0 w 364"/>
                <a:gd name="T9" fmla="*/ 796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796">
                  <a:moveTo>
                    <a:pt x="0" y="796"/>
                  </a:moveTo>
                  <a:cubicBezTo>
                    <a:pt x="212" y="719"/>
                    <a:pt x="364" y="516"/>
                    <a:pt x="364" y="278"/>
                  </a:cubicBezTo>
                  <a:cubicBezTo>
                    <a:pt x="364" y="177"/>
                    <a:pt x="337" y="82"/>
                    <a:pt x="28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9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51A2DE-B350-691F-B29C-2AF983C5291A}"/>
                </a:ext>
              </a:extLst>
            </p:cNvPr>
            <p:cNvSpPr/>
            <p:nvPr/>
          </p:nvSpPr>
          <p:spPr>
            <a:xfrm>
              <a:off x="814191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3E68B9-8187-0290-532F-2B58947D37C1}"/>
                </a:ext>
              </a:extLst>
            </p:cNvPr>
            <p:cNvSpPr/>
            <p:nvPr/>
          </p:nvSpPr>
          <p:spPr>
            <a:xfrm>
              <a:off x="1058468" y="804270"/>
              <a:ext cx="157755" cy="15775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8F527E-7640-8709-2101-06F283BCC90F}"/>
                </a:ext>
              </a:extLst>
            </p:cNvPr>
            <p:cNvSpPr/>
            <p:nvPr/>
          </p:nvSpPr>
          <p:spPr>
            <a:xfrm>
              <a:off x="1302746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660401" y="1089026"/>
            <a:ext cx="4673599" cy="281531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4158864"/>
            <a:ext cx="4673599" cy="7218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8" y="5509733"/>
            <a:ext cx="46736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7101"/>
            <a:ext cx="46736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3530996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D10539A-C1C4-6938-E08F-ABBF8809B51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27E2AD-3652-ED88-F70A-AB4CB38FE0A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21FF61-D406-0CC5-1220-B0D3CCB8BCF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075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2024/5/14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9" name="Group 8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Freeform: Shape 11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4697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A5B53B-2C55-40D6-AE14-415ECD07755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D77524-5E54-C514-EB2E-B180078AF82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E5D13E-DB8F-FD34-98C2-0C257CAAD2D6}"/>
                </a:ext>
              </a:extLst>
            </p:cNvPr>
            <p:cNvSpPr/>
            <p:nvPr/>
          </p:nvSpPr>
          <p:spPr>
            <a:xfrm>
              <a:off x="1" y="0"/>
              <a:ext cx="6222343" cy="6858000"/>
            </a:xfrm>
            <a:custGeom>
              <a:avLst/>
              <a:gdLst>
                <a:gd name="connsiteX0" fmla="*/ 0 w 6222343"/>
                <a:gd name="connsiteY0" fmla="*/ 0 h 6858000"/>
                <a:gd name="connsiteX1" fmla="*/ 6215599 w 6222343"/>
                <a:gd name="connsiteY1" fmla="*/ 0 h 6858000"/>
                <a:gd name="connsiteX2" fmla="*/ 6160817 w 6222343"/>
                <a:gd name="connsiteY2" fmla="*/ 119192 h 6858000"/>
                <a:gd name="connsiteX3" fmla="*/ 5476558 w 6222343"/>
                <a:gd name="connsiteY3" fmla="*/ 3421332 h 6858000"/>
                <a:gd name="connsiteX4" fmla="*/ 6166237 w 6222343"/>
                <a:gd name="connsiteY4" fmla="*/ 6736534 h 6858000"/>
                <a:gd name="connsiteX5" fmla="*/ 6222343 w 6222343"/>
                <a:gd name="connsiteY5" fmla="*/ 6858000 h 6858000"/>
                <a:gd name="connsiteX6" fmla="*/ 0 w 622234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2343" h="6858000">
                  <a:moveTo>
                    <a:pt x="0" y="0"/>
                  </a:moveTo>
                  <a:lnTo>
                    <a:pt x="6215599" y="0"/>
                  </a:lnTo>
                  <a:lnTo>
                    <a:pt x="6160817" y="119192"/>
                  </a:lnTo>
                  <a:cubicBezTo>
                    <a:pt x="5720452" y="1130416"/>
                    <a:pt x="5476558" y="2246948"/>
                    <a:pt x="5476558" y="3421332"/>
                  </a:cubicBezTo>
                  <a:cubicBezTo>
                    <a:pt x="5476558" y="4601501"/>
                    <a:pt x="5722259" y="5722010"/>
                    <a:pt x="6166237" y="6736534"/>
                  </a:cubicBezTo>
                  <a:lnTo>
                    <a:pt x="6222343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3E8FB8D-7EEF-02A0-BE2A-7EAF7825B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406" y="0"/>
              <a:ext cx="970370" cy="6858000"/>
            </a:xfrm>
            <a:custGeom>
              <a:avLst/>
              <a:gdLst>
                <a:gd name="connsiteX0" fmla="*/ 805686 w 970370"/>
                <a:gd name="connsiteY0" fmla="*/ 0 h 6858000"/>
                <a:gd name="connsiteX1" fmla="*/ 963626 w 970370"/>
                <a:gd name="connsiteY1" fmla="*/ 0 h 6858000"/>
                <a:gd name="connsiteX2" fmla="*/ 908844 w 970370"/>
                <a:gd name="connsiteY2" fmla="*/ 119192 h 6858000"/>
                <a:gd name="connsiteX3" fmla="*/ 224585 w 970370"/>
                <a:gd name="connsiteY3" fmla="*/ 3421332 h 6858000"/>
                <a:gd name="connsiteX4" fmla="*/ 914264 w 970370"/>
                <a:gd name="connsiteY4" fmla="*/ 6736534 h 6858000"/>
                <a:gd name="connsiteX5" fmla="*/ 970370 w 970370"/>
                <a:gd name="connsiteY5" fmla="*/ 6858000 h 6858000"/>
                <a:gd name="connsiteX6" fmla="*/ 340460 w 970370"/>
                <a:gd name="connsiteY6" fmla="*/ 6858000 h 6858000"/>
                <a:gd name="connsiteX7" fmla="*/ 301274 w 970370"/>
                <a:gd name="connsiteY7" fmla="*/ 6709785 h 6858000"/>
                <a:gd name="connsiteX8" fmla="*/ 0 w 970370"/>
                <a:gd name="connsiteY8" fmla="*/ 4134110 h 6858000"/>
                <a:gd name="connsiteX9" fmla="*/ 745964 w 970370"/>
                <a:gd name="connsiteY9" fmla="*/ 14402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0370" h="6858000">
                  <a:moveTo>
                    <a:pt x="805686" y="0"/>
                  </a:moveTo>
                  <a:lnTo>
                    <a:pt x="963626" y="0"/>
                  </a:lnTo>
                  <a:lnTo>
                    <a:pt x="908844" y="119192"/>
                  </a:lnTo>
                  <a:cubicBezTo>
                    <a:pt x="468479" y="1130416"/>
                    <a:pt x="224585" y="2246948"/>
                    <a:pt x="224585" y="3421332"/>
                  </a:cubicBezTo>
                  <a:cubicBezTo>
                    <a:pt x="224585" y="4601501"/>
                    <a:pt x="470286" y="5722010"/>
                    <a:pt x="914264" y="6736534"/>
                  </a:cubicBezTo>
                  <a:lnTo>
                    <a:pt x="970370" y="6858000"/>
                  </a:lnTo>
                  <a:lnTo>
                    <a:pt x="340460" y="6858000"/>
                  </a:lnTo>
                  <a:lnTo>
                    <a:pt x="301274" y="6709785"/>
                  </a:lnTo>
                  <a:cubicBezTo>
                    <a:pt x="104632" y="5888497"/>
                    <a:pt x="0" y="5025383"/>
                    <a:pt x="0" y="4134110"/>
                  </a:cubicBezTo>
                  <a:cubicBezTo>
                    <a:pt x="0" y="2715062"/>
                    <a:pt x="265888" y="1365920"/>
                    <a:pt x="745964" y="14402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BBB2CB0-6C4C-C4F1-B038-A61E156A66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786580" y="4642864"/>
              <a:ext cx="2405420" cy="2215136"/>
            </a:xfrm>
            <a:custGeom>
              <a:avLst/>
              <a:gdLst>
                <a:gd name="connsiteX0" fmla="*/ 0 w 2405420"/>
                <a:gd name="connsiteY0" fmla="*/ 0 h 2215136"/>
                <a:gd name="connsiteX1" fmla="*/ 0 w 2405420"/>
                <a:gd name="connsiteY1" fmla="*/ 2215136 h 2215136"/>
                <a:gd name="connsiteX2" fmla="*/ 2405420 w 2405420"/>
                <a:gd name="connsiteY2" fmla="*/ 2215136 h 2215136"/>
                <a:gd name="connsiteX3" fmla="*/ 2321449 w 2405420"/>
                <a:gd name="connsiteY3" fmla="*/ 1985067 h 2215136"/>
                <a:gd name="connsiteX4" fmla="*/ 189238 w 2405420"/>
                <a:gd name="connsiteY4" fmla="*/ 51092 h 221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5420" h="2215136">
                  <a:moveTo>
                    <a:pt x="0" y="0"/>
                  </a:moveTo>
                  <a:lnTo>
                    <a:pt x="0" y="2215136"/>
                  </a:lnTo>
                  <a:lnTo>
                    <a:pt x="2405420" y="2215136"/>
                  </a:lnTo>
                  <a:lnTo>
                    <a:pt x="2321449" y="1985067"/>
                  </a:lnTo>
                  <a:cubicBezTo>
                    <a:pt x="1932884" y="1064048"/>
                    <a:pt x="1153170" y="350368"/>
                    <a:pt x="189238" y="5109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3AD0A4-6945-3BAF-05ED-C4F9558FC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044101" cy="4476750"/>
            </a:xfrm>
            <a:custGeom>
              <a:avLst/>
              <a:gdLst>
                <a:gd name="T0" fmla="*/ 0 w 364"/>
                <a:gd name="T1" fmla="*/ 796 h 796"/>
                <a:gd name="T2" fmla="*/ 364 w 364"/>
                <a:gd name="T3" fmla="*/ 278 h 796"/>
                <a:gd name="T4" fmla="*/ 289 w 364"/>
                <a:gd name="T5" fmla="*/ 0 h 796"/>
                <a:gd name="T6" fmla="*/ 0 w 364"/>
                <a:gd name="T7" fmla="*/ 0 h 796"/>
                <a:gd name="T8" fmla="*/ 0 w 364"/>
                <a:gd name="T9" fmla="*/ 796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796">
                  <a:moveTo>
                    <a:pt x="0" y="796"/>
                  </a:moveTo>
                  <a:cubicBezTo>
                    <a:pt x="212" y="719"/>
                    <a:pt x="364" y="516"/>
                    <a:pt x="364" y="278"/>
                  </a:cubicBezTo>
                  <a:cubicBezTo>
                    <a:pt x="364" y="177"/>
                    <a:pt x="337" y="82"/>
                    <a:pt x="28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9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51A2DE-B350-691F-B29C-2AF983C5291A}"/>
                </a:ext>
              </a:extLst>
            </p:cNvPr>
            <p:cNvSpPr/>
            <p:nvPr/>
          </p:nvSpPr>
          <p:spPr>
            <a:xfrm>
              <a:off x="814191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3E68B9-8187-0290-532F-2B58947D37C1}"/>
                </a:ext>
              </a:extLst>
            </p:cNvPr>
            <p:cNvSpPr/>
            <p:nvPr/>
          </p:nvSpPr>
          <p:spPr>
            <a:xfrm>
              <a:off x="1058468" y="804270"/>
              <a:ext cx="157755" cy="15775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8F527E-7640-8709-2101-06F283BCC90F}"/>
                </a:ext>
              </a:extLst>
            </p:cNvPr>
            <p:cNvSpPr/>
            <p:nvPr/>
          </p:nvSpPr>
          <p:spPr>
            <a:xfrm>
              <a:off x="1302746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1" y="1089026"/>
            <a:ext cx="4673599" cy="281531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 hasCustomPrompt="1"/>
          </p:nvPr>
        </p:nvSpPr>
        <p:spPr>
          <a:xfrm>
            <a:off x="660400" y="4158864"/>
            <a:ext cx="4673599" cy="7218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3645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10539A-C1C4-6938-E08F-ABBF8809B51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27E2AD-3652-ED88-F70A-AB4CB38FE0A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21FF61-D406-0CC5-1220-B0D3CCB8BCF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495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  <a:t>2024/5/14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7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A5B53B-2C55-40D6-AE14-415ECD07755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D77524-5E54-C514-EB2E-B180078AF82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E5D13E-DB8F-FD34-98C2-0C257CAAD2D6}"/>
                </a:ext>
              </a:extLst>
            </p:cNvPr>
            <p:cNvSpPr/>
            <p:nvPr/>
          </p:nvSpPr>
          <p:spPr>
            <a:xfrm>
              <a:off x="1" y="0"/>
              <a:ext cx="6222343" cy="6858000"/>
            </a:xfrm>
            <a:custGeom>
              <a:avLst/>
              <a:gdLst>
                <a:gd name="connsiteX0" fmla="*/ 0 w 6222343"/>
                <a:gd name="connsiteY0" fmla="*/ 0 h 6858000"/>
                <a:gd name="connsiteX1" fmla="*/ 6215599 w 6222343"/>
                <a:gd name="connsiteY1" fmla="*/ 0 h 6858000"/>
                <a:gd name="connsiteX2" fmla="*/ 6160817 w 6222343"/>
                <a:gd name="connsiteY2" fmla="*/ 119192 h 6858000"/>
                <a:gd name="connsiteX3" fmla="*/ 5476558 w 6222343"/>
                <a:gd name="connsiteY3" fmla="*/ 3421332 h 6858000"/>
                <a:gd name="connsiteX4" fmla="*/ 6166237 w 6222343"/>
                <a:gd name="connsiteY4" fmla="*/ 6736534 h 6858000"/>
                <a:gd name="connsiteX5" fmla="*/ 6222343 w 6222343"/>
                <a:gd name="connsiteY5" fmla="*/ 6858000 h 6858000"/>
                <a:gd name="connsiteX6" fmla="*/ 0 w 622234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2343" h="6858000">
                  <a:moveTo>
                    <a:pt x="0" y="0"/>
                  </a:moveTo>
                  <a:lnTo>
                    <a:pt x="6215599" y="0"/>
                  </a:lnTo>
                  <a:lnTo>
                    <a:pt x="6160817" y="119192"/>
                  </a:lnTo>
                  <a:cubicBezTo>
                    <a:pt x="5720452" y="1130416"/>
                    <a:pt x="5476558" y="2246948"/>
                    <a:pt x="5476558" y="3421332"/>
                  </a:cubicBezTo>
                  <a:cubicBezTo>
                    <a:pt x="5476558" y="4601501"/>
                    <a:pt x="5722259" y="5722010"/>
                    <a:pt x="6166237" y="6736534"/>
                  </a:cubicBezTo>
                  <a:lnTo>
                    <a:pt x="6222343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3E8FB8D-7EEF-02A0-BE2A-7EAF7825B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406" y="0"/>
              <a:ext cx="970370" cy="6858000"/>
            </a:xfrm>
            <a:custGeom>
              <a:avLst/>
              <a:gdLst>
                <a:gd name="connsiteX0" fmla="*/ 805686 w 970370"/>
                <a:gd name="connsiteY0" fmla="*/ 0 h 6858000"/>
                <a:gd name="connsiteX1" fmla="*/ 963626 w 970370"/>
                <a:gd name="connsiteY1" fmla="*/ 0 h 6858000"/>
                <a:gd name="connsiteX2" fmla="*/ 908844 w 970370"/>
                <a:gd name="connsiteY2" fmla="*/ 119192 h 6858000"/>
                <a:gd name="connsiteX3" fmla="*/ 224585 w 970370"/>
                <a:gd name="connsiteY3" fmla="*/ 3421332 h 6858000"/>
                <a:gd name="connsiteX4" fmla="*/ 914264 w 970370"/>
                <a:gd name="connsiteY4" fmla="*/ 6736534 h 6858000"/>
                <a:gd name="connsiteX5" fmla="*/ 970370 w 970370"/>
                <a:gd name="connsiteY5" fmla="*/ 6858000 h 6858000"/>
                <a:gd name="connsiteX6" fmla="*/ 340460 w 970370"/>
                <a:gd name="connsiteY6" fmla="*/ 6858000 h 6858000"/>
                <a:gd name="connsiteX7" fmla="*/ 301274 w 970370"/>
                <a:gd name="connsiteY7" fmla="*/ 6709785 h 6858000"/>
                <a:gd name="connsiteX8" fmla="*/ 0 w 970370"/>
                <a:gd name="connsiteY8" fmla="*/ 4134110 h 6858000"/>
                <a:gd name="connsiteX9" fmla="*/ 745964 w 970370"/>
                <a:gd name="connsiteY9" fmla="*/ 14402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0370" h="6858000">
                  <a:moveTo>
                    <a:pt x="805686" y="0"/>
                  </a:moveTo>
                  <a:lnTo>
                    <a:pt x="963626" y="0"/>
                  </a:lnTo>
                  <a:lnTo>
                    <a:pt x="908844" y="119192"/>
                  </a:lnTo>
                  <a:cubicBezTo>
                    <a:pt x="468479" y="1130416"/>
                    <a:pt x="224585" y="2246948"/>
                    <a:pt x="224585" y="3421332"/>
                  </a:cubicBezTo>
                  <a:cubicBezTo>
                    <a:pt x="224585" y="4601501"/>
                    <a:pt x="470286" y="5722010"/>
                    <a:pt x="914264" y="6736534"/>
                  </a:cubicBezTo>
                  <a:lnTo>
                    <a:pt x="970370" y="6858000"/>
                  </a:lnTo>
                  <a:lnTo>
                    <a:pt x="340460" y="6858000"/>
                  </a:lnTo>
                  <a:lnTo>
                    <a:pt x="301274" y="6709785"/>
                  </a:lnTo>
                  <a:cubicBezTo>
                    <a:pt x="104632" y="5888497"/>
                    <a:pt x="0" y="5025383"/>
                    <a:pt x="0" y="4134110"/>
                  </a:cubicBezTo>
                  <a:cubicBezTo>
                    <a:pt x="0" y="2715062"/>
                    <a:pt x="265888" y="1365920"/>
                    <a:pt x="745964" y="14402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BBB2CB0-6C4C-C4F1-B038-A61E156A66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786580" y="4642864"/>
              <a:ext cx="2405420" cy="2215136"/>
            </a:xfrm>
            <a:custGeom>
              <a:avLst/>
              <a:gdLst>
                <a:gd name="connsiteX0" fmla="*/ 0 w 2405420"/>
                <a:gd name="connsiteY0" fmla="*/ 0 h 2215136"/>
                <a:gd name="connsiteX1" fmla="*/ 0 w 2405420"/>
                <a:gd name="connsiteY1" fmla="*/ 2215136 h 2215136"/>
                <a:gd name="connsiteX2" fmla="*/ 2405420 w 2405420"/>
                <a:gd name="connsiteY2" fmla="*/ 2215136 h 2215136"/>
                <a:gd name="connsiteX3" fmla="*/ 2321449 w 2405420"/>
                <a:gd name="connsiteY3" fmla="*/ 1985067 h 2215136"/>
                <a:gd name="connsiteX4" fmla="*/ 189238 w 2405420"/>
                <a:gd name="connsiteY4" fmla="*/ 51092 h 221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5420" h="2215136">
                  <a:moveTo>
                    <a:pt x="0" y="0"/>
                  </a:moveTo>
                  <a:lnTo>
                    <a:pt x="0" y="2215136"/>
                  </a:lnTo>
                  <a:lnTo>
                    <a:pt x="2405420" y="2215136"/>
                  </a:lnTo>
                  <a:lnTo>
                    <a:pt x="2321449" y="1985067"/>
                  </a:lnTo>
                  <a:cubicBezTo>
                    <a:pt x="1932884" y="1064048"/>
                    <a:pt x="1153170" y="350368"/>
                    <a:pt x="189238" y="5109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3AD0A4-6945-3BAF-05ED-C4F9558FC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044101" cy="4476750"/>
            </a:xfrm>
            <a:custGeom>
              <a:avLst/>
              <a:gdLst>
                <a:gd name="T0" fmla="*/ 0 w 364"/>
                <a:gd name="T1" fmla="*/ 796 h 796"/>
                <a:gd name="T2" fmla="*/ 364 w 364"/>
                <a:gd name="T3" fmla="*/ 278 h 796"/>
                <a:gd name="T4" fmla="*/ 289 w 364"/>
                <a:gd name="T5" fmla="*/ 0 h 796"/>
                <a:gd name="T6" fmla="*/ 0 w 364"/>
                <a:gd name="T7" fmla="*/ 0 h 796"/>
                <a:gd name="T8" fmla="*/ 0 w 364"/>
                <a:gd name="T9" fmla="*/ 796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796">
                  <a:moveTo>
                    <a:pt x="0" y="796"/>
                  </a:moveTo>
                  <a:cubicBezTo>
                    <a:pt x="212" y="719"/>
                    <a:pt x="364" y="516"/>
                    <a:pt x="364" y="278"/>
                  </a:cubicBezTo>
                  <a:cubicBezTo>
                    <a:pt x="364" y="177"/>
                    <a:pt x="337" y="82"/>
                    <a:pt x="28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9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51A2DE-B350-691F-B29C-2AF983C5291A}"/>
                </a:ext>
              </a:extLst>
            </p:cNvPr>
            <p:cNvSpPr/>
            <p:nvPr/>
          </p:nvSpPr>
          <p:spPr>
            <a:xfrm>
              <a:off x="814191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3E68B9-8187-0290-532F-2B58947D37C1}"/>
                </a:ext>
              </a:extLst>
            </p:cNvPr>
            <p:cNvSpPr/>
            <p:nvPr/>
          </p:nvSpPr>
          <p:spPr>
            <a:xfrm>
              <a:off x="1058468" y="804270"/>
              <a:ext cx="157755" cy="15775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8F527E-7640-8709-2101-06F283BCC90F}"/>
                </a:ext>
              </a:extLst>
            </p:cNvPr>
            <p:cNvSpPr/>
            <p:nvPr/>
          </p:nvSpPr>
          <p:spPr>
            <a:xfrm>
              <a:off x="1302746" y="804270"/>
              <a:ext cx="157755" cy="157755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1" y="1089026"/>
            <a:ext cx="4673599" cy="281531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8" y="5509733"/>
            <a:ext cx="46736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7101"/>
            <a:ext cx="46736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81452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  <a:t>2024/5/14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技术创新引领</a:t>
            </a:r>
            <a:endParaRPr lang="zh-CN" alt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首席技术官分享工作实践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none">
            <a:normAutofit/>
          </a:bodyPr>
          <a:lstStyle/>
          <a:p>
            <a:pPr lvl="0"/>
            <a:r>
              <a:rPr lang="en-US"/>
              <a:t>www.officeplus.cn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5785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B9E57BB-D324-3B5A-C0B8-E80AD7F5E81D}"/>
              </a:ext>
            </a:extLst>
          </p:cNvPr>
          <p:cNvGrpSpPr/>
          <p:nvPr/>
        </p:nvGrpSpPr>
        <p:grpSpPr>
          <a:xfrm>
            <a:off x="747483" y="1150565"/>
            <a:ext cx="11024001" cy="4418632"/>
            <a:chOff x="747483" y="1150565"/>
            <a:chExt cx="11024001" cy="441863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DB636B5-2BF5-C616-7542-D43CF93DCCAC}"/>
                </a:ext>
              </a:extLst>
            </p:cNvPr>
            <p:cNvGrpSpPr/>
            <p:nvPr/>
          </p:nvGrpSpPr>
          <p:grpSpPr>
            <a:xfrm>
              <a:off x="4867200" y="1150565"/>
              <a:ext cx="2444900" cy="830997"/>
              <a:chOff x="4867200" y="1150565"/>
              <a:chExt cx="2444900" cy="830997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832FC0-C829-EE28-6F76-5A086ECCB3DE}"/>
                  </a:ext>
                </a:extLst>
              </p:cNvPr>
              <p:cNvSpPr txBox="1"/>
              <p:nvPr/>
            </p:nvSpPr>
            <p:spPr>
              <a:xfrm>
                <a:off x="4867200" y="1150565"/>
                <a:ext cx="244490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spAutoFit/>
              </a:bodyPr>
              <a:lstStyle/>
              <a:p>
                <a:pPr algn="ctr">
                  <a:lnSpc>
                    <a:spcPct val="100000"/>
                  </a:lnSpc>
                  <a:buSzPct val="25000"/>
                </a:pPr>
                <a:r>
                  <a:rPr lang="en-US" altLang="zh-CN" sz="4800" b="1" dirty="0">
                    <a:solidFill>
                      <a:schemeClr val="accent1"/>
                    </a:solidFill>
                  </a:rPr>
                  <a:t>Agenda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C58426E-6455-FBCD-7D0D-4016FFFECAA5}"/>
                </a:ext>
              </a:extLst>
            </p:cNvPr>
            <p:cNvGrpSpPr/>
            <p:nvPr/>
          </p:nvGrpSpPr>
          <p:grpSpPr>
            <a:xfrm>
              <a:off x="747483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F9D0BAE1-6294-D1EB-8362-5992655B24BD}"/>
                  </a:ext>
                </a:extLst>
              </p:cNvPr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316BFC9B-EC3E-1DA4-440F-C91E26A7E57C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公司技术成果展示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D42D270-9694-A607-F9F3-992E0BC6811B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创新理念与技术成果</a:t>
                  </a:r>
                </a:p>
              </p:txBody>
            </p:sp>
          </p:grp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3B289B1-FC12-C897-4C63-39F075B2BBB6}"/>
                  </a:ext>
                </a:extLst>
              </p:cNvPr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01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D40CEB9-7CA2-AE49-CF9C-CD2991F56ACE}"/>
                </a:ext>
              </a:extLst>
            </p:cNvPr>
            <p:cNvGrpSpPr/>
            <p:nvPr/>
          </p:nvGrpSpPr>
          <p:grpSpPr>
            <a:xfrm>
              <a:off x="2906583" y="3298225"/>
              <a:ext cx="2387601" cy="1758839"/>
              <a:chOff x="3513085" y="3246702"/>
              <a:chExt cx="2387601" cy="1758839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CF6C926D-FB9B-7607-43C3-99F6B023755A}"/>
                  </a:ext>
                </a:extLst>
              </p:cNvPr>
              <p:cNvGrpSpPr/>
              <p:nvPr/>
            </p:nvGrpSpPr>
            <p:grpSpPr>
              <a:xfrm>
                <a:off x="3513085" y="4182569"/>
                <a:ext cx="2387601" cy="822972"/>
                <a:chOff x="660400" y="4334130"/>
                <a:chExt cx="2387601" cy="822972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A4BEA30-F4C1-1C23-99B8-195942EE83D4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2064769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</a:rPr>
                    <a:t>研发团队的工作方式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118D6F7-EA71-8571-1623-69401187F332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研发团队的工作方式</a:t>
                  </a:r>
                </a:p>
              </p:txBody>
            </p:sp>
          </p:grp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4548C8C-ABD4-1D7D-5BC5-8DA28A34100D}"/>
                  </a:ext>
                </a:extLst>
              </p:cNvPr>
              <p:cNvSpPr/>
              <p:nvPr/>
            </p:nvSpPr>
            <p:spPr>
              <a:xfrm>
                <a:off x="3513085" y="3246702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</a:rPr>
                  <a:t>02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0D9FF9C-F168-79FB-23C6-4BA4D7499643}"/>
                </a:ext>
              </a:extLst>
            </p:cNvPr>
            <p:cNvGrpSpPr/>
            <p:nvPr/>
          </p:nvGrpSpPr>
          <p:grpSpPr>
            <a:xfrm>
              <a:off x="50656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4E1ECFA-4707-C772-6481-3769FF7D9992}"/>
                  </a:ext>
                </a:extLst>
              </p:cNvPr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039AACF-831C-AA65-3040-794023AE8380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2064769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公司在行业的影响力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B7596DD0-6638-A08B-C15E-8C494751FCBA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公司技术影响行业发展</a:t>
                  </a:r>
                </a:p>
              </p:txBody>
            </p: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3ADE2C3-5AAD-877F-6B10-C99EB356ACB5}"/>
                  </a:ext>
                </a:extLst>
              </p:cNvPr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03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7D34E02-AC74-A07A-E0ED-2FDFDF397E34}"/>
                </a:ext>
              </a:extLst>
            </p:cNvPr>
            <p:cNvGrpSpPr/>
            <p:nvPr/>
          </p:nvGrpSpPr>
          <p:grpSpPr>
            <a:xfrm>
              <a:off x="7224782" y="3298225"/>
              <a:ext cx="2387601" cy="1758839"/>
              <a:chOff x="3513085" y="3246702"/>
              <a:chExt cx="2387601" cy="1758839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17B5766-583F-0579-017F-0F6433B51888}"/>
                  </a:ext>
                </a:extLst>
              </p:cNvPr>
              <p:cNvGrpSpPr/>
              <p:nvPr/>
            </p:nvGrpSpPr>
            <p:grpSpPr>
              <a:xfrm>
                <a:off x="3513085" y="4182569"/>
                <a:ext cx="2387601" cy="822972"/>
                <a:chOff x="660400" y="4334130"/>
                <a:chExt cx="2387601" cy="822972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EACA6E4-5A16-2865-647B-E429DBB692A9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2269953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</a:rPr>
                    <a:t>公司技术革新案例分享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D57DB35-931E-3AB8-63A5-71C44AA3D31B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技术引领行业革新</a:t>
                  </a:r>
                </a:p>
              </p:txBody>
            </p: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7E0C6C9-F9F8-1C93-49A0-84E8671AEAF1}"/>
                  </a:ext>
                </a:extLst>
              </p:cNvPr>
              <p:cNvSpPr/>
              <p:nvPr/>
            </p:nvSpPr>
            <p:spPr>
              <a:xfrm>
                <a:off x="3513085" y="3246702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</a:rPr>
                  <a:t>04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70D9C2B-D69A-600E-AA55-423BD1CAE90B}"/>
                </a:ext>
              </a:extLst>
            </p:cNvPr>
            <p:cNvGrpSpPr/>
            <p:nvPr/>
          </p:nvGrpSpPr>
          <p:grpSpPr>
            <a:xfrm>
              <a:off x="93838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4D5156D-855D-F292-7E13-B813BE4DC4FF}"/>
                  </a:ext>
                </a:extLst>
              </p:cNvPr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F2A3734-7271-FC7A-A027-DD4FA0A11E95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共享与发展的呼吁</a:t>
                  </a: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E802780-948C-BF85-C6E9-91F7088B7688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同行间的技术合作</a:t>
                  </a:r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82A5C25-0438-127C-E2C3-F1667AE53572}"/>
                  </a:ext>
                </a:extLst>
              </p:cNvPr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05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1132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01.公司技术成果展示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创新理念与技术成果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281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60398" y="1439733"/>
            <a:ext cx="10858502" cy="4696675"/>
            <a:chOff x="660398" y="1439733"/>
            <a:chExt cx="10858502" cy="46966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5AD924-CF0A-4C8B-BCDE-5BAF69638CDD}"/>
                </a:ext>
              </a:extLst>
            </p:cNvPr>
            <p:cNvSpPr/>
            <p:nvPr/>
          </p:nvSpPr>
          <p:spPr>
            <a:xfrm>
              <a:off x="660398" y="1439733"/>
              <a:ext cx="2818961" cy="4696674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6DD23C-040D-47C9-9264-ACE433584AE2}"/>
                </a:ext>
              </a:extLst>
            </p:cNvPr>
            <p:cNvSpPr/>
            <p:nvPr/>
          </p:nvSpPr>
          <p:spPr>
            <a:xfrm>
              <a:off x="7558811" y="1439733"/>
              <a:ext cx="3960089" cy="22184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3FEED2-53D4-40A2-AEDF-DC6D64357435}"/>
                </a:ext>
              </a:extLst>
            </p:cNvPr>
            <p:cNvSpPr/>
            <p:nvPr/>
          </p:nvSpPr>
          <p:spPr>
            <a:xfrm>
              <a:off x="7558811" y="3918008"/>
              <a:ext cx="3960089" cy="22184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EDC50D-D05A-4419-950D-37B5A5619032}"/>
                </a:ext>
              </a:extLst>
            </p:cNvPr>
            <p:cNvSpPr/>
            <p:nvPr/>
          </p:nvSpPr>
          <p:spPr>
            <a:xfrm>
              <a:off x="3707245" y="1439733"/>
              <a:ext cx="3623679" cy="4696674"/>
            </a:xfrm>
            <a:prstGeom prst="rect">
              <a:avLst/>
            </a:prstGeom>
            <a:blipFill rotWithShape="0">
              <a:blip r:embed="rId3"/>
              <a:srcRect/>
              <a:stretch>
                <a:fillRect l="-47360" r="-473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3789A5-0704-461C-B26B-873A2893719E}"/>
                </a:ext>
              </a:extLst>
            </p:cNvPr>
            <p:cNvSpPr txBox="1"/>
            <p:nvPr/>
          </p:nvSpPr>
          <p:spPr>
            <a:xfrm>
              <a:off x="800939" y="1654391"/>
              <a:ext cx="2012843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我们公司的核心技术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16E618-3B8F-4507-9ABF-1BB07300577D}"/>
                </a:ext>
              </a:extLst>
            </p:cNvPr>
            <p:cNvSpPr/>
            <p:nvPr/>
          </p:nvSpPr>
          <p:spPr>
            <a:xfrm flipH="1">
              <a:off x="800939" y="2700045"/>
              <a:ext cx="2510588" cy="516423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展示我们公司的核心技术，为同行介绍我们在技术领域的领先地位。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D21E570-BEC3-49B0-BA96-7CEEB9349841}"/>
                </a:ext>
              </a:extLst>
            </p:cNvPr>
            <p:cNvGrpSpPr/>
            <p:nvPr/>
          </p:nvGrpSpPr>
          <p:grpSpPr>
            <a:xfrm>
              <a:off x="800940" y="4671305"/>
              <a:ext cx="2510588" cy="807234"/>
              <a:chOff x="8371294" y="5043630"/>
              <a:chExt cx="2906306" cy="807234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E168C04-BC29-4A59-AFCF-286967B45E9B}"/>
                  </a:ext>
                </a:extLst>
              </p:cNvPr>
              <p:cNvSpPr/>
              <p:nvPr/>
            </p:nvSpPr>
            <p:spPr>
              <a:xfrm flipH="1">
                <a:off x="8371294" y="5325399"/>
                <a:ext cx="2906306" cy="525465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defTabSz="913765">
                  <a:lnSpc>
                    <a:spcPct val="120000"/>
                  </a:lnSpc>
                  <a:buSzPct val="25000"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我们致力于XX技术的研发和应用，以推动行业的发展。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F266F8-9DC0-49EE-BDB6-1B896538DBAD}"/>
                  </a:ext>
                </a:extLst>
              </p:cNvPr>
              <p:cNvSpPr txBox="1"/>
              <p:nvPr/>
            </p:nvSpPr>
            <p:spPr>
              <a:xfrm>
                <a:off x="8371294" y="5043630"/>
                <a:ext cx="290630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>
                    <a:solidFill>
                      <a:schemeClr val="accent1"/>
                    </a:solidFill>
                  </a:rPr>
                  <a:t>技术领域探索1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57397E8-9A24-4FFC-8E31-C5484CC06B2B}"/>
                </a:ext>
              </a:extLst>
            </p:cNvPr>
            <p:cNvGrpSpPr/>
            <p:nvPr/>
          </p:nvGrpSpPr>
          <p:grpSpPr>
            <a:xfrm>
              <a:off x="7767471" y="1999276"/>
              <a:ext cx="3500892" cy="637842"/>
              <a:chOff x="7767471" y="1887722"/>
              <a:chExt cx="3500892" cy="637842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28CA907-42ED-43FB-AC39-33C66795A67B}"/>
                  </a:ext>
                </a:extLst>
              </p:cNvPr>
              <p:cNvSpPr/>
              <p:nvPr/>
            </p:nvSpPr>
            <p:spPr>
              <a:xfrm flipH="1">
                <a:off x="8162350" y="2230740"/>
                <a:ext cx="3106009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XX技术在行业内的创新应用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B712FE-53CF-4EC7-ACAF-6BB22D2B5DBA}"/>
                  </a:ext>
                </a:extLst>
              </p:cNvPr>
              <p:cNvSpPr txBox="1"/>
              <p:nvPr/>
            </p:nvSpPr>
            <p:spPr>
              <a:xfrm>
                <a:off x="8162354" y="1898837"/>
                <a:ext cx="310600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技术领域探索2</a:t>
                </a: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92DC08E-FF7D-49F8-BE24-604E17398245}"/>
                  </a:ext>
                </a:extLst>
              </p:cNvPr>
              <p:cNvSpPr/>
              <p:nvPr/>
            </p:nvSpPr>
            <p:spPr bwMode="auto">
              <a:xfrm>
                <a:off x="7767471" y="1887722"/>
                <a:ext cx="281765" cy="343018"/>
              </a:xfrm>
              <a:custGeom>
                <a:avLst/>
                <a:gdLst>
                  <a:gd name="connsiteX0" fmla="*/ 286102 w 438150"/>
                  <a:gd name="connsiteY0" fmla="*/ 621 h 533400"/>
                  <a:gd name="connsiteX1" fmla="*/ 286102 w 438150"/>
                  <a:gd name="connsiteY1" fmla="*/ 153021 h 533400"/>
                  <a:gd name="connsiteX2" fmla="*/ 438502 w 438150"/>
                  <a:gd name="connsiteY2" fmla="*/ 153021 h 533400"/>
                  <a:gd name="connsiteX3" fmla="*/ 438502 w 438150"/>
                  <a:gd name="connsiteY3" fmla="*/ 534021 h 533400"/>
                  <a:gd name="connsiteX4" fmla="*/ 352 w 438150"/>
                  <a:gd name="connsiteY4" fmla="*/ 534021 h 533400"/>
                  <a:gd name="connsiteX5" fmla="*/ 352 w 438150"/>
                  <a:gd name="connsiteY5" fmla="*/ 621 h 533400"/>
                  <a:gd name="connsiteX6" fmla="*/ 286102 w 438150"/>
                  <a:gd name="connsiteY6" fmla="*/ 621 h 533400"/>
                  <a:gd name="connsiteX7" fmla="*/ 248002 w 438150"/>
                  <a:gd name="connsiteY7" fmla="*/ 200646 h 533400"/>
                  <a:gd name="connsiteX8" fmla="*/ 152752 w 438150"/>
                  <a:gd name="connsiteY8" fmla="*/ 200646 h 533400"/>
                  <a:gd name="connsiteX9" fmla="*/ 152752 w 438150"/>
                  <a:gd name="connsiteY9" fmla="*/ 410196 h 533400"/>
                  <a:gd name="connsiteX10" fmla="*/ 171802 w 438150"/>
                  <a:gd name="connsiteY10" fmla="*/ 410196 h 533400"/>
                  <a:gd name="connsiteX11" fmla="*/ 171802 w 438150"/>
                  <a:gd name="connsiteY11" fmla="*/ 314946 h 533400"/>
                  <a:gd name="connsiteX12" fmla="*/ 248002 w 438150"/>
                  <a:gd name="connsiteY12" fmla="*/ 314946 h 533400"/>
                  <a:gd name="connsiteX13" fmla="*/ 250098 w 438150"/>
                  <a:gd name="connsiteY13" fmla="*/ 314946 h 533400"/>
                  <a:gd name="connsiteX14" fmla="*/ 305152 w 438150"/>
                  <a:gd name="connsiteY14" fmla="*/ 257796 h 533400"/>
                  <a:gd name="connsiteX15" fmla="*/ 248002 w 438150"/>
                  <a:gd name="connsiteY15" fmla="*/ 200646 h 533400"/>
                  <a:gd name="connsiteX16" fmla="*/ 248002 w 438150"/>
                  <a:gd name="connsiteY16" fmla="*/ 200646 h 533400"/>
                  <a:gd name="connsiteX17" fmla="*/ 248002 w 438150"/>
                  <a:gd name="connsiteY17" fmla="*/ 219696 h 533400"/>
                  <a:gd name="connsiteX18" fmla="*/ 286102 w 438150"/>
                  <a:gd name="connsiteY18" fmla="*/ 257796 h 533400"/>
                  <a:gd name="connsiteX19" fmla="*/ 248002 w 438150"/>
                  <a:gd name="connsiteY19" fmla="*/ 295896 h 533400"/>
                  <a:gd name="connsiteX20" fmla="*/ 248002 w 438150"/>
                  <a:gd name="connsiteY20" fmla="*/ 295896 h 533400"/>
                  <a:gd name="connsiteX21" fmla="*/ 171802 w 438150"/>
                  <a:gd name="connsiteY21" fmla="*/ 295896 h 533400"/>
                  <a:gd name="connsiteX22" fmla="*/ 171802 w 438150"/>
                  <a:gd name="connsiteY22" fmla="*/ 219696 h 533400"/>
                  <a:gd name="connsiteX23" fmla="*/ 248002 w 438150"/>
                  <a:gd name="connsiteY23" fmla="*/ 219696 h 533400"/>
                  <a:gd name="connsiteX24" fmla="*/ 428977 w 438150"/>
                  <a:gd name="connsiteY24" fmla="*/ 133971 h 533400"/>
                  <a:gd name="connsiteX25" fmla="*/ 305152 w 438150"/>
                  <a:gd name="connsiteY25" fmla="*/ 133971 h 533400"/>
                  <a:gd name="connsiteX26" fmla="*/ 305152 w 438150"/>
                  <a:gd name="connsiteY26" fmla="*/ 10146 h 533400"/>
                  <a:gd name="connsiteX27" fmla="*/ 428977 w 438150"/>
                  <a:gd name="connsiteY27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8150" h="533400">
                    <a:moveTo>
                      <a:pt x="286102" y="621"/>
                    </a:moveTo>
                    <a:lnTo>
                      <a:pt x="286102" y="153021"/>
                    </a:lnTo>
                    <a:lnTo>
                      <a:pt x="438502" y="153021"/>
                    </a:lnTo>
                    <a:lnTo>
                      <a:pt x="438502" y="534021"/>
                    </a:lnTo>
                    <a:lnTo>
                      <a:pt x="352" y="534021"/>
                    </a:lnTo>
                    <a:lnTo>
                      <a:pt x="352" y="621"/>
                    </a:lnTo>
                    <a:lnTo>
                      <a:pt x="286102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05152" y="133971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4C8AC30-5A0A-4B1E-A71B-4E9836042616}"/>
                </a:ext>
              </a:extLst>
            </p:cNvPr>
            <p:cNvGrpSpPr/>
            <p:nvPr/>
          </p:nvGrpSpPr>
          <p:grpSpPr>
            <a:xfrm>
              <a:off x="7768854" y="4477551"/>
              <a:ext cx="3522164" cy="637842"/>
              <a:chOff x="7768854" y="4395905"/>
              <a:chExt cx="3522164" cy="637842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4D2447E-F758-49FB-95D3-EE64D5D0DA47}"/>
                  </a:ext>
                </a:extLst>
              </p:cNvPr>
              <p:cNvSpPr/>
              <p:nvPr/>
            </p:nvSpPr>
            <p:spPr bwMode="auto">
              <a:xfrm>
                <a:off x="7768854" y="4395905"/>
                <a:ext cx="324308" cy="343018"/>
              </a:xfrm>
              <a:custGeom>
                <a:avLst/>
                <a:gdLst>
                  <a:gd name="connsiteX0" fmla="*/ 372211 w 495300"/>
                  <a:gd name="connsiteY0" fmla="*/ 621 h 523875"/>
                  <a:gd name="connsiteX1" fmla="*/ 372211 w 495300"/>
                  <a:gd name="connsiteY1" fmla="*/ 19671 h 523875"/>
                  <a:gd name="connsiteX2" fmla="*/ 334111 w 495300"/>
                  <a:gd name="connsiteY2" fmla="*/ 19671 h 523875"/>
                  <a:gd name="connsiteX3" fmla="*/ 334111 w 495300"/>
                  <a:gd name="connsiteY3" fmla="*/ 143877 h 523875"/>
                  <a:gd name="connsiteX4" fmla="*/ 496036 w 495300"/>
                  <a:gd name="connsiteY4" fmla="*/ 486587 h 523875"/>
                  <a:gd name="connsiteX5" fmla="*/ 481749 w 495300"/>
                  <a:gd name="connsiteY5" fmla="*/ 524496 h 523875"/>
                  <a:gd name="connsiteX6" fmla="*/ 15024 w 495300"/>
                  <a:gd name="connsiteY6" fmla="*/ 524496 h 523875"/>
                  <a:gd name="connsiteX7" fmla="*/ 736 w 495300"/>
                  <a:gd name="connsiteY7" fmla="*/ 486587 h 523875"/>
                  <a:gd name="connsiteX8" fmla="*/ 162661 w 495300"/>
                  <a:gd name="connsiteY8" fmla="*/ 143877 h 523875"/>
                  <a:gd name="connsiteX9" fmla="*/ 162661 w 495300"/>
                  <a:gd name="connsiteY9" fmla="*/ 19671 h 523875"/>
                  <a:gd name="connsiteX10" fmla="*/ 124561 w 495300"/>
                  <a:gd name="connsiteY10" fmla="*/ 19671 h 523875"/>
                  <a:gd name="connsiteX11" fmla="*/ 124561 w 495300"/>
                  <a:gd name="connsiteY11" fmla="*/ 621 h 523875"/>
                  <a:gd name="connsiteX12" fmla="*/ 372211 w 495300"/>
                  <a:gd name="connsiteY12" fmla="*/ 621 h 523875"/>
                  <a:gd name="connsiteX13" fmla="*/ 259435 w 495300"/>
                  <a:gd name="connsiteY13" fmla="*/ 404767 h 523875"/>
                  <a:gd name="connsiteX14" fmla="*/ 256577 w 495300"/>
                  <a:gd name="connsiteY14" fmla="*/ 406576 h 523875"/>
                  <a:gd name="connsiteX15" fmla="*/ 251053 w 495300"/>
                  <a:gd name="connsiteY15" fmla="*/ 410291 h 523875"/>
                  <a:gd name="connsiteX16" fmla="*/ 59220 w 495300"/>
                  <a:gd name="connsiteY16" fmla="*/ 416864 h 523875"/>
                  <a:gd name="connsiteX17" fmla="*/ 55409 w 495300"/>
                  <a:gd name="connsiteY17" fmla="*/ 415339 h 523875"/>
                  <a:gd name="connsiteX18" fmla="*/ 21310 w 495300"/>
                  <a:gd name="connsiteY18" fmla="*/ 487444 h 523875"/>
                  <a:gd name="connsiteX19" fmla="*/ 28073 w 495300"/>
                  <a:gd name="connsiteY19" fmla="*/ 505446 h 523875"/>
                  <a:gd name="connsiteX20" fmla="*/ 468414 w 495300"/>
                  <a:gd name="connsiteY20" fmla="*/ 505446 h 523875"/>
                  <a:gd name="connsiteX21" fmla="*/ 475176 w 495300"/>
                  <a:gd name="connsiteY21" fmla="*/ 487444 h 523875"/>
                  <a:gd name="connsiteX22" fmla="*/ 428313 w 495300"/>
                  <a:gd name="connsiteY22" fmla="*/ 388289 h 523875"/>
                  <a:gd name="connsiteX23" fmla="*/ 259435 w 495300"/>
                  <a:gd name="connsiteY23" fmla="*/ 404767 h 523875"/>
                  <a:gd name="connsiteX24" fmla="*/ 310299 w 495300"/>
                  <a:gd name="connsiteY24" fmla="*/ 257796 h 523875"/>
                  <a:gd name="connsiteX25" fmla="*/ 276961 w 495300"/>
                  <a:gd name="connsiteY25" fmla="*/ 291134 h 523875"/>
                  <a:gd name="connsiteX26" fmla="*/ 310299 w 495300"/>
                  <a:gd name="connsiteY26" fmla="*/ 324471 h 523875"/>
                  <a:gd name="connsiteX27" fmla="*/ 343636 w 495300"/>
                  <a:gd name="connsiteY27" fmla="*/ 291134 h 523875"/>
                  <a:gd name="connsiteX28" fmla="*/ 310299 w 495300"/>
                  <a:gd name="connsiteY28" fmla="*/ 257796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95300" h="523875">
                    <a:moveTo>
                      <a:pt x="372211" y="621"/>
                    </a:moveTo>
                    <a:lnTo>
                      <a:pt x="372211" y="19671"/>
                    </a:lnTo>
                    <a:lnTo>
                      <a:pt x="334111" y="19671"/>
                    </a:lnTo>
                    <a:lnTo>
                      <a:pt x="334111" y="143877"/>
                    </a:lnTo>
                    <a:lnTo>
                      <a:pt x="496036" y="486587"/>
                    </a:lnTo>
                    <a:lnTo>
                      <a:pt x="481749" y="524496"/>
                    </a:lnTo>
                    <a:lnTo>
                      <a:pt x="15024" y="524496"/>
                    </a:lnTo>
                    <a:lnTo>
                      <a:pt x="736" y="486587"/>
                    </a:lnTo>
                    <a:lnTo>
                      <a:pt x="162661" y="143877"/>
                    </a:lnTo>
                    <a:lnTo>
                      <a:pt x="162661" y="19671"/>
                    </a:lnTo>
                    <a:lnTo>
                      <a:pt x="124561" y="19671"/>
                    </a:lnTo>
                    <a:lnTo>
                      <a:pt x="124561" y="621"/>
                    </a:lnTo>
                    <a:lnTo>
                      <a:pt x="372211" y="621"/>
                    </a:lnTo>
                    <a:close/>
                    <a:moveTo>
                      <a:pt x="259435" y="404767"/>
                    </a:moveTo>
                    <a:lnTo>
                      <a:pt x="256577" y="406576"/>
                    </a:lnTo>
                    <a:lnTo>
                      <a:pt x="251053" y="410291"/>
                    </a:lnTo>
                    <a:cubicBezTo>
                      <a:pt x="203809" y="441628"/>
                      <a:pt x="124275" y="442581"/>
                      <a:pt x="59220" y="416864"/>
                    </a:cubicBezTo>
                    <a:lnTo>
                      <a:pt x="55409" y="415339"/>
                    </a:lnTo>
                    <a:lnTo>
                      <a:pt x="21310" y="487444"/>
                    </a:lnTo>
                    <a:lnTo>
                      <a:pt x="28073" y="505446"/>
                    </a:lnTo>
                    <a:lnTo>
                      <a:pt x="468414" y="505446"/>
                    </a:lnTo>
                    <a:lnTo>
                      <a:pt x="475176" y="487444"/>
                    </a:lnTo>
                    <a:lnTo>
                      <a:pt x="428313" y="388289"/>
                    </a:lnTo>
                    <a:cubicBezTo>
                      <a:pt x="370211" y="373810"/>
                      <a:pt x="300774" y="379335"/>
                      <a:pt x="259435" y="404767"/>
                    </a:cubicBezTo>
                    <a:close/>
                    <a:moveTo>
                      <a:pt x="310299" y="257796"/>
                    </a:moveTo>
                    <a:cubicBezTo>
                      <a:pt x="291915" y="257796"/>
                      <a:pt x="276961" y="272750"/>
                      <a:pt x="276961" y="291134"/>
                    </a:cubicBezTo>
                    <a:cubicBezTo>
                      <a:pt x="276961" y="309517"/>
                      <a:pt x="291915" y="324471"/>
                      <a:pt x="310299" y="324471"/>
                    </a:cubicBezTo>
                    <a:cubicBezTo>
                      <a:pt x="328682" y="324471"/>
                      <a:pt x="343636" y="309517"/>
                      <a:pt x="343636" y="291134"/>
                    </a:cubicBezTo>
                    <a:cubicBezTo>
                      <a:pt x="343636" y="272750"/>
                      <a:pt x="328682" y="257796"/>
                      <a:pt x="310299" y="2577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16697A4-F047-45FE-B063-CF26730C3B91}"/>
                  </a:ext>
                </a:extLst>
              </p:cNvPr>
              <p:cNvSpPr/>
              <p:nvPr/>
            </p:nvSpPr>
            <p:spPr>
              <a:xfrm flipH="1">
                <a:off x="8185005" y="4738923"/>
                <a:ext cx="3106009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XX技术的前瞻性和潜力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B4CE66-E409-40BB-8175-435581234307}"/>
                  </a:ext>
                </a:extLst>
              </p:cNvPr>
              <p:cNvSpPr txBox="1"/>
              <p:nvPr/>
            </p:nvSpPr>
            <p:spPr>
              <a:xfrm>
                <a:off x="8185009" y="4407020"/>
                <a:ext cx="310600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技术领域探索3</a:t>
                </a:r>
              </a:p>
            </p:txBody>
          </p:sp>
        </p:grpSp>
      </p:grp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核心技术展示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048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C5220B-6CA0-49AC-9213-8BE20F37E7D4}"/>
              </a:ext>
            </a:extLst>
          </p:cNvPr>
          <p:cNvSpPr/>
          <p:nvPr/>
        </p:nvSpPr>
        <p:spPr>
          <a:xfrm>
            <a:off x="660400" y="885439"/>
            <a:ext cx="10858500" cy="834825"/>
          </a:xfrm>
          <a:prstGeom prst="rect">
            <a:avLst/>
          </a:prstGeom>
        </p:spPr>
        <p:txBody>
          <a:bodyPr wrap="square" anchor="b" anchorCtr="0">
            <a:noAutofit/>
          </a:bodyPr>
          <a:lstStyle/>
          <a:p>
            <a:pPr algn="ctr">
              <a:lnSpc>
                <a:spcPct val="100000"/>
              </a:lnSpc>
              <a:buSzPct val="25000"/>
            </a:pPr>
            <a:r>
              <a:rPr lang="zh-CN" altLang="en-US" sz="2400" b="1" dirty="0">
                <a:solidFill>
                  <a:schemeClr val="tx1"/>
                </a:solidFill>
              </a:rPr>
              <a:t>创新理念的核心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0D0497-265B-4D1C-A6D0-F2CDBD94262E}"/>
              </a:ext>
            </a:extLst>
          </p:cNvPr>
          <p:cNvSpPr txBox="1"/>
          <p:nvPr/>
        </p:nvSpPr>
        <p:spPr>
          <a:xfrm>
            <a:off x="660400" y="1732964"/>
            <a:ext cx="10858500" cy="29482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创新理念：推动公司技术进步的核心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4BD50-DFB7-420F-ACAE-FA75D9C2E8BD}"/>
              </a:ext>
            </a:extLst>
          </p:cNvPr>
          <p:cNvGrpSpPr/>
          <p:nvPr/>
        </p:nvGrpSpPr>
        <p:grpSpPr>
          <a:xfrm>
            <a:off x="1206498" y="2932918"/>
            <a:ext cx="2070102" cy="1783876"/>
            <a:chOff x="1206498" y="2932918"/>
            <a:chExt cx="2070102" cy="178387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BF135C-A559-4A3B-88CF-80550DC0AA08}"/>
                </a:ext>
              </a:extLst>
            </p:cNvPr>
            <p:cNvSpPr/>
            <p:nvPr/>
          </p:nvSpPr>
          <p:spPr bwMode="auto">
            <a:xfrm flipH="1">
              <a:off x="1206498" y="2932918"/>
              <a:ext cx="1816101" cy="1783876"/>
            </a:xfrm>
            <a:custGeom>
              <a:avLst/>
              <a:gdLst>
                <a:gd name="T0" fmla="*/ 1254 w 1400"/>
                <a:gd name="T1" fmla="*/ 0 h 1375"/>
                <a:gd name="T2" fmla="*/ 146 w 1400"/>
                <a:gd name="T3" fmla="*/ 120 h 1375"/>
                <a:gd name="T4" fmla="*/ 0 w 1400"/>
                <a:gd name="T5" fmla="*/ 265 h 1375"/>
                <a:gd name="T6" fmla="*/ 0 w 1400"/>
                <a:gd name="T7" fmla="*/ 1122 h 1375"/>
                <a:gd name="T8" fmla="*/ 146 w 1400"/>
                <a:gd name="T9" fmla="*/ 1267 h 1375"/>
                <a:gd name="T10" fmla="*/ 1254 w 1400"/>
                <a:gd name="T11" fmla="*/ 1375 h 1375"/>
                <a:gd name="T12" fmla="*/ 1400 w 1400"/>
                <a:gd name="T13" fmla="*/ 1230 h 1375"/>
                <a:gd name="T14" fmla="*/ 1400 w 1400"/>
                <a:gd name="T15" fmla="*/ 145 h 1375"/>
                <a:gd name="T16" fmla="*/ 1254 w 1400"/>
                <a:gd name="T17" fmla="*/ 0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00" h="1375">
                  <a:moveTo>
                    <a:pt x="1254" y="0"/>
                  </a:moveTo>
                  <a:cubicBezTo>
                    <a:pt x="146" y="120"/>
                    <a:pt x="146" y="120"/>
                    <a:pt x="146" y="120"/>
                  </a:cubicBezTo>
                  <a:cubicBezTo>
                    <a:pt x="66" y="120"/>
                    <a:pt x="0" y="185"/>
                    <a:pt x="0" y="265"/>
                  </a:cubicBezTo>
                  <a:cubicBezTo>
                    <a:pt x="0" y="1122"/>
                    <a:pt x="0" y="1122"/>
                    <a:pt x="0" y="1122"/>
                  </a:cubicBezTo>
                  <a:cubicBezTo>
                    <a:pt x="0" y="1202"/>
                    <a:pt x="66" y="1267"/>
                    <a:pt x="146" y="1267"/>
                  </a:cubicBezTo>
                  <a:cubicBezTo>
                    <a:pt x="1254" y="1375"/>
                    <a:pt x="1254" y="1375"/>
                    <a:pt x="1254" y="1375"/>
                  </a:cubicBezTo>
                  <a:cubicBezTo>
                    <a:pt x="1334" y="1375"/>
                    <a:pt x="1400" y="1310"/>
                    <a:pt x="1400" y="1230"/>
                  </a:cubicBezTo>
                  <a:cubicBezTo>
                    <a:pt x="1400" y="145"/>
                    <a:pt x="1400" y="145"/>
                    <a:pt x="1400" y="145"/>
                  </a:cubicBezTo>
                  <a:cubicBezTo>
                    <a:pt x="1400" y="65"/>
                    <a:pt x="1334" y="0"/>
                    <a:pt x="1254" y="0"/>
                  </a:cubicBezTo>
                </a:path>
              </a:pathLst>
            </a:custGeom>
            <a:blipFill rotWithShape="0">
              <a:blip r:embed="rId3"/>
              <a:srcRect/>
              <a:stretch>
                <a:fillRect l="-23860" r="-238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EC004E0-BC69-4EAD-9F76-0D75FEA624AE}"/>
                </a:ext>
              </a:extLst>
            </p:cNvPr>
            <p:cNvSpPr/>
            <p:nvPr/>
          </p:nvSpPr>
          <p:spPr>
            <a:xfrm>
              <a:off x="2743200" y="2932918"/>
              <a:ext cx="533400" cy="5334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200" b="1" dirty="0"/>
                <a:t>01</a:t>
              </a:r>
              <a:endParaRPr lang="zh-CN" altLang="en-US" sz="1200" b="1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2C4339C-C706-4333-9347-BE250A5A2976}"/>
              </a:ext>
            </a:extLst>
          </p:cNvPr>
          <p:cNvGrpSpPr/>
          <p:nvPr/>
        </p:nvGrpSpPr>
        <p:grpSpPr>
          <a:xfrm>
            <a:off x="5054598" y="2932918"/>
            <a:ext cx="2082801" cy="1783876"/>
            <a:chOff x="5054598" y="2932918"/>
            <a:chExt cx="2082801" cy="178387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7042634-4D93-4D69-A113-A576262D0FD5}"/>
                </a:ext>
              </a:extLst>
            </p:cNvPr>
            <p:cNvSpPr/>
            <p:nvPr/>
          </p:nvSpPr>
          <p:spPr bwMode="auto">
            <a:xfrm flipH="1">
              <a:off x="5054598" y="2932918"/>
              <a:ext cx="1816101" cy="1783876"/>
            </a:xfrm>
            <a:custGeom>
              <a:avLst/>
              <a:gdLst>
                <a:gd name="T0" fmla="*/ 1254 w 1400"/>
                <a:gd name="T1" fmla="*/ 0 h 1375"/>
                <a:gd name="T2" fmla="*/ 146 w 1400"/>
                <a:gd name="T3" fmla="*/ 120 h 1375"/>
                <a:gd name="T4" fmla="*/ 0 w 1400"/>
                <a:gd name="T5" fmla="*/ 265 h 1375"/>
                <a:gd name="T6" fmla="*/ 0 w 1400"/>
                <a:gd name="T7" fmla="*/ 1122 h 1375"/>
                <a:gd name="T8" fmla="*/ 146 w 1400"/>
                <a:gd name="T9" fmla="*/ 1267 h 1375"/>
                <a:gd name="T10" fmla="*/ 1254 w 1400"/>
                <a:gd name="T11" fmla="*/ 1375 h 1375"/>
                <a:gd name="T12" fmla="*/ 1400 w 1400"/>
                <a:gd name="T13" fmla="*/ 1230 h 1375"/>
                <a:gd name="T14" fmla="*/ 1400 w 1400"/>
                <a:gd name="T15" fmla="*/ 145 h 1375"/>
                <a:gd name="T16" fmla="*/ 1254 w 1400"/>
                <a:gd name="T17" fmla="*/ 0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00" h="1375">
                  <a:moveTo>
                    <a:pt x="1254" y="0"/>
                  </a:moveTo>
                  <a:cubicBezTo>
                    <a:pt x="146" y="120"/>
                    <a:pt x="146" y="120"/>
                    <a:pt x="146" y="120"/>
                  </a:cubicBezTo>
                  <a:cubicBezTo>
                    <a:pt x="66" y="120"/>
                    <a:pt x="0" y="185"/>
                    <a:pt x="0" y="265"/>
                  </a:cubicBezTo>
                  <a:cubicBezTo>
                    <a:pt x="0" y="1122"/>
                    <a:pt x="0" y="1122"/>
                    <a:pt x="0" y="1122"/>
                  </a:cubicBezTo>
                  <a:cubicBezTo>
                    <a:pt x="0" y="1202"/>
                    <a:pt x="66" y="1267"/>
                    <a:pt x="146" y="1267"/>
                  </a:cubicBezTo>
                  <a:cubicBezTo>
                    <a:pt x="1254" y="1375"/>
                    <a:pt x="1254" y="1375"/>
                    <a:pt x="1254" y="1375"/>
                  </a:cubicBezTo>
                  <a:cubicBezTo>
                    <a:pt x="1334" y="1375"/>
                    <a:pt x="1400" y="1310"/>
                    <a:pt x="1400" y="1230"/>
                  </a:cubicBezTo>
                  <a:cubicBezTo>
                    <a:pt x="1400" y="145"/>
                    <a:pt x="1400" y="145"/>
                    <a:pt x="1400" y="145"/>
                  </a:cubicBezTo>
                  <a:cubicBezTo>
                    <a:pt x="1400" y="65"/>
                    <a:pt x="1334" y="0"/>
                    <a:pt x="1254" y="0"/>
                  </a:cubicBezTo>
                </a:path>
              </a:pathLst>
            </a:custGeom>
            <a:blipFill rotWithShape="0">
              <a:blip r:embed="rId4"/>
              <a:srcRect/>
              <a:stretch>
                <a:fillRect l="-23860" r="-2386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440F513-A569-47F5-8FB3-0AC3FDC9DD3E}"/>
                </a:ext>
              </a:extLst>
            </p:cNvPr>
            <p:cNvSpPr/>
            <p:nvPr/>
          </p:nvSpPr>
          <p:spPr>
            <a:xfrm>
              <a:off x="6603999" y="2932918"/>
              <a:ext cx="533400" cy="5334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200" b="1" dirty="0"/>
                <a:t>02</a:t>
              </a:r>
              <a:endParaRPr lang="zh-CN" altLang="en-US" sz="1200" b="1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C416BE-04E4-4644-8E12-0EA6BE524A88}"/>
              </a:ext>
            </a:extLst>
          </p:cNvPr>
          <p:cNvGrpSpPr/>
          <p:nvPr/>
        </p:nvGrpSpPr>
        <p:grpSpPr>
          <a:xfrm>
            <a:off x="8902698" y="2932918"/>
            <a:ext cx="2001160" cy="1783876"/>
            <a:chOff x="8902698" y="2932918"/>
            <a:chExt cx="2001160" cy="178387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ED11D45-48E7-47A6-B77D-F96D14917533}"/>
                </a:ext>
              </a:extLst>
            </p:cNvPr>
            <p:cNvSpPr/>
            <p:nvPr/>
          </p:nvSpPr>
          <p:spPr bwMode="auto">
            <a:xfrm flipH="1">
              <a:off x="8902698" y="2932918"/>
              <a:ext cx="1816101" cy="1783876"/>
            </a:xfrm>
            <a:custGeom>
              <a:avLst/>
              <a:gdLst>
                <a:gd name="T0" fmla="*/ 1254 w 1400"/>
                <a:gd name="T1" fmla="*/ 0 h 1375"/>
                <a:gd name="T2" fmla="*/ 146 w 1400"/>
                <a:gd name="T3" fmla="*/ 120 h 1375"/>
                <a:gd name="T4" fmla="*/ 0 w 1400"/>
                <a:gd name="T5" fmla="*/ 265 h 1375"/>
                <a:gd name="T6" fmla="*/ 0 w 1400"/>
                <a:gd name="T7" fmla="*/ 1122 h 1375"/>
                <a:gd name="T8" fmla="*/ 146 w 1400"/>
                <a:gd name="T9" fmla="*/ 1267 h 1375"/>
                <a:gd name="T10" fmla="*/ 1254 w 1400"/>
                <a:gd name="T11" fmla="*/ 1375 h 1375"/>
                <a:gd name="T12" fmla="*/ 1400 w 1400"/>
                <a:gd name="T13" fmla="*/ 1230 h 1375"/>
                <a:gd name="T14" fmla="*/ 1400 w 1400"/>
                <a:gd name="T15" fmla="*/ 145 h 1375"/>
                <a:gd name="T16" fmla="*/ 1254 w 1400"/>
                <a:gd name="T17" fmla="*/ 0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00" h="1375">
                  <a:moveTo>
                    <a:pt x="1254" y="0"/>
                  </a:moveTo>
                  <a:cubicBezTo>
                    <a:pt x="146" y="120"/>
                    <a:pt x="146" y="120"/>
                    <a:pt x="146" y="120"/>
                  </a:cubicBezTo>
                  <a:cubicBezTo>
                    <a:pt x="66" y="120"/>
                    <a:pt x="0" y="185"/>
                    <a:pt x="0" y="265"/>
                  </a:cubicBezTo>
                  <a:cubicBezTo>
                    <a:pt x="0" y="1122"/>
                    <a:pt x="0" y="1122"/>
                    <a:pt x="0" y="1122"/>
                  </a:cubicBezTo>
                  <a:cubicBezTo>
                    <a:pt x="0" y="1202"/>
                    <a:pt x="66" y="1267"/>
                    <a:pt x="146" y="1267"/>
                  </a:cubicBezTo>
                  <a:cubicBezTo>
                    <a:pt x="1254" y="1375"/>
                    <a:pt x="1254" y="1375"/>
                    <a:pt x="1254" y="1375"/>
                  </a:cubicBezTo>
                  <a:cubicBezTo>
                    <a:pt x="1334" y="1375"/>
                    <a:pt x="1400" y="1310"/>
                    <a:pt x="1400" y="1230"/>
                  </a:cubicBezTo>
                  <a:cubicBezTo>
                    <a:pt x="1400" y="145"/>
                    <a:pt x="1400" y="145"/>
                    <a:pt x="1400" y="145"/>
                  </a:cubicBezTo>
                  <a:cubicBezTo>
                    <a:pt x="1400" y="65"/>
                    <a:pt x="1334" y="0"/>
                    <a:pt x="1254" y="0"/>
                  </a:cubicBezTo>
                </a:path>
              </a:pathLst>
            </a:custGeom>
            <a:blipFill rotWithShape="0">
              <a:blip r:embed="rId5"/>
              <a:srcRect/>
              <a:stretch>
                <a:fillRect t="-25970" b="-2597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7EF4B3A-4E95-410D-99CA-92AAC3C156F8}"/>
                </a:ext>
              </a:extLst>
            </p:cNvPr>
            <p:cNvSpPr/>
            <p:nvPr/>
          </p:nvSpPr>
          <p:spPr>
            <a:xfrm>
              <a:off x="10370458" y="2932918"/>
              <a:ext cx="533400" cy="5334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200" b="1" dirty="0"/>
                <a:t>03</a:t>
              </a:r>
              <a:endParaRPr lang="zh-CN" altLang="en-US" sz="1200" b="1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4C5984F-6734-4AFC-9796-CFE24719D730}"/>
              </a:ext>
            </a:extLst>
          </p:cNvPr>
          <p:cNvGrpSpPr/>
          <p:nvPr/>
        </p:nvGrpSpPr>
        <p:grpSpPr>
          <a:xfrm>
            <a:off x="1206498" y="5216948"/>
            <a:ext cx="1957039" cy="1070692"/>
            <a:chOff x="1206498" y="5216948"/>
            <a:chExt cx="1957039" cy="10706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849493-9608-4BEE-ACBF-7D8C5A8805D4}"/>
                </a:ext>
              </a:extLst>
            </p:cNvPr>
            <p:cNvSpPr/>
            <p:nvPr/>
          </p:nvSpPr>
          <p:spPr>
            <a:xfrm>
              <a:off x="1206498" y="5216948"/>
              <a:ext cx="1921764" cy="338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1" lang="zh-CN" altLang="en-US" sz="1600" b="1" dirty="0">
                  <a:solidFill>
                    <a:schemeClr val="tx1"/>
                  </a:solidFill>
                </a:rPr>
                <a:t>用户体验至上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4D71BA6-CD17-4692-A1F2-2E5FE671F395}"/>
                </a:ext>
              </a:extLst>
            </p:cNvPr>
            <p:cNvSpPr/>
            <p:nvPr/>
          </p:nvSpPr>
          <p:spPr>
            <a:xfrm>
              <a:off x="1206498" y="5549617"/>
              <a:ext cx="1957039" cy="7380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我们始终以用户需求为中心，不断改进我们的产品和服务。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574AA7-3094-49CC-983A-BBB65D6F8F5C}"/>
              </a:ext>
            </a:extLst>
          </p:cNvPr>
          <p:cNvGrpSpPr/>
          <p:nvPr/>
        </p:nvGrpSpPr>
        <p:grpSpPr>
          <a:xfrm>
            <a:off x="5054598" y="5216948"/>
            <a:ext cx="1957039" cy="1070692"/>
            <a:chOff x="5054598" y="5216948"/>
            <a:chExt cx="1957039" cy="107069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1F4B8C-F844-4173-AB21-1141B82AFC52}"/>
                </a:ext>
              </a:extLst>
            </p:cNvPr>
            <p:cNvSpPr/>
            <p:nvPr/>
          </p:nvSpPr>
          <p:spPr>
            <a:xfrm>
              <a:off x="5054598" y="5216948"/>
              <a:ext cx="1921764" cy="338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1" lang="zh-CN" altLang="en-US" sz="1600" b="1" dirty="0">
                  <a:solidFill>
                    <a:schemeClr val="tx1"/>
                  </a:solidFill>
                </a:rPr>
                <a:t>开放合作共赢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30F6A6-B653-4186-9BB4-DC103F6CC8AB}"/>
                </a:ext>
              </a:extLst>
            </p:cNvPr>
            <p:cNvSpPr/>
            <p:nvPr/>
          </p:nvSpPr>
          <p:spPr>
            <a:xfrm>
              <a:off x="5054598" y="5549617"/>
              <a:ext cx="1957039" cy="7380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秉持开放的态度，与合作伙伴共同创新，打造生态圈，实现共赢发展。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37A402-3044-4756-9B72-2E143A9AA188}"/>
              </a:ext>
            </a:extLst>
          </p:cNvPr>
          <p:cNvGrpSpPr/>
          <p:nvPr/>
        </p:nvGrpSpPr>
        <p:grpSpPr>
          <a:xfrm>
            <a:off x="8902698" y="5216948"/>
            <a:ext cx="1957039" cy="1292291"/>
            <a:chOff x="8902698" y="5216948"/>
            <a:chExt cx="1957039" cy="129229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8B61E8-0230-4784-833F-908E54205A27}"/>
                </a:ext>
              </a:extLst>
            </p:cNvPr>
            <p:cNvSpPr/>
            <p:nvPr/>
          </p:nvSpPr>
          <p:spPr>
            <a:xfrm>
              <a:off x="8902698" y="5216948"/>
              <a:ext cx="1921764" cy="338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1" lang="zh-CN" altLang="en-US" sz="1600" b="1" dirty="0">
                  <a:solidFill>
                    <a:schemeClr val="tx1"/>
                  </a:solidFill>
                </a:rPr>
                <a:t>持续创新驱动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DEE011-AC35-47B6-8FFC-A15DCE2F17E7}"/>
                </a:ext>
              </a:extLst>
            </p:cNvPr>
            <p:cNvSpPr/>
            <p:nvPr/>
          </p:nvSpPr>
          <p:spPr>
            <a:xfrm>
              <a:off x="8902698" y="5549617"/>
              <a:ext cx="1957039" cy="9596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不断追求技术创新和突破，引领行业的技术发展方向，为客户提供前沿的解决方案。</a:t>
              </a:r>
            </a:p>
          </p:txBody>
        </p:sp>
      </p:grpSp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创新理念分享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860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60400" y="1222633"/>
            <a:ext cx="10858500" cy="4276554"/>
            <a:chOff x="660400" y="1222633"/>
            <a:chExt cx="10858500" cy="4276554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CE77DC51-C006-4B0A-BDE6-9F066A4D0CCC}"/>
                </a:ext>
              </a:extLst>
            </p:cNvPr>
            <p:cNvSpPr/>
            <p:nvPr/>
          </p:nvSpPr>
          <p:spPr>
            <a:xfrm>
              <a:off x="660400" y="4139960"/>
              <a:ext cx="2344400" cy="1359227"/>
            </a:xfrm>
            <a:prstGeom prst="roundRect">
              <a:avLst>
                <a:gd name="adj" fmla="val 7172"/>
              </a:avLst>
            </a:prstGeom>
            <a:blipFill rotWithShape="0">
              <a:blip r:embed="rId3"/>
              <a:srcRect/>
              <a:stretch>
                <a:fillRect t="-7710" b="-771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57EC5CD3-3F5C-4190-B968-7BDC99C010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660400" y="1222633"/>
              <a:ext cx="5540926" cy="1013716"/>
              <a:chOff x="2492016" y="4214586"/>
              <a:chExt cx="2974766" cy="1013716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916E6B59-185C-4DAA-AF12-ABC10E343EA0}"/>
                  </a:ext>
                </a:extLst>
              </p:cNvPr>
              <p:cNvSpPr/>
              <p:nvPr/>
            </p:nvSpPr>
            <p:spPr>
              <a:xfrm>
                <a:off x="2492017" y="4807701"/>
                <a:ext cx="2974765" cy="4206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公司通过技术创新不断推动行业的发展，为客户带来更多价值。</a:t>
                </a: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35534C8-3FA3-4933-A938-49F1235056CA}"/>
                  </a:ext>
                </a:extLst>
              </p:cNvPr>
              <p:cNvSpPr/>
              <p:nvPr/>
            </p:nvSpPr>
            <p:spPr>
              <a:xfrm>
                <a:off x="2492016" y="4214586"/>
                <a:ext cx="2974765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2400" b="1" dirty="0">
                    <a:solidFill>
                      <a:schemeClr val="tx1"/>
                    </a:solidFill>
                  </a:rPr>
                  <a:t>技术创新：推动行业发展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AF8F480-BF0A-4905-8872-2749E8C5D9DC}"/>
                </a:ext>
              </a:extLst>
            </p:cNvPr>
            <p:cNvGrpSpPr/>
            <p:nvPr/>
          </p:nvGrpSpPr>
          <p:grpSpPr>
            <a:xfrm>
              <a:off x="3498433" y="2932604"/>
              <a:ext cx="8020467" cy="2411348"/>
              <a:chOff x="3498433" y="2932604"/>
              <a:chExt cx="8020467" cy="2411348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90CCED40-D660-4B11-86A8-6AB5CA96C0BA}"/>
                  </a:ext>
                </a:extLst>
              </p:cNvPr>
              <p:cNvGrpSpPr/>
              <p:nvPr/>
            </p:nvGrpSpPr>
            <p:grpSpPr>
              <a:xfrm>
                <a:off x="9174499" y="2932604"/>
                <a:ext cx="2344401" cy="2411348"/>
                <a:chOff x="4381398" y="2932604"/>
                <a:chExt cx="3068301" cy="2411348"/>
              </a:xfrm>
            </p:grpSpPr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8FC710FC-CA31-4919-8852-4D13C2D9A995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157" name="Group 156">
                    <a:extLst>
                      <a:ext uri="{FF2B5EF4-FFF2-40B4-BE49-F238E27FC236}">
                        <a16:creationId xmlns:a16="http://schemas.microsoft.com/office/drawing/2014/main" id="{2A47F4AB-9522-4A2C-828D-19AFA8BC131E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159" name="Rectangle 158">
                      <a:extLst>
                        <a:ext uri="{FF2B5EF4-FFF2-40B4-BE49-F238E27FC236}">
                          <a16:creationId xmlns:a16="http://schemas.microsoft.com/office/drawing/2014/main" id="{2D1D808E-48A2-4012-9DAC-3FAD63941B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开放式合作模式</a:t>
                      </a:r>
                    </a:p>
                  </p:txBody>
                </p:sp>
                <p:sp>
                  <p:nvSpPr>
                    <p:cNvPr id="160" name="Rectangle 159">
                      <a:extLst>
                        <a:ext uri="{FF2B5EF4-FFF2-40B4-BE49-F238E27FC236}">
                          <a16:creationId xmlns:a16="http://schemas.microsoft.com/office/drawing/2014/main" id="{12113F2F-F9D0-415F-A77B-F7148A354B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与行业合作伙伴共享资源，加速创新</a:t>
                      </a:r>
                    </a:p>
                  </p:txBody>
                </p:sp>
              </p:grpSp>
              <p:cxnSp>
                <p:nvCxnSpPr>
                  <p:cNvPr id="158" name="Straight Arrow Connector 157">
                    <a:extLst>
                      <a:ext uri="{FF2B5EF4-FFF2-40B4-BE49-F238E27FC236}">
                        <a16:creationId xmlns:a16="http://schemas.microsoft.com/office/drawing/2014/main" id="{81A9EDED-9B0F-4828-B65D-B2E77D2314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2C54383C-E544-46D1-838C-C53AEAFA2BC7}"/>
                    </a:ext>
                  </a:extLst>
                </p:cNvPr>
                <p:cNvSpPr txBox="1"/>
                <p:nvPr/>
              </p:nvSpPr>
              <p:spPr>
                <a:xfrm>
                  <a:off x="4381398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non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03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0DE2A22E-2740-41E4-A7A0-9443A6A304C0}"/>
                  </a:ext>
                </a:extLst>
              </p:cNvPr>
              <p:cNvGrpSpPr/>
              <p:nvPr/>
            </p:nvGrpSpPr>
            <p:grpSpPr>
              <a:xfrm>
                <a:off x="3498433" y="2932604"/>
                <a:ext cx="2344400" cy="2411348"/>
                <a:chOff x="4381399" y="2932604"/>
                <a:chExt cx="3068300" cy="2411348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F083F46B-5F21-491D-AC81-7D4ADDEB4F35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114" name="Group 113">
                    <a:extLst>
                      <a:ext uri="{FF2B5EF4-FFF2-40B4-BE49-F238E27FC236}">
                        <a16:creationId xmlns:a16="http://schemas.microsoft.com/office/drawing/2014/main" id="{79082DD3-4B9C-4B81-B3C1-095C91F98EC2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116" name="Rectangle 115">
                      <a:extLst>
                        <a:ext uri="{FF2B5EF4-FFF2-40B4-BE49-F238E27FC236}">
                          <a16:creationId xmlns:a16="http://schemas.microsoft.com/office/drawing/2014/main" id="{CE875014-6D52-447D-A118-09562293E0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智能化数据分析</a:t>
                      </a:r>
                    </a:p>
                  </p:txBody>
                </p:sp>
                <p:sp>
                  <p:nvSpPr>
                    <p:cNvPr id="117" name="Rectangle 116">
                      <a:extLst>
                        <a:ext uri="{FF2B5EF4-FFF2-40B4-BE49-F238E27FC236}">
                          <a16:creationId xmlns:a16="http://schemas.microsoft.com/office/drawing/2014/main" id="{0DCDFEB6-271D-4D18-99B1-157799D87D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我们正在探索基于大数据和人工智能的技术创新。</a:t>
                      </a:r>
                    </a:p>
                  </p:txBody>
                </p:sp>
              </p:grpSp>
              <p:cxnSp>
                <p:nvCxnSpPr>
                  <p:cNvPr id="115" name="Straight Arrow Connector 114">
                    <a:extLst>
                      <a:ext uri="{FF2B5EF4-FFF2-40B4-BE49-F238E27FC236}">
                        <a16:creationId xmlns:a16="http://schemas.microsoft.com/office/drawing/2014/main" id="{7E7F2112-1F31-4050-ADAC-1789C2CA9F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3AEC1BE-31CB-4948-B129-41FC6D5B1B8C}"/>
                    </a:ext>
                  </a:extLst>
                </p:cNvPr>
                <p:cNvSpPr txBox="1"/>
                <p:nvPr/>
              </p:nvSpPr>
              <p:spPr>
                <a:xfrm>
                  <a:off x="4381399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non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01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6F426DF-A3EC-429E-80B9-0D0A7C320651}"/>
                  </a:ext>
                </a:extLst>
              </p:cNvPr>
              <p:cNvGrpSpPr/>
              <p:nvPr/>
            </p:nvGrpSpPr>
            <p:grpSpPr>
              <a:xfrm>
                <a:off x="6336466" y="2932604"/>
                <a:ext cx="2344400" cy="2411348"/>
                <a:chOff x="4381399" y="2932604"/>
                <a:chExt cx="3068300" cy="2411348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25B1B385-436D-4800-816D-6976275A7AEB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47462C5C-0266-49FA-9123-70404C7B0B3D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04F178EE-E21F-41B9-84B4-18F96792AB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高效研发流程</a:t>
                      </a:r>
                    </a:p>
                  </p:txBody>
                </p:sp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2B635E04-121A-457F-A3C5-26D697F9D6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快速迭代和高质量交付的研发工作方式</a:t>
                      </a:r>
                    </a:p>
                  </p:txBody>
                </p:sp>
              </p:grpSp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D4AC9934-C29A-484C-BC6C-AA476B57E9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83AB63C-4858-44EC-AD4B-374290A691AD}"/>
                    </a:ext>
                  </a:extLst>
                </p:cNvPr>
                <p:cNvSpPr txBox="1"/>
                <p:nvPr/>
              </p:nvSpPr>
              <p:spPr>
                <a:xfrm>
                  <a:off x="4381399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non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02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</p:grpSp>
      </p:grpSp>
      <p:sp>
        <p:nvSpPr>
          <p:cNvPr id="162" name="Title 16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创新与成果转化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855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02.研发团队的工作方式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研发团队的工作方式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4434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60400" y="1222633"/>
            <a:ext cx="10858500" cy="4342918"/>
            <a:chOff x="660400" y="1222633"/>
            <a:chExt cx="10858500" cy="43429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7A26CE9-6C8E-4CAA-BB16-B08EF0DF0AD1}"/>
                </a:ext>
              </a:extLst>
            </p:cNvPr>
            <p:cNvGrpSpPr/>
            <p:nvPr/>
          </p:nvGrpSpPr>
          <p:grpSpPr>
            <a:xfrm>
              <a:off x="660400" y="2932604"/>
              <a:ext cx="10858500" cy="2632947"/>
              <a:chOff x="660400" y="2932604"/>
              <a:chExt cx="10858500" cy="2632947"/>
            </a:xfrm>
          </p:grpSpPr>
          <p:sp>
            <p:nvSpPr>
              <p:cNvPr id="93" name="Rectangle: Diagonal Corners Rounded 92">
                <a:extLst>
                  <a:ext uri="{FF2B5EF4-FFF2-40B4-BE49-F238E27FC236}">
                    <a16:creationId xmlns:a16="http://schemas.microsoft.com/office/drawing/2014/main" id="{CE77DC51-C006-4B0A-BDE6-9F066A4D0CCC}"/>
                  </a:ext>
                </a:extLst>
              </p:cNvPr>
              <p:cNvSpPr/>
              <p:nvPr/>
            </p:nvSpPr>
            <p:spPr>
              <a:xfrm>
                <a:off x="660400" y="4139960"/>
                <a:ext cx="2344400" cy="1359227"/>
              </a:xfrm>
              <a:prstGeom prst="round2DiagRect">
                <a:avLst>
                  <a:gd name="adj1" fmla="val 40493"/>
                  <a:gd name="adj2" fmla="val 0"/>
                </a:avLst>
              </a:prstGeom>
              <a:blipFill rotWithShape="0">
                <a:blip r:embed="rId3"/>
                <a:srcRect/>
                <a:stretch>
                  <a:fillRect l="-1200" r="-120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0AF8F480-BF0A-4905-8872-2749E8C5D9DC}"/>
                  </a:ext>
                </a:extLst>
              </p:cNvPr>
              <p:cNvGrpSpPr/>
              <p:nvPr/>
            </p:nvGrpSpPr>
            <p:grpSpPr>
              <a:xfrm>
                <a:off x="3498433" y="2932604"/>
                <a:ext cx="8020467" cy="2632947"/>
                <a:chOff x="3498433" y="2932604"/>
                <a:chExt cx="8020467" cy="2632947"/>
              </a:xfrm>
            </p:grpSpPr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90CCED40-D660-4B11-86A8-6AB5CA96C0BA}"/>
                    </a:ext>
                  </a:extLst>
                </p:cNvPr>
                <p:cNvGrpSpPr/>
                <p:nvPr/>
              </p:nvGrpSpPr>
              <p:grpSpPr>
                <a:xfrm>
                  <a:off x="9174499" y="2932604"/>
                  <a:ext cx="2344401" cy="2411348"/>
                  <a:chOff x="4381398" y="2932604"/>
                  <a:chExt cx="3068301" cy="2411348"/>
                </a:xfrm>
              </p:grpSpPr>
              <p:grpSp>
                <p:nvGrpSpPr>
                  <p:cNvPr id="155" name="Group 154">
                    <a:extLst>
                      <a:ext uri="{FF2B5EF4-FFF2-40B4-BE49-F238E27FC236}">
                        <a16:creationId xmlns:a16="http://schemas.microsoft.com/office/drawing/2014/main" id="{8FC710FC-CA31-4919-8852-4D13C2D9A995}"/>
                      </a:ext>
                    </a:extLst>
                  </p:cNvPr>
                  <p:cNvGrpSpPr/>
                  <p:nvPr/>
                </p:nvGrpSpPr>
                <p:grpSpPr>
                  <a:xfrm>
                    <a:off x="4381399" y="4139960"/>
                    <a:ext cx="3068300" cy="1203992"/>
                    <a:chOff x="2926262" y="3947957"/>
                    <a:chExt cx="2806761" cy="1203992"/>
                  </a:xfrm>
                </p:grpSpPr>
                <p:grpSp>
                  <p:nvGrpSpPr>
                    <p:cNvPr id="157" name="Group 156">
                      <a:extLst>
                        <a:ext uri="{FF2B5EF4-FFF2-40B4-BE49-F238E27FC236}">
                          <a16:creationId xmlns:a16="http://schemas.microsoft.com/office/drawing/2014/main" id="{2A47F4AB-9522-4A2C-828D-19AFA8BC13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26262" y="4039744"/>
                      <a:ext cx="2806761" cy="1112205"/>
                      <a:chOff x="2492017" y="2712768"/>
                      <a:chExt cx="2806761" cy="1112205"/>
                    </a:xfrm>
                  </p:grpSpPr>
                  <p:sp>
                    <p:nvSpPr>
                      <p:cNvPr id="159" name="Rectangle 158">
                        <a:extLst>
                          <a:ext uri="{FF2B5EF4-FFF2-40B4-BE49-F238E27FC236}">
                            <a16:creationId xmlns:a16="http://schemas.microsoft.com/office/drawing/2014/main" id="{2D1D808E-48A2-4012-9DAC-3FAD63941B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2712768"/>
                        <a:ext cx="2806761" cy="4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none" lIns="108000" tIns="108000" rIns="108000" bIns="108000" rtlCol="0" anchor="b" anchorCtr="0">
                        <a:norm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</a:pPr>
                        <a:r>
                          <a:rPr kumimoji="1" lang="zh-CN" altLang="en-US" sz="1600" b="1" dirty="0">
                            <a:solidFill>
                              <a:schemeClr val="tx1"/>
                            </a:solidFill>
                          </a:rPr>
                          <a:t>团队合作</a:t>
                        </a:r>
                      </a:p>
                    </p:txBody>
                  </p:sp>
                  <p:sp>
                    <p:nvSpPr>
                      <p:cNvPr id="160" name="Rectangle 159">
                        <a:extLst>
                          <a:ext uri="{FF2B5EF4-FFF2-40B4-BE49-F238E27FC236}">
                            <a16:creationId xmlns:a16="http://schemas.microsoft.com/office/drawing/2014/main" id="{12113F2F-F9D0-415F-A77B-F7148A354B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3182773"/>
                        <a:ext cx="2806761" cy="64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t" anchorCtr="0">
                        <a:spAutoFit/>
                      </a:bodyPr>
                      <a:lstStyle/>
                      <a:p>
                        <a:pPr>
                          <a:lnSpc>
                            <a:spcPct val="120000"/>
                          </a:lnSpc>
                        </a:pPr>
                        <a:r>
                          <a:rPr kumimoji="1" lang="zh-CN" altLang="en-US" sz="1200" dirty="0">
                            <a:solidFill>
                              <a:schemeClr val="tx1"/>
                            </a:solidFill>
                          </a:rPr>
                          <a:t>团队成员之间密切合作，共同解决问题和追求创新</a:t>
                        </a:r>
                      </a:p>
                    </p:txBody>
                  </p:sp>
                </p:grpSp>
                <p:cxnSp>
                  <p:nvCxnSpPr>
                    <p:cNvPr id="158" name="Straight Arrow Connector 157">
                      <a:extLst>
                        <a:ext uri="{FF2B5EF4-FFF2-40B4-BE49-F238E27FC236}">
                          <a16:creationId xmlns:a16="http://schemas.microsoft.com/office/drawing/2014/main" id="{81A9EDED-9B0F-4828-B65D-B2E77D23149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26262" y="3947957"/>
                      <a:ext cx="2806761" cy="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2C54383C-E544-46D1-838C-C53AEAFA2BC7}"/>
                      </a:ext>
                    </a:extLst>
                  </p:cNvPr>
                  <p:cNvSpPr txBox="1"/>
                  <p:nvPr/>
                </p:nvSpPr>
                <p:spPr>
                  <a:xfrm>
                    <a:off x="4381398" y="2932604"/>
                    <a:ext cx="1930270" cy="1572326"/>
                  </a:xfrm>
                  <a:prstGeom prst="rect">
                    <a:avLst/>
                  </a:prstGeom>
                  <a:noFill/>
                </p:spPr>
                <p:txBody>
                  <a:bodyPr wrap="none" lIns="108000" tIns="108000" rIns="108000" bIns="108000" rtlCol="0" anchor="ctr" anchorCtr="0">
                    <a:spAutoFit/>
                  </a:bodyPr>
                  <a:lstStyle/>
                  <a:p>
                    <a:r>
                      <a:rPr kumimoji="1" lang="en-US" altLang="zh-CN" sz="8800" b="1" dirty="0">
                        <a:solidFill>
                          <a:schemeClr val="tx1">
                            <a:lumMod val="50000"/>
                            <a:lumOff val="50000"/>
                            <a:alpha val="20000"/>
                          </a:schemeClr>
                        </a:solidFill>
                      </a:rPr>
                      <a:t>03</a:t>
                    </a:r>
                    <a:endParaRPr kumimoji="1" lang="zh-CN" altLang="en-US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0DE2A22E-2740-41E4-A7A0-9443A6A304C0}"/>
                    </a:ext>
                  </a:extLst>
                </p:cNvPr>
                <p:cNvGrpSpPr/>
                <p:nvPr/>
              </p:nvGrpSpPr>
              <p:grpSpPr>
                <a:xfrm>
                  <a:off x="3498433" y="2932604"/>
                  <a:ext cx="2344400" cy="2632947"/>
                  <a:chOff x="4381399" y="2932604"/>
                  <a:chExt cx="3068300" cy="2632947"/>
                </a:xfrm>
              </p:grpSpPr>
              <p:grpSp>
                <p:nvGrpSpPr>
                  <p:cNvPr id="113" name="Group 112">
                    <a:extLst>
                      <a:ext uri="{FF2B5EF4-FFF2-40B4-BE49-F238E27FC236}">
                        <a16:creationId xmlns:a16="http://schemas.microsoft.com/office/drawing/2014/main" id="{F083F46B-5F21-491D-AC81-7D4ADDEB4F35}"/>
                      </a:ext>
                    </a:extLst>
                  </p:cNvPr>
                  <p:cNvGrpSpPr/>
                  <p:nvPr/>
                </p:nvGrpSpPr>
                <p:grpSpPr>
                  <a:xfrm>
                    <a:off x="4381399" y="4139960"/>
                    <a:ext cx="3068300" cy="1425591"/>
                    <a:chOff x="2926262" y="3947957"/>
                    <a:chExt cx="2806761" cy="1425591"/>
                  </a:xfrm>
                </p:grpSpPr>
                <p:grpSp>
                  <p:nvGrpSpPr>
                    <p:cNvPr id="114" name="Group 113">
                      <a:extLst>
                        <a:ext uri="{FF2B5EF4-FFF2-40B4-BE49-F238E27FC236}">
                          <a16:creationId xmlns:a16="http://schemas.microsoft.com/office/drawing/2014/main" id="{79082DD3-4B9C-4B81-B3C1-095C91F98E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26262" y="4039744"/>
                      <a:ext cx="2806761" cy="1333804"/>
                      <a:chOff x="2492017" y="2712768"/>
                      <a:chExt cx="2806761" cy="1333804"/>
                    </a:xfrm>
                  </p:grpSpPr>
                  <p:sp>
                    <p:nvSpPr>
                      <p:cNvPr id="116" name="Rectangle 115">
                        <a:extLst>
                          <a:ext uri="{FF2B5EF4-FFF2-40B4-BE49-F238E27FC236}">
                            <a16:creationId xmlns:a16="http://schemas.microsoft.com/office/drawing/2014/main" id="{CE875014-6D52-447D-A118-09562293E0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2712768"/>
                        <a:ext cx="2806761" cy="4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none" lIns="108000" tIns="108000" rIns="108000" bIns="108000" rtlCol="0" anchor="b" anchorCtr="0">
                        <a:norm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</a:pPr>
                        <a:r>
                          <a:rPr kumimoji="1" lang="zh-CN" altLang="en-US" sz="1600" b="1" dirty="0">
                            <a:solidFill>
                              <a:schemeClr val="tx1"/>
                            </a:solidFill>
                          </a:rPr>
                          <a:t>多学科背景</a:t>
                        </a:r>
                      </a:p>
                    </p:txBody>
                  </p:sp>
                  <p:sp>
                    <p:nvSpPr>
                      <p:cNvPr id="117" name="Rectangle 116">
                        <a:extLst>
                          <a:ext uri="{FF2B5EF4-FFF2-40B4-BE49-F238E27FC236}">
                            <a16:creationId xmlns:a16="http://schemas.microsoft.com/office/drawing/2014/main" id="{0DCDFEB6-271D-4D18-99B1-157799D87D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3182773"/>
                        <a:ext cx="2806761" cy="863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t" anchorCtr="0">
                        <a:spAutoFit/>
                      </a:bodyPr>
                      <a:lstStyle/>
                      <a:p>
                        <a:pPr>
                          <a:lnSpc>
                            <a:spcPct val="120000"/>
                          </a:lnSpc>
                        </a:pPr>
                        <a:r>
                          <a:rPr kumimoji="1" lang="zh-CN" altLang="en-US" sz="1200" dirty="0">
                            <a:solidFill>
                              <a:schemeClr val="tx1"/>
                            </a:solidFill>
                          </a:rPr>
                          <a:t>我们的团队成员来自不同的学科领域，他们拥有丰富的知识和技能。</a:t>
                        </a:r>
                      </a:p>
                    </p:txBody>
                  </p:sp>
                </p:grpSp>
                <p:cxnSp>
                  <p:nvCxnSpPr>
                    <p:cNvPr id="115" name="Straight Arrow Connector 114">
                      <a:extLst>
                        <a:ext uri="{FF2B5EF4-FFF2-40B4-BE49-F238E27FC236}">
                          <a16:creationId xmlns:a16="http://schemas.microsoft.com/office/drawing/2014/main" id="{7E7F2112-1F31-4050-ADAC-1789C2CA9F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26262" y="3947957"/>
                      <a:ext cx="2806761" cy="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E3AEC1BE-31CB-4948-B129-41FC6D5B1B8C}"/>
                      </a:ext>
                    </a:extLst>
                  </p:cNvPr>
                  <p:cNvSpPr txBox="1"/>
                  <p:nvPr/>
                </p:nvSpPr>
                <p:spPr>
                  <a:xfrm>
                    <a:off x="4381399" y="2932604"/>
                    <a:ext cx="1930270" cy="1572326"/>
                  </a:xfrm>
                  <a:prstGeom prst="rect">
                    <a:avLst/>
                  </a:prstGeom>
                  <a:noFill/>
                </p:spPr>
                <p:txBody>
                  <a:bodyPr wrap="none" lIns="108000" tIns="108000" rIns="108000" bIns="108000" rtlCol="0" anchor="ctr" anchorCtr="0">
                    <a:spAutoFit/>
                  </a:bodyPr>
                  <a:lstStyle/>
                  <a:p>
                    <a:r>
                      <a:rPr kumimoji="1" lang="en-US" altLang="zh-CN" sz="8800" b="1" dirty="0">
                        <a:solidFill>
                          <a:schemeClr val="tx1">
                            <a:lumMod val="50000"/>
                            <a:lumOff val="50000"/>
                            <a:alpha val="20000"/>
                          </a:schemeClr>
                        </a:solidFill>
                      </a:rPr>
                      <a:t>01</a:t>
                    </a:r>
                    <a:endParaRPr kumimoji="1" lang="zh-CN" altLang="en-US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96F426DF-A3EC-429E-80B9-0D0A7C320651}"/>
                    </a:ext>
                  </a:extLst>
                </p:cNvPr>
                <p:cNvGrpSpPr/>
                <p:nvPr/>
              </p:nvGrpSpPr>
              <p:grpSpPr>
                <a:xfrm>
                  <a:off x="6336466" y="2932604"/>
                  <a:ext cx="2344400" cy="2632947"/>
                  <a:chOff x="4381399" y="2932604"/>
                  <a:chExt cx="3068300" cy="2632947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25B1B385-436D-4800-816D-6976275A7AEB}"/>
                      </a:ext>
                    </a:extLst>
                  </p:cNvPr>
                  <p:cNvGrpSpPr/>
                  <p:nvPr/>
                </p:nvGrpSpPr>
                <p:grpSpPr>
                  <a:xfrm>
                    <a:off x="4381399" y="4139960"/>
                    <a:ext cx="3068300" cy="1425591"/>
                    <a:chOff x="2926262" y="3947957"/>
                    <a:chExt cx="2806761" cy="1425591"/>
                  </a:xfrm>
                </p:grpSpPr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id="{47462C5C-0266-49FA-9123-70404C7B0B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26262" y="4039744"/>
                      <a:ext cx="2806761" cy="1333804"/>
                      <a:chOff x="2492017" y="2712768"/>
                      <a:chExt cx="2806761" cy="1333804"/>
                    </a:xfrm>
                  </p:grpSpPr>
                  <p:sp>
                    <p:nvSpPr>
                      <p:cNvPr id="32" name="Rectangle 31">
                        <a:extLst>
                          <a:ext uri="{FF2B5EF4-FFF2-40B4-BE49-F238E27FC236}">
                            <a16:creationId xmlns:a16="http://schemas.microsoft.com/office/drawing/2014/main" id="{04F178EE-E21F-41B9-84B4-18F96792AB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2712768"/>
                        <a:ext cx="2806761" cy="4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none" lIns="108000" tIns="108000" rIns="108000" bIns="108000" rtlCol="0" anchor="b" anchorCtr="0">
                        <a:norm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</a:pPr>
                        <a:r>
                          <a:rPr kumimoji="1" lang="zh-CN" altLang="en-US" sz="1600" b="1" dirty="0">
                            <a:solidFill>
                              <a:schemeClr val="tx1"/>
                            </a:solidFill>
                          </a:rPr>
                          <a:t>技术专长</a:t>
                        </a:r>
                      </a:p>
                    </p:txBody>
                  </p:sp>
                  <p:sp>
                    <p:nvSpPr>
                      <p:cNvPr id="33" name="Rectangle 32">
                        <a:extLst>
                          <a:ext uri="{FF2B5EF4-FFF2-40B4-BE49-F238E27FC236}">
                            <a16:creationId xmlns:a16="http://schemas.microsoft.com/office/drawing/2014/main" id="{2B635E04-121A-457F-A3C5-26D697F9D6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2017" y="3182773"/>
                        <a:ext cx="2806761" cy="863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t" anchorCtr="0">
                        <a:spAutoFit/>
                      </a:bodyPr>
                      <a:lstStyle/>
                      <a:p>
                        <a:pPr>
                          <a:lnSpc>
                            <a:spcPct val="120000"/>
                          </a:lnSpc>
                        </a:pPr>
                        <a:r>
                          <a:rPr kumimoji="1" lang="zh-CN" altLang="en-US" sz="1200" dirty="0">
                            <a:solidFill>
                              <a:schemeClr val="tx1"/>
                            </a:solidFill>
                          </a:rPr>
                          <a:t>团队成员具备深入的技术专长，包括人工智能、大数据分析等领域</a:t>
                        </a:r>
                      </a:p>
                    </p:txBody>
                  </p:sp>
                </p:grpSp>
                <p:cxnSp>
                  <p:nvCxnSpPr>
                    <p:cNvPr id="31" name="Straight Arrow Connector 30">
                      <a:extLst>
                        <a:ext uri="{FF2B5EF4-FFF2-40B4-BE49-F238E27FC236}">
                          <a16:creationId xmlns:a16="http://schemas.microsoft.com/office/drawing/2014/main" id="{D4AC9934-C29A-484C-BC6C-AA476B57E9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26262" y="3947957"/>
                      <a:ext cx="2806761" cy="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183AB63C-4858-44EC-AD4B-374290A691AD}"/>
                      </a:ext>
                    </a:extLst>
                  </p:cNvPr>
                  <p:cNvSpPr txBox="1"/>
                  <p:nvPr/>
                </p:nvSpPr>
                <p:spPr>
                  <a:xfrm>
                    <a:off x="4381399" y="2932604"/>
                    <a:ext cx="1930270" cy="1572326"/>
                  </a:xfrm>
                  <a:prstGeom prst="rect">
                    <a:avLst/>
                  </a:prstGeom>
                  <a:noFill/>
                </p:spPr>
                <p:txBody>
                  <a:bodyPr wrap="none" lIns="108000" tIns="108000" rIns="108000" bIns="108000" rtlCol="0" anchor="ctr" anchorCtr="0">
                    <a:spAutoFit/>
                  </a:bodyPr>
                  <a:lstStyle/>
                  <a:p>
                    <a:r>
                      <a:rPr kumimoji="1" lang="en-US" altLang="zh-CN" sz="8800" b="1" dirty="0">
                        <a:solidFill>
                          <a:schemeClr val="tx1">
                            <a:lumMod val="50000"/>
                            <a:lumOff val="50000"/>
                            <a:alpha val="20000"/>
                          </a:schemeClr>
                        </a:solidFill>
                      </a:rPr>
                      <a:t>02</a:t>
                    </a:r>
                    <a:endParaRPr kumimoji="1" lang="zh-CN" altLang="en-US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endParaRPr>
                  </a:p>
                </p:txBody>
              </p:sp>
            </p:grpSp>
          </p:grp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64A089-5D4B-47CD-B734-31A1B6B64CFF}"/>
                </a:ext>
              </a:extLst>
            </p:cNvPr>
            <p:cNvSpPr/>
            <p:nvPr/>
          </p:nvSpPr>
          <p:spPr>
            <a:xfrm>
              <a:off x="660402" y="1815748"/>
              <a:ext cx="5540924" cy="642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介绍我们研发团队的专业技能和卓越能力，以及如何通过这些能力推动技术创新和发展。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B70C394-5A47-4B7C-BC1A-DD0184D58E9E}"/>
                </a:ext>
              </a:extLst>
            </p:cNvPr>
            <p:cNvSpPr/>
            <p:nvPr/>
          </p:nvSpPr>
          <p:spPr>
            <a:xfrm>
              <a:off x="660400" y="1222633"/>
              <a:ext cx="5540924" cy="5874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b" anchorCtr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zh-CN" altLang="en-US" sz="2400" b="1" dirty="0">
                  <a:solidFill>
                    <a:schemeClr val="tx1"/>
                  </a:solidFill>
                </a:rPr>
                <a:t>研发团队的专业技能</a:t>
              </a:r>
            </a:p>
          </p:txBody>
        </p:sp>
      </p:grpSp>
      <p:sp>
        <p:nvSpPr>
          <p:cNvPr id="162" name="Title 16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研发团队介绍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443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FF369C5-4B2E-D9C5-C899-455D33CAA99B}"/>
              </a:ext>
            </a:extLst>
          </p:cNvPr>
          <p:cNvGrpSpPr/>
          <p:nvPr/>
        </p:nvGrpSpPr>
        <p:grpSpPr>
          <a:xfrm>
            <a:off x="636956" y="1179443"/>
            <a:ext cx="10881944" cy="4626718"/>
            <a:chOff x="636956" y="1179443"/>
            <a:chExt cx="10881944" cy="46267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DEC2789-C52B-B40A-1D3A-FB9BB2B778FA}"/>
                </a:ext>
              </a:extLst>
            </p:cNvPr>
            <p:cNvGrpSpPr/>
            <p:nvPr/>
          </p:nvGrpSpPr>
          <p:grpSpPr>
            <a:xfrm>
              <a:off x="636956" y="4010540"/>
              <a:ext cx="10881944" cy="1795621"/>
              <a:chOff x="636956" y="4010540"/>
              <a:chExt cx="10881944" cy="1795621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7BECCEA-FC26-D7E6-C218-C7363D904A9A}"/>
                  </a:ext>
                </a:extLst>
              </p:cNvPr>
              <p:cNvGrpSpPr/>
              <p:nvPr/>
            </p:nvGrpSpPr>
            <p:grpSpPr>
              <a:xfrm>
                <a:off x="636956" y="4010540"/>
                <a:ext cx="1969192" cy="1574021"/>
                <a:chOff x="8756125" y="4020076"/>
                <a:chExt cx="1969192" cy="1574021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3D4A7F6-5FC8-184E-C424-DF34E992D0F1}"/>
                    </a:ext>
                  </a:extLst>
                </p:cNvPr>
                <p:cNvSpPr/>
                <p:nvPr/>
              </p:nvSpPr>
              <p:spPr>
                <a:xfrm>
                  <a:off x="8756125" y="4732305"/>
                  <a:ext cx="1969192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快速迭代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DD9ADEF-F222-A0FD-1398-748618ABF95C}"/>
                    </a:ext>
                  </a:extLst>
                </p:cNvPr>
                <p:cNvSpPr/>
                <p:nvPr/>
              </p:nvSpPr>
              <p:spPr>
                <a:xfrm>
                  <a:off x="8756125" y="5077674"/>
                  <a:ext cx="1969192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通过短周期的迭代开发，快速推出新产品和功能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ADF9E4D-3D17-47FE-9D2C-4551451FB2FF}"/>
                    </a:ext>
                  </a:extLst>
                </p:cNvPr>
                <p:cNvSpPr txBox="1"/>
                <p:nvPr/>
              </p:nvSpPr>
              <p:spPr>
                <a:xfrm>
                  <a:off x="9470721" y="402007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</p:spPr>
              <p:txBody>
                <a:bodyPr wrap="non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>
                      <a:solidFill>
                        <a:srgbClr val="FFFFFF"/>
                      </a:solidFill>
                    </a:rPr>
                    <a:t>01</a:t>
                  </a:r>
                  <a:endParaRPr kumimoji="1" lang="zh-CN" altLang="en-US" sz="2000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6E564B5-92DD-93CF-B67C-3DC0ACC87712}"/>
                  </a:ext>
                </a:extLst>
              </p:cNvPr>
              <p:cNvGrpSpPr/>
              <p:nvPr/>
            </p:nvGrpSpPr>
            <p:grpSpPr>
              <a:xfrm>
                <a:off x="2865144" y="4010540"/>
                <a:ext cx="1969192" cy="1574021"/>
                <a:chOff x="8756125" y="4020076"/>
                <a:chExt cx="1969192" cy="1574021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EC0BEC1-9DC2-9C2A-6338-07754DC49D55}"/>
                    </a:ext>
                  </a:extLst>
                </p:cNvPr>
                <p:cNvSpPr/>
                <p:nvPr/>
              </p:nvSpPr>
              <p:spPr>
                <a:xfrm>
                  <a:off x="8756125" y="4732305"/>
                  <a:ext cx="1969192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持续集成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330A7A6-9AC3-6B1E-BD77-46C361CCF4AD}"/>
                    </a:ext>
                  </a:extLst>
                </p:cNvPr>
                <p:cNvSpPr/>
                <p:nvPr/>
              </p:nvSpPr>
              <p:spPr>
                <a:xfrm>
                  <a:off x="8756125" y="5077674"/>
                  <a:ext cx="1969192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通过自动化的集成和测试，保证产品质量和稳定性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614E8E1-51A6-B581-C20A-1B7450B118D8}"/>
                    </a:ext>
                  </a:extLst>
                </p:cNvPr>
                <p:cNvSpPr txBox="1"/>
                <p:nvPr/>
              </p:nvSpPr>
              <p:spPr>
                <a:xfrm>
                  <a:off x="9470721" y="402007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2"/>
                </a:solidFill>
              </p:spPr>
              <p:txBody>
                <a:bodyPr wrap="non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>
                      <a:solidFill>
                        <a:schemeClr val="bg2"/>
                      </a:solidFill>
                    </a:rPr>
                    <a:t>02</a:t>
                  </a:r>
                  <a:endParaRPr kumimoji="1" lang="zh-CN" altLang="en-US" sz="2000" b="1" dirty="0">
                    <a:solidFill>
                      <a:schemeClr val="bg2"/>
                    </a:solidFill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B57DC0B-F62F-232F-CAF3-2F13BCC9CE90}"/>
                  </a:ext>
                </a:extLst>
              </p:cNvPr>
              <p:cNvGrpSpPr/>
              <p:nvPr/>
            </p:nvGrpSpPr>
            <p:grpSpPr>
              <a:xfrm>
                <a:off x="5093332" y="4010540"/>
                <a:ext cx="1969192" cy="1795621"/>
                <a:chOff x="8756125" y="4020076"/>
                <a:chExt cx="1969192" cy="1795621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BECAA3F-CB95-97E1-F120-BDF2540FD701}"/>
                    </a:ext>
                  </a:extLst>
                </p:cNvPr>
                <p:cNvSpPr/>
                <p:nvPr/>
              </p:nvSpPr>
              <p:spPr>
                <a:xfrm>
                  <a:off x="8756125" y="4732305"/>
                  <a:ext cx="1969192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跨部门协作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7EA501C-463F-C7DD-E89D-8E865A89C94B}"/>
                    </a:ext>
                  </a:extLst>
                </p:cNvPr>
                <p:cNvSpPr/>
                <p:nvPr/>
              </p:nvSpPr>
              <p:spPr>
                <a:xfrm>
                  <a:off x="8756125" y="5077674"/>
                  <a:ext cx="1969192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研发团队与其他部门紧密合作，确保技术与业务的无缝衔接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12A6A11-38A1-040C-4B6A-B019D1789EAE}"/>
                    </a:ext>
                  </a:extLst>
                </p:cNvPr>
                <p:cNvSpPr txBox="1"/>
                <p:nvPr/>
              </p:nvSpPr>
              <p:spPr>
                <a:xfrm>
                  <a:off x="9470721" y="402007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</p:spPr>
              <p:txBody>
                <a:bodyPr wrap="non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>
                      <a:solidFill>
                        <a:srgbClr val="FFFFFF"/>
                      </a:solidFill>
                    </a:rPr>
                    <a:t>03</a:t>
                  </a:r>
                  <a:endParaRPr kumimoji="1" lang="zh-CN" altLang="en-US" sz="2000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71380ED-5AB5-FA0E-6022-F2D89514675F}"/>
                  </a:ext>
                </a:extLst>
              </p:cNvPr>
              <p:cNvGrpSpPr/>
              <p:nvPr/>
            </p:nvGrpSpPr>
            <p:grpSpPr>
              <a:xfrm>
                <a:off x="7321520" y="4010540"/>
                <a:ext cx="1969192" cy="1795621"/>
                <a:chOff x="8756125" y="4020076"/>
                <a:chExt cx="1969192" cy="1795621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952105DB-E45B-B74C-3E98-578DA83CDA6B}"/>
                    </a:ext>
                  </a:extLst>
                </p:cNvPr>
                <p:cNvSpPr/>
                <p:nvPr/>
              </p:nvSpPr>
              <p:spPr>
                <a:xfrm>
                  <a:off x="8756125" y="4732305"/>
                  <a:ext cx="1969192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开放沟通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67CC95B-0EB2-B822-4031-7BC94BE0089C}"/>
                    </a:ext>
                  </a:extLst>
                </p:cNvPr>
                <p:cNvSpPr/>
                <p:nvPr/>
              </p:nvSpPr>
              <p:spPr>
                <a:xfrm>
                  <a:off x="8756125" y="5077674"/>
                  <a:ext cx="1969192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鼓励团队成员间的交流和合作，提高创新和解决问题的能力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4D27680-3287-1D79-F879-4D0F74C6CE67}"/>
                    </a:ext>
                  </a:extLst>
                </p:cNvPr>
                <p:cNvSpPr txBox="1"/>
                <p:nvPr/>
              </p:nvSpPr>
              <p:spPr>
                <a:xfrm>
                  <a:off x="9470721" y="402007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2"/>
                </a:solidFill>
              </p:spPr>
              <p:txBody>
                <a:bodyPr wrap="non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>
                      <a:solidFill>
                        <a:schemeClr val="bg2"/>
                      </a:solidFill>
                    </a:rPr>
                    <a:t>04</a:t>
                  </a:r>
                  <a:endParaRPr kumimoji="1" lang="zh-CN" altLang="en-US" sz="2000" b="1" dirty="0">
                    <a:solidFill>
                      <a:schemeClr val="bg2"/>
                    </a:solidFill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D0F0C63-216C-ECE6-82DF-BDF9150CEF55}"/>
                  </a:ext>
                </a:extLst>
              </p:cNvPr>
              <p:cNvGrpSpPr/>
              <p:nvPr/>
            </p:nvGrpSpPr>
            <p:grpSpPr>
              <a:xfrm>
                <a:off x="9549708" y="4010540"/>
                <a:ext cx="1969192" cy="1795621"/>
                <a:chOff x="8756125" y="4020076"/>
                <a:chExt cx="1969192" cy="1795621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3FAD5D97-10E4-EC93-0DF9-F86AF0276D19}"/>
                    </a:ext>
                  </a:extLst>
                </p:cNvPr>
                <p:cNvSpPr/>
                <p:nvPr/>
              </p:nvSpPr>
              <p:spPr>
                <a:xfrm>
                  <a:off x="8756125" y="4732305"/>
                  <a:ext cx="1969192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追求卓越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9C6EA33-DEC2-3F8F-E7E6-A79DB61B5425}"/>
                    </a:ext>
                  </a:extLst>
                </p:cNvPr>
                <p:cNvSpPr/>
                <p:nvPr/>
              </p:nvSpPr>
              <p:spPr>
                <a:xfrm>
                  <a:off x="8756125" y="5077674"/>
                  <a:ext cx="1969192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团队成员不断学习和探索新技术，提升自身能力和创新意识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EB727A3-4AE3-CAA7-F1EA-B0B41D5C8234}"/>
                    </a:ext>
                  </a:extLst>
                </p:cNvPr>
                <p:cNvSpPr txBox="1"/>
                <p:nvPr/>
              </p:nvSpPr>
              <p:spPr>
                <a:xfrm>
                  <a:off x="9470721" y="4020076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</p:spPr>
              <p:txBody>
                <a:bodyPr wrap="non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>
                      <a:solidFill>
                        <a:srgbClr val="FFFFFF"/>
                      </a:solidFill>
                    </a:rPr>
                    <a:t>05</a:t>
                  </a:r>
                  <a:endParaRPr kumimoji="1" lang="zh-CN" altLang="en-US" sz="2000" b="1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C6AB889-C198-D629-1829-A29F5EDA8B6C}"/>
                </a:ext>
              </a:extLst>
            </p:cNvPr>
            <p:cNvSpPr/>
            <p:nvPr/>
          </p:nvSpPr>
          <p:spPr>
            <a:xfrm>
              <a:off x="2721035" y="1179443"/>
              <a:ext cx="6749931" cy="1126067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以敏捷开发为工作基础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BE096E-1C49-79A3-21CF-FDA2EA9CCBA3}"/>
                </a:ext>
              </a:extLst>
            </p:cNvPr>
            <p:cNvSpPr/>
            <p:nvPr/>
          </p:nvSpPr>
          <p:spPr>
            <a:xfrm>
              <a:off x="2996400" y="2322729"/>
              <a:ext cx="6199200" cy="294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我们采用敏捷开发方法，通过快速迭代和持续集成，及时响应市场需求，并提高研发效率。</a:t>
              </a:r>
            </a:p>
          </p:txBody>
        </p:sp>
      </p:grpSp>
      <p:sp>
        <p:nvSpPr>
          <p:cNvPr id="38" name="Title 3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工作方式解析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284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AB57178-167B-84BA-BB51-730939FA9C83}"/>
              </a:ext>
            </a:extLst>
          </p:cNvPr>
          <p:cNvGrpSpPr/>
          <p:nvPr/>
        </p:nvGrpSpPr>
        <p:grpSpPr>
          <a:xfrm>
            <a:off x="881908" y="1347546"/>
            <a:ext cx="9652625" cy="4753224"/>
            <a:chOff x="881908" y="1347546"/>
            <a:chExt cx="9652625" cy="4753224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2180687-5F4C-F377-7EEA-849776A69917}"/>
                </a:ext>
              </a:extLst>
            </p:cNvPr>
            <p:cNvCxnSpPr>
              <a:cxnSpLocks/>
            </p:cNvCxnSpPr>
            <p:nvPr/>
          </p:nvCxnSpPr>
          <p:spPr>
            <a:xfrm>
              <a:off x="4883209" y="1347546"/>
              <a:ext cx="42352" cy="4627526"/>
            </a:xfrm>
            <a:prstGeom prst="line">
              <a:avLst/>
            </a:prstGeom>
            <a:ln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B40AF83-8694-1B94-8D40-E7316A62878C}"/>
                </a:ext>
              </a:extLst>
            </p:cNvPr>
            <p:cNvGrpSpPr/>
            <p:nvPr/>
          </p:nvGrpSpPr>
          <p:grpSpPr>
            <a:xfrm>
              <a:off x="4694639" y="1682157"/>
              <a:ext cx="5839894" cy="1061814"/>
              <a:chOff x="4694639" y="1682157"/>
              <a:chExt cx="5839894" cy="1061814"/>
            </a:xfrm>
          </p:grpSpPr>
          <p:sp>
            <p:nvSpPr>
              <p:cNvPr id="2" name="Rectangle: Top Corners Rounded 1">
                <a:extLst>
                  <a:ext uri="{FF2B5EF4-FFF2-40B4-BE49-F238E27FC236}">
                    <a16:creationId xmlns:a16="http://schemas.microsoft.com/office/drawing/2014/main" id="{B240F297-BF5B-4D85-281C-0B36E2BF782C}"/>
                  </a:ext>
                </a:extLst>
              </p:cNvPr>
              <p:cNvSpPr/>
              <p:nvPr/>
            </p:nvSpPr>
            <p:spPr>
              <a:xfrm>
                <a:off x="8063841" y="1682157"/>
                <a:ext cx="2470692" cy="1061814"/>
              </a:xfrm>
              <a:prstGeom prst="round2SameRect">
                <a:avLst>
                  <a:gd name="adj1" fmla="val 0"/>
                  <a:gd name="adj2" fmla="val 0"/>
                </a:avLst>
              </a:prstGeom>
              <a:blipFill rotWithShape="0">
                <a:blip r:embed="rId3"/>
                <a:srcRect/>
                <a:stretch>
                  <a:fillRect l="-1329" r="-1329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91B91B0-E055-B95D-6AB9-D98A2B794BAA}"/>
                  </a:ext>
                </a:extLst>
              </p:cNvPr>
              <p:cNvGrpSpPr/>
              <p:nvPr/>
            </p:nvGrpSpPr>
            <p:grpSpPr>
              <a:xfrm>
                <a:off x="4694639" y="1700799"/>
                <a:ext cx="3035408" cy="887937"/>
                <a:chOff x="1047952" y="4303925"/>
                <a:chExt cx="3035408" cy="887937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003DE4B9-E6B1-0DCA-4D39-C174FA583BA7}"/>
                    </a:ext>
                  </a:extLst>
                </p:cNvPr>
                <p:cNvSpPr/>
                <p:nvPr/>
              </p:nvSpPr>
              <p:spPr>
                <a:xfrm>
                  <a:off x="1047952" y="4309054"/>
                  <a:ext cx="376146" cy="36420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rgbClr val="FFFFFF"/>
                      </a:solidFill>
                    </a:rPr>
                    <a:t>01</a:t>
                  </a: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F876E45-EA74-243C-B518-03176821553D}"/>
                    </a:ext>
                  </a:extLst>
                </p:cNvPr>
                <p:cNvSpPr txBox="1"/>
                <p:nvPr/>
              </p:nvSpPr>
              <p:spPr>
                <a:xfrm>
                  <a:off x="1612668" y="4303925"/>
                  <a:ext cx="2470692" cy="307777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优化团队协作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C468237-DAE7-11F6-5C8F-E2744B5E16DC}"/>
                    </a:ext>
                  </a:extLst>
                </p:cNvPr>
                <p:cNvSpPr txBox="1"/>
                <p:nvPr/>
              </p:nvSpPr>
              <p:spPr>
                <a:xfrm>
                  <a:off x="1612668" y="4673257"/>
                  <a:ext cx="2470692" cy="51860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0000" tIns="46800" rIns="90000" bIns="46800" anchor="t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50000"/>
                    </a:lnSpc>
                    <a:defRPr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dirty="0"/>
                    <a:t>我们正在努力搭建一个跨部门合作平台，以实现信息的无缝共享。</a:t>
                  </a:r>
                </a:p>
              </p:txBody>
            </p:sp>
          </p:grp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976179-5248-EC18-E589-1FEFB7757B85}"/>
                </a:ext>
              </a:extLst>
            </p:cNvPr>
            <p:cNvSpPr/>
            <p:nvPr/>
          </p:nvSpPr>
          <p:spPr>
            <a:xfrm>
              <a:off x="881908" y="2830312"/>
              <a:ext cx="2553845" cy="830997"/>
            </a:xfrm>
            <a:prstGeom prst="rect">
              <a:avLst/>
            </a:prstGeom>
          </p:spPr>
          <p:txBody>
            <a:bodyPr wrap="square" anchor="b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提升研发效率的关键策略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852B913-15B5-ECB5-C204-B234F9566F5D}"/>
                </a:ext>
              </a:extLst>
            </p:cNvPr>
            <p:cNvSpPr/>
            <p:nvPr/>
          </p:nvSpPr>
          <p:spPr>
            <a:xfrm>
              <a:off x="881910" y="4012566"/>
              <a:ext cx="2418466" cy="5164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>
                      <a:alpha val="80000"/>
                    </a:schemeClr>
                  </a:solidFill>
                </a:rPr>
                <a:t>通过改进团队合作和提供资源支持，优化技术创新和开发速度。</a:t>
              </a:r>
              <a:endParaRPr kumimoji="1" lang="en-US" altLang="zh-CN" sz="1000" dirty="0">
                <a:solidFill>
                  <a:schemeClr val="tx1">
                    <a:alpha val="80000"/>
                  </a:schemeClr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2236ACD-B25C-770D-907D-06303E15EE1E}"/>
                </a:ext>
              </a:extLst>
            </p:cNvPr>
            <p:cNvGrpSpPr/>
            <p:nvPr/>
          </p:nvGrpSpPr>
          <p:grpSpPr>
            <a:xfrm>
              <a:off x="4694639" y="3360556"/>
              <a:ext cx="5839894" cy="1061814"/>
              <a:chOff x="4694639" y="1682157"/>
              <a:chExt cx="5839894" cy="1061814"/>
            </a:xfrm>
          </p:grpSpPr>
          <p:sp>
            <p:nvSpPr>
              <p:cNvPr id="25" name="Rectangle: Top Corners Rounded 24">
                <a:extLst>
                  <a:ext uri="{FF2B5EF4-FFF2-40B4-BE49-F238E27FC236}">
                    <a16:creationId xmlns:a16="http://schemas.microsoft.com/office/drawing/2014/main" id="{2E602D7A-F055-9372-F9B0-564F7246037C}"/>
                  </a:ext>
                </a:extLst>
              </p:cNvPr>
              <p:cNvSpPr/>
              <p:nvPr/>
            </p:nvSpPr>
            <p:spPr>
              <a:xfrm>
                <a:off x="8063841" y="1682157"/>
                <a:ext cx="2470692" cy="1061814"/>
              </a:xfrm>
              <a:prstGeom prst="round2SameRect">
                <a:avLst>
                  <a:gd name="adj1" fmla="val 0"/>
                  <a:gd name="adj2" fmla="val 0"/>
                </a:avLst>
              </a:prstGeom>
              <a:blipFill rotWithShape="0">
                <a:blip r:embed="rId4"/>
                <a:srcRect/>
                <a:stretch>
                  <a:fillRect t="-27730" b="-27730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F9964AE-382E-DB96-F814-C303ABD92A3D}"/>
                  </a:ext>
                </a:extLst>
              </p:cNvPr>
              <p:cNvGrpSpPr/>
              <p:nvPr/>
            </p:nvGrpSpPr>
            <p:grpSpPr>
              <a:xfrm>
                <a:off x="4694639" y="1700799"/>
                <a:ext cx="3035408" cy="887937"/>
                <a:chOff x="1047952" y="4303925"/>
                <a:chExt cx="3035408" cy="887937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A5E8D5B-22C4-BCCE-5A4B-77473658CD52}"/>
                    </a:ext>
                  </a:extLst>
                </p:cNvPr>
                <p:cNvSpPr/>
                <p:nvPr/>
              </p:nvSpPr>
              <p:spPr>
                <a:xfrm>
                  <a:off x="1047952" y="4309054"/>
                  <a:ext cx="376146" cy="36420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rgbClr val="FFFFFF"/>
                      </a:solidFill>
                    </a:rPr>
                    <a:t>02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5AC85FE-6F3D-FA3E-38CF-1920BACF4D55}"/>
                    </a:ext>
                  </a:extLst>
                </p:cNvPr>
                <p:cNvSpPr txBox="1"/>
                <p:nvPr/>
              </p:nvSpPr>
              <p:spPr>
                <a:xfrm>
                  <a:off x="1612668" y="4303925"/>
                  <a:ext cx="2470692" cy="307777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提供资源支持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B0E782C-43FD-E17C-1C4F-C8BBB536C055}"/>
                    </a:ext>
                  </a:extLst>
                </p:cNvPr>
                <p:cNvSpPr txBox="1"/>
                <p:nvPr/>
              </p:nvSpPr>
              <p:spPr>
                <a:xfrm>
                  <a:off x="1612668" y="4673257"/>
                  <a:ext cx="2470692" cy="51860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0000" tIns="46800" rIns="90000" bIns="46800" anchor="t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50000"/>
                    </a:lnSpc>
                    <a:defRPr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dirty="0"/>
                    <a:t>为研发团队提供先进的工具和设备，以提高工作效率</a:t>
                  </a:r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7A2554B-3DAD-C4C2-252E-8092F6E9FB16}"/>
                </a:ext>
              </a:extLst>
            </p:cNvPr>
            <p:cNvGrpSpPr/>
            <p:nvPr/>
          </p:nvGrpSpPr>
          <p:grpSpPr>
            <a:xfrm>
              <a:off x="4694639" y="5038956"/>
              <a:ext cx="5839894" cy="1061814"/>
              <a:chOff x="4694639" y="1682157"/>
              <a:chExt cx="5839894" cy="1061814"/>
            </a:xfrm>
          </p:grpSpPr>
          <p:sp>
            <p:nvSpPr>
              <p:cNvPr id="39" name="Rectangle: Top Corners Rounded 38">
                <a:extLst>
                  <a:ext uri="{FF2B5EF4-FFF2-40B4-BE49-F238E27FC236}">
                    <a16:creationId xmlns:a16="http://schemas.microsoft.com/office/drawing/2014/main" id="{A346B648-0F70-F4C3-770A-F68986BDD06A}"/>
                  </a:ext>
                </a:extLst>
              </p:cNvPr>
              <p:cNvSpPr/>
              <p:nvPr/>
            </p:nvSpPr>
            <p:spPr>
              <a:xfrm>
                <a:off x="8063841" y="1682157"/>
                <a:ext cx="2470692" cy="1061814"/>
              </a:xfrm>
              <a:prstGeom prst="round2SameRect">
                <a:avLst>
                  <a:gd name="adj1" fmla="val 0"/>
                  <a:gd name="adj2" fmla="val 0"/>
                </a:avLst>
              </a:prstGeom>
              <a:blipFill rotWithShape="0">
                <a:blip r:embed="rId5"/>
                <a:srcRect/>
                <a:stretch>
                  <a:fillRect t="-8330" b="-8330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E759A42B-B9DA-5B50-1C59-272C61B49F51}"/>
                  </a:ext>
                </a:extLst>
              </p:cNvPr>
              <p:cNvGrpSpPr/>
              <p:nvPr/>
            </p:nvGrpSpPr>
            <p:grpSpPr>
              <a:xfrm>
                <a:off x="4694639" y="1700799"/>
                <a:ext cx="3035408" cy="887937"/>
                <a:chOff x="1047952" y="4303925"/>
                <a:chExt cx="3035408" cy="887937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F89B1A29-E3C5-EF49-84ED-E08EA6A385F5}"/>
                    </a:ext>
                  </a:extLst>
                </p:cNvPr>
                <p:cNvSpPr/>
                <p:nvPr/>
              </p:nvSpPr>
              <p:spPr>
                <a:xfrm>
                  <a:off x="1047952" y="4309054"/>
                  <a:ext cx="376146" cy="36420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rgbClr val="FFFFFF"/>
                      </a:solidFill>
                    </a:rPr>
                    <a:t>03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0D262DB-3EC2-A6E6-1922-596D8246EFE3}"/>
                    </a:ext>
                  </a:extLst>
                </p:cNvPr>
                <p:cNvSpPr txBox="1"/>
                <p:nvPr/>
              </p:nvSpPr>
              <p:spPr>
                <a:xfrm>
                  <a:off x="1612668" y="4303925"/>
                  <a:ext cx="2470692" cy="307777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持续学习与改进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69F8B17-D226-D478-70F6-D3F3E37808E8}"/>
                    </a:ext>
                  </a:extLst>
                </p:cNvPr>
                <p:cNvSpPr txBox="1"/>
                <p:nvPr/>
              </p:nvSpPr>
              <p:spPr>
                <a:xfrm>
                  <a:off x="1612668" y="4673257"/>
                  <a:ext cx="2470692" cy="51860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0000" tIns="46800" rIns="90000" bIns="46800" anchor="t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50000"/>
                    </a:lnSpc>
                    <a:defRPr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defRPr>
                  </a:lvl1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dirty="0"/>
                    <a:t>鼓励团队成员参加培训和技术交流活动，不断提升技能水平</a:t>
                  </a:r>
                </a:p>
              </p:txBody>
            </p:sp>
          </p:grpSp>
        </p:grpSp>
      </p:grpSp>
      <p:sp>
        <p:nvSpPr>
          <p:cNvPr id="45" name="Title 4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效率提升策略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281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03.公司在行业的影响力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公司技术影响行业发展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5457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40053" y="-2"/>
            <a:ext cx="11954641" cy="6858002"/>
            <a:chOff x="240053" y="-2"/>
            <a:chExt cx="11954641" cy="6858002"/>
          </a:xfrm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1105CA6F-EB20-41AB-8B68-CF93FCABF71A}"/>
                </a:ext>
              </a:extLst>
            </p:cNvPr>
            <p:cNvSpPr/>
            <p:nvPr/>
          </p:nvSpPr>
          <p:spPr>
            <a:xfrm rot="10800000">
              <a:off x="891614" y="-2"/>
              <a:ext cx="1643975" cy="5594450"/>
            </a:xfrm>
            <a:prstGeom prst="round2SameRect">
              <a:avLst>
                <a:gd name="adj1" fmla="val 4698"/>
                <a:gd name="adj2" fmla="val 0"/>
              </a:avLst>
            </a:prstGeom>
            <a:gradFill>
              <a:gsLst>
                <a:gs pos="0">
                  <a:schemeClr val="accent3">
                    <a:lumMod val="60000"/>
                    <a:lumOff val="40000"/>
                    <a:alpha val="10000"/>
                  </a:schemeClr>
                </a:gs>
                <a:gs pos="60000">
                  <a:schemeClr val="accent3">
                    <a:alpha val="2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AA9583B5-F61D-4604-B5C8-9DDEEF06E857}"/>
                </a:ext>
              </a:extLst>
            </p:cNvPr>
            <p:cNvSpPr/>
            <p:nvPr/>
          </p:nvSpPr>
          <p:spPr>
            <a:xfrm rot="10800000" flipV="1">
              <a:off x="11546394" y="0"/>
              <a:ext cx="648300" cy="6858000"/>
            </a:xfrm>
            <a:prstGeom prst="round2SameRect">
              <a:avLst>
                <a:gd name="adj1" fmla="val 4698"/>
                <a:gd name="adj2" fmla="val 0"/>
              </a:avLst>
            </a:prstGeom>
            <a:gradFill>
              <a:gsLst>
                <a:gs pos="0">
                  <a:schemeClr val="accent3">
                    <a:lumMod val="60000"/>
                    <a:lumOff val="40000"/>
                    <a:alpha val="10000"/>
                  </a:schemeClr>
                </a:gs>
                <a:gs pos="60000">
                  <a:schemeClr val="accent3">
                    <a:alpha val="2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75D447CD-814E-4C97-AE52-4DB4BF9C5D32}"/>
                </a:ext>
              </a:extLst>
            </p:cNvPr>
            <p:cNvGrpSpPr/>
            <p:nvPr/>
          </p:nvGrpSpPr>
          <p:grpSpPr>
            <a:xfrm>
              <a:off x="240053" y="2882522"/>
              <a:ext cx="4348838" cy="2915912"/>
              <a:chOff x="3122150" y="2240870"/>
              <a:chExt cx="4348838" cy="2915912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7242B4EB-AB02-4E1B-A32D-123DAD85FDAB}"/>
                  </a:ext>
                </a:extLst>
              </p:cNvPr>
              <p:cNvSpPr/>
              <p:nvPr/>
            </p:nvSpPr>
            <p:spPr bwMode="auto">
              <a:xfrm>
                <a:off x="3388333" y="3977233"/>
                <a:ext cx="789736" cy="1179316"/>
              </a:xfrm>
              <a:custGeom>
                <a:avLst/>
                <a:gdLst>
                  <a:gd name="T0" fmla="*/ 113 w 136"/>
                  <a:gd name="T1" fmla="*/ 160 h 203"/>
                  <a:gd name="T2" fmla="*/ 83 w 136"/>
                  <a:gd name="T3" fmla="*/ 69 h 203"/>
                  <a:gd name="T4" fmla="*/ 18 w 136"/>
                  <a:gd name="T5" fmla="*/ 0 h 203"/>
                  <a:gd name="T6" fmla="*/ 32 w 136"/>
                  <a:gd name="T7" fmla="*/ 138 h 203"/>
                  <a:gd name="T8" fmla="*/ 32 w 136"/>
                  <a:gd name="T9" fmla="*/ 203 h 203"/>
                  <a:gd name="T10" fmla="*/ 110 w 136"/>
                  <a:gd name="T11" fmla="*/ 203 h 203"/>
                  <a:gd name="T12" fmla="*/ 113 w 136"/>
                  <a:gd name="T13" fmla="*/ 16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6" h="203">
                    <a:moveTo>
                      <a:pt x="113" y="160"/>
                    </a:moveTo>
                    <a:cubicBezTo>
                      <a:pt x="113" y="160"/>
                      <a:pt x="136" y="109"/>
                      <a:pt x="83" y="69"/>
                    </a:cubicBezTo>
                    <a:cubicBezTo>
                      <a:pt x="30" y="29"/>
                      <a:pt x="18" y="0"/>
                      <a:pt x="18" y="0"/>
                    </a:cubicBezTo>
                    <a:cubicBezTo>
                      <a:pt x="18" y="0"/>
                      <a:pt x="0" y="93"/>
                      <a:pt x="32" y="138"/>
                    </a:cubicBezTo>
                    <a:cubicBezTo>
                      <a:pt x="32" y="203"/>
                      <a:pt x="32" y="203"/>
                      <a:pt x="32" y="203"/>
                    </a:cubicBezTo>
                    <a:cubicBezTo>
                      <a:pt x="110" y="203"/>
                      <a:pt x="110" y="203"/>
                      <a:pt x="110" y="203"/>
                    </a:cubicBezTo>
                    <a:lnTo>
                      <a:pt x="113" y="160"/>
                    </a:lnTo>
                    <a:close/>
                  </a:path>
                </a:pathLst>
              </a:custGeom>
              <a:solidFill>
                <a:srgbClr val="4E8F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7B17FF7F-6A87-446B-9196-38D07B9C81F0}"/>
                  </a:ext>
                </a:extLst>
              </p:cNvPr>
              <p:cNvSpPr/>
              <p:nvPr/>
            </p:nvSpPr>
            <p:spPr bwMode="auto">
              <a:xfrm>
                <a:off x="3747945" y="4529224"/>
                <a:ext cx="574674" cy="627558"/>
              </a:xfrm>
              <a:custGeom>
                <a:avLst/>
                <a:gdLst>
                  <a:gd name="T0" fmla="*/ 3 w 99"/>
                  <a:gd name="T1" fmla="*/ 108 h 108"/>
                  <a:gd name="T2" fmla="*/ 36 w 99"/>
                  <a:gd name="T3" fmla="*/ 48 h 108"/>
                  <a:gd name="T4" fmla="*/ 72 w 99"/>
                  <a:gd name="T5" fmla="*/ 0 h 108"/>
                  <a:gd name="T6" fmla="*/ 64 w 99"/>
                  <a:gd name="T7" fmla="*/ 108 h 108"/>
                  <a:gd name="T8" fmla="*/ 3 w 99"/>
                  <a:gd name="T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" h="108">
                    <a:moveTo>
                      <a:pt x="3" y="108"/>
                    </a:moveTo>
                    <a:cubicBezTo>
                      <a:pt x="3" y="108"/>
                      <a:pt x="0" y="72"/>
                      <a:pt x="36" y="48"/>
                    </a:cubicBezTo>
                    <a:cubicBezTo>
                      <a:pt x="72" y="24"/>
                      <a:pt x="72" y="0"/>
                      <a:pt x="72" y="0"/>
                    </a:cubicBezTo>
                    <a:cubicBezTo>
                      <a:pt x="72" y="0"/>
                      <a:pt x="99" y="68"/>
                      <a:pt x="64" y="108"/>
                    </a:cubicBezTo>
                    <a:lnTo>
                      <a:pt x="3" y="108"/>
                    </a:lnTo>
                    <a:close/>
                  </a:path>
                </a:pathLst>
              </a:custGeom>
              <a:solidFill>
                <a:srgbClr val="70B2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08E856AE-5B65-4832-8577-61595D9742B3}"/>
                  </a:ext>
                </a:extLst>
              </p:cNvPr>
              <p:cNvSpPr/>
              <p:nvPr/>
            </p:nvSpPr>
            <p:spPr bwMode="auto">
              <a:xfrm>
                <a:off x="3122150" y="4377623"/>
                <a:ext cx="724513" cy="779159"/>
              </a:xfrm>
              <a:custGeom>
                <a:avLst/>
                <a:gdLst>
                  <a:gd name="T0" fmla="*/ 119 w 125"/>
                  <a:gd name="T1" fmla="*/ 134 h 134"/>
                  <a:gd name="T2" fmla="*/ 79 w 125"/>
                  <a:gd name="T3" fmla="*/ 60 h 134"/>
                  <a:gd name="T4" fmla="*/ 25 w 125"/>
                  <a:gd name="T5" fmla="*/ 0 h 134"/>
                  <a:gd name="T6" fmla="*/ 41 w 125"/>
                  <a:gd name="T7" fmla="*/ 134 h 134"/>
                  <a:gd name="T8" fmla="*/ 119 w 125"/>
                  <a:gd name="T9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134">
                    <a:moveTo>
                      <a:pt x="119" y="134"/>
                    </a:moveTo>
                    <a:cubicBezTo>
                      <a:pt x="119" y="134"/>
                      <a:pt x="125" y="86"/>
                      <a:pt x="79" y="60"/>
                    </a:cubicBezTo>
                    <a:cubicBezTo>
                      <a:pt x="34" y="34"/>
                      <a:pt x="25" y="0"/>
                      <a:pt x="25" y="0"/>
                    </a:cubicBezTo>
                    <a:cubicBezTo>
                      <a:pt x="25" y="0"/>
                      <a:pt x="0" y="85"/>
                      <a:pt x="41" y="134"/>
                    </a:cubicBezTo>
                    <a:lnTo>
                      <a:pt x="119" y="134"/>
                    </a:lnTo>
                    <a:close/>
                  </a:path>
                </a:pathLst>
              </a:custGeom>
              <a:solidFill>
                <a:srgbClr val="ABDA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363CC9B7-78B4-4E2D-AA8D-38AAA61DB9B6}"/>
                  </a:ext>
                </a:extLst>
              </p:cNvPr>
              <p:cNvSpPr/>
              <p:nvPr/>
            </p:nvSpPr>
            <p:spPr bwMode="auto">
              <a:xfrm>
                <a:off x="5122932" y="4460241"/>
                <a:ext cx="676917" cy="638135"/>
              </a:xfrm>
              <a:custGeom>
                <a:avLst/>
                <a:gdLst>
                  <a:gd name="T0" fmla="*/ 55 w 117"/>
                  <a:gd name="T1" fmla="*/ 19 h 110"/>
                  <a:gd name="T2" fmla="*/ 0 w 117"/>
                  <a:gd name="T3" fmla="*/ 86 h 110"/>
                  <a:gd name="T4" fmla="*/ 0 w 117"/>
                  <a:gd name="T5" fmla="*/ 110 h 110"/>
                  <a:gd name="T6" fmla="*/ 54 w 117"/>
                  <a:gd name="T7" fmla="*/ 110 h 110"/>
                  <a:gd name="T8" fmla="*/ 105 w 117"/>
                  <a:gd name="T9" fmla="*/ 74 h 110"/>
                  <a:gd name="T10" fmla="*/ 55 w 117"/>
                  <a:gd name="T11" fmla="*/ 1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7" h="110">
                    <a:moveTo>
                      <a:pt x="55" y="19"/>
                    </a:moveTo>
                    <a:cubicBezTo>
                      <a:pt x="41" y="42"/>
                      <a:pt x="22" y="64"/>
                      <a:pt x="0" y="86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54" y="110"/>
                      <a:pt x="54" y="110"/>
                      <a:pt x="54" y="110"/>
                    </a:cubicBezTo>
                    <a:cubicBezTo>
                      <a:pt x="54" y="110"/>
                      <a:pt x="71" y="101"/>
                      <a:pt x="105" y="74"/>
                    </a:cubicBezTo>
                    <a:cubicBezTo>
                      <a:pt x="105" y="74"/>
                      <a:pt x="117" y="0"/>
                      <a:pt x="55" y="19"/>
                    </a:cubicBezTo>
                    <a:close/>
                  </a:path>
                </a:pathLst>
              </a:custGeom>
              <a:solidFill>
                <a:srgbClr val="F491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61109D37-030D-4695-8315-85CE0AB857E9}"/>
                  </a:ext>
                </a:extLst>
              </p:cNvPr>
              <p:cNvSpPr/>
              <p:nvPr/>
            </p:nvSpPr>
            <p:spPr bwMode="auto">
              <a:xfrm>
                <a:off x="6936858" y="4617130"/>
                <a:ext cx="475957" cy="534130"/>
              </a:xfrm>
              <a:custGeom>
                <a:avLst/>
                <a:gdLst>
                  <a:gd name="T0" fmla="*/ 82 w 82"/>
                  <a:gd name="T1" fmla="*/ 38 h 92"/>
                  <a:gd name="T2" fmla="*/ 67 w 82"/>
                  <a:gd name="T3" fmla="*/ 89 h 92"/>
                  <a:gd name="T4" fmla="*/ 6 w 82"/>
                  <a:gd name="T5" fmla="*/ 47 h 92"/>
                  <a:gd name="T6" fmla="*/ 0 w 82"/>
                  <a:gd name="T7" fmla="*/ 26 h 92"/>
                  <a:gd name="T8" fmla="*/ 37 w 82"/>
                  <a:gd name="T9" fmla="*/ 0 h 92"/>
                  <a:gd name="T10" fmla="*/ 82 w 82"/>
                  <a:gd name="T11" fmla="*/ 3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92">
                    <a:moveTo>
                      <a:pt x="82" y="38"/>
                    </a:moveTo>
                    <a:cubicBezTo>
                      <a:pt x="82" y="38"/>
                      <a:pt x="79" y="86"/>
                      <a:pt x="67" y="89"/>
                    </a:cubicBezTo>
                    <a:cubicBezTo>
                      <a:pt x="55" y="92"/>
                      <a:pt x="6" y="47"/>
                      <a:pt x="6" y="47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80" y="13"/>
                      <a:pt x="82" y="38"/>
                    </a:cubicBezTo>
                    <a:close/>
                  </a:path>
                </a:pathLst>
              </a:custGeom>
              <a:solidFill>
                <a:srgbClr val="F491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3BE661A9-DBF2-4C73-9812-DFC73F513ADA}"/>
                  </a:ext>
                </a:extLst>
              </p:cNvPr>
              <p:cNvSpPr/>
              <p:nvPr/>
            </p:nvSpPr>
            <p:spPr bwMode="auto">
              <a:xfrm>
                <a:off x="5417321" y="3379641"/>
                <a:ext cx="2053667" cy="1718734"/>
              </a:xfrm>
              <a:custGeom>
                <a:avLst/>
                <a:gdLst>
                  <a:gd name="T0" fmla="*/ 344 w 354"/>
                  <a:gd name="T1" fmla="*/ 251 h 296"/>
                  <a:gd name="T2" fmla="*/ 261 w 354"/>
                  <a:gd name="T3" fmla="*/ 245 h 296"/>
                  <a:gd name="T4" fmla="*/ 312 w 354"/>
                  <a:gd name="T5" fmla="*/ 296 h 296"/>
                  <a:gd name="T6" fmla="*/ 84 w 354"/>
                  <a:gd name="T7" fmla="*/ 296 h 296"/>
                  <a:gd name="T8" fmla="*/ 88 w 354"/>
                  <a:gd name="T9" fmla="*/ 206 h 296"/>
                  <a:gd name="T10" fmla="*/ 87 w 354"/>
                  <a:gd name="T11" fmla="*/ 207 h 296"/>
                  <a:gd name="T12" fmla="*/ 70 w 354"/>
                  <a:gd name="T13" fmla="*/ 246 h 296"/>
                  <a:gd name="T14" fmla="*/ 54 w 354"/>
                  <a:gd name="T15" fmla="*/ 260 h 296"/>
                  <a:gd name="T16" fmla="*/ 47 w 354"/>
                  <a:gd name="T17" fmla="*/ 232 h 296"/>
                  <a:gd name="T18" fmla="*/ 4 w 354"/>
                  <a:gd name="T19" fmla="*/ 205 h 296"/>
                  <a:gd name="T20" fmla="*/ 18 w 354"/>
                  <a:gd name="T21" fmla="*/ 185 h 296"/>
                  <a:gd name="T22" fmla="*/ 69 w 354"/>
                  <a:gd name="T23" fmla="*/ 39 h 296"/>
                  <a:gd name="T24" fmla="*/ 149 w 354"/>
                  <a:gd name="T25" fmla="*/ 3 h 296"/>
                  <a:gd name="T26" fmla="*/ 201 w 354"/>
                  <a:gd name="T27" fmla="*/ 0 h 296"/>
                  <a:gd name="T28" fmla="*/ 321 w 354"/>
                  <a:gd name="T29" fmla="*/ 54 h 296"/>
                  <a:gd name="T30" fmla="*/ 338 w 354"/>
                  <a:gd name="T31" fmla="*/ 219 h 296"/>
                  <a:gd name="T32" fmla="*/ 344 w 354"/>
                  <a:gd name="T33" fmla="*/ 25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4" h="296">
                    <a:moveTo>
                      <a:pt x="344" y="251"/>
                    </a:moveTo>
                    <a:cubicBezTo>
                      <a:pt x="332" y="229"/>
                      <a:pt x="261" y="245"/>
                      <a:pt x="261" y="245"/>
                    </a:cubicBezTo>
                    <a:cubicBezTo>
                      <a:pt x="312" y="296"/>
                      <a:pt x="312" y="296"/>
                      <a:pt x="312" y="296"/>
                    </a:cubicBezTo>
                    <a:cubicBezTo>
                      <a:pt x="84" y="296"/>
                      <a:pt x="84" y="296"/>
                      <a:pt x="84" y="296"/>
                    </a:cubicBezTo>
                    <a:cubicBezTo>
                      <a:pt x="92" y="270"/>
                      <a:pt x="88" y="206"/>
                      <a:pt x="88" y="206"/>
                    </a:cubicBezTo>
                    <a:cubicBezTo>
                      <a:pt x="87" y="206"/>
                      <a:pt x="87" y="207"/>
                      <a:pt x="87" y="207"/>
                    </a:cubicBezTo>
                    <a:cubicBezTo>
                      <a:pt x="84" y="233"/>
                      <a:pt x="70" y="246"/>
                      <a:pt x="70" y="246"/>
                    </a:cubicBezTo>
                    <a:cubicBezTo>
                      <a:pt x="70" y="260"/>
                      <a:pt x="54" y="260"/>
                      <a:pt x="54" y="260"/>
                    </a:cubicBezTo>
                    <a:cubicBezTo>
                      <a:pt x="53" y="248"/>
                      <a:pt x="50" y="239"/>
                      <a:pt x="47" y="232"/>
                    </a:cubicBezTo>
                    <a:cubicBezTo>
                      <a:pt x="32" y="201"/>
                      <a:pt x="4" y="205"/>
                      <a:pt x="4" y="205"/>
                    </a:cubicBezTo>
                    <a:cubicBezTo>
                      <a:pt x="0" y="189"/>
                      <a:pt x="18" y="185"/>
                      <a:pt x="18" y="185"/>
                    </a:cubicBezTo>
                    <a:cubicBezTo>
                      <a:pt x="18" y="185"/>
                      <a:pt x="38" y="63"/>
                      <a:pt x="69" y="39"/>
                    </a:cubicBezTo>
                    <a:cubicBezTo>
                      <a:pt x="100" y="15"/>
                      <a:pt x="149" y="3"/>
                      <a:pt x="149" y="3"/>
                    </a:cubicBezTo>
                    <a:cubicBezTo>
                      <a:pt x="201" y="0"/>
                      <a:pt x="201" y="0"/>
                      <a:pt x="201" y="0"/>
                    </a:cubicBezTo>
                    <a:cubicBezTo>
                      <a:pt x="201" y="0"/>
                      <a:pt x="301" y="20"/>
                      <a:pt x="321" y="54"/>
                    </a:cubicBezTo>
                    <a:cubicBezTo>
                      <a:pt x="341" y="88"/>
                      <a:pt x="338" y="219"/>
                      <a:pt x="338" y="219"/>
                    </a:cubicBezTo>
                    <a:cubicBezTo>
                      <a:pt x="354" y="232"/>
                      <a:pt x="344" y="251"/>
                      <a:pt x="344" y="2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7BF54"/>
                  </a:gs>
                  <a:gs pos="100000">
                    <a:srgbClr val="F7983D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9038FAA0-C379-49CC-909C-1A149DBBD9AC}"/>
                  </a:ext>
                </a:extLst>
              </p:cNvPr>
              <p:cNvSpPr/>
              <p:nvPr/>
            </p:nvSpPr>
            <p:spPr bwMode="auto">
              <a:xfrm>
                <a:off x="5893278" y="4000148"/>
                <a:ext cx="1089413" cy="1133484"/>
              </a:xfrm>
              <a:custGeom>
                <a:avLst/>
                <a:gdLst>
                  <a:gd name="T0" fmla="*/ 179 w 188"/>
                  <a:gd name="T1" fmla="*/ 138 h 195"/>
                  <a:gd name="T2" fmla="*/ 160 w 188"/>
                  <a:gd name="T3" fmla="*/ 0 h 195"/>
                  <a:gd name="T4" fmla="*/ 125 w 188"/>
                  <a:gd name="T5" fmla="*/ 125 h 195"/>
                  <a:gd name="T6" fmla="*/ 0 w 188"/>
                  <a:gd name="T7" fmla="*/ 195 h 195"/>
                  <a:gd name="T8" fmla="*/ 150 w 188"/>
                  <a:gd name="T9" fmla="*/ 194 h 195"/>
                  <a:gd name="T10" fmla="*/ 179 w 188"/>
                  <a:gd name="T11" fmla="*/ 138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8" h="195">
                    <a:moveTo>
                      <a:pt x="179" y="138"/>
                    </a:moveTo>
                    <a:cubicBezTo>
                      <a:pt x="179" y="138"/>
                      <a:pt x="188" y="64"/>
                      <a:pt x="160" y="0"/>
                    </a:cubicBezTo>
                    <a:cubicBezTo>
                      <a:pt x="160" y="0"/>
                      <a:pt x="165" y="98"/>
                      <a:pt x="125" y="125"/>
                    </a:cubicBezTo>
                    <a:cubicBezTo>
                      <a:pt x="85" y="153"/>
                      <a:pt x="17" y="147"/>
                      <a:pt x="0" y="195"/>
                    </a:cubicBezTo>
                    <a:cubicBezTo>
                      <a:pt x="150" y="194"/>
                      <a:pt x="150" y="194"/>
                      <a:pt x="150" y="194"/>
                    </a:cubicBezTo>
                    <a:lnTo>
                      <a:pt x="179" y="138"/>
                    </a:lnTo>
                    <a:close/>
                  </a:path>
                </a:pathLst>
              </a:custGeom>
              <a:solidFill>
                <a:srgbClr val="F6613A">
                  <a:alpha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890BE83E-156A-4A1D-86EE-B4211D6FE3E7}"/>
                  </a:ext>
                </a:extLst>
              </p:cNvPr>
              <p:cNvSpPr/>
              <p:nvPr/>
            </p:nvSpPr>
            <p:spPr bwMode="auto">
              <a:xfrm>
                <a:off x="5690555" y="4070661"/>
                <a:ext cx="232690" cy="817941"/>
              </a:xfrm>
              <a:custGeom>
                <a:avLst/>
                <a:gdLst>
                  <a:gd name="T0" fmla="*/ 40 w 40"/>
                  <a:gd name="T1" fmla="*/ 88 h 141"/>
                  <a:gd name="T2" fmla="*/ 23 w 40"/>
                  <a:gd name="T3" fmla="*/ 127 h 141"/>
                  <a:gd name="T4" fmla="*/ 7 w 40"/>
                  <a:gd name="T5" fmla="*/ 141 h 141"/>
                  <a:gd name="T6" fmla="*/ 0 w 40"/>
                  <a:gd name="T7" fmla="*/ 113 h 141"/>
                  <a:gd name="T8" fmla="*/ 22 w 40"/>
                  <a:gd name="T9" fmla="*/ 76 h 141"/>
                  <a:gd name="T10" fmla="*/ 25 w 40"/>
                  <a:gd name="T11" fmla="*/ 0 h 141"/>
                  <a:gd name="T12" fmla="*/ 40 w 40"/>
                  <a:gd name="T13" fmla="*/ 88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41">
                    <a:moveTo>
                      <a:pt x="40" y="88"/>
                    </a:moveTo>
                    <a:cubicBezTo>
                      <a:pt x="37" y="114"/>
                      <a:pt x="23" y="127"/>
                      <a:pt x="23" y="127"/>
                    </a:cubicBezTo>
                    <a:cubicBezTo>
                      <a:pt x="23" y="141"/>
                      <a:pt x="7" y="141"/>
                      <a:pt x="7" y="141"/>
                    </a:cubicBezTo>
                    <a:cubicBezTo>
                      <a:pt x="6" y="129"/>
                      <a:pt x="3" y="120"/>
                      <a:pt x="0" y="113"/>
                    </a:cubicBezTo>
                    <a:cubicBezTo>
                      <a:pt x="8" y="105"/>
                      <a:pt x="17" y="93"/>
                      <a:pt x="22" y="76"/>
                    </a:cubicBezTo>
                    <a:cubicBezTo>
                      <a:pt x="33" y="41"/>
                      <a:pt x="26" y="3"/>
                      <a:pt x="25" y="0"/>
                    </a:cubicBezTo>
                    <a:cubicBezTo>
                      <a:pt x="34" y="33"/>
                      <a:pt x="39" y="73"/>
                      <a:pt x="40" y="88"/>
                    </a:cubicBezTo>
                    <a:close/>
                  </a:path>
                </a:pathLst>
              </a:custGeom>
              <a:solidFill>
                <a:srgbClr val="F6613A">
                  <a:alpha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EA387B40-E529-45BE-A4F9-3FF91A6A31E6}"/>
                  </a:ext>
                </a:extLst>
              </p:cNvPr>
              <p:cNvSpPr/>
              <p:nvPr/>
            </p:nvSpPr>
            <p:spPr bwMode="auto">
              <a:xfrm>
                <a:off x="6554329" y="4721136"/>
                <a:ext cx="886691" cy="412496"/>
              </a:xfrm>
              <a:custGeom>
                <a:avLst/>
                <a:gdLst>
                  <a:gd name="T0" fmla="*/ 0 w 153"/>
                  <a:gd name="T1" fmla="*/ 40 h 71"/>
                  <a:gd name="T2" fmla="*/ 105 w 153"/>
                  <a:gd name="T3" fmla="*/ 16 h 71"/>
                  <a:gd name="T4" fmla="*/ 133 w 153"/>
                  <a:gd name="T5" fmla="*/ 71 h 71"/>
                  <a:gd name="T6" fmla="*/ 13 w 153"/>
                  <a:gd name="T7" fmla="*/ 71 h 71"/>
                  <a:gd name="T8" fmla="*/ 0 w 153"/>
                  <a:gd name="T9" fmla="*/ 4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" h="71">
                    <a:moveTo>
                      <a:pt x="0" y="40"/>
                    </a:moveTo>
                    <a:cubicBezTo>
                      <a:pt x="0" y="40"/>
                      <a:pt x="57" y="0"/>
                      <a:pt x="105" y="16"/>
                    </a:cubicBezTo>
                    <a:cubicBezTo>
                      <a:pt x="153" y="32"/>
                      <a:pt x="149" y="65"/>
                      <a:pt x="133" y="71"/>
                    </a:cubicBezTo>
                    <a:cubicBezTo>
                      <a:pt x="13" y="71"/>
                      <a:pt x="13" y="71"/>
                      <a:pt x="13" y="71"/>
                    </a:cubicBez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FEB1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11E19F8A-8C20-46BE-89A2-75689ECA1359}"/>
                  </a:ext>
                </a:extLst>
              </p:cNvPr>
              <p:cNvSpPr/>
              <p:nvPr/>
            </p:nvSpPr>
            <p:spPr bwMode="auto">
              <a:xfrm>
                <a:off x="6177089" y="2977722"/>
                <a:ext cx="463618" cy="796787"/>
              </a:xfrm>
              <a:custGeom>
                <a:avLst/>
                <a:gdLst>
                  <a:gd name="T0" fmla="*/ 80 w 80"/>
                  <a:gd name="T1" fmla="*/ 70 h 137"/>
                  <a:gd name="T2" fmla="*/ 33 w 80"/>
                  <a:gd name="T3" fmla="*/ 137 h 137"/>
                  <a:gd name="T4" fmla="*/ 12 w 80"/>
                  <a:gd name="T5" fmla="*/ 87 h 137"/>
                  <a:gd name="T6" fmla="*/ 13 w 80"/>
                  <a:gd name="T7" fmla="*/ 84 h 137"/>
                  <a:gd name="T8" fmla="*/ 0 w 80"/>
                  <a:gd name="T9" fmla="*/ 36 h 137"/>
                  <a:gd name="T10" fmla="*/ 67 w 80"/>
                  <a:gd name="T11" fmla="*/ 0 h 137"/>
                  <a:gd name="T12" fmla="*/ 69 w 80"/>
                  <a:gd name="T13" fmla="*/ 8 h 137"/>
                  <a:gd name="T14" fmla="*/ 69 w 80"/>
                  <a:gd name="T15" fmla="*/ 8 h 137"/>
                  <a:gd name="T16" fmla="*/ 80 w 80"/>
                  <a:gd name="T17" fmla="*/ 7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137">
                    <a:moveTo>
                      <a:pt x="80" y="70"/>
                    </a:moveTo>
                    <a:cubicBezTo>
                      <a:pt x="80" y="70"/>
                      <a:pt x="68" y="136"/>
                      <a:pt x="33" y="137"/>
                    </a:cubicBezTo>
                    <a:cubicBezTo>
                      <a:pt x="3" y="137"/>
                      <a:pt x="10" y="97"/>
                      <a:pt x="12" y="87"/>
                    </a:cubicBezTo>
                    <a:cubicBezTo>
                      <a:pt x="12" y="85"/>
                      <a:pt x="13" y="84"/>
                      <a:pt x="13" y="8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69" y="8"/>
                      <a:pt x="69" y="8"/>
                      <a:pt x="69" y="8"/>
                    </a:cubicBezTo>
                    <a:lnTo>
                      <a:pt x="80" y="70"/>
                    </a:lnTo>
                    <a:close/>
                  </a:path>
                </a:pathLst>
              </a:custGeom>
              <a:solidFill>
                <a:srgbClr val="FEB1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5F640386-3AEC-4664-94BA-0747F3B376B8}"/>
                  </a:ext>
                </a:extLst>
              </p:cNvPr>
              <p:cNvSpPr/>
              <p:nvPr/>
            </p:nvSpPr>
            <p:spPr bwMode="auto">
              <a:xfrm>
                <a:off x="6177089" y="2977722"/>
                <a:ext cx="453041" cy="505925"/>
              </a:xfrm>
              <a:custGeom>
                <a:avLst/>
                <a:gdLst>
                  <a:gd name="T0" fmla="*/ 12 w 78"/>
                  <a:gd name="T1" fmla="*/ 87 h 87"/>
                  <a:gd name="T2" fmla="*/ 13 w 78"/>
                  <a:gd name="T3" fmla="*/ 84 h 87"/>
                  <a:gd name="T4" fmla="*/ 0 w 78"/>
                  <a:gd name="T5" fmla="*/ 36 h 87"/>
                  <a:gd name="T6" fmla="*/ 67 w 78"/>
                  <a:gd name="T7" fmla="*/ 0 h 87"/>
                  <a:gd name="T8" fmla="*/ 69 w 78"/>
                  <a:gd name="T9" fmla="*/ 8 h 87"/>
                  <a:gd name="T10" fmla="*/ 69 w 78"/>
                  <a:gd name="T11" fmla="*/ 8 h 87"/>
                  <a:gd name="T12" fmla="*/ 12 w 78"/>
                  <a:gd name="T13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87">
                    <a:moveTo>
                      <a:pt x="12" y="87"/>
                    </a:moveTo>
                    <a:cubicBezTo>
                      <a:pt x="12" y="85"/>
                      <a:pt x="13" y="84"/>
                      <a:pt x="13" y="8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78" y="87"/>
                      <a:pt x="13" y="87"/>
                      <a:pt x="12" y="87"/>
                    </a:cubicBezTo>
                    <a:close/>
                  </a:path>
                </a:pathLst>
              </a:custGeom>
              <a:solidFill>
                <a:srgbClr val="FF85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E17B8358-E2A5-4899-8F7D-89F6A452AC46}"/>
                  </a:ext>
                </a:extLst>
              </p:cNvPr>
              <p:cNvSpPr/>
              <p:nvPr/>
            </p:nvSpPr>
            <p:spPr bwMode="auto">
              <a:xfrm>
                <a:off x="5678216" y="2240870"/>
                <a:ext cx="1015375" cy="754480"/>
              </a:xfrm>
              <a:custGeom>
                <a:avLst/>
                <a:gdLst>
                  <a:gd name="T0" fmla="*/ 162 w 175"/>
                  <a:gd name="T1" fmla="*/ 104 h 130"/>
                  <a:gd name="T2" fmla="*/ 173 w 175"/>
                  <a:gd name="T3" fmla="*/ 65 h 130"/>
                  <a:gd name="T4" fmla="*/ 161 w 175"/>
                  <a:gd name="T5" fmla="*/ 39 h 130"/>
                  <a:gd name="T6" fmla="*/ 146 w 175"/>
                  <a:gd name="T7" fmla="*/ 8 h 130"/>
                  <a:gd name="T8" fmla="*/ 75 w 175"/>
                  <a:gd name="T9" fmla="*/ 22 h 130"/>
                  <a:gd name="T10" fmla="*/ 38 w 175"/>
                  <a:gd name="T11" fmla="*/ 5 h 130"/>
                  <a:gd name="T12" fmla="*/ 35 w 175"/>
                  <a:gd name="T13" fmla="*/ 37 h 130"/>
                  <a:gd name="T14" fmla="*/ 18 w 175"/>
                  <a:gd name="T15" fmla="*/ 22 h 130"/>
                  <a:gd name="T16" fmla="*/ 6 w 175"/>
                  <a:gd name="T17" fmla="*/ 58 h 130"/>
                  <a:gd name="T18" fmla="*/ 25 w 175"/>
                  <a:gd name="T19" fmla="*/ 91 h 130"/>
                  <a:gd name="T20" fmla="*/ 53 w 175"/>
                  <a:gd name="T21" fmla="*/ 126 h 130"/>
                  <a:gd name="T22" fmla="*/ 147 w 175"/>
                  <a:gd name="T23" fmla="*/ 124 h 130"/>
                  <a:gd name="T24" fmla="*/ 162 w 175"/>
                  <a:gd name="T25" fmla="*/ 104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5" h="130">
                    <a:moveTo>
                      <a:pt x="162" y="104"/>
                    </a:moveTo>
                    <a:cubicBezTo>
                      <a:pt x="162" y="104"/>
                      <a:pt x="171" y="87"/>
                      <a:pt x="173" y="65"/>
                    </a:cubicBezTo>
                    <a:cubicBezTo>
                      <a:pt x="175" y="44"/>
                      <a:pt x="170" y="39"/>
                      <a:pt x="161" y="39"/>
                    </a:cubicBezTo>
                    <a:cubicBezTo>
                      <a:pt x="161" y="39"/>
                      <a:pt x="157" y="16"/>
                      <a:pt x="146" y="8"/>
                    </a:cubicBezTo>
                    <a:cubicBezTo>
                      <a:pt x="135" y="0"/>
                      <a:pt x="91" y="12"/>
                      <a:pt x="75" y="22"/>
                    </a:cubicBezTo>
                    <a:cubicBezTo>
                      <a:pt x="58" y="32"/>
                      <a:pt x="46" y="4"/>
                      <a:pt x="38" y="5"/>
                    </a:cubicBezTo>
                    <a:cubicBezTo>
                      <a:pt x="30" y="7"/>
                      <a:pt x="29" y="28"/>
                      <a:pt x="35" y="37"/>
                    </a:cubicBezTo>
                    <a:cubicBezTo>
                      <a:pt x="35" y="37"/>
                      <a:pt x="21" y="30"/>
                      <a:pt x="18" y="22"/>
                    </a:cubicBezTo>
                    <a:cubicBezTo>
                      <a:pt x="16" y="14"/>
                      <a:pt x="0" y="28"/>
                      <a:pt x="6" y="58"/>
                    </a:cubicBezTo>
                    <a:cubicBezTo>
                      <a:pt x="12" y="88"/>
                      <a:pt x="25" y="91"/>
                      <a:pt x="25" y="91"/>
                    </a:cubicBezTo>
                    <a:cubicBezTo>
                      <a:pt x="25" y="91"/>
                      <a:pt x="27" y="123"/>
                      <a:pt x="53" y="126"/>
                    </a:cubicBezTo>
                    <a:cubicBezTo>
                      <a:pt x="79" y="130"/>
                      <a:pt x="147" y="124"/>
                      <a:pt x="147" y="124"/>
                    </a:cubicBezTo>
                    <a:lnTo>
                      <a:pt x="162" y="104"/>
                    </a:lnTo>
                    <a:close/>
                  </a:path>
                </a:pathLst>
              </a:custGeom>
              <a:solidFill>
                <a:srgbClr val="59313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01D3A52D-AFA7-4E05-BA8D-223D1C678151}"/>
                  </a:ext>
                </a:extLst>
              </p:cNvPr>
              <p:cNvSpPr/>
              <p:nvPr/>
            </p:nvSpPr>
            <p:spPr bwMode="auto">
              <a:xfrm>
                <a:off x="5928534" y="2693911"/>
                <a:ext cx="719224" cy="708647"/>
              </a:xfrm>
              <a:custGeom>
                <a:avLst/>
                <a:gdLst>
                  <a:gd name="T0" fmla="*/ 0 w 124"/>
                  <a:gd name="T1" fmla="*/ 15 h 122"/>
                  <a:gd name="T2" fmla="*/ 44 w 124"/>
                  <a:gd name="T3" fmla="*/ 111 h 122"/>
                  <a:gd name="T4" fmla="*/ 105 w 124"/>
                  <a:gd name="T5" fmla="*/ 79 h 122"/>
                  <a:gd name="T6" fmla="*/ 111 w 124"/>
                  <a:gd name="T7" fmla="*/ 52 h 122"/>
                  <a:gd name="T8" fmla="*/ 123 w 124"/>
                  <a:gd name="T9" fmla="*/ 35 h 122"/>
                  <a:gd name="T10" fmla="*/ 104 w 124"/>
                  <a:gd name="T11" fmla="*/ 38 h 122"/>
                  <a:gd name="T12" fmla="*/ 93 w 124"/>
                  <a:gd name="T13" fmla="*/ 0 h 122"/>
                  <a:gd name="T14" fmla="*/ 51 w 124"/>
                  <a:gd name="T15" fmla="*/ 17 h 122"/>
                  <a:gd name="T16" fmla="*/ 47 w 124"/>
                  <a:gd name="T17" fmla="*/ 0 h 122"/>
                  <a:gd name="T18" fmla="*/ 0 w 124"/>
                  <a:gd name="T19" fmla="*/ 15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4" h="122">
                    <a:moveTo>
                      <a:pt x="0" y="15"/>
                    </a:moveTo>
                    <a:cubicBezTo>
                      <a:pt x="0" y="15"/>
                      <a:pt x="12" y="100"/>
                      <a:pt x="44" y="111"/>
                    </a:cubicBezTo>
                    <a:cubicBezTo>
                      <a:pt x="75" y="122"/>
                      <a:pt x="101" y="88"/>
                      <a:pt x="105" y="79"/>
                    </a:cubicBezTo>
                    <a:cubicBezTo>
                      <a:pt x="109" y="70"/>
                      <a:pt x="111" y="52"/>
                      <a:pt x="111" y="52"/>
                    </a:cubicBezTo>
                    <a:cubicBezTo>
                      <a:pt x="111" y="52"/>
                      <a:pt x="122" y="54"/>
                      <a:pt x="123" y="35"/>
                    </a:cubicBezTo>
                    <a:cubicBezTo>
                      <a:pt x="124" y="16"/>
                      <a:pt x="108" y="5"/>
                      <a:pt x="104" y="38"/>
                    </a:cubicBezTo>
                    <a:cubicBezTo>
                      <a:pt x="104" y="38"/>
                      <a:pt x="88" y="29"/>
                      <a:pt x="93" y="0"/>
                    </a:cubicBezTo>
                    <a:cubicBezTo>
                      <a:pt x="93" y="0"/>
                      <a:pt x="75" y="17"/>
                      <a:pt x="51" y="17"/>
                    </a:cubicBezTo>
                    <a:cubicBezTo>
                      <a:pt x="26" y="17"/>
                      <a:pt x="47" y="0"/>
                      <a:pt x="47" y="0"/>
                    </a:cubicBezTo>
                    <a:cubicBezTo>
                      <a:pt x="47" y="0"/>
                      <a:pt x="30" y="16"/>
                      <a:pt x="0" y="15"/>
                    </a:cubicBezTo>
                    <a:close/>
                  </a:path>
                </a:pathLst>
              </a:custGeom>
              <a:solidFill>
                <a:srgbClr val="FEB1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ADBB54AD-357E-40B1-A6FB-085A97613870}"/>
                  </a:ext>
                </a:extLst>
              </p:cNvPr>
              <p:cNvSpPr/>
              <p:nvPr/>
            </p:nvSpPr>
            <p:spPr bwMode="auto">
              <a:xfrm>
                <a:off x="5875650" y="5070171"/>
                <a:ext cx="1188130" cy="63461"/>
              </a:xfrm>
              <a:prstGeom prst="rect">
                <a:avLst/>
              </a:prstGeom>
              <a:solidFill>
                <a:srgbClr val="ABDA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E8AF93C6-F105-461B-A816-BC3387F3C587}"/>
                  </a:ext>
                </a:extLst>
              </p:cNvPr>
              <p:cNvSpPr/>
              <p:nvPr/>
            </p:nvSpPr>
            <p:spPr bwMode="auto">
              <a:xfrm>
                <a:off x="6698879" y="5070171"/>
                <a:ext cx="364901" cy="63461"/>
              </a:xfrm>
              <a:prstGeom prst="rect">
                <a:avLst/>
              </a:prstGeom>
              <a:solidFill>
                <a:srgbClr val="70B2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AE9DB34A-4B92-40A1-BB39-C117B8686ECA}"/>
                  </a:ext>
                </a:extLst>
              </p:cNvPr>
              <p:cNvSpPr/>
              <p:nvPr/>
            </p:nvSpPr>
            <p:spPr bwMode="auto">
              <a:xfrm>
                <a:off x="6397440" y="4913281"/>
                <a:ext cx="470669" cy="156890"/>
              </a:xfrm>
              <a:custGeom>
                <a:avLst/>
                <a:gdLst>
                  <a:gd name="T0" fmla="*/ 81 w 81"/>
                  <a:gd name="T1" fmla="*/ 27 h 27"/>
                  <a:gd name="T2" fmla="*/ 35 w 81"/>
                  <a:gd name="T3" fmla="*/ 1 h 27"/>
                  <a:gd name="T4" fmla="*/ 14 w 81"/>
                  <a:gd name="T5" fmla="*/ 14 h 27"/>
                  <a:gd name="T6" fmla="*/ 0 w 81"/>
                  <a:gd name="T7" fmla="*/ 27 h 27"/>
                  <a:gd name="T8" fmla="*/ 81 w 81"/>
                  <a:gd name="T9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27">
                    <a:moveTo>
                      <a:pt x="81" y="27"/>
                    </a:moveTo>
                    <a:cubicBezTo>
                      <a:pt x="81" y="27"/>
                      <a:pt x="63" y="0"/>
                      <a:pt x="35" y="1"/>
                    </a:cubicBezTo>
                    <a:cubicBezTo>
                      <a:pt x="15" y="1"/>
                      <a:pt x="14" y="14"/>
                      <a:pt x="14" y="14"/>
                    </a:cubicBezTo>
                    <a:cubicBezTo>
                      <a:pt x="14" y="14"/>
                      <a:pt x="0" y="12"/>
                      <a:pt x="0" y="27"/>
                    </a:cubicBezTo>
                    <a:lnTo>
                      <a:pt x="81" y="27"/>
                    </a:lnTo>
                    <a:close/>
                  </a:path>
                </a:pathLst>
              </a:custGeom>
              <a:solidFill>
                <a:srgbClr val="FFC7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A6FABDB6-9771-4A6B-94C8-7731E388E64D}"/>
                  </a:ext>
                </a:extLst>
              </p:cNvPr>
              <p:cNvSpPr/>
              <p:nvPr/>
            </p:nvSpPr>
            <p:spPr bwMode="auto">
              <a:xfrm>
                <a:off x="4844409" y="4848058"/>
                <a:ext cx="544707" cy="215062"/>
              </a:xfrm>
              <a:custGeom>
                <a:avLst/>
                <a:gdLst>
                  <a:gd name="T0" fmla="*/ 93 w 94"/>
                  <a:gd name="T1" fmla="*/ 37 h 37"/>
                  <a:gd name="T2" fmla="*/ 88 w 94"/>
                  <a:gd name="T3" fmla="*/ 20 h 37"/>
                  <a:gd name="T4" fmla="*/ 76 w 94"/>
                  <a:gd name="T5" fmla="*/ 23 h 37"/>
                  <a:gd name="T6" fmla="*/ 52 w 94"/>
                  <a:gd name="T7" fmla="*/ 1 h 37"/>
                  <a:gd name="T8" fmla="*/ 21 w 94"/>
                  <a:gd name="T9" fmla="*/ 37 h 37"/>
                  <a:gd name="T10" fmla="*/ 93 w 94"/>
                  <a:gd name="T11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37">
                    <a:moveTo>
                      <a:pt x="93" y="37"/>
                    </a:moveTo>
                    <a:cubicBezTo>
                      <a:pt x="93" y="37"/>
                      <a:pt x="94" y="22"/>
                      <a:pt x="88" y="20"/>
                    </a:cubicBezTo>
                    <a:cubicBezTo>
                      <a:pt x="81" y="18"/>
                      <a:pt x="76" y="23"/>
                      <a:pt x="76" y="23"/>
                    </a:cubicBezTo>
                    <a:cubicBezTo>
                      <a:pt x="76" y="23"/>
                      <a:pt x="71" y="1"/>
                      <a:pt x="52" y="1"/>
                    </a:cubicBezTo>
                    <a:cubicBezTo>
                      <a:pt x="34" y="0"/>
                      <a:pt x="0" y="19"/>
                      <a:pt x="21" y="37"/>
                    </a:cubicBezTo>
                    <a:lnTo>
                      <a:pt x="93" y="37"/>
                    </a:lnTo>
                    <a:close/>
                  </a:path>
                </a:pathLst>
              </a:custGeom>
              <a:solidFill>
                <a:srgbClr val="FEB1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B08E4CDA-8407-49C7-B5E8-6D7B68163B01}"/>
                  </a:ext>
                </a:extLst>
              </p:cNvPr>
              <p:cNvSpPr/>
              <p:nvPr/>
            </p:nvSpPr>
            <p:spPr bwMode="auto">
              <a:xfrm>
                <a:off x="4943126" y="5063120"/>
                <a:ext cx="719224" cy="70512"/>
              </a:xfrm>
              <a:custGeom>
                <a:avLst/>
                <a:gdLst>
                  <a:gd name="T0" fmla="*/ 124 w 124"/>
                  <a:gd name="T1" fmla="*/ 6 h 12"/>
                  <a:gd name="T2" fmla="*/ 118 w 124"/>
                  <a:gd name="T3" fmla="*/ 12 h 12"/>
                  <a:gd name="T4" fmla="*/ 6 w 124"/>
                  <a:gd name="T5" fmla="*/ 12 h 12"/>
                  <a:gd name="T6" fmla="*/ 0 w 124"/>
                  <a:gd name="T7" fmla="*/ 6 h 12"/>
                  <a:gd name="T8" fmla="*/ 6 w 124"/>
                  <a:gd name="T9" fmla="*/ 0 h 12"/>
                  <a:gd name="T10" fmla="*/ 118 w 124"/>
                  <a:gd name="T11" fmla="*/ 0 h 12"/>
                  <a:gd name="T12" fmla="*/ 124 w 124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4" h="12">
                    <a:moveTo>
                      <a:pt x="124" y="6"/>
                    </a:moveTo>
                    <a:cubicBezTo>
                      <a:pt x="124" y="9"/>
                      <a:pt x="122" y="12"/>
                      <a:pt x="118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22" y="0"/>
                      <a:pt x="124" y="2"/>
                      <a:pt x="124" y="6"/>
                    </a:cubicBezTo>
                    <a:close/>
                  </a:path>
                </a:pathLst>
              </a:custGeom>
              <a:solidFill>
                <a:srgbClr val="70B2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95238C92-9A93-44C8-AD92-A0B79A750564}"/>
                  </a:ext>
                </a:extLst>
              </p:cNvPr>
              <p:cNvSpPr/>
              <p:nvPr/>
            </p:nvSpPr>
            <p:spPr bwMode="auto">
              <a:xfrm>
                <a:off x="4943126" y="5063120"/>
                <a:ext cx="527079" cy="70512"/>
              </a:xfrm>
              <a:custGeom>
                <a:avLst/>
                <a:gdLst>
                  <a:gd name="T0" fmla="*/ 91 w 91"/>
                  <a:gd name="T1" fmla="*/ 6 h 12"/>
                  <a:gd name="T2" fmla="*/ 85 w 91"/>
                  <a:gd name="T3" fmla="*/ 12 h 12"/>
                  <a:gd name="T4" fmla="*/ 6 w 91"/>
                  <a:gd name="T5" fmla="*/ 12 h 12"/>
                  <a:gd name="T6" fmla="*/ 0 w 91"/>
                  <a:gd name="T7" fmla="*/ 6 h 12"/>
                  <a:gd name="T8" fmla="*/ 6 w 91"/>
                  <a:gd name="T9" fmla="*/ 0 h 12"/>
                  <a:gd name="T10" fmla="*/ 85 w 91"/>
                  <a:gd name="T11" fmla="*/ 0 h 12"/>
                  <a:gd name="T12" fmla="*/ 91 w 91"/>
                  <a:gd name="T13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" h="12">
                    <a:moveTo>
                      <a:pt x="91" y="6"/>
                    </a:moveTo>
                    <a:cubicBezTo>
                      <a:pt x="91" y="9"/>
                      <a:pt x="88" y="12"/>
                      <a:pt x="8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8" y="0"/>
                      <a:pt x="91" y="2"/>
                      <a:pt x="91" y="6"/>
                    </a:cubicBezTo>
                    <a:close/>
                  </a:path>
                </a:pathLst>
              </a:custGeom>
              <a:solidFill>
                <a:srgbClr val="ABDA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2FDA8D3-ED5F-4DBD-95F9-C750DE7B8A74}"/>
                  </a:ext>
                </a:extLst>
              </p:cNvPr>
              <p:cNvSpPr/>
              <p:nvPr/>
            </p:nvSpPr>
            <p:spPr bwMode="auto">
              <a:xfrm>
                <a:off x="5115881" y="4599502"/>
                <a:ext cx="186857" cy="428362"/>
              </a:xfrm>
              <a:custGeom>
                <a:avLst/>
                <a:gdLst>
                  <a:gd name="T0" fmla="*/ 32 w 32"/>
                  <a:gd name="T1" fmla="*/ 70 h 74"/>
                  <a:gd name="T2" fmla="*/ 12 w 32"/>
                  <a:gd name="T3" fmla="*/ 5 h 74"/>
                  <a:gd name="T4" fmla="*/ 5 w 32"/>
                  <a:gd name="T5" fmla="*/ 1 h 74"/>
                  <a:gd name="T6" fmla="*/ 5 w 32"/>
                  <a:gd name="T7" fmla="*/ 1 h 74"/>
                  <a:gd name="T8" fmla="*/ 1 w 32"/>
                  <a:gd name="T9" fmla="*/ 8 h 74"/>
                  <a:gd name="T10" fmla="*/ 25 w 32"/>
                  <a:gd name="T11" fmla="*/ 72 h 74"/>
                  <a:gd name="T12" fmla="*/ 32 w 32"/>
                  <a:gd name="T13" fmla="*/ 7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74">
                    <a:moveTo>
                      <a:pt x="32" y="70"/>
                    </a:moveTo>
                    <a:cubicBezTo>
                      <a:pt x="12" y="5"/>
                      <a:pt x="12" y="5"/>
                      <a:pt x="12" y="5"/>
                    </a:cubicBezTo>
                    <a:cubicBezTo>
                      <a:pt x="11" y="2"/>
                      <a:pt x="8" y="0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2" y="2"/>
                      <a:pt x="0" y="5"/>
                      <a:pt x="1" y="8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5" y="72"/>
                      <a:pt x="29" y="74"/>
                      <a:pt x="32" y="70"/>
                    </a:cubicBezTo>
                    <a:close/>
                  </a:path>
                </a:pathLst>
              </a:custGeom>
              <a:solidFill>
                <a:srgbClr val="5255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1CFF5A5F-9AD0-4A8D-AD75-7656D066B23D}"/>
                  </a:ext>
                </a:extLst>
              </p:cNvPr>
              <p:cNvSpPr/>
              <p:nvPr/>
            </p:nvSpPr>
            <p:spPr bwMode="auto">
              <a:xfrm>
                <a:off x="4310280" y="3931400"/>
                <a:ext cx="192146" cy="290863"/>
              </a:xfrm>
              <a:custGeom>
                <a:avLst/>
                <a:gdLst>
                  <a:gd name="T0" fmla="*/ 31 w 33"/>
                  <a:gd name="T1" fmla="*/ 23 h 50"/>
                  <a:gd name="T2" fmla="*/ 20 w 33"/>
                  <a:gd name="T3" fmla="*/ 49 h 50"/>
                  <a:gd name="T4" fmla="*/ 2 w 33"/>
                  <a:gd name="T5" fmla="*/ 28 h 50"/>
                  <a:gd name="T6" fmla="*/ 12 w 33"/>
                  <a:gd name="T7" fmla="*/ 1 h 50"/>
                  <a:gd name="T8" fmla="*/ 31 w 33"/>
                  <a:gd name="T9" fmla="*/ 23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50">
                    <a:moveTo>
                      <a:pt x="31" y="23"/>
                    </a:moveTo>
                    <a:cubicBezTo>
                      <a:pt x="33" y="36"/>
                      <a:pt x="28" y="48"/>
                      <a:pt x="20" y="49"/>
                    </a:cubicBezTo>
                    <a:cubicBezTo>
                      <a:pt x="12" y="50"/>
                      <a:pt x="4" y="41"/>
                      <a:pt x="2" y="28"/>
                    </a:cubicBezTo>
                    <a:cubicBezTo>
                      <a:pt x="0" y="15"/>
                      <a:pt x="4" y="3"/>
                      <a:pt x="12" y="1"/>
                    </a:cubicBezTo>
                    <a:cubicBezTo>
                      <a:pt x="20" y="0"/>
                      <a:pt x="29" y="10"/>
                      <a:pt x="31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638" cap="flat">
                <a:solidFill>
                  <a:srgbClr val="F230DB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A889D9AB-C8B8-4A09-9AC5-F94581691F64}"/>
                  </a:ext>
                </a:extLst>
              </p:cNvPr>
              <p:cNvSpPr/>
              <p:nvPr/>
            </p:nvSpPr>
            <p:spPr bwMode="auto">
              <a:xfrm>
                <a:off x="3527595" y="3455443"/>
                <a:ext cx="1820977" cy="1283321"/>
              </a:xfrm>
              <a:custGeom>
                <a:avLst/>
                <a:gdLst>
                  <a:gd name="T0" fmla="*/ 287 w 314"/>
                  <a:gd name="T1" fmla="*/ 221 h 221"/>
                  <a:gd name="T2" fmla="*/ 74 w 314"/>
                  <a:gd name="T3" fmla="*/ 221 h 221"/>
                  <a:gd name="T4" fmla="*/ 53 w 314"/>
                  <a:gd name="T5" fmla="*/ 206 h 221"/>
                  <a:gd name="T6" fmla="*/ 2 w 314"/>
                  <a:gd name="T7" fmla="*/ 25 h 221"/>
                  <a:gd name="T8" fmla="*/ 25 w 314"/>
                  <a:gd name="T9" fmla="*/ 0 h 221"/>
                  <a:gd name="T10" fmla="*/ 241 w 314"/>
                  <a:gd name="T11" fmla="*/ 0 h 221"/>
                  <a:gd name="T12" fmla="*/ 263 w 314"/>
                  <a:gd name="T13" fmla="*/ 19 h 221"/>
                  <a:gd name="T14" fmla="*/ 309 w 314"/>
                  <a:gd name="T15" fmla="*/ 190 h 221"/>
                  <a:gd name="T16" fmla="*/ 287 w 314"/>
                  <a:gd name="T17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4" h="221">
                    <a:moveTo>
                      <a:pt x="287" y="221"/>
                    </a:moveTo>
                    <a:cubicBezTo>
                      <a:pt x="74" y="221"/>
                      <a:pt x="74" y="221"/>
                      <a:pt x="74" y="221"/>
                    </a:cubicBezTo>
                    <a:cubicBezTo>
                      <a:pt x="65" y="221"/>
                      <a:pt x="56" y="215"/>
                      <a:pt x="53" y="206"/>
                    </a:cubicBezTo>
                    <a:cubicBezTo>
                      <a:pt x="28" y="144"/>
                      <a:pt x="9" y="83"/>
                      <a:pt x="2" y="25"/>
                    </a:cubicBezTo>
                    <a:cubicBezTo>
                      <a:pt x="0" y="12"/>
                      <a:pt x="11" y="0"/>
                      <a:pt x="25" y="0"/>
                    </a:cubicBezTo>
                    <a:cubicBezTo>
                      <a:pt x="241" y="0"/>
                      <a:pt x="241" y="0"/>
                      <a:pt x="241" y="0"/>
                    </a:cubicBezTo>
                    <a:cubicBezTo>
                      <a:pt x="252" y="0"/>
                      <a:pt x="262" y="8"/>
                      <a:pt x="263" y="19"/>
                    </a:cubicBezTo>
                    <a:cubicBezTo>
                      <a:pt x="271" y="73"/>
                      <a:pt x="287" y="130"/>
                      <a:pt x="309" y="190"/>
                    </a:cubicBezTo>
                    <a:cubicBezTo>
                      <a:pt x="314" y="205"/>
                      <a:pt x="303" y="221"/>
                      <a:pt x="287" y="221"/>
                    </a:cubicBezTo>
                    <a:close/>
                  </a:path>
                </a:pathLst>
              </a:custGeom>
              <a:solidFill>
                <a:srgbClr val="90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2F3CB88-F785-4F74-9718-3A409BB20858}"/>
                  </a:ext>
                </a:extLst>
              </p:cNvPr>
              <p:cNvSpPr/>
              <p:nvPr/>
            </p:nvSpPr>
            <p:spPr bwMode="auto">
              <a:xfrm>
                <a:off x="3527595" y="3455443"/>
                <a:ext cx="1768093" cy="1283321"/>
              </a:xfrm>
              <a:custGeom>
                <a:avLst/>
                <a:gdLst>
                  <a:gd name="T0" fmla="*/ 279 w 305"/>
                  <a:gd name="T1" fmla="*/ 221 h 221"/>
                  <a:gd name="T2" fmla="*/ 74 w 305"/>
                  <a:gd name="T3" fmla="*/ 221 h 221"/>
                  <a:gd name="T4" fmla="*/ 53 w 305"/>
                  <a:gd name="T5" fmla="*/ 206 h 221"/>
                  <a:gd name="T6" fmla="*/ 2 w 305"/>
                  <a:gd name="T7" fmla="*/ 25 h 221"/>
                  <a:gd name="T8" fmla="*/ 25 w 305"/>
                  <a:gd name="T9" fmla="*/ 0 h 221"/>
                  <a:gd name="T10" fmla="*/ 232 w 305"/>
                  <a:gd name="T11" fmla="*/ 0 h 221"/>
                  <a:gd name="T12" fmla="*/ 255 w 305"/>
                  <a:gd name="T13" fmla="*/ 19 h 221"/>
                  <a:gd name="T14" fmla="*/ 300 w 305"/>
                  <a:gd name="T15" fmla="*/ 190 h 221"/>
                  <a:gd name="T16" fmla="*/ 279 w 305"/>
                  <a:gd name="T17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5" h="221">
                    <a:moveTo>
                      <a:pt x="279" y="221"/>
                    </a:moveTo>
                    <a:cubicBezTo>
                      <a:pt x="74" y="221"/>
                      <a:pt x="74" y="221"/>
                      <a:pt x="74" y="221"/>
                    </a:cubicBezTo>
                    <a:cubicBezTo>
                      <a:pt x="65" y="221"/>
                      <a:pt x="56" y="215"/>
                      <a:pt x="53" y="206"/>
                    </a:cubicBezTo>
                    <a:cubicBezTo>
                      <a:pt x="28" y="144"/>
                      <a:pt x="9" y="83"/>
                      <a:pt x="2" y="25"/>
                    </a:cubicBezTo>
                    <a:cubicBezTo>
                      <a:pt x="0" y="12"/>
                      <a:pt x="11" y="0"/>
                      <a:pt x="25" y="0"/>
                    </a:cubicBezTo>
                    <a:cubicBezTo>
                      <a:pt x="232" y="0"/>
                      <a:pt x="232" y="0"/>
                      <a:pt x="232" y="0"/>
                    </a:cubicBezTo>
                    <a:cubicBezTo>
                      <a:pt x="243" y="0"/>
                      <a:pt x="253" y="8"/>
                      <a:pt x="255" y="19"/>
                    </a:cubicBezTo>
                    <a:cubicBezTo>
                      <a:pt x="263" y="73"/>
                      <a:pt x="279" y="130"/>
                      <a:pt x="300" y="190"/>
                    </a:cubicBezTo>
                    <a:cubicBezTo>
                      <a:pt x="305" y="205"/>
                      <a:pt x="294" y="221"/>
                      <a:pt x="279" y="221"/>
                    </a:cubicBezTo>
                    <a:close/>
                  </a:path>
                </a:pathLst>
              </a:custGeom>
              <a:solidFill>
                <a:srgbClr val="ABDA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8E4D7F49-703E-4622-88AB-C0F75831EABA}"/>
                  </a:ext>
                </a:extLst>
              </p:cNvPr>
              <p:cNvSpPr/>
              <p:nvPr/>
            </p:nvSpPr>
            <p:spPr bwMode="auto">
              <a:xfrm>
                <a:off x="4310280" y="4523702"/>
                <a:ext cx="772108" cy="609930"/>
              </a:xfrm>
              <a:custGeom>
                <a:avLst/>
                <a:gdLst>
                  <a:gd name="T0" fmla="*/ 133 w 133"/>
                  <a:gd name="T1" fmla="*/ 105 h 105"/>
                  <a:gd name="T2" fmla="*/ 51 w 133"/>
                  <a:gd name="T3" fmla="*/ 105 h 105"/>
                  <a:gd name="T4" fmla="*/ 25 w 133"/>
                  <a:gd name="T5" fmla="*/ 86 h 105"/>
                  <a:gd name="T6" fmla="*/ 0 w 133"/>
                  <a:gd name="T7" fmla="*/ 1 h 105"/>
                  <a:gd name="T8" fmla="*/ 40 w 133"/>
                  <a:gd name="T9" fmla="*/ 0 h 105"/>
                  <a:gd name="T10" fmla="*/ 53 w 133"/>
                  <a:gd name="T11" fmla="*/ 1 h 105"/>
                  <a:gd name="T12" fmla="*/ 73 w 133"/>
                  <a:gd name="T13" fmla="*/ 67 h 105"/>
                  <a:gd name="T14" fmla="*/ 90 w 133"/>
                  <a:gd name="T15" fmla="*/ 81 h 105"/>
                  <a:gd name="T16" fmla="*/ 121 w 133"/>
                  <a:gd name="T17" fmla="*/ 86 h 105"/>
                  <a:gd name="T18" fmla="*/ 131 w 133"/>
                  <a:gd name="T19" fmla="*/ 96 h 105"/>
                  <a:gd name="T20" fmla="*/ 133 w 133"/>
                  <a:gd name="T21" fmla="*/ 10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105">
                    <a:moveTo>
                      <a:pt x="133" y="105"/>
                    </a:moveTo>
                    <a:cubicBezTo>
                      <a:pt x="51" y="105"/>
                      <a:pt x="51" y="105"/>
                      <a:pt x="51" y="105"/>
                    </a:cubicBezTo>
                    <a:cubicBezTo>
                      <a:pt x="39" y="105"/>
                      <a:pt x="29" y="97"/>
                      <a:pt x="25" y="86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4" y="1"/>
                      <a:pt x="27" y="0"/>
                      <a:pt x="40" y="0"/>
                    </a:cubicBezTo>
                    <a:cubicBezTo>
                      <a:pt x="45" y="0"/>
                      <a:pt x="49" y="0"/>
                      <a:pt x="53" y="1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76" y="75"/>
                      <a:pt x="82" y="80"/>
                      <a:pt x="90" y="81"/>
                    </a:cubicBezTo>
                    <a:cubicBezTo>
                      <a:pt x="121" y="86"/>
                      <a:pt x="121" y="86"/>
                      <a:pt x="121" y="86"/>
                    </a:cubicBezTo>
                    <a:cubicBezTo>
                      <a:pt x="126" y="87"/>
                      <a:pt x="130" y="91"/>
                      <a:pt x="131" y="96"/>
                    </a:cubicBezTo>
                    <a:lnTo>
                      <a:pt x="133" y="105"/>
                    </a:lnTo>
                    <a:close/>
                  </a:path>
                </a:pathLst>
              </a:custGeom>
              <a:solidFill>
                <a:srgbClr val="90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98DDE88A-FDE9-42B0-8915-8A9A3826CC26}"/>
                  </a:ext>
                </a:extLst>
              </p:cNvPr>
              <p:cNvSpPr/>
              <p:nvPr/>
            </p:nvSpPr>
            <p:spPr bwMode="auto">
              <a:xfrm>
                <a:off x="4542970" y="4523702"/>
                <a:ext cx="289100" cy="470669"/>
              </a:xfrm>
              <a:custGeom>
                <a:avLst/>
                <a:gdLst>
                  <a:gd name="T0" fmla="*/ 50 w 50"/>
                  <a:gd name="T1" fmla="*/ 81 h 81"/>
                  <a:gd name="T2" fmla="*/ 43 w 50"/>
                  <a:gd name="T3" fmla="*/ 81 h 81"/>
                  <a:gd name="T4" fmla="*/ 21 w 50"/>
                  <a:gd name="T5" fmla="*/ 65 h 81"/>
                  <a:gd name="T6" fmla="*/ 0 w 50"/>
                  <a:gd name="T7" fmla="*/ 0 h 81"/>
                  <a:gd name="T8" fmla="*/ 13 w 50"/>
                  <a:gd name="T9" fmla="*/ 1 h 81"/>
                  <a:gd name="T10" fmla="*/ 33 w 50"/>
                  <a:gd name="T11" fmla="*/ 67 h 81"/>
                  <a:gd name="T12" fmla="*/ 50 w 50"/>
                  <a:gd name="T13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" h="81">
                    <a:moveTo>
                      <a:pt x="50" y="81"/>
                    </a:moveTo>
                    <a:cubicBezTo>
                      <a:pt x="43" y="81"/>
                      <a:pt x="43" y="81"/>
                      <a:pt x="43" y="81"/>
                    </a:cubicBezTo>
                    <a:cubicBezTo>
                      <a:pt x="33" y="80"/>
                      <a:pt x="25" y="74"/>
                      <a:pt x="21" y="6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9" y="0"/>
                      <a:pt x="13" y="1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6" y="75"/>
                      <a:pt x="42" y="80"/>
                      <a:pt x="50" y="81"/>
                    </a:cubicBezTo>
                    <a:close/>
                  </a:path>
                </a:pathLst>
              </a:custGeom>
              <a:solidFill>
                <a:srgbClr val="90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0AF7A108-A1BC-46D2-B9F7-B9E092C3CC30}"/>
                  </a:ext>
                </a:extLst>
              </p:cNvPr>
              <p:cNvSpPr/>
              <p:nvPr/>
            </p:nvSpPr>
            <p:spPr bwMode="auto">
              <a:xfrm>
                <a:off x="4299703" y="3954316"/>
                <a:ext cx="195672" cy="290863"/>
              </a:xfrm>
              <a:custGeom>
                <a:avLst/>
                <a:gdLst>
                  <a:gd name="T0" fmla="*/ 31 w 34"/>
                  <a:gd name="T1" fmla="*/ 22 h 50"/>
                  <a:gd name="T2" fmla="*/ 22 w 34"/>
                  <a:gd name="T3" fmla="*/ 48 h 50"/>
                  <a:gd name="T4" fmla="*/ 3 w 34"/>
                  <a:gd name="T5" fmla="*/ 28 h 50"/>
                  <a:gd name="T6" fmla="*/ 11 w 34"/>
                  <a:gd name="T7" fmla="*/ 2 h 50"/>
                  <a:gd name="T8" fmla="*/ 31 w 34"/>
                  <a:gd name="T9" fmla="*/ 2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50">
                    <a:moveTo>
                      <a:pt x="31" y="22"/>
                    </a:moveTo>
                    <a:cubicBezTo>
                      <a:pt x="34" y="34"/>
                      <a:pt x="30" y="46"/>
                      <a:pt x="22" y="48"/>
                    </a:cubicBezTo>
                    <a:cubicBezTo>
                      <a:pt x="15" y="50"/>
                      <a:pt x="6" y="41"/>
                      <a:pt x="3" y="28"/>
                    </a:cubicBezTo>
                    <a:cubicBezTo>
                      <a:pt x="0" y="16"/>
                      <a:pt x="4" y="4"/>
                      <a:pt x="11" y="2"/>
                    </a:cubicBezTo>
                    <a:cubicBezTo>
                      <a:pt x="19" y="0"/>
                      <a:pt x="28" y="9"/>
                      <a:pt x="31" y="2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31D3E2B6-EDE8-4714-8023-A3B092C9278B}"/>
                </a:ext>
              </a:extLst>
            </p:cNvPr>
            <p:cNvGrpSpPr/>
            <p:nvPr/>
          </p:nvGrpSpPr>
          <p:grpSpPr>
            <a:xfrm>
              <a:off x="5159639" y="3857079"/>
              <a:ext cx="2824144" cy="1343648"/>
              <a:chOff x="5159639" y="3915135"/>
              <a:chExt cx="2824144" cy="1343648"/>
            </a:xfrm>
          </p:grpSpPr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E7A4E16D-FD02-440B-9FAF-176A6B85985F}"/>
                  </a:ext>
                </a:extLst>
              </p:cNvPr>
              <p:cNvSpPr/>
              <p:nvPr/>
            </p:nvSpPr>
            <p:spPr>
              <a:xfrm>
                <a:off x="5159639" y="3915135"/>
                <a:ext cx="2824144" cy="1343648"/>
              </a:xfrm>
              <a:prstGeom prst="roundRect">
                <a:avLst>
                  <a:gd name="adj" fmla="val 13637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DF5A92E5-D27D-4A52-8AEE-E8DB32FFE9C7}"/>
                  </a:ext>
                </a:extLst>
              </p:cNvPr>
              <p:cNvGrpSpPr/>
              <p:nvPr/>
            </p:nvGrpSpPr>
            <p:grpSpPr>
              <a:xfrm>
                <a:off x="5444877" y="4161548"/>
                <a:ext cx="2253668" cy="1063380"/>
                <a:chOff x="5366126" y="4174067"/>
                <a:chExt cx="2253668" cy="1063380"/>
              </a:xfrm>
            </p:grpSpPr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DEB60E43-555F-43A1-B8A5-F65ECBF49E4F}"/>
                    </a:ext>
                  </a:extLst>
                </p:cNvPr>
                <p:cNvGrpSpPr/>
                <p:nvPr/>
              </p:nvGrpSpPr>
              <p:grpSpPr>
                <a:xfrm>
                  <a:off x="5630123" y="4174067"/>
                  <a:ext cx="1989671" cy="1063380"/>
                  <a:chOff x="5553923" y="4174067"/>
                  <a:chExt cx="1989671" cy="1063380"/>
                </a:xfrm>
              </p:grpSpPr>
              <p:sp>
                <p:nvSpPr>
                  <p:cNvPr id="167" name="Rectangle 166">
                    <a:extLst>
                      <a:ext uri="{FF2B5EF4-FFF2-40B4-BE49-F238E27FC236}">
                        <a16:creationId xmlns:a16="http://schemas.microsoft.com/office/drawing/2014/main" id="{A0BF471D-7ADD-46E4-9231-80D992A52DD1}"/>
                      </a:ext>
                    </a:extLst>
                  </p:cNvPr>
                  <p:cNvSpPr/>
                  <p:nvPr/>
                </p:nvSpPr>
                <p:spPr>
                  <a:xfrm flipH="1">
                    <a:off x="5553923" y="4499424"/>
                    <a:ext cx="1989670" cy="738023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 lIns="91440" tIns="45720" rIns="91440" bIns="45720" anchor="t">
                    <a:spAutoFit/>
                  </a:bodyPr>
                  <a:lstStyle/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rPr>
                      <a:t>我们的公司通过持续的技术创新，推动行业的发展和进步。</a:t>
                    </a:r>
                  </a:p>
                </p:txBody>
              </p:sp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D4C1477F-ECA3-4B2B-8D3B-39DF9A2CF29F}"/>
                      </a:ext>
                    </a:extLst>
                  </p:cNvPr>
                  <p:cNvSpPr txBox="1"/>
                  <p:nvPr/>
                </p:nvSpPr>
                <p:spPr>
                  <a:xfrm>
                    <a:off x="5553924" y="4174067"/>
                    <a:ext cx="198967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91440" tIns="45720" rIns="91440" bIns="4572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  <a:buSzPct val="25000"/>
                    </a:pPr>
                    <a:r>
                      <a:rPr lang="zh-CN" altLang="en-US" sz="1600" b="1" dirty="0"/>
                      <a:t>技术创新</a:t>
                    </a:r>
                  </a:p>
                </p:txBody>
              </p:sp>
            </p:grp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950F8F71-C58B-4C97-B65F-742F75AAB975}"/>
                    </a:ext>
                  </a:extLst>
                </p:cNvPr>
                <p:cNvSpPr/>
                <p:nvPr/>
              </p:nvSpPr>
              <p:spPr>
                <a:xfrm>
                  <a:off x="5366126" y="4257386"/>
                  <a:ext cx="229552" cy="229550"/>
                </a:xfrm>
                <a:prstGeom prst="round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4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48D7A157-4B53-4582-9AC6-03311527CE84}"/>
                </a:ext>
              </a:extLst>
            </p:cNvPr>
            <p:cNvGrpSpPr/>
            <p:nvPr/>
          </p:nvGrpSpPr>
          <p:grpSpPr>
            <a:xfrm>
              <a:off x="8122120" y="3857079"/>
              <a:ext cx="2824144" cy="1343648"/>
              <a:chOff x="8122120" y="3915135"/>
              <a:chExt cx="2824144" cy="1343648"/>
            </a:xfrm>
          </p:grpSpPr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B9FCEBA0-9C23-4709-9F82-02FF3E0E9823}"/>
                  </a:ext>
                </a:extLst>
              </p:cNvPr>
              <p:cNvSpPr/>
              <p:nvPr/>
            </p:nvSpPr>
            <p:spPr>
              <a:xfrm>
                <a:off x="8122120" y="3915135"/>
                <a:ext cx="2824144" cy="1343648"/>
              </a:xfrm>
              <a:prstGeom prst="roundRect">
                <a:avLst>
                  <a:gd name="adj" fmla="val 13637"/>
                </a:avLst>
              </a:prstGeom>
              <a:solidFill>
                <a:schemeClr val="accent6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D948946F-8453-47A8-B672-15C05CF0B2F3}"/>
                  </a:ext>
                </a:extLst>
              </p:cNvPr>
              <p:cNvGrpSpPr/>
              <p:nvPr/>
            </p:nvGrpSpPr>
            <p:grpSpPr>
              <a:xfrm>
                <a:off x="8407358" y="4161548"/>
                <a:ext cx="2253668" cy="1063380"/>
                <a:chOff x="8328607" y="4174067"/>
                <a:chExt cx="2253668" cy="1063380"/>
              </a:xfrm>
            </p:grpSpPr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E012E561-2107-41D4-BEE1-0B857F6FAFBE}"/>
                    </a:ext>
                  </a:extLst>
                </p:cNvPr>
                <p:cNvGrpSpPr/>
                <p:nvPr/>
              </p:nvGrpSpPr>
              <p:grpSpPr>
                <a:xfrm>
                  <a:off x="8592604" y="4174067"/>
                  <a:ext cx="1989671" cy="1063380"/>
                  <a:chOff x="8516404" y="4174067"/>
                  <a:chExt cx="1989671" cy="1063380"/>
                </a:xfrm>
              </p:grpSpPr>
              <p:sp>
                <p:nvSpPr>
                  <p:cNvPr id="173" name="Rectangle 172">
                    <a:extLst>
                      <a:ext uri="{FF2B5EF4-FFF2-40B4-BE49-F238E27FC236}">
                        <a16:creationId xmlns:a16="http://schemas.microsoft.com/office/drawing/2014/main" id="{8B5BD15E-F3EA-45AC-8413-5CFA5ADB6F66}"/>
                      </a:ext>
                    </a:extLst>
                  </p:cNvPr>
                  <p:cNvSpPr/>
                  <p:nvPr/>
                </p:nvSpPr>
                <p:spPr>
                  <a:xfrm flipH="1">
                    <a:off x="8516404" y="4499424"/>
                    <a:ext cx="1989670" cy="738023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 lIns="91440" tIns="45720" rIns="91440" bIns="45720" anchor="t">
                    <a:spAutoFit/>
                  </a:bodyPr>
                  <a:lstStyle/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rPr>
                      <a:t>公司拥有大部分市场份额，对行业的竞争格局和发展趋势产生重要影响</a:t>
                    </a:r>
                  </a:p>
                </p:txBody>
              </p:sp>
              <p:sp>
                <p:nvSpPr>
                  <p:cNvPr id="174" name="TextBox 173">
                    <a:extLst>
                      <a:ext uri="{FF2B5EF4-FFF2-40B4-BE49-F238E27FC236}">
                        <a16:creationId xmlns:a16="http://schemas.microsoft.com/office/drawing/2014/main" id="{CF1F9794-5FAF-4FA0-A1C4-690945805C36}"/>
                      </a:ext>
                    </a:extLst>
                  </p:cNvPr>
                  <p:cNvSpPr txBox="1"/>
                  <p:nvPr/>
                </p:nvSpPr>
                <p:spPr>
                  <a:xfrm>
                    <a:off x="8516405" y="4174067"/>
                    <a:ext cx="198967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91440" tIns="45720" rIns="91440" bIns="4572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  <a:buSzPct val="25000"/>
                    </a:pPr>
                    <a:r>
                      <a:rPr lang="zh-CN" altLang="en-US" sz="1600" b="1" dirty="0"/>
                      <a:t>市场份额</a:t>
                    </a:r>
                  </a:p>
                </p:txBody>
              </p:sp>
            </p:grpSp>
            <p:sp>
              <p:nvSpPr>
                <p:cNvPr id="175" name="Rectangle: Rounded Corners 174">
                  <a:extLst>
                    <a:ext uri="{FF2B5EF4-FFF2-40B4-BE49-F238E27FC236}">
                      <a16:creationId xmlns:a16="http://schemas.microsoft.com/office/drawing/2014/main" id="{8ADC2A4D-A1C6-4FE7-8CE7-1A21B5CABF28}"/>
                    </a:ext>
                  </a:extLst>
                </p:cNvPr>
                <p:cNvSpPr/>
                <p:nvPr/>
              </p:nvSpPr>
              <p:spPr>
                <a:xfrm>
                  <a:off x="8328607" y="4257386"/>
                  <a:ext cx="229552" cy="229550"/>
                </a:xfrm>
                <a:prstGeom prst="roundRect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4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47224E10-B832-4623-AD1C-A573E97220F8}"/>
                </a:ext>
              </a:extLst>
            </p:cNvPr>
            <p:cNvGrpSpPr/>
            <p:nvPr/>
          </p:nvGrpSpPr>
          <p:grpSpPr>
            <a:xfrm>
              <a:off x="5159639" y="1669508"/>
              <a:ext cx="5267165" cy="962307"/>
              <a:chOff x="4424751" y="1891732"/>
              <a:chExt cx="4323855" cy="962307"/>
            </a:xfrm>
          </p:grpSpPr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24BB554E-E6B7-47F6-8823-95528A5FF086}"/>
                  </a:ext>
                </a:extLst>
              </p:cNvPr>
              <p:cNvSpPr txBox="1"/>
              <p:nvPr/>
            </p:nvSpPr>
            <p:spPr>
              <a:xfrm>
                <a:off x="4424751" y="1891732"/>
                <a:ext cx="2647381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行业领导者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503A9BDD-C183-4F87-9F16-8D8884CB66D8}"/>
                  </a:ext>
                </a:extLst>
              </p:cNvPr>
              <p:cNvSpPr/>
              <p:nvPr/>
            </p:nvSpPr>
            <p:spPr>
              <a:xfrm flipH="1">
                <a:off x="4424751" y="2559215"/>
                <a:ext cx="4323855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公司在IT互联网行业中具有显著的地位和影响力，成为行业的领导者之一。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98" name="Title 19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行业地位分析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3588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772156" y="1295203"/>
            <a:ext cx="10606067" cy="4641450"/>
            <a:chOff x="772156" y="1295203"/>
            <a:chExt cx="10606067" cy="464145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42BD9D2-D073-403D-8F3E-D54E46F53F94}"/>
                </a:ext>
              </a:extLst>
            </p:cNvPr>
            <p:cNvSpPr/>
            <p:nvPr/>
          </p:nvSpPr>
          <p:spPr>
            <a:xfrm>
              <a:off x="6306038" y="3908530"/>
              <a:ext cx="5072185" cy="2028123"/>
            </a:xfrm>
            <a:prstGeom prst="roundRect">
              <a:avLst>
                <a:gd name="adj" fmla="val 4500"/>
              </a:avLst>
            </a:prstGeom>
            <a:blipFill rotWithShape="0">
              <a:blip r:embed="rId3"/>
              <a:srcRect/>
              <a:stretch>
                <a:fillRect t="-33600" b="-3360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B595A91-C9AB-4D15-85AA-60FB9541231B}"/>
                </a:ext>
              </a:extLst>
            </p:cNvPr>
            <p:cNvSpPr/>
            <p:nvPr/>
          </p:nvSpPr>
          <p:spPr>
            <a:xfrm>
              <a:off x="772746" y="3908530"/>
              <a:ext cx="5072185" cy="2028123"/>
            </a:xfrm>
            <a:prstGeom prst="roundRect">
              <a:avLst>
                <a:gd name="adj" fmla="val 4500"/>
              </a:avLst>
            </a:prstGeom>
            <a:blipFill rotWithShape="0">
              <a:blip r:embed="rId4"/>
              <a:srcRect/>
              <a:stretch>
                <a:fillRect t="-9760" b="-9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FCB51F8-DF27-4FAA-BE7E-B6D79384C538}"/>
                </a:ext>
              </a:extLst>
            </p:cNvPr>
            <p:cNvSpPr txBox="1"/>
            <p:nvPr/>
          </p:nvSpPr>
          <p:spPr>
            <a:xfrm>
              <a:off x="772746" y="1295203"/>
              <a:ext cx="68866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技术影响力探讨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DC1F32-B702-4661-9095-9BAB554D416E}"/>
                </a:ext>
              </a:extLst>
            </p:cNvPr>
            <p:cNvSpPr txBox="1"/>
            <p:nvPr/>
          </p:nvSpPr>
          <p:spPr>
            <a:xfrm>
              <a:off x="772746" y="1932974"/>
              <a:ext cx="6886609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阐述公司技术如何影响和塑造行业发展，以及对行业未来的影响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B7ED77-E6F1-4DAB-97A5-9B739C25288C}"/>
                </a:ext>
              </a:extLst>
            </p:cNvPr>
            <p:cNvSpPr txBox="1"/>
            <p:nvPr/>
          </p:nvSpPr>
          <p:spPr>
            <a:xfrm>
              <a:off x="1336298" y="2781588"/>
              <a:ext cx="3419727" cy="400110"/>
            </a:xfrm>
            <a:prstGeom prst="rect">
              <a:avLst/>
            </a:prstGeom>
            <a:noFill/>
          </p:spPr>
          <p:txBody>
            <a:bodyPr wrap="none" anchor="b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 kumimoji="0" sz="20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 dirty="0"/>
                <a:t>公司地位分析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757C0B-4ECE-4D20-A42B-6810671DC830}"/>
                </a:ext>
              </a:extLst>
            </p:cNvPr>
            <p:cNvSpPr txBox="1"/>
            <p:nvPr/>
          </p:nvSpPr>
          <p:spPr>
            <a:xfrm>
              <a:off x="1336301" y="3181698"/>
              <a:ext cx="3419728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通过优质服务和创新产品，成为行业领导者。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38DB1A-3123-40F1-BC22-BA1D5772BED8}"/>
                </a:ext>
              </a:extLst>
            </p:cNvPr>
            <p:cNvSpPr txBox="1"/>
            <p:nvPr/>
          </p:nvSpPr>
          <p:spPr>
            <a:xfrm>
              <a:off x="6870178" y="2781588"/>
              <a:ext cx="3419727" cy="400110"/>
            </a:xfrm>
            <a:prstGeom prst="rect">
              <a:avLst/>
            </a:prstGeom>
            <a:noFill/>
          </p:spPr>
          <p:txBody>
            <a:bodyPr wrap="none" anchor="b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 kumimoji="0" sz="20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 dirty="0"/>
                <a:t>技术对行业影响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2B249C-FA95-4BCC-941A-B56B1047F376}"/>
                </a:ext>
              </a:extLst>
            </p:cNvPr>
            <p:cNvSpPr txBox="1"/>
            <p:nvPr/>
          </p:nvSpPr>
          <p:spPr>
            <a:xfrm>
              <a:off x="6870181" y="3181698"/>
              <a:ext cx="3419728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塑造行业的技术发展方向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764083A-A286-481C-A55A-FB3BF55AF840}"/>
                </a:ext>
              </a:extLst>
            </p:cNvPr>
            <p:cNvGrpSpPr/>
            <p:nvPr/>
          </p:nvGrpSpPr>
          <p:grpSpPr>
            <a:xfrm>
              <a:off x="772156" y="2781588"/>
              <a:ext cx="444222" cy="444220"/>
              <a:chOff x="3866383" y="2794007"/>
              <a:chExt cx="444222" cy="444220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F1FEA04-0187-4774-8093-C96AAE882AB9}"/>
                  </a:ext>
                </a:extLst>
              </p:cNvPr>
              <p:cNvSpPr/>
              <p:nvPr/>
            </p:nvSpPr>
            <p:spPr>
              <a:xfrm>
                <a:off x="3866383" y="2794007"/>
                <a:ext cx="444222" cy="444220"/>
              </a:xfrm>
              <a:prstGeom prst="roundRect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95B552F-EAE2-4A84-9717-019D20C17214}"/>
                  </a:ext>
                </a:extLst>
              </p:cNvPr>
              <p:cNvSpPr/>
              <p:nvPr/>
            </p:nvSpPr>
            <p:spPr bwMode="auto">
              <a:xfrm>
                <a:off x="3985714" y="2939032"/>
                <a:ext cx="205561" cy="15417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364DAC-B3D2-48C6-AEFA-9F5D5D6C5D8C}"/>
                </a:ext>
              </a:extLst>
            </p:cNvPr>
            <p:cNvGrpSpPr/>
            <p:nvPr/>
          </p:nvGrpSpPr>
          <p:grpSpPr>
            <a:xfrm>
              <a:off x="6306037" y="2796978"/>
              <a:ext cx="444222" cy="444220"/>
              <a:chOff x="7078395" y="2794007"/>
              <a:chExt cx="444222" cy="444220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E6A33D8-EE98-4316-B457-A00FF969316F}"/>
                  </a:ext>
                </a:extLst>
              </p:cNvPr>
              <p:cNvSpPr/>
              <p:nvPr/>
            </p:nvSpPr>
            <p:spPr>
              <a:xfrm>
                <a:off x="7078395" y="2794007"/>
                <a:ext cx="444222" cy="444220"/>
              </a:xfrm>
              <a:prstGeom prst="roundRect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9458B2-BC38-4C56-A2B0-03DE716BDF40}"/>
                  </a:ext>
                </a:extLst>
              </p:cNvPr>
              <p:cNvSpPr/>
              <p:nvPr/>
            </p:nvSpPr>
            <p:spPr bwMode="auto">
              <a:xfrm>
                <a:off x="7206741" y="2913337"/>
                <a:ext cx="187529" cy="20556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</p:grpSp>
      </p:grp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探讨，技术的魅力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1210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5C22BEE-8E30-C4FE-E94C-D43BFC4DF754}"/>
              </a:ext>
            </a:extLst>
          </p:cNvPr>
          <p:cNvGrpSpPr/>
          <p:nvPr/>
        </p:nvGrpSpPr>
        <p:grpSpPr>
          <a:xfrm>
            <a:off x="660399" y="1191855"/>
            <a:ext cx="10858501" cy="4694108"/>
            <a:chOff x="660399" y="1191855"/>
            <a:chExt cx="10858501" cy="469410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9BA3772-C311-114B-DA3D-39E10655F880}"/>
                </a:ext>
              </a:extLst>
            </p:cNvPr>
            <p:cNvGrpSpPr/>
            <p:nvPr/>
          </p:nvGrpSpPr>
          <p:grpSpPr>
            <a:xfrm>
              <a:off x="660400" y="3126356"/>
              <a:ext cx="10858500" cy="2759607"/>
              <a:chOff x="660400" y="2783456"/>
              <a:chExt cx="10858500" cy="2759607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7E0FA75-431B-0CA8-34DF-B5878C219057}"/>
                  </a:ext>
                </a:extLst>
              </p:cNvPr>
              <p:cNvGrpSpPr/>
              <p:nvPr/>
            </p:nvGrpSpPr>
            <p:grpSpPr>
              <a:xfrm>
                <a:off x="660400" y="2783456"/>
                <a:ext cx="3279382" cy="2759607"/>
                <a:chOff x="660400" y="2783456"/>
                <a:chExt cx="3279382" cy="2759607"/>
              </a:xfrm>
            </p:grpSpPr>
            <p:sp>
              <p:nvSpPr>
                <p:cNvPr id="3" name="Freeform: Shape 2">
                  <a:extLst>
                    <a:ext uri="{FF2B5EF4-FFF2-40B4-BE49-F238E27FC236}">
                      <a16:creationId xmlns:a16="http://schemas.microsoft.com/office/drawing/2014/main" id="{2D85C642-10FD-E4C5-CD30-CBE2E5FD91E3}"/>
                    </a:ext>
                  </a:extLst>
                </p:cNvPr>
                <p:cNvSpPr/>
                <p:nvPr/>
              </p:nvSpPr>
              <p:spPr bwMode="auto">
                <a:xfrm>
                  <a:off x="660400" y="3237021"/>
                  <a:ext cx="3279382" cy="2306042"/>
                </a:xfrm>
                <a:custGeom>
                  <a:avLst/>
                  <a:gdLst>
                    <a:gd name="connsiteX0" fmla="*/ 0 w 3279382"/>
                    <a:gd name="connsiteY0" fmla="*/ 0 h 779926"/>
                    <a:gd name="connsiteX1" fmla="*/ 3035615 w 3279382"/>
                    <a:gd name="connsiteY1" fmla="*/ 0 h 779926"/>
                    <a:gd name="connsiteX2" fmla="*/ 3279382 w 3279382"/>
                    <a:gd name="connsiteY2" fmla="*/ 388463 h 779926"/>
                    <a:gd name="connsiteX3" fmla="*/ 3035615 w 3279382"/>
                    <a:gd name="connsiteY3" fmla="*/ 779926 h 779926"/>
                    <a:gd name="connsiteX4" fmla="*/ 0 w 3279382"/>
                    <a:gd name="connsiteY4" fmla="*/ 779926 h 779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382" h="779926">
                      <a:moveTo>
                        <a:pt x="0" y="0"/>
                      </a:moveTo>
                      <a:lnTo>
                        <a:pt x="3035615" y="0"/>
                      </a:lnTo>
                      <a:lnTo>
                        <a:pt x="3279382" y="388463"/>
                      </a:lnTo>
                      <a:lnTo>
                        <a:pt x="3035615" y="779926"/>
                      </a:lnTo>
                      <a:lnTo>
                        <a:pt x="0" y="779926"/>
                      </a:lnTo>
                      <a:close/>
                    </a:path>
                  </a:pathLst>
                </a:cu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45B80DE0-D01B-12B8-7E60-B92DD02A835A}"/>
                    </a:ext>
                  </a:extLst>
                </p:cNvPr>
                <p:cNvGrpSpPr/>
                <p:nvPr/>
              </p:nvGrpSpPr>
              <p:grpSpPr>
                <a:xfrm>
                  <a:off x="660400" y="2783456"/>
                  <a:ext cx="2560196" cy="2123009"/>
                  <a:chOff x="715963" y="3074859"/>
                  <a:chExt cx="2560196" cy="2123009"/>
                </a:xfrm>
              </p:grpSpPr>
              <p:sp>
                <p:nvSpPr>
                  <p:cNvPr id="5" name="Freeform: Shape 4">
                    <a:extLst>
                      <a:ext uri="{FF2B5EF4-FFF2-40B4-BE49-F238E27FC236}">
                        <a16:creationId xmlns:a16="http://schemas.microsoft.com/office/drawing/2014/main" id="{9A2A9692-5536-D6B9-C2DE-EF351886FF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17491" y="3074859"/>
                    <a:ext cx="1157141" cy="925975"/>
                  </a:xfrm>
                  <a:custGeom>
                    <a:avLst/>
                    <a:gdLst>
                      <a:gd name="T0" fmla="*/ 637 w 881"/>
                      <a:gd name="T1" fmla="*/ 0 h 705"/>
                      <a:gd name="T2" fmla="*/ 0 w 881"/>
                      <a:gd name="T3" fmla="*/ 0 h 705"/>
                      <a:gd name="T4" fmla="*/ 245 w 881"/>
                      <a:gd name="T5" fmla="*/ 352 h 705"/>
                      <a:gd name="T6" fmla="*/ 0 w 881"/>
                      <a:gd name="T7" fmla="*/ 705 h 705"/>
                      <a:gd name="T8" fmla="*/ 637 w 881"/>
                      <a:gd name="T9" fmla="*/ 705 h 705"/>
                      <a:gd name="T10" fmla="*/ 881 w 881"/>
                      <a:gd name="T11" fmla="*/ 352 h 705"/>
                      <a:gd name="T12" fmla="*/ 637 w 881"/>
                      <a:gd name="T13" fmla="*/ 0 h 7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81" h="705">
                        <a:moveTo>
                          <a:pt x="637" y="0"/>
                        </a:moveTo>
                        <a:lnTo>
                          <a:pt x="0" y="0"/>
                        </a:lnTo>
                        <a:lnTo>
                          <a:pt x="245" y="352"/>
                        </a:lnTo>
                        <a:lnTo>
                          <a:pt x="0" y="705"/>
                        </a:lnTo>
                        <a:lnTo>
                          <a:pt x="637" y="705"/>
                        </a:lnTo>
                        <a:lnTo>
                          <a:pt x="881" y="352"/>
                        </a:lnTo>
                        <a:lnTo>
                          <a:pt x="63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60D7D280-1086-7B3F-E5DC-B3D48E648303}"/>
                      </a:ext>
                    </a:extLst>
                  </p:cNvPr>
                  <p:cNvSpPr/>
                  <p:nvPr/>
                </p:nvSpPr>
                <p:spPr>
                  <a:xfrm>
                    <a:off x="996419" y="4249234"/>
                    <a:ext cx="1999285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领导者之路</a:t>
                    </a:r>
                  </a:p>
                </p:txBody>
              </p:sp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29188F35-A1DA-F025-73C3-EF993142A62F}"/>
                      </a:ext>
                    </a:extLst>
                  </p:cNvPr>
                  <p:cNvSpPr/>
                  <p:nvPr/>
                </p:nvSpPr>
                <p:spPr>
                  <a:xfrm>
                    <a:off x="715963" y="4681445"/>
                    <a:ext cx="2560196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公司的技术实力和创新理念引领行业技术革新</a:t>
                    </a:r>
                    <a:endParaRPr kumimoji="1" lang="en-US" altLang="zh-CN" sz="1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629DD992-1A27-DD5C-F391-0D0AC2165931}"/>
                      </a:ext>
                    </a:extLst>
                  </p:cNvPr>
                  <p:cNvSpPr/>
                  <p:nvPr/>
                </p:nvSpPr>
                <p:spPr>
                  <a:xfrm>
                    <a:off x="1732207" y="3307014"/>
                    <a:ext cx="527709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r>
                      <a:rPr kumimoji="1" lang="en-US" altLang="zh-CN" sz="2400" b="1" dirty="0">
                        <a:solidFill>
                          <a:schemeClr val="bg1"/>
                        </a:solidFill>
                      </a:rPr>
                      <a:t>01</a:t>
                    </a:r>
                  </a:p>
                </p:txBody>
              </p:sp>
            </p:grp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6A1926E-CCA5-6034-6108-7778F3966EFA}"/>
                  </a:ext>
                </a:extLst>
              </p:cNvPr>
              <p:cNvGrpSpPr/>
              <p:nvPr/>
            </p:nvGrpSpPr>
            <p:grpSpPr>
              <a:xfrm>
                <a:off x="4456309" y="2783456"/>
                <a:ext cx="3279382" cy="2759607"/>
                <a:chOff x="4456309" y="2783456"/>
                <a:chExt cx="3279382" cy="2759607"/>
              </a:xfrm>
            </p:grpSpPr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68780F1D-B5B1-5EBE-065B-AF95C954DE9B}"/>
                    </a:ext>
                  </a:extLst>
                </p:cNvPr>
                <p:cNvSpPr/>
                <p:nvPr/>
              </p:nvSpPr>
              <p:spPr bwMode="auto">
                <a:xfrm>
                  <a:off x="4456309" y="3237021"/>
                  <a:ext cx="3279382" cy="2306042"/>
                </a:xfrm>
                <a:custGeom>
                  <a:avLst/>
                  <a:gdLst>
                    <a:gd name="connsiteX0" fmla="*/ 0 w 3279382"/>
                    <a:gd name="connsiteY0" fmla="*/ 0 h 779926"/>
                    <a:gd name="connsiteX1" fmla="*/ 3035615 w 3279382"/>
                    <a:gd name="connsiteY1" fmla="*/ 0 h 779926"/>
                    <a:gd name="connsiteX2" fmla="*/ 3279382 w 3279382"/>
                    <a:gd name="connsiteY2" fmla="*/ 388463 h 779926"/>
                    <a:gd name="connsiteX3" fmla="*/ 3035615 w 3279382"/>
                    <a:gd name="connsiteY3" fmla="*/ 779926 h 779926"/>
                    <a:gd name="connsiteX4" fmla="*/ 0 w 3279382"/>
                    <a:gd name="connsiteY4" fmla="*/ 779926 h 779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382" h="779926">
                      <a:moveTo>
                        <a:pt x="0" y="0"/>
                      </a:moveTo>
                      <a:lnTo>
                        <a:pt x="3035615" y="0"/>
                      </a:lnTo>
                      <a:lnTo>
                        <a:pt x="3279382" y="388463"/>
                      </a:lnTo>
                      <a:lnTo>
                        <a:pt x="3035615" y="779926"/>
                      </a:lnTo>
                      <a:lnTo>
                        <a:pt x="0" y="779926"/>
                      </a:lnTo>
                      <a:close/>
                    </a:path>
                  </a:pathLst>
                </a:cu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8CB88BB3-BF62-908B-4AF3-DA8ED75A5011}"/>
                    </a:ext>
                  </a:extLst>
                </p:cNvPr>
                <p:cNvGrpSpPr/>
                <p:nvPr/>
              </p:nvGrpSpPr>
              <p:grpSpPr>
                <a:xfrm>
                  <a:off x="4456309" y="2783456"/>
                  <a:ext cx="2560196" cy="1901410"/>
                  <a:chOff x="715963" y="3074859"/>
                  <a:chExt cx="2560196" cy="1901410"/>
                </a:xfrm>
              </p:grpSpPr>
              <p:sp>
                <p:nvSpPr>
                  <p:cNvPr id="12" name="Freeform: Shape 11">
                    <a:extLst>
                      <a:ext uri="{FF2B5EF4-FFF2-40B4-BE49-F238E27FC236}">
                        <a16:creationId xmlns:a16="http://schemas.microsoft.com/office/drawing/2014/main" id="{D7C07564-4136-0898-ABC9-E6F3709A7C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17491" y="3074859"/>
                    <a:ext cx="1157141" cy="925975"/>
                  </a:xfrm>
                  <a:custGeom>
                    <a:avLst/>
                    <a:gdLst>
                      <a:gd name="T0" fmla="*/ 637 w 881"/>
                      <a:gd name="T1" fmla="*/ 0 h 705"/>
                      <a:gd name="T2" fmla="*/ 0 w 881"/>
                      <a:gd name="T3" fmla="*/ 0 h 705"/>
                      <a:gd name="T4" fmla="*/ 245 w 881"/>
                      <a:gd name="T5" fmla="*/ 352 h 705"/>
                      <a:gd name="T6" fmla="*/ 0 w 881"/>
                      <a:gd name="T7" fmla="*/ 705 h 705"/>
                      <a:gd name="T8" fmla="*/ 637 w 881"/>
                      <a:gd name="T9" fmla="*/ 705 h 705"/>
                      <a:gd name="T10" fmla="*/ 881 w 881"/>
                      <a:gd name="T11" fmla="*/ 352 h 705"/>
                      <a:gd name="T12" fmla="*/ 637 w 881"/>
                      <a:gd name="T13" fmla="*/ 0 h 7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81" h="705">
                        <a:moveTo>
                          <a:pt x="637" y="0"/>
                        </a:moveTo>
                        <a:lnTo>
                          <a:pt x="0" y="0"/>
                        </a:lnTo>
                        <a:lnTo>
                          <a:pt x="245" y="352"/>
                        </a:lnTo>
                        <a:lnTo>
                          <a:pt x="0" y="705"/>
                        </a:lnTo>
                        <a:lnTo>
                          <a:pt x="637" y="705"/>
                        </a:lnTo>
                        <a:lnTo>
                          <a:pt x="881" y="352"/>
                        </a:lnTo>
                        <a:lnTo>
                          <a:pt x="63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D43EFEB5-38A5-EBCB-5EC4-9E8848FD134C}"/>
                      </a:ext>
                    </a:extLst>
                  </p:cNvPr>
                  <p:cNvSpPr/>
                  <p:nvPr/>
                </p:nvSpPr>
                <p:spPr>
                  <a:xfrm>
                    <a:off x="996419" y="4249234"/>
                    <a:ext cx="1999285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技术影响力</a:t>
                    </a: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1845C64B-8BF1-54C3-3B48-0291F58C4D52}"/>
                      </a:ext>
                    </a:extLst>
                  </p:cNvPr>
                  <p:cNvSpPr/>
                  <p:nvPr/>
                </p:nvSpPr>
                <p:spPr>
                  <a:xfrm>
                    <a:off x="715963" y="4681445"/>
                    <a:ext cx="2560196" cy="2948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技术创新如何帮助客户和行业</a:t>
                    </a:r>
                    <a:endParaRPr kumimoji="1" lang="en-US" altLang="zh-CN" sz="1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98253CE-DA6B-6790-7609-66983BA7E35B}"/>
                      </a:ext>
                    </a:extLst>
                  </p:cNvPr>
                  <p:cNvSpPr/>
                  <p:nvPr/>
                </p:nvSpPr>
                <p:spPr>
                  <a:xfrm>
                    <a:off x="1732207" y="3307014"/>
                    <a:ext cx="527709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r>
                      <a:rPr kumimoji="1" lang="en-US" altLang="zh-CN" sz="2400" b="1" dirty="0">
                        <a:solidFill>
                          <a:schemeClr val="bg1"/>
                        </a:solidFill>
                      </a:rPr>
                      <a:t>02</a:t>
                    </a:r>
                  </a:p>
                </p:txBody>
              </p:sp>
            </p:grp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F7B718E-AB5D-D5F1-97A3-02CDEA0AAA8B}"/>
                  </a:ext>
                </a:extLst>
              </p:cNvPr>
              <p:cNvGrpSpPr/>
              <p:nvPr/>
            </p:nvGrpSpPr>
            <p:grpSpPr>
              <a:xfrm>
                <a:off x="8239518" y="2783456"/>
                <a:ext cx="3279382" cy="2759607"/>
                <a:chOff x="8239518" y="2783456"/>
                <a:chExt cx="3279382" cy="2759607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6186EC3C-2A37-B228-3E05-7B365D0479E1}"/>
                    </a:ext>
                  </a:extLst>
                </p:cNvPr>
                <p:cNvSpPr/>
                <p:nvPr/>
              </p:nvSpPr>
              <p:spPr bwMode="auto">
                <a:xfrm>
                  <a:off x="8239518" y="3237021"/>
                  <a:ext cx="3279382" cy="2306042"/>
                </a:xfrm>
                <a:custGeom>
                  <a:avLst/>
                  <a:gdLst>
                    <a:gd name="connsiteX0" fmla="*/ 0 w 3279382"/>
                    <a:gd name="connsiteY0" fmla="*/ 0 h 779926"/>
                    <a:gd name="connsiteX1" fmla="*/ 3035615 w 3279382"/>
                    <a:gd name="connsiteY1" fmla="*/ 0 h 779926"/>
                    <a:gd name="connsiteX2" fmla="*/ 3279382 w 3279382"/>
                    <a:gd name="connsiteY2" fmla="*/ 388463 h 779926"/>
                    <a:gd name="connsiteX3" fmla="*/ 3035615 w 3279382"/>
                    <a:gd name="connsiteY3" fmla="*/ 779926 h 779926"/>
                    <a:gd name="connsiteX4" fmla="*/ 0 w 3279382"/>
                    <a:gd name="connsiteY4" fmla="*/ 779926 h 779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382" h="779926">
                      <a:moveTo>
                        <a:pt x="0" y="0"/>
                      </a:moveTo>
                      <a:lnTo>
                        <a:pt x="3035615" y="0"/>
                      </a:lnTo>
                      <a:lnTo>
                        <a:pt x="3279382" y="388463"/>
                      </a:lnTo>
                      <a:lnTo>
                        <a:pt x="3035615" y="779926"/>
                      </a:lnTo>
                      <a:lnTo>
                        <a:pt x="0" y="779926"/>
                      </a:lnTo>
                      <a:close/>
                    </a:path>
                  </a:pathLst>
                </a:cu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2EB67EDC-574C-6909-57AB-8C4D61B227D7}"/>
                    </a:ext>
                  </a:extLst>
                </p:cNvPr>
                <p:cNvGrpSpPr/>
                <p:nvPr/>
              </p:nvGrpSpPr>
              <p:grpSpPr>
                <a:xfrm>
                  <a:off x="8239518" y="2783456"/>
                  <a:ext cx="2560196" cy="1901410"/>
                  <a:chOff x="715963" y="3074859"/>
                  <a:chExt cx="2560196" cy="1901410"/>
                </a:xfrm>
              </p:grpSpPr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F5430111-85F9-A7BA-7B03-F96013E6623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17491" y="3074859"/>
                    <a:ext cx="1157141" cy="925975"/>
                  </a:xfrm>
                  <a:custGeom>
                    <a:avLst/>
                    <a:gdLst>
                      <a:gd name="T0" fmla="*/ 637 w 881"/>
                      <a:gd name="T1" fmla="*/ 0 h 705"/>
                      <a:gd name="T2" fmla="*/ 0 w 881"/>
                      <a:gd name="T3" fmla="*/ 0 h 705"/>
                      <a:gd name="T4" fmla="*/ 245 w 881"/>
                      <a:gd name="T5" fmla="*/ 352 h 705"/>
                      <a:gd name="T6" fmla="*/ 0 w 881"/>
                      <a:gd name="T7" fmla="*/ 705 h 705"/>
                      <a:gd name="T8" fmla="*/ 637 w 881"/>
                      <a:gd name="T9" fmla="*/ 705 h 705"/>
                      <a:gd name="T10" fmla="*/ 881 w 881"/>
                      <a:gd name="T11" fmla="*/ 352 h 705"/>
                      <a:gd name="T12" fmla="*/ 637 w 881"/>
                      <a:gd name="T13" fmla="*/ 0 h 7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81" h="705">
                        <a:moveTo>
                          <a:pt x="637" y="0"/>
                        </a:moveTo>
                        <a:lnTo>
                          <a:pt x="0" y="0"/>
                        </a:lnTo>
                        <a:lnTo>
                          <a:pt x="245" y="352"/>
                        </a:lnTo>
                        <a:lnTo>
                          <a:pt x="0" y="705"/>
                        </a:lnTo>
                        <a:lnTo>
                          <a:pt x="637" y="705"/>
                        </a:lnTo>
                        <a:lnTo>
                          <a:pt x="881" y="352"/>
                        </a:lnTo>
                        <a:lnTo>
                          <a:pt x="637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4F2A9048-D5B9-4032-71D0-EF511211CE49}"/>
                      </a:ext>
                    </a:extLst>
                  </p:cNvPr>
                  <p:cNvSpPr/>
                  <p:nvPr/>
                </p:nvSpPr>
                <p:spPr>
                  <a:xfrm>
                    <a:off x="996419" y="4249234"/>
                    <a:ext cx="1999285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共同推进</a:t>
                    </a: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2C1C733B-06D4-28B3-B1AE-E428CF9B076C}"/>
                      </a:ext>
                    </a:extLst>
                  </p:cNvPr>
                  <p:cNvSpPr/>
                  <p:nvPr/>
                </p:nvSpPr>
                <p:spPr>
                  <a:xfrm>
                    <a:off x="715963" y="4681445"/>
                    <a:ext cx="2560196" cy="2948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与同行合作，共同推动行业发展</a:t>
                    </a:r>
                    <a:endParaRPr kumimoji="1" lang="en-US" altLang="zh-CN" sz="1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E7CE8C9D-C085-9AF4-B462-512B0A635F05}"/>
                      </a:ext>
                    </a:extLst>
                  </p:cNvPr>
                  <p:cNvSpPr/>
                  <p:nvPr/>
                </p:nvSpPr>
                <p:spPr>
                  <a:xfrm>
                    <a:off x="1732207" y="3307014"/>
                    <a:ext cx="527709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r>
                      <a:rPr kumimoji="1" lang="en-US" altLang="zh-CN" sz="2400" b="1" dirty="0">
                        <a:solidFill>
                          <a:schemeClr val="bg1"/>
                        </a:solidFill>
                      </a:rPr>
                      <a:t>03</a:t>
                    </a:r>
                  </a:p>
                </p:txBody>
              </p:sp>
            </p:grp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0B11FF-3AF6-5C90-E336-591754FEE23A}"/>
                </a:ext>
              </a:extLst>
            </p:cNvPr>
            <p:cNvGrpSpPr/>
            <p:nvPr/>
          </p:nvGrpSpPr>
          <p:grpSpPr>
            <a:xfrm>
              <a:off x="660399" y="1191855"/>
              <a:ext cx="10858501" cy="777815"/>
              <a:chOff x="660399" y="1387153"/>
              <a:chExt cx="10858501" cy="777815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636879E-D277-327C-806B-984021509FB9}"/>
                  </a:ext>
                </a:extLst>
              </p:cNvPr>
              <p:cNvSpPr/>
              <p:nvPr/>
            </p:nvSpPr>
            <p:spPr>
              <a:xfrm>
                <a:off x="660400" y="1387153"/>
                <a:ext cx="10858500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公司在行业的影响力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525334B-5A0A-12D8-A9B4-4E932B911172}"/>
                  </a:ext>
                </a:extLst>
              </p:cNvPr>
              <p:cNvSpPr/>
              <p:nvPr/>
            </p:nvSpPr>
            <p:spPr>
              <a:xfrm>
                <a:off x="660399" y="1870144"/>
                <a:ext cx="10858500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公司如何成为行业的领导者之一，以及技术如何影响和塑造行业发展</a:t>
                </a:r>
              </a:p>
            </p:txBody>
          </p:sp>
        </p:grpSp>
      </p:grpSp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领导者之路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3325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04.公司技术革新案例分享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技术引领行业革新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9261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9A7D489-026F-46C8-AD84-49E93D157431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1130300"/>
            <a:ext cx="12192000" cy="5013325"/>
            <a:chOff x="0" y="1130300"/>
            <a:chExt cx="12192000" cy="501332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8221EBB-0697-455D-8776-29B5D07B249B}"/>
                </a:ext>
              </a:extLst>
            </p:cNvPr>
            <p:cNvSpPr/>
            <p:nvPr/>
          </p:nvSpPr>
          <p:spPr>
            <a:xfrm>
              <a:off x="0" y="3654000"/>
              <a:ext cx="12192000" cy="2489625"/>
            </a:xfrm>
            <a:prstGeom prst="roundRect">
              <a:avLst>
                <a:gd name="adj" fmla="val 75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000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7719953-E0E0-4276-AADC-6D959C3D6A02}"/>
                </a:ext>
              </a:extLst>
            </p:cNvPr>
            <p:cNvGrpSpPr/>
            <p:nvPr/>
          </p:nvGrpSpPr>
          <p:grpSpPr>
            <a:xfrm>
              <a:off x="660400" y="4549453"/>
              <a:ext cx="3171329" cy="944997"/>
              <a:chOff x="983204" y="4549453"/>
              <a:chExt cx="2108063" cy="9449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4D60AE-06B1-4144-9288-3F7A1906A543}"/>
                  </a:ext>
                </a:extLst>
              </p:cNvPr>
              <p:cNvSpPr/>
              <p:nvPr/>
            </p:nvSpPr>
            <p:spPr bwMode="auto">
              <a:xfrm>
                <a:off x="983204" y="493705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采用AI技术，提升产品的智能化和用户的体验。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0B98B8-63C4-4517-BB78-647A5093E3AF}"/>
                  </a:ext>
                </a:extLst>
              </p:cNvPr>
              <p:cNvSpPr txBox="1"/>
              <p:nvPr/>
            </p:nvSpPr>
            <p:spPr bwMode="auto">
              <a:xfrm>
                <a:off x="983204" y="4549453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智能家居系统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1E05CD-7341-4782-A1B8-FBFCEC32812B}"/>
                </a:ext>
              </a:extLst>
            </p:cNvPr>
            <p:cNvGrpSpPr/>
            <p:nvPr/>
          </p:nvGrpSpPr>
          <p:grpSpPr>
            <a:xfrm>
              <a:off x="1496699" y="2662368"/>
              <a:ext cx="1498730" cy="1652180"/>
              <a:chOff x="1286801" y="2585971"/>
              <a:chExt cx="1637331" cy="180497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066F9C17-AEE5-4DBD-B6CF-4F985F1DBF44}"/>
                  </a:ext>
                </a:extLst>
              </p:cNvPr>
              <p:cNvSpPr/>
              <p:nvPr/>
            </p:nvSpPr>
            <p:spPr>
              <a:xfrm>
                <a:off x="1286801" y="2917055"/>
                <a:ext cx="1637331" cy="1473889"/>
              </a:xfrm>
              <a:prstGeom prst="roundRect">
                <a:avLst>
                  <a:gd name="adj" fmla="val 8050"/>
                </a:avLst>
              </a:prstGeom>
              <a:blipFill rotWithShape="0">
                <a:blip r:embed="rId3"/>
                <a:srcRect/>
                <a:stretch>
                  <a:fillRect l="-17590" r="-17590"/>
                </a:stretch>
              </a:blip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14A44B3-C08C-42BF-B10F-6E12F99CA0C6}"/>
                  </a:ext>
                </a:extLst>
              </p:cNvPr>
              <p:cNvSpPr/>
              <p:nvPr/>
            </p:nvSpPr>
            <p:spPr bwMode="auto">
              <a:xfrm>
                <a:off x="1773505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/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828B938-07B1-4B49-BAD8-3B2461BCF8FA}"/>
                  </a:ext>
                </a:extLst>
              </p:cNvPr>
              <p:cNvSpPr/>
              <p:nvPr/>
            </p:nvSpPr>
            <p:spPr bwMode="auto">
              <a:xfrm>
                <a:off x="1945798" y="2763450"/>
                <a:ext cx="319336" cy="307208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116D814-0383-467F-8B8F-C4C555BF35CE}"/>
                </a:ext>
              </a:extLst>
            </p:cNvPr>
            <p:cNvCxnSpPr>
              <a:cxnSpLocks/>
            </p:cNvCxnSpPr>
            <p:nvPr/>
          </p:nvCxnSpPr>
          <p:spPr>
            <a:xfrm>
              <a:off x="8011443" y="4323699"/>
              <a:ext cx="0" cy="16720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80D407-80CE-4FA7-9384-38DDFC410F0C}"/>
                </a:ext>
              </a:extLst>
            </p:cNvPr>
            <p:cNvSpPr txBox="1"/>
            <p:nvPr/>
          </p:nvSpPr>
          <p:spPr>
            <a:xfrm>
              <a:off x="673099" y="1130300"/>
              <a:ext cx="10845800" cy="5819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solidFill>
                    <a:schemeClr val="tx1"/>
                  </a:solidFill>
                </a:rPr>
                <a:t>行业领导地位的象征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C521BF-BD7C-4110-8907-32071B0BB7B9}"/>
                </a:ext>
              </a:extLst>
            </p:cNvPr>
            <p:cNvSpPr txBox="1"/>
            <p:nvPr/>
          </p:nvSpPr>
          <p:spPr>
            <a:xfrm>
              <a:off x="673101" y="1712226"/>
              <a:ext cx="10845796" cy="594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公司创新技术：树立IT行业领导地位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04E14E4-6ED1-430A-83A7-6BC7E4271C0A}"/>
                </a:ext>
              </a:extLst>
            </p:cNvPr>
            <p:cNvGrpSpPr/>
            <p:nvPr/>
          </p:nvGrpSpPr>
          <p:grpSpPr>
            <a:xfrm>
              <a:off x="8347571" y="4549453"/>
              <a:ext cx="3171329" cy="944997"/>
              <a:chOff x="983204" y="4549453"/>
              <a:chExt cx="2108063" cy="944997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54F30A2-8F80-402D-B05A-D1D502BF59C9}"/>
                  </a:ext>
                </a:extLst>
              </p:cNvPr>
              <p:cNvSpPr/>
              <p:nvPr/>
            </p:nvSpPr>
            <p:spPr bwMode="auto">
              <a:xfrm>
                <a:off x="983204" y="493705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为用户提供安全、透明的交易和管理服务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F57E38-EA41-4CFF-8A27-381A558E1196}"/>
                  </a:ext>
                </a:extLst>
              </p:cNvPr>
              <p:cNvSpPr txBox="1"/>
              <p:nvPr/>
            </p:nvSpPr>
            <p:spPr bwMode="auto">
              <a:xfrm>
                <a:off x="983204" y="4549453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区块链技术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6DE292B-B64A-4FE2-88EE-2FD9F9E3F041}"/>
                </a:ext>
              </a:extLst>
            </p:cNvPr>
            <p:cNvGrpSpPr/>
            <p:nvPr/>
          </p:nvGrpSpPr>
          <p:grpSpPr>
            <a:xfrm>
              <a:off x="9183870" y="2662368"/>
              <a:ext cx="1498730" cy="1652180"/>
              <a:chOff x="1286801" y="2585971"/>
              <a:chExt cx="1637331" cy="180497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47DCA6F-DB4B-4E39-8967-DC962EB84B4F}"/>
                  </a:ext>
                </a:extLst>
              </p:cNvPr>
              <p:cNvSpPr/>
              <p:nvPr/>
            </p:nvSpPr>
            <p:spPr>
              <a:xfrm>
                <a:off x="1286801" y="2917055"/>
                <a:ext cx="1637331" cy="1473889"/>
              </a:xfrm>
              <a:prstGeom prst="roundRect">
                <a:avLst>
                  <a:gd name="adj" fmla="val 8050"/>
                </a:avLst>
              </a:prstGeom>
              <a:blipFill rotWithShape="0">
                <a:blip r:embed="rId4"/>
                <a:srcRect/>
                <a:stretch>
                  <a:fillRect l="-73370" r="-73370"/>
                </a:stretch>
              </a:blip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6B0EDCD-D554-413E-884D-68F37355F633}"/>
                  </a:ext>
                </a:extLst>
              </p:cNvPr>
              <p:cNvSpPr/>
              <p:nvPr/>
            </p:nvSpPr>
            <p:spPr bwMode="auto">
              <a:xfrm>
                <a:off x="1773505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/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3B1193E-488A-4C91-9498-CD3367E54E50}"/>
                  </a:ext>
                </a:extLst>
              </p:cNvPr>
              <p:cNvSpPr/>
              <p:nvPr/>
            </p:nvSpPr>
            <p:spPr bwMode="auto">
              <a:xfrm>
                <a:off x="1945798" y="2763450"/>
                <a:ext cx="319336" cy="307208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5B57C49-966E-4216-ADAC-0C805151A906}"/>
                </a:ext>
              </a:extLst>
            </p:cNvPr>
            <p:cNvGrpSpPr/>
            <p:nvPr/>
          </p:nvGrpSpPr>
          <p:grpSpPr>
            <a:xfrm>
              <a:off x="4503986" y="4549453"/>
              <a:ext cx="3171329" cy="944997"/>
              <a:chOff x="983204" y="4549453"/>
              <a:chExt cx="2108063" cy="9449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E99A1D5-DAA7-4C93-BCBE-E0F8E146E113}"/>
                  </a:ext>
                </a:extLst>
              </p:cNvPr>
              <p:cNvSpPr/>
              <p:nvPr/>
            </p:nvSpPr>
            <p:spPr bwMode="auto">
              <a:xfrm>
                <a:off x="983204" y="493705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</a:rPr>
                  <a:t>提供全新的用户体验和商业机会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D3489B-4BE1-4B6F-8603-B60C2F9CD710}"/>
                  </a:ext>
                </a:extLst>
              </p:cNvPr>
              <p:cNvSpPr txBox="1"/>
              <p:nvPr/>
            </p:nvSpPr>
            <p:spPr bwMode="auto">
              <a:xfrm>
                <a:off x="983204" y="4549453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虚拟现实技术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349B55C-471C-4933-87C7-5DC84BF88F4F}"/>
                </a:ext>
              </a:extLst>
            </p:cNvPr>
            <p:cNvGrpSpPr/>
            <p:nvPr/>
          </p:nvGrpSpPr>
          <p:grpSpPr>
            <a:xfrm>
              <a:off x="5340284" y="2662368"/>
              <a:ext cx="1498730" cy="1652180"/>
              <a:chOff x="1286801" y="2585971"/>
              <a:chExt cx="1637331" cy="1804973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4109800-EB99-4E1F-8068-016FB5323F7B}"/>
                  </a:ext>
                </a:extLst>
              </p:cNvPr>
              <p:cNvSpPr/>
              <p:nvPr/>
            </p:nvSpPr>
            <p:spPr>
              <a:xfrm>
                <a:off x="1286801" y="2917055"/>
                <a:ext cx="1637331" cy="1473889"/>
              </a:xfrm>
              <a:prstGeom prst="roundRect">
                <a:avLst>
                  <a:gd name="adj" fmla="val 8050"/>
                </a:avLst>
              </a:prstGeom>
              <a:blipFill rotWithShape="0">
                <a:blip r:embed="rId5"/>
                <a:srcRect/>
                <a:stretch>
                  <a:fillRect l="-17460" r="-17460"/>
                </a:stretch>
              </a:blip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4080C3C-4727-4CCF-BF42-1A4DBFA49DAC}"/>
                  </a:ext>
                </a:extLst>
              </p:cNvPr>
              <p:cNvSpPr/>
              <p:nvPr/>
            </p:nvSpPr>
            <p:spPr bwMode="auto">
              <a:xfrm>
                <a:off x="1773505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/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A9BD9FA-2DE7-4548-B255-2A054F25C2E2}"/>
                  </a:ext>
                </a:extLst>
              </p:cNvPr>
              <p:cNvSpPr/>
              <p:nvPr/>
            </p:nvSpPr>
            <p:spPr bwMode="auto">
              <a:xfrm>
                <a:off x="1945798" y="2763450"/>
                <a:ext cx="319336" cy="307208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5D7D14-C5A4-4D9C-98F9-CF7F9704003E}"/>
                </a:ext>
              </a:extLst>
            </p:cNvPr>
            <p:cNvCxnSpPr>
              <a:cxnSpLocks/>
            </p:cNvCxnSpPr>
            <p:nvPr/>
          </p:nvCxnSpPr>
          <p:spPr>
            <a:xfrm>
              <a:off x="4167859" y="4323699"/>
              <a:ext cx="0" cy="16720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案例一解析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2536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60400" y="1222633"/>
            <a:ext cx="10858500" cy="4276554"/>
            <a:chOff x="660400" y="1222633"/>
            <a:chExt cx="10858500" cy="4276554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CE77DC51-C006-4B0A-BDE6-9F066A4D0CCC}"/>
                </a:ext>
              </a:extLst>
            </p:cNvPr>
            <p:cNvSpPr/>
            <p:nvPr/>
          </p:nvSpPr>
          <p:spPr>
            <a:xfrm>
              <a:off x="660400" y="4139960"/>
              <a:ext cx="2344400" cy="1359227"/>
            </a:xfrm>
            <a:prstGeom prst="roundRect">
              <a:avLst>
                <a:gd name="adj" fmla="val 7172"/>
              </a:avLst>
            </a:prstGeom>
            <a:blipFill rotWithShape="0">
              <a:blip r:embed="rId3"/>
              <a:srcRect/>
              <a:stretch>
                <a:fillRect t="-7710" b="-771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57EC5CD3-3F5C-4190-B968-7BDC99C010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660400" y="1222633"/>
              <a:ext cx="5540926" cy="1013716"/>
              <a:chOff x="2492016" y="4214586"/>
              <a:chExt cx="2974766" cy="1013716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916E6B59-185C-4DAA-AF12-ABC10E343EA0}"/>
                  </a:ext>
                </a:extLst>
              </p:cNvPr>
              <p:cNvSpPr/>
              <p:nvPr/>
            </p:nvSpPr>
            <p:spPr>
              <a:xfrm>
                <a:off x="2492017" y="4807701"/>
                <a:ext cx="2974765" cy="4206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通过在行业内的领先地位和创新成果，公司赢得了同行的高度赞誉和认可。</a:t>
                </a: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35534C8-3FA3-4933-A938-49F1235056CA}"/>
                  </a:ext>
                </a:extLst>
              </p:cNvPr>
              <p:cNvSpPr/>
              <p:nvPr/>
            </p:nvSpPr>
            <p:spPr>
              <a:xfrm>
                <a:off x="2492016" y="4214586"/>
                <a:ext cx="2974765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2400" b="1" dirty="0">
                    <a:solidFill>
                      <a:schemeClr val="tx1"/>
                    </a:solidFill>
                  </a:rPr>
                  <a:t>公司技术实力获得行业认可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AF8F480-BF0A-4905-8872-2749E8C5D9DC}"/>
                </a:ext>
              </a:extLst>
            </p:cNvPr>
            <p:cNvGrpSpPr/>
            <p:nvPr/>
          </p:nvGrpSpPr>
          <p:grpSpPr>
            <a:xfrm>
              <a:off x="3498433" y="2932604"/>
              <a:ext cx="8020467" cy="2411348"/>
              <a:chOff x="3498433" y="2932604"/>
              <a:chExt cx="8020467" cy="2411348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90CCED40-D660-4B11-86A8-6AB5CA96C0BA}"/>
                  </a:ext>
                </a:extLst>
              </p:cNvPr>
              <p:cNvGrpSpPr/>
              <p:nvPr/>
            </p:nvGrpSpPr>
            <p:grpSpPr>
              <a:xfrm>
                <a:off x="9174499" y="2932604"/>
                <a:ext cx="2344401" cy="2411348"/>
                <a:chOff x="4381398" y="2932604"/>
                <a:chExt cx="3068301" cy="2411348"/>
              </a:xfrm>
            </p:grpSpPr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8FC710FC-CA31-4919-8852-4D13C2D9A995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157" name="Group 156">
                    <a:extLst>
                      <a:ext uri="{FF2B5EF4-FFF2-40B4-BE49-F238E27FC236}">
                        <a16:creationId xmlns:a16="http://schemas.microsoft.com/office/drawing/2014/main" id="{2A47F4AB-9522-4A2C-828D-19AFA8BC131E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159" name="Rectangle 158">
                      <a:extLst>
                        <a:ext uri="{FF2B5EF4-FFF2-40B4-BE49-F238E27FC236}">
                          <a16:creationId xmlns:a16="http://schemas.microsoft.com/office/drawing/2014/main" id="{2D1D808E-48A2-4012-9DAC-3FAD63941B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AI算法优化</a:t>
                      </a:r>
                    </a:p>
                  </p:txBody>
                </p:sp>
                <p:sp>
                  <p:nvSpPr>
                    <p:cNvPr id="160" name="Rectangle 159">
                      <a:extLst>
                        <a:ext uri="{FF2B5EF4-FFF2-40B4-BE49-F238E27FC236}">
                          <a16:creationId xmlns:a16="http://schemas.microsoft.com/office/drawing/2014/main" id="{12113F2F-F9D0-415F-A77B-F7148A354B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提高服务质量和用户体验的智能化改进方案</a:t>
                      </a:r>
                    </a:p>
                  </p:txBody>
                </p:sp>
              </p:grpSp>
              <p:cxnSp>
                <p:nvCxnSpPr>
                  <p:cNvPr id="158" name="Straight Arrow Connector 157">
                    <a:extLst>
                      <a:ext uri="{FF2B5EF4-FFF2-40B4-BE49-F238E27FC236}">
                        <a16:creationId xmlns:a16="http://schemas.microsoft.com/office/drawing/2014/main" id="{81A9EDED-9B0F-4828-B65D-B2E77D2314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2C54383C-E544-46D1-838C-C53AEAFA2BC7}"/>
                    </a:ext>
                  </a:extLst>
                </p:cNvPr>
                <p:cNvSpPr txBox="1"/>
                <p:nvPr/>
              </p:nvSpPr>
              <p:spPr>
                <a:xfrm>
                  <a:off x="4381398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non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03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0DE2A22E-2740-41E4-A7A0-9443A6A304C0}"/>
                  </a:ext>
                </a:extLst>
              </p:cNvPr>
              <p:cNvGrpSpPr/>
              <p:nvPr/>
            </p:nvGrpSpPr>
            <p:grpSpPr>
              <a:xfrm>
                <a:off x="3498433" y="2932604"/>
                <a:ext cx="2344400" cy="2411348"/>
                <a:chOff x="4381399" y="2932604"/>
                <a:chExt cx="3068300" cy="2411348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F083F46B-5F21-491D-AC81-7D4ADDEB4F35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114" name="Group 113">
                    <a:extLst>
                      <a:ext uri="{FF2B5EF4-FFF2-40B4-BE49-F238E27FC236}">
                        <a16:creationId xmlns:a16="http://schemas.microsoft.com/office/drawing/2014/main" id="{79082DD3-4B9C-4B81-B3C1-095C91F98EC2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116" name="Rectangle 115">
                      <a:extLst>
                        <a:ext uri="{FF2B5EF4-FFF2-40B4-BE49-F238E27FC236}">
                          <a16:creationId xmlns:a16="http://schemas.microsoft.com/office/drawing/2014/main" id="{CE875014-6D52-447D-A118-09562293E0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智能生产线项目</a:t>
                      </a:r>
                    </a:p>
                  </p:txBody>
                </p:sp>
                <p:sp>
                  <p:nvSpPr>
                    <p:cNvPr id="117" name="Rectangle 116">
                      <a:extLst>
                        <a:ext uri="{FF2B5EF4-FFF2-40B4-BE49-F238E27FC236}">
                          <a16:creationId xmlns:a16="http://schemas.microsoft.com/office/drawing/2014/main" id="{0DCDFEB6-271D-4D18-99B1-157799D87D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利用创新技术，提高生产效率和产品质量。</a:t>
                      </a:r>
                    </a:p>
                  </p:txBody>
                </p:sp>
              </p:grpSp>
              <p:cxnSp>
                <p:nvCxnSpPr>
                  <p:cNvPr id="115" name="Straight Arrow Connector 114">
                    <a:extLst>
                      <a:ext uri="{FF2B5EF4-FFF2-40B4-BE49-F238E27FC236}">
                        <a16:creationId xmlns:a16="http://schemas.microsoft.com/office/drawing/2014/main" id="{7E7F2112-1F31-4050-ADAC-1789C2CA9F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3AEC1BE-31CB-4948-B129-41FC6D5B1B8C}"/>
                    </a:ext>
                  </a:extLst>
                </p:cNvPr>
                <p:cNvSpPr txBox="1"/>
                <p:nvPr/>
              </p:nvSpPr>
              <p:spPr>
                <a:xfrm>
                  <a:off x="4381399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non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01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6F426DF-A3EC-429E-80B9-0D0A7C320651}"/>
                  </a:ext>
                </a:extLst>
              </p:cNvPr>
              <p:cNvGrpSpPr/>
              <p:nvPr/>
            </p:nvGrpSpPr>
            <p:grpSpPr>
              <a:xfrm>
                <a:off x="6336466" y="2932604"/>
                <a:ext cx="2344400" cy="2411348"/>
                <a:chOff x="4381399" y="2932604"/>
                <a:chExt cx="3068300" cy="2411348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25B1B385-436D-4800-816D-6976275A7AEB}"/>
                    </a:ext>
                  </a:extLst>
                </p:cNvPr>
                <p:cNvGrpSpPr/>
                <p:nvPr/>
              </p:nvGrpSpPr>
              <p:grpSpPr>
                <a:xfrm>
                  <a:off x="4381399" y="4139960"/>
                  <a:ext cx="3068300" cy="1203992"/>
                  <a:chOff x="2926262" y="3947957"/>
                  <a:chExt cx="2806761" cy="1203992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47462C5C-0266-49FA-9123-70404C7B0B3D}"/>
                      </a:ext>
                    </a:extLst>
                  </p:cNvPr>
                  <p:cNvGrpSpPr/>
                  <p:nvPr/>
                </p:nvGrpSpPr>
                <p:grpSpPr>
                  <a:xfrm>
                    <a:off x="2926262" y="4039744"/>
                    <a:ext cx="2806761" cy="1112205"/>
                    <a:chOff x="2492017" y="2712768"/>
                    <a:chExt cx="2806761" cy="1112205"/>
                  </a:xfrm>
                </p:grpSpPr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04F178EE-E21F-41B9-84B4-18F96792AB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2712768"/>
                      <a:ext cx="2806761" cy="464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lIns="108000" tIns="108000" rIns="108000" bIns="108000" rtlCol="0" anchor="b" anchorCtr="0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</a:rPr>
                        <a:t>区块链应用项目</a:t>
                      </a:r>
                    </a:p>
                  </p:txBody>
                </p:sp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2B635E04-121A-457F-A3C5-26D697F9D6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017" y="3182773"/>
                      <a:ext cx="2806761" cy="642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108000" tIns="108000" rIns="108000" bIns="108000" rtlCol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</a:rPr>
                        <a:t>实现数据安全和可追溯的革新性应用</a:t>
                      </a:r>
                    </a:p>
                  </p:txBody>
                </p:sp>
              </p:grpSp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D4AC9934-C29A-484C-BC6C-AA476B57E9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26262" y="3947957"/>
                    <a:ext cx="2806761" cy="0"/>
                  </a:xfrm>
                  <a:prstGeom prst="straightConnector1">
                    <a:avLst/>
                  </a:prstGeom>
                  <a:ln w="254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83AB63C-4858-44EC-AD4B-374290A691AD}"/>
                    </a:ext>
                  </a:extLst>
                </p:cNvPr>
                <p:cNvSpPr txBox="1"/>
                <p:nvPr/>
              </p:nvSpPr>
              <p:spPr>
                <a:xfrm>
                  <a:off x="4381399" y="2932604"/>
                  <a:ext cx="1930270" cy="1572326"/>
                </a:xfrm>
                <a:prstGeom prst="rect">
                  <a:avLst/>
                </a:prstGeom>
                <a:noFill/>
              </p:spPr>
              <p:txBody>
                <a:bodyPr wrap="none" lIns="108000" tIns="108000" rIns="108000" bIns="108000" rtlCol="0" anchor="ctr" anchorCtr="0">
                  <a:spAutoFit/>
                </a:bodyPr>
                <a:lstStyle/>
                <a:p>
                  <a:r>
                    <a:rPr kumimoji="1" lang="en-US" altLang="zh-CN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rPr>
                    <a:t>02</a:t>
                  </a:r>
                  <a:endParaRPr kumimoji="1" lang="zh-CN" altLang="en-US" sz="8800" b="1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</a:endParaRPr>
                </a:p>
              </p:txBody>
            </p:sp>
          </p:grpSp>
        </p:grpSp>
      </p:grpSp>
      <p:sp>
        <p:nvSpPr>
          <p:cNvPr id="162" name="Title 16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案例二解析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42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lock Arc 6">
            <a:extLst>
              <a:ext uri="{FF2B5EF4-FFF2-40B4-BE49-F238E27FC236}">
                <a16:creationId xmlns:a16="http://schemas.microsoft.com/office/drawing/2014/main" id="{E0BE5065-7C2C-DFDE-BB6C-32CBF372219B}"/>
              </a:ext>
            </a:extLst>
          </p:cNvPr>
          <p:cNvSpPr/>
          <p:nvPr/>
        </p:nvSpPr>
        <p:spPr>
          <a:xfrm flipH="1">
            <a:off x="943428" y="1182866"/>
            <a:ext cx="3158671" cy="3158671"/>
          </a:xfrm>
          <a:prstGeom prst="blockArc">
            <a:avLst>
              <a:gd name="adj1" fmla="val 15993410"/>
              <a:gd name="adj2" fmla="val 13253"/>
              <a:gd name="adj3" fmla="val 1786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0FA34A-F3E9-CB2D-7996-8E6053EA02EF}"/>
              </a:ext>
            </a:extLst>
          </p:cNvPr>
          <p:cNvGrpSpPr/>
          <p:nvPr/>
        </p:nvGrpSpPr>
        <p:grpSpPr>
          <a:xfrm>
            <a:off x="2714171" y="1286345"/>
            <a:ext cx="6763657" cy="726026"/>
            <a:chOff x="-106025" y="2679843"/>
            <a:chExt cx="11190196" cy="7260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110A56-ED65-7A08-32F2-88FF69D7CF9A}"/>
                </a:ext>
              </a:extLst>
            </p:cNvPr>
            <p:cNvSpPr/>
            <p:nvPr/>
          </p:nvSpPr>
          <p:spPr>
            <a:xfrm flipH="1">
              <a:off x="-106025" y="3111045"/>
              <a:ext cx="9504686" cy="294824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展望未来，公司的技术创新将引领行业的发展，带来巨大的影响和机遇。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559D6D-5279-F4CB-BC29-F8686F75E748}"/>
                </a:ext>
              </a:extLst>
            </p:cNvPr>
            <p:cNvSpPr txBox="1"/>
            <p:nvPr/>
          </p:nvSpPr>
          <p:spPr>
            <a:xfrm>
              <a:off x="-106025" y="2679843"/>
              <a:ext cx="1119019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技术发展带来的行业变革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9EA29C8-3EC0-6373-9B05-7013458C3143}"/>
              </a:ext>
            </a:extLst>
          </p:cNvPr>
          <p:cNvSpPr/>
          <p:nvPr/>
        </p:nvSpPr>
        <p:spPr>
          <a:xfrm>
            <a:off x="8940597" y="0"/>
            <a:ext cx="2578303" cy="6858000"/>
          </a:xfrm>
          <a:prstGeom prst="rect">
            <a:avLst/>
          </a:prstGeom>
          <a:solidFill>
            <a:schemeClr val="tx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lIns="91440" tIns="93600" rIns="91440" bIns="45720" rtlCol="0" anchor="ctr"/>
          <a:lstStyle/>
          <a:p>
            <a:pPr algn="ctr"/>
            <a:endParaRPr kumimoji="1" lang="zh-CN" altLang="en-US" sz="105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93E99A-4711-BB81-ADFB-0B8E34DC9626}"/>
              </a:ext>
            </a:extLst>
          </p:cNvPr>
          <p:cNvGrpSpPr/>
          <p:nvPr/>
        </p:nvGrpSpPr>
        <p:grpSpPr>
          <a:xfrm>
            <a:off x="2826471" y="2969785"/>
            <a:ext cx="4951000" cy="632101"/>
            <a:chOff x="3182071" y="3123711"/>
            <a:chExt cx="4951000" cy="632101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8196DF-5293-D41E-BB46-42EA6972A3EA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avLst/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2B8E587-B8EE-36FB-7FD9-F3D4930DA526}"/>
                </a:ext>
              </a:extLst>
            </p:cNvPr>
            <p:cNvGrpSpPr/>
            <p:nvPr/>
          </p:nvGrpSpPr>
          <p:grpSpPr>
            <a:xfrm>
              <a:off x="3505667" y="3123711"/>
              <a:ext cx="4627404" cy="632101"/>
              <a:chOff x="3505667" y="3123711"/>
              <a:chExt cx="4627404" cy="632101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F283FBF-D5E6-F6F0-D73E-D27CEF80F489}"/>
                  </a:ext>
                </a:extLst>
              </p:cNvPr>
              <p:cNvSpPr/>
              <p:nvPr/>
            </p:nvSpPr>
            <p:spPr>
              <a:xfrm>
                <a:off x="3505667" y="3335211"/>
                <a:ext cx="4627404" cy="420601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/>
                  <a:t>AI技术将重塑行业格局，推动数字化转型和智能化发展。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03C403F-FA85-A2AE-D9BF-EF3C44D7825C}"/>
                  </a:ext>
                </a:extLst>
              </p:cNvPr>
              <p:cNvSpPr/>
              <p:nvPr/>
            </p:nvSpPr>
            <p:spPr>
              <a:xfrm>
                <a:off x="3622541" y="3123711"/>
                <a:ext cx="1766642" cy="261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AI的普及应用</a:t>
                </a: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99F7EC-FF73-EF5B-D72A-3EEAC650E31B}"/>
              </a:ext>
            </a:extLst>
          </p:cNvPr>
          <p:cNvGrpSpPr/>
          <p:nvPr/>
        </p:nvGrpSpPr>
        <p:grpSpPr>
          <a:xfrm>
            <a:off x="2826471" y="4672805"/>
            <a:ext cx="4951000" cy="632101"/>
            <a:chOff x="3182071" y="3123711"/>
            <a:chExt cx="4951000" cy="63210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E8BBD62-CE4F-BCEC-FE15-F5D5C8A28D2C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avLst/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B6FA041-9A3B-8D78-AF78-2C81D71D84E4}"/>
                </a:ext>
              </a:extLst>
            </p:cNvPr>
            <p:cNvGrpSpPr/>
            <p:nvPr/>
          </p:nvGrpSpPr>
          <p:grpSpPr>
            <a:xfrm>
              <a:off x="3505667" y="3123711"/>
              <a:ext cx="4627404" cy="632101"/>
              <a:chOff x="3505667" y="3123711"/>
              <a:chExt cx="4627404" cy="632101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3160D6C6-2D11-37F1-E744-293A635848B5}"/>
                  </a:ext>
                </a:extLst>
              </p:cNvPr>
              <p:cNvSpPr/>
              <p:nvPr/>
            </p:nvSpPr>
            <p:spPr>
              <a:xfrm>
                <a:off x="3505667" y="3335211"/>
                <a:ext cx="4627404" cy="420601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/>
                  <a:t>区块链技术将改变传统商业模式，提升数据安全性和交易效率。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20A8FAB-1C7B-B2EE-ADFE-938C41F657A3}"/>
                  </a:ext>
                </a:extLst>
              </p:cNvPr>
              <p:cNvSpPr/>
              <p:nvPr/>
            </p:nvSpPr>
            <p:spPr>
              <a:xfrm>
                <a:off x="3622541" y="3123711"/>
                <a:ext cx="1766642" cy="261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区块链应用颠覆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883042-6DDB-46FB-4153-CB43D0036B3C}"/>
              </a:ext>
            </a:extLst>
          </p:cNvPr>
          <p:cNvGrpSpPr/>
          <p:nvPr/>
        </p:nvGrpSpPr>
        <p:grpSpPr>
          <a:xfrm>
            <a:off x="2826471" y="5524314"/>
            <a:ext cx="4951000" cy="742901"/>
            <a:chOff x="3182071" y="3123711"/>
            <a:chExt cx="4951000" cy="74290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1B1C64B-EFB7-548D-63B7-4879F122A8F4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avLst/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B0086C-36BF-943A-96F3-12C2A88362D8}"/>
                </a:ext>
              </a:extLst>
            </p:cNvPr>
            <p:cNvGrpSpPr/>
            <p:nvPr/>
          </p:nvGrpSpPr>
          <p:grpSpPr>
            <a:xfrm>
              <a:off x="3505667" y="3123711"/>
              <a:ext cx="4627404" cy="742901"/>
              <a:chOff x="3505667" y="3123711"/>
              <a:chExt cx="4627404" cy="742901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273F5660-F6C7-0045-F90B-7FB85D73BA51}"/>
                  </a:ext>
                </a:extLst>
              </p:cNvPr>
              <p:cNvSpPr/>
              <p:nvPr/>
            </p:nvSpPr>
            <p:spPr>
              <a:xfrm>
                <a:off x="3505667" y="3224412"/>
                <a:ext cx="4627404" cy="642200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/>
                  <a:t>5G技术将推动移动通信的发展，促进智能交通、智慧城市等领域的创新。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0E6A11C-6530-71A7-1644-821AA1B23ADB}"/>
                  </a:ext>
                </a:extLst>
              </p:cNvPr>
              <p:cNvSpPr/>
              <p:nvPr/>
            </p:nvSpPr>
            <p:spPr>
              <a:xfrm>
                <a:off x="3622541" y="3123711"/>
                <a:ext cx="1766642" cy="261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5G全面应用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5FCE64-1F63-4768-663B-F78820775AA5}"/>
              </a:ext>
            </a:extLst>
          </p:cNvPr>
          <p:cNvGrpSpPr/>
          <p:nvPr/>
        </p:nvGrpSpPr>
        <p:grpSpPr>
          <a:xfrm>
            <a:off x="2826471" y="3821295"/>
            <a:ext cx="4951000" cy="742901"/>
            <a:chOff x="3182071" y="3123711"/>
            <a:chExt cx="4951000" cy="742901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1782EFA-A8F6-2B1E-AC22-A00048AF190E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avLst/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B5AC497-CDEA-6F29-BB17-09D35B0CD189}"/>
                </a:ext>
              </a:extLst>
            </p:cNvPr>
            <p:cNvGrpSpPr/>
            <p:nvPr/>
          </p:nvGrpSpPr>
          <p:grpSpPr>
            <a:xfrm>
              <a:off x="3505667" y="3123711"/>
              <a:ext cx="4627404" cy="742901"/>
              <a:chOff x="3505667" y="3123711"/>
              <a:chExt cx="4627404" cy="742901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23D8DE46-0F0C-C151-CBCE-3164BE670337}"/>
                  </a:ext>
                </a:extLst>
              </p:cNvPr>
              <p:cNvSpPr/>
              <p:nvPr/>
            </p:nvSpPr>
            <p:spPr>
              <a:xfrm>
                <a:off x="3505667" y="3224412"/>
                <a:ext cx="4627404" cy="642200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/>
                  <a:t>物联网技术将改变人们的生活方式，推动各个行业的数字化转型。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54C25BC-5869-2F50-70D2-5E6F3AA60130}"/>
                  </a:ext>
                </a:extLst>
              </p:cNvPr>
              <p:cNvSpPr/>
              <p:nvPr/>
            </p:nvSpPr>
            <p:spPr>
              <a:xfrm>
                <a:off x="3622541" y="3123711"/>
                <a:ext cx="1766642" cy="261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物联网的广泛应用</a:t>
                </a:r>
              </a:p>
            </p:txBody>
          </p:sp>
        </p:grpSp>
      </p:grpSp>
      <p:sp>
        <p:nvSpPr>
          <p:cNvPr id="36" name="Title 3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未来影响预测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6413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05.共享与发展的呼吁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同行间的技术合作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5732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111E2C30-DCB9-4ACA-BE2C-5F63922E1EE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1130300"/>
            <a:ext cx="12192000" cy="5003800"/>
            <a:chOff x="0" y="1130300"/>
            <a:chExt cx="12192000" cy="50038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674AADB-8882-4C58-A8A0-A5A80E5C573D}"/>
                </a:ext>
              </a:extLst>
            </p:cNvPr>
            <p:cNvGrpSpPr/>
            <p:nvPr/>
          </p:nvGrpSpPr>
          <p:grpSpPr>
            <a:xfrm>
              <a:off x="1079028" y="1130300"/>
              <a:ext cx="10021243" cy="1151173"/>
              <a:chOff x="660401" y="4826974"/>
              <a:chExt cx="10858500" cy="1151173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526A6D4-3938-483E-AE04-387A4D4F50AE}"/>
                  </a:ext>
                </a:extLst>
              </p:cNvPr>
              <p:cNvSpPr txBox="1"/>
              <p:nvPr/>
            </p:nvSpPr>
            <p:spPr>
              <a:xfrm>
                <a:off x="660401" y="5244598"/>
                <a:ext cx="10858499" cy="733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buSzPct val="25000"/>
                </a:pPr>
                <a:r>
                  <a:rPr lang="zh-CN" altLang="en-US" sz="1200" dirty="0"/>
                  <a:t>详细介绍我们公司的核心技术成果，展示我们在行业内的领先地位。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912A863-473E-4A90-BEE6-44BFAF3EC2FB}"/>
                  </a:ext>
                </a:extLst>
              </p:cNvPr>
              <p:cNvSpPr/>
              <p:nvPr/>
            </p:nvSpPr>
            <p:spPr>
              <a:xfrm>
                <a:off x="660402" y="4826974"/>
                <a:ext cx="10858499" cy="41762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zh-CN" altLang="en-US" sz="2400" b="1" dirty="0"/>
                  <a:t>展示公司的核心技术</a:t>
                </a:r>
                <a:endParaRPr lang="id-ID" altLang="zh-CN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042791-E0A1-49B5-814A-6C180FA22D46}"/>
                </a:ext>
              </a:extLst>
            </p:cNvPr>
            <p:cNvSpPr/>
            <p:nvPr/>
          </p:nvSpPr>
          <p:spPr>
            <a:xfrm>
              <a:off x="0" y="4390931"/>
              <a:ext cx="12192000" cy="6156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3B1D864-F701-42CB-8EE6-83C61F488A9C}"/>
                </a:ext>
              </a:extLst>
            </p:cNvPr>
            <p:cNvGrpSpPr/>
            <p:nvPr/>
          </p:nvGrpSpPr>
          <p:grpSpPr>
            <a:xfrm>
              <a:off x="660400" y="2504603"/>
              <a:ext cx="3369248" cy="3629497"/>
              <a:chOff x="660400" y="2504603"/>
              <a:chExt cx="3431766" cy="362949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9F1B890-4C23-48E6-8E95-6A35FEBDEFCC}"/>
                  </a:ext>
                </a:extLst>
              </p:cNvPr>
              <p:cNvSpPr/>
              <p:nvPr/>
            </p:nvSpPr>
            <p:spPr>
              <a:xfrm>
                <a:off x="660400" y="2504603"/>
                <a:ext cx="3431766" cy="1886328"/>
              </a:xfrm>
              <a:prstGeom prst="rect">
                <a:avLst/>
              </a:prstGeom>
              <a:blipFill rotWithShape="0">
                <a:blip r:embed="rId3"/>
                <a:srcRect/>
                <a:stretch>
                  <a:fillRect t="-1020" b="-102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6639E96-A565-47B6-907E-4462AE385314}"/>
                  </a:ext>
                </a:extLst>
              </p:cNvPr>
              <p:cNvGrpSpPr/>
              <p:nvPr/>
            </p:nvGrpSpPr>
            <p:grpSpPr>
              <a:xfrm>
                <a:off x="660400" y="4468004"/>
                <a:ext cx="3431766" cy="1666096"/>
                <a:chOff x="743997" y="4468004"/>
                <a:chExt cx="3264572" cy="1666096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21D2456-A6A6-43F5-AD86-0A010D24A2F0}"/>
                    </a:ext>
                  </a:extLst>
                </p:cNvPr>
                <p:cNvSpPr txBox="1"/>
                <p:nvPr/>
              </p:nvSpPr>
              <p:spPr>
                <a:xfrm>
                  <a:off x="743997" y="4468004"/>
                  <a:ext cx="3264572" cy="461488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技术创新突破</a:t>
                  </a:r>
                  <a:endParaRPr lang="id-ID" sz="16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8E07573-A8E5-42F7-B445-E2E8E3B47ABD}"/>
                    </a:ext>
                  </a:extLst>
                </p:cNvPr>
                <p:cNvSpPr/>
                <p:nvPr/>
              </p:nvSpPr>
              <p:spPr bwMode="auto">
                <a:xfrm>
                  <a:off x="743997" y="5006565"/>
                  <a:ext cx="3264572" cy="1127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 dirty="0"/>
                    <a:t>通过技术创新，实现行业领先。</a:t>
                  </a: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CA8488D-F70E-428E-A0F3-3284C9A99641}"/>
                </a:ext>
              </a:extLst>
            </p:cNvPr>
            <p:cNvGrpSpPr/>
            <p:nvPr/>
          </p:nvGrpSpPr>
          <p:grpSpPr>
            <a:xfrm>
              <a:off x="4405027" y="2504603"/>
              <a:ext cx="3369248" cy="3629497"/>
              <a:chOff x="660400" y="2504603"/>
              <a:chExt cx="3431766" cy="3629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798C1E5-D1E3-4471-A06E-6879789FBA3E}"/>
                  </a:ext>
                </a:extLst>
              </p:cNvPr>
              <p:cNvSpPr/>
              <p:nvPr/>
            </p:nvSpPr>
            <p:spPr>
              <a:xfrm>
                <a:off x="660400" y="2504603"/>
                <a:ext cx="3431766" cy="1886328"/>
              </a:xfrm>
              <a:prstGeom prst="rect">
                <a:avLst/>
              </a:prstGeom>
              <a:blipFill rotWithShape="0">
                <a:blip r:embed="rId4"/>
                <a:srcRect/>
                <a:stretch>
                  <a:fillRect t="-2050" b="-205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54B1FEB-B821-4079-BE89-DF5F260CCC02}"/>
                  </a:ext>
                </a:extLst>
              </p:cNvPr>
              <p:cNvGrpSpPr/>
              <p:nvPr/>
            </p:nvGrpSpPr>
            <p:grpSpPr>
              <a:xfrm>
                <a:off x="660400" y="4468004"/>
                <a:ext cx="3431766" cy="1666096"/>
                <a:chOff x="743997" y="4468004"/>
                <a:chExt cx="3264572" cy="1666096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41869B8-0BFC-4100-A8B1-1D0BB97D459A}"/>
                    </a:ext>
                  </a:extLst>
                </p:cNvPr>
                <p:cNvSpPr txBox="1"/>
                <p:nvPr/>
              </p:nvSpPr>
              <p:spPr>
                <a:xfrm>
                  <a:off x="743997" y="4468004"/>
                  <a:ext cx="3264572" cy="461488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独特的研发方法论</a:t>
                  </a:r>
                  <a:endParaRPr lang="id-ID" sz="16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5308DBAF-8DDE-4AC8-8347-3D296D92DEC0}"/>
                    </a:ext>
                  </a:extLst>
                </p:cNvPr>
                <p:cNvSpPr/>
                <p:nvPr/>
              </p:nvSpPr>
              <p:spPr bwMode="auto">
                <a:xfrm>
                  <a:off x="743997" y="5006565"/>
                  <a:ext cx="3264572" cy="1127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 dirty="0"/>
                    <a:t>我们采用独特的研发方法论，提高了研发效率和创新能力。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A5B4D6-F706-4D52-B94E-EA795AF18936}"/>
                </a:ext>
              </a:extLst>
            </p:cNvPr>
            <p:cNvGrpSpPr/>
            <p:nvPr/>
          </p:nvGrpSpPr>
          <p:grpSpPr>
            <a:xfrm>
              <a:off x="8149652" y="2504603"/>
              <a:ext cx="3369248" cy="3629497"/>
              <a:chOff x="660400" y="2504603"/>
              <a:chExt cx="3431766" cy="3629497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04F3D1A-3CF7-4BF6-B7F8-E069CF4A4574}"/>
                  </a:ext>
                </a:extLst>
              </p:cNvPr>
              <p:cNvSpPr/>
              <p:nvPr/>
            </p:nvSpPr>
            <p:spPr>
              <a:xfrm>
                <a:off x="660400" y="2504603"/>
                <a:ext cx="3431766" cy="1886328"/>
              </a:xfrm>
              <a:prstGeom prst="rect">
                <a:avLst/>
              </a:prstGeom>
              <a:blipFill rotWithShape="0">
                <a:blip r:embed="rId5"/>
                <a:srcRect/>
                <a:stretch>
                  <a:fillRect t="-1020" b="-102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29F3AEB-1C9C-45EB-9345-ED2B54D923AB}"/>
                  </a:ext>
                </a:extLst>
              </p:cNvPr>
              <p:cNvGrpSpPr/>
              <p:nvPr/>
            </p:nvGrpSpPr>
            <p:grpSpPr>
              <a:xfrm>
                <a:off x="660400" y="4468004"/>
                <a:ext cx="3431766" cy="1666096"/>
                <a:chOff x="743997" y="4468004"/>
                <a:chExt cx="3264572" cy="1666096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1F5E14-3B78-4E08-A9CF-896D1859F62C}"/>
                    </a:ext>
                  </a:extLst>
                </p:cNvPr>
                <p:cNvSpPr txBox="1"/>
                <p:nvPr/>
              </p:nvSpPr>
              <p:spPr>
                <a:xfrm>
                  <a:off x="743997" y="4468004"/>
                  <a:ext cx="3264572" cy="461488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多元化的技术团队</a:t>
                  </a:r>
                  <a:endParaRPr lang="id-ID" sz="16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E387ADE-4C1E-48FF-A32E-F62A5EA86C28}"/>
                    </a:ext>
                  </a:extLst>
                </p:cNvPr>
                <p:cNvSpPr/>
                <p:nvPr/>
              </p:nvSpPr>
              <p:spPr bwMode="auto">
                <a:xfrm>
                  <a:off x="743997" y="5006565"/>
                  <a:ext cx="3264572" cy="1127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 dirty="0"/>
                    <a:t>我们拥有多元化的技术团队，涵盖了各个领域的专业技能。</a:t>
                  </a:r>
                </a:p>
              </p:txBody>
            </p:sp>
          </p:grpSp>
        </p:grpSp>
      </p:grp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技术实力展现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5618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5B1388B-3432-4E35-87DB-4E2A4473F68B}"/>
              </a:ext>
            </a:extLst>
          </p:cNvPr>
          <p:cNvGrpSpPr/>
          <p:nvPr/>
        </p:nvGrpSpPr>
        <p:grpSpPr>
          <a:xfrm>
            <a:off x="6622528" y="4951938"/>
            <a:ext cx="3450550" cy="1033956"/>
            <a:chOff x="6622528" y="4951938"/>
            <a:chExt cx="3450550" cy="103395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2912EC-8780-4B72-A493-0CBCB7A2DAF2}"/>
                </a:ext>
              </a:extLst>
            </p:cNvPr>
            <p:cNvSpPr txBox="1"/>
            <p:nvPr/>
          </p:nvSpPr>
          <p:spPr>
            <a:xfrm>
              <a:off x="7448469" y="5075049"/>
              <a:ext cx="262460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举办技术交流峰会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B49B0B-09E9-4567-BCB8-B6CD25C649C5}"/>
                </a:ext>
              </a:extLst>
            </p:cNvPr>
            <p:cNvSpPr/>
            <p:nvPr/>
          </p:nvSpPr>
          <p:spPr>
            <a:xfrm flipH="1">
              <a:off x="7448465" y="5401119"/>
              <a:ext cx="2624609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促进行业技术交流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FD38D7-C386-46D7-806B-16E03FF51F55}"/>
                </a:ext>
              </a:extLst>
            </p:cNvPr>
            <p:cNvSpPr txBox="1"/>
            <p:nvPr/>
          </p:nvSpPr>
          <p:spPr>
            <a:xfrm>
              <a:off x="6622528" y="4951938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3200" b="1" i="1" dirty="0">
                  <a:solidFill>
                    <a:schemeClr val="tx2"/>
                  </a:solidFill>
                </a:rPr>
                <a:t>03</a:t>
              </a:r>
              <a:endParaRPr lang="zh-CN" altLang="en-US" sz="3200" b="1" i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1FBAFF6-7855-4C54-A60D-0D1A17FB54AE}"/>
              </a:ext>
            </a:extLst>
          </p:cNvPr>
          <p:cNvGrpSpPr/>
          <p:nvPr/>
        </p:nvGrpSpPr>
        <p:grpSpPr>
          <a:xfrm>
            <a:off x="6622529" y="2383462"/>
            <a:ext cx="3418893" cy="1033956"/>
            <a:chOff x="6622529" y="2570908"/>
            <a:chExt cx="3418893" cy="103395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4B4DF-61E5-4976-8C41-7DFBDE76D4C5}"/>
                </a:ext>
              </a:extLst>
            </p:cNvPr>
            <p:cNvSpPr txBox="1"/>
            <p:nvPr/>
          </p:nvSpPr>
          <p:spPr>
            <a:xfrm>
              <a:off x="7416812" y="2694019"/>
              <a:ext cx="262461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加强开源技术共享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01C09C-AC6F-40FE-A3E3-962EE6C7452B}"/>
                </a:ext>
              </a:extLst>
            </p:cNvPr>
            <p:cNvSpPr/>
            <p:nvPr/>
          </p:nvSpPr>
          <p:spPr>
            <a:xfrm flipH="1">
              <a:off x="7416809" y="3020089"/>
              <a:ext cx="2624610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通过技术创新，推动行业的快速发展。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DF9266C-D98D-465F-A468-C4E46FB08001}"/>
                </a:ext>
              </a:extLst>
            </p:cNvPr>
            <p:cNvSpPr txBox="1"/>
            <p:nvPr/>
          </p:nvSpPr>
          <p:spPr>
            <a:xfrm>
              <a:off x="6622529" y="2570908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3200" b="1" i="1" dirty="0">
                  <a:solidFill>
                    <a:schemeClr val="accent1"/>
                  </a:solidFill>
                </a:rPr>
                <a:t>01</a:t>
              </a:r>
              <a:endParaRPr lang="zh-CN" altLang="en-US" sz="3200" b="1" i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88CDB9-E09B-49D4-9230-63AB3A54D736}"/>
              </a:ext>
            </a:extLst>
          </p:cNvPr>
          <p:cNvGrpSpPr/>
          <p:nvPr/>
        </p:nvGrpSpPr>
        <p:grpSpPr>
          <a:xfrm>
            <a:off x="6622529" y="3666010"/>
            <a:ext cx="3418893" cy="1037336"/>
            <a:chOff x="6622529" y="3759733"/>
            <a:chExt cx="3418893" cy="103733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5DEE68-88C1-4976-BD58-806CF10B0CB0}"/>
                </a:ext>
              </a:extLst>
            </p:cNvPr>
            <p:cNvSpPr txBox="1"/>
            <p:nvPr/>
          </p:nvSpPr>
          <p:spPr>
            <a:xfrm>
              <a:off x="7416812" y="3886224"/>
              <a:ext cx="262461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设立技术创新基金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A63328-0E3C-4DC9-A36E-1E0249A7E43C}"/>
                </a:ext>
              </a:extLst>
            </p:cNvPr>
            <p:cNvSpPr/>
            <p:nvPr/>
          </p:nvSpPr>
          <p:spPr>
            <a:xfrm flipH="1">
              <a:off x="7416809" y="4212294"/>
              <a:ext cx="2624610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资助行业创新项目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FED675-60E3-462D-89E9-0B9BB622DEC5}"/>
                </a:ext>
              </a:extLst>
            </p:cNvPr>
            <p:cNvSpPr txBox="1"/>
            <p:nvPr/>
          </p:nvSpPr>
          <p:spPr>
            <a:xfrm>
              <a:off x="6622529" y="3759733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3200" b="1" i="1" dirty="0">
                  <a:solidFill>
                    <a:schemeClr val="tx2"/>
                  </a:solidFill>
                </a:rPr>
                <a:t>02</a:t>
              </a:r>
              <a:endParaRPr lang="zh-CN" altLang="en-US" sz="3200" b="1" i="1" dirty="0">
                <a:solidFill>
                  <a:schemeClr val="tx2"/>
                </a:solidFill>
              </a:endParaRPr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9E85CA5-AEAF-4BFB-9A8A-2BB38F24D0C5}"/>
              </a:ext>
            </a:extLst>
          </p:cNvPr>
          <p:cNvSpPr/>
          <p:nvPr/>
        </p:nvSpPr>
        <p:spPr bwMode="auto">
          <a:xfrm>
            <a:off x="941246" y="2332639"/>
            <a:ext cx="3811603" cy="3743969"/>
          </a:xfrm>
          <a:custGeom>
            <a:avLst/>
            <a:gdLst>
              <a:gd name="T0" fmla="*/ 1254 w 1400"/>
              <a:gd name="T1" fmla="*/ 0 h 1375"/>
              <a:gd name="T2" fmla="*/ 146 w 1400"/>
              <a:gd name="T3" fmla="*/ 120 h 1375"/>
              <a:gd name="T4" fmla="*/ 0 w 1400"/>
              <a:gd name="T5" fmla="*/ 265 h 1375"/>
              <a:gd name="T6" fmla="*/ 0 w 1400"/>
              <a:gd name="T7" fmla="*/ 1122 h 1375"/>
              <a:gd name="T8" fmla="*/ 146 w 1400"/>
              <a:gd name="T9" fmla="*/ 1267 h 1375"/>
              <a:gd name="T10" fmla="*/ 1254 w 1400"/>
              <a:gd name="T11" fmla="*/ 1375 h 1375"/>
              <a:gd name="T12" fmla="*/ 1400 w 1400"/>
              <a:gd name="T13" fmla="*/ 1230 h 1375"/>
              <a:gd name="T14" fmla="*/ 1400 w 1400"/>
              <a:gd name="T15" fmla="*/ 145 h 1375"/>
              <a:gd name="T16" fmla="*/ 1254 w 1400"/>
              <a:gd name="T17" fmla="*/ 0 h 1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00" h="1375">
                <a:moveTo>
                  <a:pt x="1254" y="0"/>
                </a:moveTo>
                <a:cubicBezTo>
                  <a:pt x="146" y="120"/>
                  <a:pt x="146" y="120"/>
                  <a:pt x="146" y="120"/>
                </a:cubicBezTo>
                <a:cubicBezTo>
                  <a:pt x="66" y="120"/>
                  <a:pt x="0" y="185"/>
                  <a:pt x="0" y="265"/>
                </a:cubicBezTo>
                <a:cubicBezTo>
                  <a:pt x="0" y="1122"/>
                  <a:pt x="0" y="1122"/>
                  <a:pt x="0" y="1122"/>
                </a:cubicBezTo>
                <a:cubicBezTo>
                  <a:pt x="0" y="1202"/>
                  <a:pt x="66" y="1267"/>
                  <a:pt x="146" y="1267"/>
                </a:cubicBezTo>
                <a:cubicBezTo>
                  <a:pt x="1254" y="1375"/>
                  <a:pt x="1254" y="1375"/>
                  <a:pt x="1254" y="1375"/>
                </a:cubicBezTo>
                <a:cubicBezTo>
                  <a:pt x="1334" y="1375"/>
                  <a:pt x="1400" y="1310"/>
                  <a:pt x="1400" y="1230"/>
                </a:cubicBezTo>
                <a:cubicBezTo>
                  <a:pt x="1400" y="145"/>
                  <a:pt x="1400" y="145"/>
                  <a:pt x="1400" y="145"/>
                </a:cubicBezTo>
                <a:cubicBezTo>
                  <a:pt x="1400" y="65"/>
                  <a:pt x="1334" y="0"/>
                  <a:pt x="1254" y="0"/>
                </a:cubicBezTo>
              </a:path>
            </a:pathLst>
          </a:custGeom>
          <a:blipFill rotWithShape="0">
            <a:blip r:embed="rId3"/>
            <a:srcRect/>
            <a:stretch>
              <a:fillRect l="-23730" r="-23730"/>
            </a:stretch>
          </a:blip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b="1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F8A0A0-9514-4087-9A17-4004558A3071}"/>
              </a:ext>
            </a:extLst>
          </p:cNvPr>
          <p:cNvSpPr/>
          <p:nvPr/>
        </p:nvSpPr>
        <p:spPr>
          <a:xfrm>
            <a:off x="660400" y="885439"/>
            <a:ext cx="10858500" cy="834825"/>
          </a:xfrm>
          <a:prstGeom prst="rect">
            <a:avLst/>
          </a:prstGeom>
        </p:spPr>
        <p:txBody>
          <a:bodyPr wrap="square" anchor="b" anchorCtr="0">
            <a:noAutofit/>
          </a:bodyPr>
          <a:lstStyle/>
          <a:p>
            <a:pPr algn="ctr">
              <a:lnSpc>
                <a:spcPct val="100000"/>
              </a:lnSpc>
              <a:buSzPct val="25000"/>
            </a:pPr>
            <a:r>
              <a:rPr lang="zh-CN" altLang="en-US" sz="2400" b="1" dirty="0">
                <a:solidFill>
                  <a:schemeClr val="tx1"/>
                </a:solidFill>
              </a:rPr>
              <a:t>共同推进行业技术创新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7699DA-5CB7-4535-8242-729391733204}"/>
              </a:ext>
            </a:extLst>
          </p:cNvPr>
          <p:cNvSpPr txBox="1"/>
          <p:nvPr/>
        </p:nvSpPr>
        <p:spPr>
          <a:xfrm>
            <a:off x="660400" y="1732964"/>
            <a:ext cx="10858500" cy="29482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呼吁行业内各方加强合作，共同推进行业技术创新，共享行业资源，共创行业辉煌。</a:t>
            </a:r>
          </a:p>
        </p:txBody>
      </p: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行业发展倡议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034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B36C6B78-BB28-A822-C902-F81452AAFDDF}"/>
              </a:ext>
            </a:extLst>
          </p:cNvPr>
          <p:cNvGrpSpPr/>
          <p:nvPr/>
        </p:nvGrpSpPr>
        <p:grpSpPr>
          <a:xfrm>
            <a:off x="660400" y="1130300"/>
            <a:ext cx="10871199" cy="5003800"/>
            <a:chOff x="660400" y="1130300"/>
            <a:chExt cx="10871199" cy="500380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A2B125F-5142-336B-4A83-C38DC5F06017}"/>
                </a:ext>
              </a:extLst>
            </p:cNvPr>
            <p:cNvSpPr txBox="1"/>
            <p:nvPr/>
          </p:nvSpPr>
          <p:spPr>
            <a:xfrm>
              <a:off x="660400" y="1130300"/>
              <a:ext cx="95327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共享与发展的呼吁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C114BCF-8ACF-92F3-D79E-64124BF6D10D}"/>
                </a:ext>
              </a:extLst>
            </p:cNvPr>
            <p:cNvSpPr txBox="1"/>
            <p:nvPr/>
          </p:nvSpPr>
          <p:spPr>
            <a:xfrm>
              <a:off x="660400" y="1715075"/>
              <a:ext cx="9532720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我们期待未来能与同行一起合作，共享资源，共创辉煌。</a:t>
              </a:r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145021D-81F6-AF0F-8431-8A651F050ED1}"/>
                </a:ext>
              </a:extLst>
            </p:cNvPr>
            <p:cNvGrpSpPr/>
            <p:nvPr/>
          </p:nvGrpSpPr>
          <p:grpSpPr>
            <a:xfrm>
              <a:off x="660401" y="2879969"/>
              <a:ext cx="2824474" cy="3254131"/>
              <a:chOff x="660401" y="2601316"/>
              <a:chExt cx="2824474" cy="3254131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9D98E8F-E0B2-24EB-58E0-32E73441EAEC}"/>
                  </a:ext>
                </a:extLst>
              </p:cNvPr>
              <p:cNvSpPr/>
              <p:nvPr/>
            </p:nvSpPr>
            <p:spPr>
              <a:xfrm>
                <a:off x="660401" y="2601316"/>
                <a:ext cx="2824474" cy="3254131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 cap="flat">
                <a:solidFill>
                  <a:schemeClr val="accent1"/>
                </a:solidFill>
                <a:prstDash val="solid"/>
                <a:miter/>
              </a:ln>
              <a:effectLst>
                <a:outerShdw dist="50800" dir="2700000" algn="ctr" rotWithShape="0">
                  <a:schemeClr val="accent1"/>
                </a:outerShdw>
              </a:effectLst>
            </p:spPr>
            <p:txBody>
              <a:bodyPr rtlCol="0" anchor="ctr"/>
              <a:lstStyle/>
              <a:p>
                <a:endParaRPr lang="en-US" altLang="zh-CN" dirty="0">
                  <a:solidFill>
                    <a:schemeClr val="accent1"/>
                  </a:solidFill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894C574-A4F3-9C8E-7B63-1E43ADBEA4F6}"/>
                  </a:ext>
                </a:extLst>
              </p:cNvPr>
              <p:cNvGrpSpPr/>
              <p:nvPr/>
            </p:nvGrpSpPr>
            <p:grpSpPr>
              <a:xfrm>
                <a:off x="765380" y="3085868"/>
                <a:ext cx="2614517" cy="1610081"/>
                <a:chOff x="934727" y="3085868"/>
                <a:chExt cx="2614517" cy="1610081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C0FF574-7C3B-825B-07DF-12B3448AFD9F}"/>
                    </a:ext>
                  </a:extLst>
                </p:cNvPr>
                <p:cNvSpPr txBox="1"/>
                <p:nvPr/>
              </p:nvSpPr>
              <p:spPr>
                <a:xfrm>
                  <a:off x="934727" y="3085868"/>
                  <a:ext cx="954108" cy="92333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ctr" anchorCtr="0">
                  <a:spAutoFit/>
                </a:bodyPr>
                <a:lstStyle/>
                <a:p>
                  <a:r>
                    <a:rPr kumimoji="1" lang="en-US" altLang="zh-CN" sz="5400" b="1" dirty="0">
                      <a:solidFill>
                        <a:schemeClr val="accent1"/>
                      </a:solidFill>
                    </a:rPr>
                    <a:t>01</a:t>
                  </a:r>
                  <a:endParaRPr kumimoji="1" lang="zh-CN" altLang="en-US" sz="54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472CBB02-7BF6-DF1F-A234-03CBCEB6A47A}"/>
                    </a:ext>
                  </a:extLst>
                </p:cNvPr>
                <p:cNvSpPr/>
                <p:nvPr/>
              </p:nvSpPr>
              <p:spPr>
                <a:xfrm>
                  <a:off x="934727" y="3968914"/>
                  <a:ext cx="199928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深度合作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5EE33D0-578D-DB69-76FF-E050BB9BCEAC}"/>
                    </a:ext>
                  </a:extLst>
                </p:cNvPr>
                <p:cNvSpPr/>
                <p:nvPr/>
              </p:nvSpPr>
              <p:spPr>
                <a:xfrm>
                  <a:off x="934727" y="4401125"/>
                  <a:ext cx="2614517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共同推进行业发展</a:t>
                  </a:r>
                  <a:endParaRPr kumimoji="1" lang="en-US" altLang="zh-CN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AA0F5D7-85CE-BEAE-3709-10F5D549D867}"/>
                </a:ext>
              </a:extLst>
            </p:cNvPr>
            <p:cNvGrpSpPr/>
            <p:nvPr/>
          </p:nvGrpSpPr>
          <p:grpSpPr>
            <a:xfrm>
              <a:off x="4683763" y="2879969"/>
              <a:ext cx="2824474" cy="3254131"/>
              <a:chOff x="660401" y="2601316"/>
              <a:chExt cx="2824474" cy="3254131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BDD902C7-C1B4-8C8D-7365-065E54136C22}"/>
                  </a:ext>
                </a:extLst>
              </p:cNvPr>
              <p:cNvSpPr/>
              <p:nvPr/>
            </p:nvSpPr>
            <p:spPr>
              <a:xfrm>
                <a:off x="660401" y="2601316"/>
                <a:ext cx="2824474" cy="3254131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 cap="flat">
                <a:solidFill>
                  <a:schemeClr val="tx2"/>
                </a:solidFill>
                <a:prstDash val="solid"/>
                <a:miter/>
              </a:ln>
              <a:effectLst>
                <a:outerShdw dist="50800" dir="2700000" algn="ctr" rotWithShape="0">
                  <a:schemeClr val="tx2"/>
                </a:outerShdw>
              </a:effectLst>
            </p:spPr>
            <p:txBody>
              <a:bodyPr rtlCol="0" anchor="ctr"/>
              <a:lstStyle/>
              <a:p>
                <a:endParaRPr lang="en-US" altLang="zh-CN" dirty="0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50D84B5-7B85-2FDD-368E-30BC2F674184}"/>
                  </a:ext>
                </a:extLst>
              </p:cNvPr>
              <p:cNvGrpSpPr/>
              <p:nvPr/>
            </p:nvGrpSpPr>
            <p:grpSpPr>
              <a:xfrm>
                <a:off x="765380" y="3085868"/>
                <a:ext cx="2614517" cy="1610081"/>
                <a:chOff x="934727" y="3085868"/>
                <a:chExt cx="2614517" cy="1610081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5734924-263D-A024-6FB5-1580C1080DA1}"/>
                    </a:ext>
                  </a:extLst>
                </p:cNvPr>
                <p:cNvSpPr txBox="1"/>
                <p:nvPr/>
              </p:nvSpPr>
              <p:spPr>
                <a:xfrm>
                  <a:off x="934727" y="3085868"/>
                  <a:ext cx="954108" cy="92333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ctr" anchorCtr="0">
                  <a:spAutoFit/>
                </a:bodyPr>
                <a:lstStyle/>
                <a:p>
                  <a:r>
                    <a:rPr kumimoji="1" lang="en-US" altLang="zh-CN" sz="5400" b="1" dirty="0">
                      <a:solidFill>
                        <a:schemeClr val="tx2"/>
                      </a:solidFill>
                    </a:rPr>
                    <a:t>02</a:t>
                  </a:r>
                  <a:endParaRPr kumimoji="1" lang="zh-CN" altLang="en-US" sz="54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821466B-9D61-387C-FE76-EAD83EC09065}"/>
                    </a:ext>
                  </a:extLst>
                </p:cNvPr>
                <p:cNvSpPr/>
                <p:nvPr/>
              </p:nvSpPr>
              <p:spPr>
                <a:xfrm>
                  <a:off x="934727" y="3968914"/>
                  <a:ext cx="199928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资源共享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983DC0C-2FAB-1DE2-8CC5-78CE89395687}"/>
                    </a:ext>
                  </a:extLst>
                </p:cNvPr>
                <p:cNvSpPr/>
                <p:nvPr/>
              </p:nvSpPr>
              <p:spPr>
                <a:xfrm>
                  <a:off x="934727" y="4401125"/>
                  <a:ext cx="2614517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开放合作，共同成长</a:t>
                  </a:r>
                  <a:endParaRPr kumimoji="1" lang="en-US" altLang="zh-CN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2C568F3-92DB-55D6-1C58-28779592B93E}"/>
                </a:ext>
              </a:extLst>
            </p:cNvPr>
            <p:cNvGrpSpPr/>
            <p:nvPr/>
          </p:nvGrpSpPr>
          <p:grpSpPr>
            <a:xfrm>
              <a:off x="8707125" y="2879969"/>
              <a:ext cx="2824474" cy="3254131"/>
              <a:chOff x="660401" y="2601316"/>
              <a:chExt cx="2824474" cy="3254131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8785AA08-ACCA-54F0-F7FB-6CDEEF0CEA57}"/>
                  </a:ext>
                </a:extLst>
              </p:cNvPr>
              <p:cNvSpPr/>
              <p:nvPr/>
            </p:nvSpPr>
            <p:spPr>
              <a:xfrm>
                <a:off x="660401" y="2601316"/>
                <a:ext cx="2824474" cy="3254131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 cap="flat">
                <a:solidFill>
                  <a:schemeClr val="tx2"/>
                </a:solidFill>
                <a:prstDash val="solid"/>
                <a:miter/>
              </a:ln>
              <a:effectLst>
                <a:outerShdw dist="50800" dir="2700000" algn="ctr" rotWithShape="0">
                  <a:schemeClr val="tx2"/>
                </a:outerShdw>
              </a:effectLst>
            </p:spPr>
            <p:txBody>
              <a:bodyPr rtlCol="0" anchor="ctr"/>
              <a:lstStyle/>
              <a:p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7BACC38-7C5D-C90D-DD4B-51752B0B5CBF}"/>
                  </a:ext>
                </a:extLst>
              </p:cNvPr>
              <p:cNvGrpSpPr/>
              <p:nvPr/>
            </p:nvGrpSpPr>
            <p:grpSpPr>
              <a:xfrm>
                <a:off x="765380" y="3085868"/>
                <a:ext cx="2614517" cy="1610081"/>
                <a:chOff x="934727" y="3085868"/>
                <a:chExt cx="2614517" cy="1610081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749D5BF-2EC4-4CEE-C2D5-5A0D0B9060EC}"/>
                    </a:ext>
                  </a:extLst>
                </p:cNvPr>
                <p:cNvSpPr txBox="1"/>
                <p:nvPr/>
              </p:nvSpPr>
              <p:spPr>
                <a:xfrm>
                  <a:off x="934727" y="3085868"/>
                  <a:ext cx="954108" cy="92333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ctr" anchorCtr="0">
                  <a:spAutoFit/>
                </a:bodyPr>
                <a:lstStyle/>
                <a:p>
                  <a:r>
                    <a:rPr kumimoji="1" lang="en-US" altLang="zh-CN" sz="5400" b="1" dirty="0">
                      <a:solidFill>
                        <a:schemeClr val="tx2"/>
                      </a:solidFill>
                    </a:rPr>
                    <a:t>03</a:t>
                  </a:r>
                  <a:endParaRPr kumimoji="1" lang="zh-CN" altLang="en-US" sz="54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1D8AE2F-F886-4CC2-71F0-2C3DE9833949}"/>
                    </a:ext>
                  </a:extLst>
                </p:cNvPr>
                <p:cNvSpPr/>
                <p:nvPr/>
              </p:nvSpPr>
              <p:spPr>
                <a:xfrm>
                  <a:off x="934727" y="3968914"/>
                  <a:ext cx="199928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共创辉煌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4A79A80F-0D58-D910-ED15-B514E0C0C9AE}"/>
                    </a:ext>
                  </a:extLst>
                </p:cNvPr>
                <p:cNvSpPr/>
                <p:nvPr/>
              </p:nvSpPr>
              <p:spPr>
                <a:xfrm>
                  <a:off x="934727" y="4401125"/>
                  <a:ext cx="2614517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共同打造行业的未来</a:t>
                  </a:r>
                  <a:endParaRPr kumimoji="1" lang="en-US" altLang="zh-CN" sz="1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A5F34FAA-E367-6F7F-DAE7-22BA74A44352}"/>
                </a:ext>
              </a:extLst>
            </p:cNvPr>
            <p:cNvSpPr/>
            <p:nvPr/>
          </p:nvSpPr>
          <p:spPr>
            <a:xfrm>
              <a:off x="3812889" y="4247567"/>
              <a:ext cx="574435" cy="661089"/>
            </a:xfrm>
            <a:prstGeom prst="rightArrow">
              <a:avLst/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01E72F54-FC21-859E-0323-0C658A7CBCF3}"/>
                </a:ext>
              </a:extLst>
            </p:cNvPr>
            <p:cNvSpPr/>
            <p:nvPr/>
          </p:nvSpPr>
          <p:spPr>
            <a:xfrm>
              <a:off x="7820463" y="4247566"/>
              <a:ext cx="574435" cy="661089"/>
            </a:xfrm>
            <a:prstGeom prst="rightArrow">
              <a:avLst/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未来合作展望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0857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none">
            <a:normAutofit/>
          </a:bodyPr>
          <a:lstStyle/>
          <a:p>
            <a:pPr lvl="0"/>
            <a:r>
              <a:rPr lang="en-US"/>
              <a:t>www.officeplus.cn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09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IMAGE" val="New_Batches_0407_Outline/20240407/images_texture_8001_9000/136e2685-da3e-46c7-9b6f-45b3703cdbe8-1.source.default.zh-Hans.jpg"/>
  <p:tag name="OFFICEPLUS.THEME" val="New_Batches_0407_Outline/20240407/images_texture_8001_9000/136e2685-da3e-46c7-9b6f-45b3703cdbe8-1.source.default.zh-Hans-5.pptx"/>
  <p:tag name="OFFICEPLUS.OUTLINE" val="1744035"/>
  <p:tag name="OFFICEPLUS.OUTLINEEXTERNAL" val="06774edd-c867-7326-5cab-fc5a659f42c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03a12446-4040-4dad-8d54-bb681f1089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7bbc12ee-40ec-489f-ab8c-4fa55cf2bf59"/>
  <p:tag name="OFFICEPLUS.TEMPLATE" val="28d67dd3-61fe-4c81-b9af-e895c260dca3.pptx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14884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2f38a169-d8db-404f-bcd0-1f31caec2321.pptx"/>
  <p:tag name="OFFICEPLUS.TAG" val="bd142c3d-b2ac-49d2-945d-a40ea7d68a02"/>
  <p:tag name="OFFICEPLUS.OUTLINECONTENT" val="4341436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3d92073f-abde-43e0-9e86-c3de26b3d62c.pptx"/>
  <p:tag name="OFFICEPLUS.TAG" val="bd142c3d-b2ac-49d2-945d-a40ea7d68a02"/>
  <p:tag name="OFFICEPLUS.OUTLINECONTENT" val="4341437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2c74be83-da7d-412b-b3b4-856b900ed24e.pptx"/>
  <p:tag name="OFFICEPLUS.TAG" val="bd142c3d-b2ac-49d2-945d-a40ea7d68a02"/>
  <p:tag name="OFFICEPLUS.OUTLINECONTENT" val="4341437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148842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dfed739c-9231-4e46-99c3-c889f0a61ec7.pptx"/>
  <p:tag name="OFFICEPLUS.TAG" val="bd142c3d-b2ac-49d2-945d-a40ea7d68a02"/>
  <p:tag name="OFFICEPLUS.OUTLINECONTENT" val="4341437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83f6273-f2cc-4544-a59a-5e7bb0dc67c2.pptx"/>
  <p:tag name="OFFICEPLUS.TAG" val="bd142c3d-b2ac-49d2-945d-a40ea7d68a02"/>
  <p:tag name="OFFICEPLUS.OUTLINECONTENT" val="434143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ba781c6e-0d9c-426f-a7b4-af1878773f64.pptx"/>
  <p:tag name="OFFICEPLUS.TAG" val="bd142c3d-b2ac-49d2-945d-a40ea7d68a02"/>
  <p:tag name="OFFICEPLUS.OUTLINECONTENT" val="4341438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14884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95e0156-fb43-4cf5-8eea-0f25a2d195a5.pptx"/>
  <p:tag name="OFFICEPLUS.TAG" val="2beb2bf3-40ba-4876-8eff-8450af69fbd8"/>
  <p:tag name="OFFICEPLUS.OUTLINECONTENT" val="4341439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b32f738-915f-44b7-8a45-1d071770fc43.pptx"/>
  <p:tag name="OFFICEPLUS.TAG" val="bd142c3d-b2ac-49d2-945d-a40ea7d68a02"/>
  <p:tag name="OFFICEPLUS.OUTLINECONTENT" val="4341439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ab8497e-8f97-43cd-9e78-6a136c213d35.pptx"/>
  <p:tag name="OFFICEPLUS.TAG" val="bd142c3d-b2ac-49d2-945d-a40ea7d68a02"/>
  <p:tag name="OFFICEPLUS.OUTLINECONTENT" val="4341439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148843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f965b191-3969-4379-b471-705e236e1451.pptx"/>
  <p:tag name="OFFICEPLUS.TAG" val="bd142c3d-b2ac-49d2-945d-a40ea7d68a02"/>
  <p:tag name="OFFICEPLUS.OUTLINECONTENT" val="4341440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a8681911-42ee-4dc7-a124-7d78761b16be.pptx"/>
  <p:tag name="OFFICEPLUS.TAG" val="bd142c3d-b2ac-49d2-945d-a40ea7d68a02"/>
  <p:tag name="OFFICEPLUS.OUTLINECONTENT" val="4341440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e0f11ef8-5f1f-4bf9-8525-2dff97757bb6.pptx"/>
  <p:tag name="OFFICEPLUS.TAG" val="bd142c3d-b2ac-49d2-945d-a40ea7d68a02"/>
  <p:tag name="OFFICEPLUS.OUTLINECONTENT" val="4341440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148843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d54ef2d4-6884-4b12-9ef8-f817d511018c.pptx"/>
  <p:tag name="OFFICEPLUS.TAG" val="bd142c3d-b2ac-49d2-945d-a40ea7d68a02"/>
  <p:tag name="OFFICEPLUS.OUTLINECONTENT" val="434144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11ec0530-91b3-4703-9ed7-2e025b1e6564.pptx"/>
  <p:tag name="OFFICEPLUS.TAG" val="bd142c3d-b2ac-49d2-945d-a40ea7d68a02"/>
  <p:tag name="OFFICEPLUS.OUTLINECONTENT" val="4341441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62b453d4-b714-4290-a53d-91a235ff70d3.pptx"/>
  <p:tag name="OFFICEPLUS.TAG" val="bd142c3d-b2ac-49d2-945d-a40ea7d68a02"/>
  <p:tag name="OFFICEPLUS.OUTLINECONTENT" val="4341441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e69c5ac3-dafd-4b9a-bbf1-d26a1016f816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5775FF"/>
      </a:accent1>
      <a:accent2>
        <a:srgbClr val="0039B4"/>
      </a:accent2>
      <a:accent3>
        <a:srgbClr val="3BCDFF"/>
      </a:accent3>
      <a:accent4>
        <a:srgbClr val="001C7F"/>
      </a:accent4>
      <a:accent5>
        <a:srgbClr val="67CEFF"/>
      </a:accent5>
      <a:accent6>
        <a:srgbClr val="1488FF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1179</Words>
  <Application>Microsoft Office PowerPoint</Application>
  <PresentationFormat>Widescreen</PresentationFormat>
  <Paragraphs>199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等线</vt:lpstr>
      <vt:lpstr>Arial</vt:lpstr>
      <vt:lpstr>Designed by OfficePLUS</vt:lpstr>
      <vt:lpstr>技术创新引领</vt:lpstr>
      <vt:lpstr>PowerPoint Presentation</vt:lpstr>
      <vt:lpstr>01.公司技术成果展示</vt:lpstr>
      <vt:lpstr>核心技术展示</vt:lpstr>
      <vt:lpstr>创新理念分享</vt:lpstr>
      <vt:lpstr>创新与成果转化</vt:lpstr>
      <vt:lpstr>02.研发团队的工作方式</vt:lpstr>
      <vt:lpstr>研发团队介绍</vt:lpstr>
      <vt:lpstr>工作方式解析</vt:lpstr>
      <vt:lpstr>效率提升策略</vt:lpstr>
      <vt:lpstr>03.公司在行业的影响力</vt:lpstr>
      <vt:lpstr>行业地位分析</vt:lpstr>
      <vt:lpstr>探讨，技术的魅力</vt:lpstr>
      <vt:lpstr>领导者之路</vt:lpstr>
      <vt:lpstr>04.公司技术革新案例分享</vt:lpstr>
      <vt:lpstr>案例一解析</vt:lpstr>
      <vt:lpstr>案例二解析</vt:lpstr>
      <vt:lpstr>未来影响预测</vt:lpstr>
      <vt:lpstr>05.共享与发展的呼吁</vt:lpstr>
      <vt:lpstr>技术实力展现</vt:lpstr>
      <vt:lpstr>行业发展倡议</vt:lpstr>
      <vt:lpstr>未来合作展望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admini</cp:lastModifiedBy>
  <cp:revision>2</cp:revision>
  <dcterms:created xsi:type="dcterms:W3CDTF">2023-07-20T03:04:31Z</dcterms:created>
  <dcterms:modified xsi:type="dcterms:W3CDTF">2024-05-14T09:09:17Z</dcterms:modified>
</cp:coreProperties>
</file>