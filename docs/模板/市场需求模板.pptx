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57" d="100"/>
          <a:sy n="57" d="100"/>
        </p:scale>
        <p:origin x="38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2024/2/6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CC2F2B3F-8264-D412-982A-E50E20EB6983}"/>
              </a:ext>
            </a:extLst>
          </p:cNvPr>
          <p:cNvGrpSpPr/>
          <p:nvPr/>
        </p:nvGrpSpPr>
        <p:grpSpPr>
          <a:xfrm>
            <a:off x="0" y="0"/>
            <a:ext cx="12192000" cy="5769710"/>
            <a:chOff x="0" y="0"/>
            <a:chExt cx="12192000" cy="576971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146541E-3E29-D945-12E3-544F5E4C28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90" y="126045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EDBAF58-5BD4-868C-BF66-75DDCA1A22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638" y="361020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BD10C9-13AC-1462-A143-AD71C9829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l="-2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013FC9A-D8F3-5135-99FF-99DF0A355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3833873-DE9B-D5C1-4042-63DCB1537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8A75AA3-ABAA-D981-AB71-F279C2AA1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4119562"/>
              <a:ext cx="4183063" cy="1266825"/>
            </a:xfrm>
            <a:custGeom>
              <a:avLst/>
              <a:gdLst>
                <a:gd name="T0" fmla="*/ 2635 w 2635"/>
                <a:gd name="T1" fmla="*/ 0 h 798"/>
                <a:gd name="T2" fmla="*/ 18 w 2635"/>
                <a:gd name="T3" fmla="*/ 0 h 798"/>
                <a:gd name="T4" fmla="*/ 0 w 2635"/>
                <a:gd name="T5" fmla="*/ 33 h 798"/>
                <a:gd name="T6" fmla="*/ 2582 w 2635"/>
                <a:gd name="T7" fmla="*/ 33 h 798"/>
                <a:gd name="T8" fmla="*/ 2178 w 2635"/>
                <a:gd name="T9" fmla="*/ 798 h 798"/>
                <a:gd name="T10" fmla="*/ 2215 w 2635"/>
                <a:gd name="T11" fmla="*/ 798 h 798"/>
                <a:gd name="T12" fmla="*/ 2635 w 2635"/>
                <a:gd name="T13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5" h="798">
                  <a:moveTo>
                    <a:pt x="2635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582" y="33"/>
                  </a:lnTo>
                  <a:lnTo>
                    <a:pt x="2178" y="798"/>
                  </a:lnTo>
                  <a:lnTo>
                    <a:pt x="2215" y="798"/>
                  </a:lnTo>
                  <a:lnTo>
                    <a:pt x="26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49EE902-4260-AAA1-A424-6607CC1F7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1314450"/>
              <a:ext cx="1863725" cy="1798638"/>
            </a:xfrm>
            <a:custGeom>
              <a:avLst/>
              <a:gdLst>
                <a:gd name="T0" fmla="*/ 1174 w 1174"/>
                <a:gd name="T1" fmla="*/ 0 h 1133"/>
                <a:gd name="T2" fmla="*/ 637 w 1174"/>
                <a:gd name="T3" fmla="*/ 0 h 1133"/>
                <a:gd name="T4" fmla="*/ 619 w 1174"/>
                <a:gd name="T5" fmla="*/ 33 h 1133"/>
                <a:gd name="T6" fmla="*/ 1121 w 1174"/>
                <a:gd name="T7" fmla="*/ 33 h 1133"/>
                <a:gd name="T8" fmla="*/ 555 w 1174"/>
                <a:gd name="T9" fmla="*/ 1100 h 1133"/>
                <a:gd name="T10" fmla="*/ 18 w 1174"/>
                <a:gd name="T11" fmla="*/ 1100 h 1133"/>
                <a:gd name="T12" fmla="*/ 0 w 1174"/>
                <a:gd name="T13" fmla="*/ 1133 h 1133"/>
                <a:gd name="T14" fmla="*/ 576 w 1174"/>
                <a:gd name="T15" fmla="*/ 1133 h 1133"/>
                <a:gd name="T16" fmla="*/ 1174 w 1174"/>
                <a:gd name="T17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4" h="1133">
                  <a:moveTo>
                    <a:pt x="1174" y="0"/>
                  </a:moveTo>
                  <a:lnTo>
                    <a:pt x="637" y="0"/>
                  </a:lnTo>
                  <a:lnTo>
                    <a:pt x="619" y="33"/>
                  </a:lnTo>
                  <a:lnTo>
                    <a:pt x="1121" y="33"/>
                  </a:lnTo>
                  <a:lnTo>
                    <a:pt x="555" y="1100"/>
                  </a:lnTo>
                  <a:lnTo>
                    <a:pt x="18" y="1100"/>
                  </a:lnTo>
                  <a:lnTo>
                    <a:pt x="0" y="1133"/>
                  </a:lnTo>
                  <a:lnTo>
                    <a:pt x="576" y="1133"/>
                  </a:lnTo>
                  <a:lnTo>
                    <a:pt x="11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86378C5-9761-0719-4296-E81E1505F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097087"/>
              <a:ext cx="8305800" cy="2951163"/>
            </a:xfrm>
            <a:custGeom>
              <a:avLst/>
              <a:gdLst>
                <a:gd name="T0" fmla="*/ 4399 w 5232"/>
                <a:gd name="T1" fmla="*/ 1542 h 1542"/>
                <a:gd name="T2" fmla="*/ 0 w 5232"/>
                <a:gd name="T3" fmla="*/ 1542 h 1542"/>
                <a:gd name="T4" fmla="*/ 0 w 5232"/>
                <a:gd name="T5" fmla="*/ 0 h 1542"/>
                <a:gd name="T6" fmla="*/ 5232 w 5232"/>
                <a:gd name="T7" fmla="*/ 0 h 1542"/>
                <a:gd name="T8" fmla="*/ 4399 w 5232"/>
                <a:gd name="T9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2" h="1542">
                  <a:moveTo>
                    <a:pt x="4399" y="1542"/>
                  </a:moveTo>
                  <a:lnTo>
                    <a:pt x="0" y="1542"/>
                  </a:lnTo>
                  <a:lnTo>
                    <a:pt x="0" y="0"/>
                  </a:lnTo>
                  <a:lnTo>
                    <a:pt x="5232" y="0"/>
                  </a:lnTo>
                  <a:lnTo>
                    <a:pt x="4399" y="15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81521" y="2405994"/>
            <a:ext cx="6085255" cy="158365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ln w="19050">
                  <a:noFill/>
                </a:ln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81521" y="4110044"/>
            <a:ext cx="6085255" cy="57985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9817099" y="5857100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857101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 dirty="0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1106812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l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328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gradFill>
          <a:gsLst>
            <a:gs pos="0">
              <a:schemeClr val="accent1">
                <a:lumMod val="75000"/>
              </a:schemeClr>
            </a:gs>
            <a:gs pos="100000">
              <a:schemeClr val="accent1">
                <a:alpha val="9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055CB3D-0A38-207B-6E8D-39B71B0D17C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551EF1-1798-40CF-9662-42B8B3CB6AA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l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BE4D23-1D3B-F555-3A18-F2B9FABC4E1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561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 hasCustomPrompt="1"/>
          </p:nvPr>
        </p:nvSpPr>
        <p:spPr>
          <a:xfrm>
            <a:off x="3745077" y="1500188"/>
            <a:ext cx="7773823" cy="463391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2024/2/6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11" name="Group 10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2" name="Straight Connector 11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Freeform: Shape 12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1499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FA76AE-6115-2021-BBD3-70953EB547A9}"/>
              </a:ext>
            </a:extLst>
          </p:cNvPr>
          <p:cNvGrpSpPr/>
          <p:nvPr/>
        </p:nvGrpSpPr>
        <p:grpSpPr>
          <a:xfrm flipH="1">
            <a:off x="0" y="0"/>
            <a:ext cx="12192000" cy="5769710"/>
            <a:chOff x="0" y="0"/>
            <a:chExt cx="12192000" cy="576971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15B95FE-48D1-E5F3-023D-3A370C0E40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90" y="126045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FB9F766-62E7-A965-E417-0E62A8288D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638" y="361020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03AD399-1EFF-F80D-8909-B4A733C22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l="-2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4D70192-A0C0-DDC9-4D8A-F57EDE240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EED6A1A-B00A-0C1B-ACD8-750293AEB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11DD74E-CE1E-E08B-5F80-F2A0D99FF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4119562"/>
              <a:ext cx="4183063" cy="1266825"/>
            </a:xfrm>
            <a:custGeom>
              <a:avLst/>
              <a:gdLst>
                <a:gd name="T0" fmla="*/ 2635 w 2635"/>
                <a:gd name="T1" fmla="*/ 0 h 798"/>
                <a:gd name="T2" fmla="*/ 18 w 2635"/>
                <a:gd name="T3" fmla="*/ 0 h 798"/>
                <a:gd name="T4" fmla="*/ 0 w 2635"/>
                <a:gd name="T5" fmla="*/ 33 h 798"/>
                <a:gd name="T6" fmla="*/ 2582 w 2635"/>
                <a:gd name="T7" fmla="*/ 33 h 798"/>
                <a:gd name="T8" fmla="*/ 2178 w 2635"/>
                <a:gd name="T9" fmla="*/ 798 h 798"/>
                <a:gd name="T10" fmla="*/ 2215 w 2635"/>
                <a:gd name="T11" fmla="*/ 798 h 798"/>
                <a:gd name="T12" fmla="*/ 2635 w 2635"/>
                <a:gd name="T13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5" h="798">
                  <a:moveTo>
                    <a:pt x="2635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582" y="33"/>
                  </a:lnTo>
                  <a:lnTo>
                    <a:pt x="2178" y="798"/>
                  </a:lnTo>
                  <a:lnTo>
                    <a:pt x="2215" y="798"/>
                  </a:lnTo>
                  <a:lnTo>
                    <a:pt x="26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898622-08AC-8004-A540-528AA0538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1314450"/>
              <a:ext cx="1863725" cy="1798638"/>
            </a:xfrm>
            <a:custGeom>
              <a:avLst/>
              <a:gdLst>
                <a:gd name="T0" fmla="*/ 1174 w 1174"/>
                <a:gd name="T1" fmla="*/ 0 h 1133"/>
                <a:gd name="T2" fmla="*/ 637 w 1174"/>
                <a:gd name="T3" fmla="*/ 0 h 1133"/>
                <a:gd name="T4" fmla="*/ 619 w 1174"/>
                <a:gd name="T5" fmla="*/ 33 h 1133"/>
                <a:gd name="T6" fmla="*/ 1121 w 1174"/>
                <a:gd name="T7" fmla="*/ 33 h 1133"/>
                <a:gd name="T8" fmla="*/ 555 w 1174"/>
                <a:gd name="T9" fmla="*/ 1100 h 1133"/>
                <a:gd name="T10" fmla="*/ 18 w 1174"/>
                <a:gd name="T11" fmla="*/ 1100 h 1133"/>
                <a:gd name="T12" fmla="*/ 0 w 1174"/>
                <a:gd name="T13" fmla="*/ 1133 h 1133"/>
                <a:gd name="T14" fmla="*/ 576 w 1174"/>
                <a:gd name="T15" fmla="*/ 1133 h 1133"/>
                <a:gd name="T16" fmla="*/ 1174 w 1174"/>
                <a:gd name="T17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4" h="1133">
                  <a:moveTo>
                    <a:pt x="1174" y="0"/>
                  </a:moveTo>
                  <a:lnTo>
                    <a:pt x="637" y="0"/>
                  </a:lnTo>
                  <a:lnTo>
                    <a:pt x="619" y="33"/>
                  </a:lnTo>
                  <a:lnTo>
                    <a:pt x="1121" y="33"/>
                  </a:lnTo>
                  <a:lnTo>
                    <a:pt x="555" y="1100"/>
                  </a:lnTo>
                  <a:lnTo>
                    <a:pt x="18" y="1100"/>
                  </a:lnTo>
                  <a:lnTo>
                    <a:pt x="0" y="1133"/>
                  </a:lnTo>
                  <a:lnTo>
                    <a:pt x="576" y="1133"/>
                  </a:lnTo>
                  <a:lnTo>
                    <a:pt x="11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1514046-D06F-258A-4B3E-3185A2D9E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097087"/>
              <a:ext cx="8305800" cy="2951163"/>
            </a:xfrm>
            <a:custGeom>
              <a:avLst/>
              <a:gdLst>
                <a:gd name="T0" fmla="*/ 4399 w 5232"/>
                <a:gd name="T1" fmla="*/ 1542 h 1542"/>
                <a:gd name="T2" fmla="*/ 0 w 5232"/>
                <a:gd name="T3" fmla="*/ 1542 h 1542"/>
                <a:gd name="T4" fmla="*/ 0 w 5232"/>
                <a:gd name="T5" fmla="*/ 0 h 1542"/>
                <a:gd name="T6" fmla="*/ 5232 w 5232"/>
                <a:gd name="T7" fmla="*/ 0 h 1542"/>
                <a:gd name="T8" fmla="*/ 4399 w 5232"/>
                <a:gd name="T9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2" h="1542">
                  <a:moveTo>
                    <a:pt x="4399" y="1542"/>
                  </a:moveTo>
                  <a:lnTo>
                    <a:pt x="0" y="1542"/>
                  </a:lnTo>
                  <a:lnTo>
                    <a:pt x="0" y="0"/>
                  </a:lnTo>
                  <a:lnTo>
                    <a:pt x="5232" y="0"/>
                  </a:lnTo>
                  <a:lnTo>
                    <a:pt x="4399" y="15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697281" y="2267120"/>
            <a:ext cx="5422900" cy="162860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5697281" y="3907579"/>
            <a:ext cx="5422900" cy="759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2024/2/6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 dirty="0"/>
              <a:t>OfficePLUS</a:t>
            </a:r>
            <a:endParaRPr lang="zh-CN" alt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048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978B1-822A-48DD-9412-1B7D6807ED91}" type="datetime1">
              <a:rPr lang="zh-CN" altLang="en-US" smtClean="0"/>
              <a:t>2024/2/6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200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2024/2/6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7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36E3E0B-485B-3190-5AB9-5BB597DC2E21}"/>
              </a:ext>
            </a:extLst>
          </p:cNvPr>
          <p:cNvGrpSpPr/>
          <p:nvPr/>
        </p:nvGrpSpPr>
        <p:grpSpPr>
          <a:xfrm>
            <a:off x="0" y="0"/>
            <a:ext cx="12192000" cy="5769710"/>
            <a:chOff x="0" y="0"/>
            <a:chExt cx="12192000" cy="576971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F8B228B-7C2A-A7F3-9DA2-A67FDE0B2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90" y="126045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15CCE5-4B8F-9AF4-D358-10F0B3331B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638" y="361020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0352E5E-BC70-5121-6678-265820E13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l="-2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4B5DF65-AA15-C082-EF2C-FB15838F4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C29BAFF-21E9-5CB7-FE2D-AE2C78CBB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53E5867-B0F5-5C0E-299E-E1A1E4018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4119562"/>
              <a:ext cx="4183063" cy="1266825"/>
            </a:xfrm>
            <a:custGeom>
              <a:avLst/>
              <a:gdLst>
                <a:gd name="T0" fmla="*/ 2635 w 2635"/>
                <a:gd name="T1" fmla="*/ 0 h 798"/>
                <a:gd name="T2" fmla="*/ 18 w 2635"/>
                <a:gd name="T3" fmla="*/ 0 h 798"/>
                <a:gd name="T4" fmla="*/ 0 w 2635"/>
                <a:gd name="T5" fmla="*/ 33 h 798"/>
                <a:gd name="T6" fmla="*/ 2582 w 2635"/>
                <a:gd name="T7" fmla="*/ 33 h 798"/>
                <a:gd name="T8" fmla="*/ 2178 w 2635"/>
                <a:gd name="T9" fmla="*/ 798 h 798"/>
                <a:gd name="T10" fmla="*/ 2215 w 2635"/>
                <a:gd name="T11" fmla="*/ 798 h 798"/>
                <a:gd name="T12" fmla="*/ 2635 w 2635"/>
                <a:gd name="T13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5" h="798">
                  <a:moveTo>
                    <a:pt x="2635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582" y="33"/>
                  </a:lnTo>
                  <a:lnTo>
                    <a:pt x="2178" y="798"/>
                  </a:lnTo>
                  <a:lnTo>
                    <a:pt x="2215" y="798"/>
                  </a:lnTo>
                  <a:lnTo>
                    <a:pt x="26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EE6BD04-02D8-0F08-CC56-638769F40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1314450"/>
              <a:ext cx="1863725" cy="1798638"/>
            </a:xfrm>
            <a:custGeom>
              <a:avLst/>
              <a:gdLst>
                <a:gd name="T0" fmla="*/ 1174 w 1174"/>
                <a:gd name="T1" fmla="*/ 0 h 1133"/>
                <a:gd name="T2" fmla="*/ 637 w 1174"/>
                <a:gd name="T3" fmla="*/ 0 h 1133"/>
                <a:gd name="T4" fmla="*/ 619 w 1174"/>
                <a:gd name="T5" fmla="*/ 33 h 1133"/>
                <a:gd name="T6" fmla="*/ 1121 w 1174"/>
                <a:gd name="T7" fmla="*/ 33 h 1133"/>
                <a:gd name="T8" fmla="*/ 555 w 1174"/>
                <a:gd name="T9" fmla="*/ 1100 h 1133"/>
                <a:gd name="T10" fmla="*/ 18 w 1174"/>
                <a:gd name="T11" fmla="*/ 1100 h 1133"/>
                <a:gd name="T12" fmla="*/ 0 w 1174"/>
                <a:gd name="T13" fmla="*/ 1133 h 1133"/>
                <a:gd name="T14" fmla="*/ 576 w 1174"/>
                <a:gd name="T15" fmla="*/ 1133 h 1133"/>
                <a:gd name="T16" fmla="*/ 1174 w 1174"/>
                <a:gd name="T17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4" h="1133">
                  <a:moveTo>
                    <a:pt x="1174" y="0"/>
                  </a:moveTo>
                  <a:lnTo>
                    <a:pt x="637" y="0"/>
                  </a:lnTo>
                  <a:lnTo>
                    <a:pt x="619" y="33"/>
                  </a:lnTo>
                  <a:lnTo>
                    <a:pt x="1121" y="33"/>
                  </a:lnTo>
                  <a:lnTo>
                    <a:pt x="555" y="1100"/>
                  </a:lnTo>
                  <a:lnTo>
                    <a:pt x="18" y="1100"/>
                  </a:lnTo>
                  <a:lnTo>
                    <a:pt x="0" y="1133"/>
                  </a:lnTo>
                  <a:lnTo>
                    <a:pt x="576" y="1133"/>
                  </a:lnTo>
                  <a:lnTo>
                    <a:pt x="11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25D452-7C88-5C8C-0492-B67023DAF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097087"/>
              <a:ext cx="8305800" cy="2951163"/>
            </a:xfrm>
            <a:custGeom>
              <a:avLst/>
              <a:gdLst>
                <a:gd name="T0" fmla="*/ 4399 w 5232"/>
                <a:gd name="T1" fmla="*/ 1542 h 1542"/>
                <a:gd name="T2" fmla="*/ 0 w 5232"/>
                <a:gd name="T3" fmla="*/ 1542 h 1542"/>
                <a:gd name="T4" fmla="*/ 0 w 5232"/>
                <a:gd name="T5" fmla="*/ 0 h 1542"/>
                <a:gd name="T6" fmla="*/ 5232 w 5232"/>
                <a:gd name="T7" fmla="*/ 0 h 1542"/>
                <a:gd name="T8" fmla="*/ 4399 w 5232"/>
                <a:gd name="T9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2" h="1542">
                  <a:moveTo>
                    <a:pt x="4399" y="1542"/>
                  </a:moveTo>
                  <a:lnTo>
                    <a:pt x="0" y="1542"/>
                  </a:lnTo>
                  <a:lnTo>
                    <a:pt x="0" y="0"/>
                  </a:lnTo>
                  <a:lnTo>
                    <a:pt x="5232" y="0"/>
                  </a:lnTo>
                  <a:lnTo>
                    <a:pt x="4399" y="15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2096352"/>
            <a:ext cx="5435600" cy="210624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200">
                <a:ln w="19050">
                  <a:noFill/>
                </a:ln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857100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491975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2764329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2024/2/6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.xml"/><Relationship Id="rId5" Type="http://schemas.openxmlformats.org/officeDocument/2006/relationships/image" Target="../media/image6.jpg"/><Relationship Id="rId4" Type="http://schemas.openxmlformats.org/officeDocument/2006/relationships/image" Target="../media/image10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4.xml"/><Relationship Id="rId5" Type="http://schemas.openxmlformats.org/officeDocument/2006/relationships/image" Target="../media/image7.jpg"/><Relationship Id="rId4" Type="http://schemas.openxmlformats.org/officeDocument/2006/relationships/image" Target="../media/image13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wrap="square">
            <a:normAutofit fontScale="90000"/>
          </a:bodyPr>
          <a:lstStyle/>
          <a:p>
            <a:r>
              <a:rPr lang="zh-CN" altLang="en-US" sz="5000" b="0" dirty="0"/>
              <a:t>创新驱动的</a:t>
            </a:r>
            <a:br>
              <a:rPr lang="en-US" altLang="zh-CN" dirty="0"/>
            </a:br>
            <a:r>
              <a:rPr lang="zh-CN" altLang="en-US" sz="6400" b="1" dirty="0">
                <a:solidFill>
                  <a:schemeClr val="accent2">
                    <a:lumMod val="75000"/>
                  </a:schemeClr>
                </a:solidFill>
              </a:rPr>
              <a:t>市场领先</a:t>
            </a:r>
            <a:endParaRPr lang="zh-CN" alt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技术进步与公司未来发展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none">
            <a:normAutofit/>
          </a:bodyPr>
          <a:lstStyle/>
          <a:p>
            <a:pPr lvl="0"/>
            <a:r>
              <a:rPr lang="en-US" dirty="0"/>
              <a:t>www.officeplus.cn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506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807B63F-A408-E5AC-10B5-FEA514B87530}"/>
              </a:ext>
            </a:extLst>
          </p:cNvPr>
          <p:cNvGrpSpPr/>
          <p:nvPr/>
        </p:nvGrpSpPr>
        <p:grpSpPr>
          <a:xfrm>
            <a:off x="660400" y="1161068"/>
            <a:ext cx="11229340" cy="4973032"/>
            <a:chOff x="660400" y="1161068"/>
            <a:chExt cx="11229340" cy="49730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4298EAC-A15D-0BFE-379A-ECFC37E3B945}"/>
                </a:ext>
              </a:extLst>
            </p:cNvPr>
            <p:cNvGrpSpPr/>
            <p:nvPr/>
          </p:nvGrpSpPr>
          <p:grpSpPr>
            <a:xfrm>
              <a:off x="660400" y="1161068"/>
              <a:ext cx="2352567" cy="830997"/>
              <a:chOff x="660400" y="1161068"/>
              <a:chExt cx="2352567" cy="830997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6F5A8C-1E0D-58D7-2F17-AB74D96911DB}"/>
                  </a:ext>
                </a:extLst>
              </p:cNvPr>
              <p:cNvSpPr txBox="1"/>
              <p:nvPr/>
            </p:nvSpPr>
            <p:spPr>
              <a:xfrm>
                <a:off x="660400" y="1161068"/>
                <a:ext cx="2352567" cy="830997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>
                <a:defPPr>
                  <a:defRPr lang="zh-CN"/>
                </a:defPPr>
                <a:lvl1pPr>
                  <a:defRPr kumimoji="0" sz="1400" b="1" i="0" u="none" strike="noStrike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kumimoji="1" lang="en-US" altLang="zh-CN" sz="4800">
                    <a:solidFill>
                      <a:schemeClr val="tx1"/>
                    </a:solidFill>
                  </a:rPr>
                  <a:t>Agenda</a:t>
                </a:r>
                <a:endParaRPr lang="en-US" altLang="zh-CN" sz="4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19AA941-B654-A0CE-2BBE-7E8084FEAAEE}"/>
                </a:ext>
              </a:extLst>
            </p:cNvPr>
            <p:cNvGrpSpPr/>
            <p:nvPr/>
          </p:nvGrpSpPr>
          <p:grpSpPr>
            <a:xfrm>
              <a:off x="660400" y="2793474"/>
              <a:ext cx="11229340" cy="3340626"/>
              <a:chOff x="660400" y="2793474"/>
              <a:chExt cx="11229340" cy="334062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B4EBF0D-8D05-32FD-14BD-E8A7F2F0526B}"/>
                  </a:ext>
                </a:extLst>
              </p:cNvPr>
              <p:cNvGrpSpPr/>
              <p:nvPr/>
            </p:nvGrpSpPr>
            <p:grpSpPr>
              <a:xfrm>
                <a:off x="660400" y="2793474"/>
                <a:ext cx="1955366" cy="3340626"/>
                <a:chOff x="660402" y="2793474"/>
                <a:chExt cx="1927565" cy="3340626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5D68FBCA-6492-D6B6-AC7C-D82EC9A9FAF0}"/>
                    </a:ext>
                  </a:extLst>
                </p:cNvPr>
                <p:cNvGrpSpPr/>
                <p:nvPr/>
              </p:nvGrpSpPr>
              <p:grpSpPr>
                <a:xfrm>
                  <a:off x="787790" y="2793474"/>
                  <a:ext cx="1800177" cy="1760230"/>
                  <a:chOff x="1483526" y="2464225"/>
                  <a:chExt cx="1800177" cy="1760230"/>
                </a:xfrm>
              </p:grpSpPr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4B0B2E9A-75D2-A7EE-B68F-1EC0C12F34AF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tx2"/>
                        </a:solidFill>
                      </a:rPr>
                      <a:t>01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EA7F2B4D-5AC9-FF45-EE90-C3A739ECA183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1800177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公司市场竞争分析</a:t>
                    </a:r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F62102C6-54FA-8579-5DB1-BF52724098DB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分析公司在市场中的表现和竞争地位</a:t>
                    </a:r>
                  </a:p>
                </p:txBody>
              </p:sp>
            </p:grp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A403CB07-7E72-4557-C107-0CC25C6331B9}"/>
                    </a:ext>
                  </a:extLst>
                </p:cNvPr>
                <p:cNvSpPr/>
                <p:nvPr/>
              </p:nvSpPr>
              <p:spPr>
                <a:xfrm>
                  <a:off x="660402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3"/>
                  <a:srcRect/>
                  <a:stretch>
                    <a:fillRect l="-10560" r="-1056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7FB13EC-E279-1E89-207A-228419F77EE8}"/>
                  </a:ext>
                </a:extLst>
              </p:cNvPr>
              <p:cNvGrpSpPr/>
              <p:nvPr/>
            </p:nvGrpSpPr>
            <p:grpSpPr>
              <a:xfrm>
                <a:off x="3056823" y="2793474"/>
                <a:ext cx="2031325" cy="3340626"/>
                <a:chOff x="3819201" y="2793474"/>
                <a:chExt cx="2002443" cy="3340626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DD2F2F41-D1F1-2FC5-186B-F668231D413C}"/>
                    </a:ext>
                  </a:extLst>
                </p:cNvPr>
                <p:cNvGrpSpPr/>
                <p:nvPr/>
              </p:nvGrpSpPr>
              <p:grpSpPr>
                <a:xfrm>
                  <a:off x="3819201" y="2793474"/>
                  <a:ext cx="2002443" cy="1760230"/>
                  <a:chOff x="1483526" y="2464225"/>
                  <a:chExt cx="2002443" cy="1760230"/>
                </a:xfrm>
              </p:grpSpPr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6F6C921-E804-9108-D96C-31F037F28BB5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accent1"/>
                        </a:solidFill>
                      </a:rPr>
                      <a:t>02</a:t>
                    </a:r>
                    <a:endParaRPr kumimoji="1" lang="zh-CN" altLang="en-US" sz="5400" b="1" dirty="0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F606BED3-33CE-E6D8-EB2E-DFBBB9E17726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200244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技术创新和产品研发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565FCF42-20EA-01CC-1F35-C502B48AC9C1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公司技术创新成果展示</a:t>
                    </a:r>
                  </a:p>
                </p:txBody>
              </p:sp>
            </p:grp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7A6D4306-A0E9-F500-1D26-C5DAF5594261}"/>
                    </a:ext>
                  </a:extLst>
                </p:cNvPr>
                <p:cNvSpPr/>
                <p:nvPr/>
              </p:nvSpPr>
              <p:spPr>
                <a:xfrm>
                  <a:off x="3819201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4"/>
                  <a:srcRect/>
                  <a:stretch>
                    <a:fillRect l="-10560" r="-1056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A813C49-8BFA-798F-1CCB-45ECEC8F77ED}"/>
                  </a:ext>
                </a:extLst>
              </p:cNvPr>
              <p:cNvGrpSpPr/>
              <p:nvPr/>
            </p:nvGrpSpPr>
            <p:grpSpPr>
              <a:xfrm>
                <a:off x="5324020" y="2793474"/>
                <a:ext cx="2031325" cy="3340626"/>
                <a:chOff x="6850612" y="2793474"/>
                <a:chExt cx="2002443" cy="3340626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2CC92C7A-824A-0B9E-FF6E-09E0272A4372}"/>
                    </a:ext>
                  </a:extLst>
                </p:cNvPr>
                <p:cNvGrpSpPr/>
                <p:nvPr/>
              </p:nvGrpSpPr>
              <p:grpSpPr>
                <a:xfrm>
                  <a:off x="6850612" y="2793474"/>
                  <a:ext cx="2002443" cy="1760230"/>
                  <a:chOff x="1483526" y="2464225"/>
                  <a:chExt cx="2002443" cy="1760230"/>
                </a:xfrm>
              </p:grpSpPr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0C69A125-3B4F-9AA0-7486-76D7FFC057C1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>
                        <a:solidFill>
                          <a:schemeClr val="tx2"/>
                        </a:solidFill>
                      </a:rPr>
                      <a:t>03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FEF611C-3363-0F6F-B2A6-485F963A5A5E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200244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公司财务和市场动态</a:t>
                    </a: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B9D190DE-1365-DF0D-B469-BE1AD3183710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深度剖析公司的财务表现和市场动态</a:t>
                    </a:r>
                  </a:p>
                </p:txBody>
              </p:sp>
            </p:grp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0AF69C03-C9B1-0E04-A4B0-41FC0AAFD512}"/>
                    </a:ext>
                  </a:extLst>
                </p:cNvPr>
                <p:cNvSpPr/>
                <p:nvPr/>
              </p:nvSpPr>
              <p:spPr>
                <a:xfrm>
                  <a:off x="6850612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5"/>
                  <a:srcRect/>
                  <a:stretch>
                    <a:fillRect l="-10620" r="-1062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F735ACD-0735-9A79-47DB-E8FFD80068C1}"/>
                  </a:ext>
                </a:extLst>
              </p:cNvPr>
              <p:cNvGrpSpPr/>
              <p:nvPr/>
            </p:nvGrpSpPr>
            <p:grpSpPr>
              <a:xfrm>
                <a:off x="7591218" y="2793474"/>
                <a:ext cx="1659262" cy="3340626"/>
                <a:chOff x="9882023" y="2793474"/>
                <a:chExt cx="1635670" cy="3340626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E56969F8-7D9F-0C64-45EC-C67E1217B773}"/>
                    </a:ext>
                  </a:extLst>
                </p:cNvPr>
                <p:cNvGrpSpPr/>
                <p:nvPr/>
              </p:nvGrpSpPr>
              <p:grpSpPr>
                <a:xfrm>
                  <a:off x="9882023" y="2793474"/>
                  <a:ext cx="1635670" cy="1760230"/>
                  <a:chOff x="1483526" y="2464225"/>
                  <a:chExt cx="1635670" cy="1760230"/>
                </a:xfrm>
              </p:grpSpPr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DABA32B6-43E7-8ED1-CB81-7E9C757C0E6A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tx2"/>
                        </a:solidFill>
                      </a:rPr>
                      <a:t>04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97E91C60-6C18-5081-E25E-2B710047CFBA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1597910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邀请投资者支持</a:t>
                    </a: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F9A6721F-B845-5E8C-06CF-3705C0DBB4C3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邀请投资者支持公司的未来发展</a:t>
                    </a:r>
                  </a:p>
                </p:txBody>
              </p:sp>
            </p:grp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F9FD1DF8-CF45-A292-1401-A7EB6CB3DD98}"/>
                    </a:ext>
                  </a:extLst>
                </p:cNvPr>
                <p:cNvSpPr/>
                <p:nvPr/>
              </p:nvSpPr>
              <p:spPr>
                <a:xfrm>
                  <a:off x="9882023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6"/>
                  <a:srcRect/>
                  <a:stretch>
                    <a:fillRect l="-14560" r="-1456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3B7B159-3A65-6492-67FE-5E0FB29BD48B}"/>
                  </a:ext>
                </a:extLst>
              </p:cNvPr>
              <p:cNvGrpSpPr/>
              <p:nvPr/>
            </p:nvGrpSpPr>
            <p:grpSpPr>
              <a:xfrm>
                <a:off x="9858415" y="2793474"/>
                <a:ext cx="2031325" cy="3340626"/>
                <a:chOff x="9882023" y="2793474"/>
                <a:chExt cx="2002443" cy="334062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3D61515C-AA17-BFC8-6CF4-1372747A31BD}"/>
                    </a:ext>
                  </a:extLst>
                </p:cNvPr>
                <p:cNvGrpSpPr/>
                <p:nvPr/>
              </p:nvGrpSpPr>
              <p:grpSpPr>
                <a:xfrm>
                  <a:off x="9882023" y="2793474"/>
                  <a:ext cx="2002443" cy="1760230"/>
                  <a:chOff x="1483526" y="2464225"/>
                  <a:chExt cx="2002443" cy="1760230"/>
                </a:xfrm>
              </p:grpSpPr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F2376F5-F5C9-971B-1995-A1EEA118016E}"/>
                      </a:ext>
                    </a:extLst>
                  </p:cNvPr>
                  <p:cNvSpPr txBox="1"/>
                  <p:nvPr/>
                </p:nvSpPr>
                <p:spPr>
                  <a:xfrm>
                    <a:off x="1497091" y="2464225"/>
                    <a:ext cx="940542" cy="923330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tx2"/>
                        </a:solidFill>
                      </a:rPr>
                      <a:t>05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07308457-B51B-5DDC-A82E-5C027D3538AB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200244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公司治理和风险管理</a:t>
                    </a: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30B58147-78D2-EDD8-A6C3-FFE3B1AE8CDB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强调公司治理和风险管理的重要性</a:t>
                    </a:r>
                  </a:p>
                </p:txBody>
              </p:sp>
            </p:grp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7DEA5324-B1E0-A300-3A6F-1D703B26FC1C}"/>
                    </a:ext>
                  </a:extLst>
                </p:cNvPr>
                <p:cNvSpPr/>
                <p:nvPr/>
              </p:nvSpPr>
              <p:spPr>
                <a:xfrm>
                  <a:off x="9882023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7"/>
                  <a:srcRect/>
                  <a:stretch>
                    <a:fillRect l="-10450" r="-1045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5642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01.公司市场竞争分析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分析公司在市场中的表现和竞争地位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783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660401" y="1130300"/>
            <a:ext cx="10858500" cy="5003800"/>
            <a:chOff x="660401" y="1130300"/>
            <a:chExt cx="10858500" cy="50038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8426DE8-AD43-40B6-B005-E32FF1D4F442}"/>
                </a:ext>
              </a:extLst>
            </p:cNvPr>
            <p:cNvSpPr/>
            <p:nvPr/>
          </p:nvSpPr>
          <p:spPr>
            <a:xfrm>
              <a:off x="660401" y="1130300"/>
              <a:ext cx="10858500" cy="2181098"/>
            </a:xfrm>
            <a:prstGeom prst="rect">
              <a:avLst/>
            </a:prstGeom>
            <a:blipFill rotWithShape="0">
              <a:blip r:embed="rId3"/>
              <a:srcRect/>
              <a:stretch>
                <a:fillRect t="-116410" b="-11641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C8AB4B8-FD18-4525-9D7F-94D6039E3286}"/>
                </a:ext>
              </a:extLst>
            </p:cNvPr>
            <p:cNvSpPr/>
            <p:nvPr/>
          </p:nvSpPr>
          <p:spPr>
            <a:xfrm>
              <a:off x="5376393" y="3708400"/>
              <a:ext cx="2862732" cy="24257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D127F5-1D63-4C39-BB5F-C117A063D7D2}"/>
                </a:ext>
              </a:extLst>
            </p:cNvPr>
            <p:cNvSpPr/>
            <p:nvPr/>
          </p:nvSpPr>
          <p:spPr>
            <a:xfrm>
              <a:off x="8656168" y="3708400"/>
              <a:ext cx="2862732" cy="24257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83F797F-5095-4BC0-8101-6DD4168B6D44}"/>
                </a:ext>
              </a:extLst>
            </p:cNvPr>
            <p:cNvGrpSpPr/>
            <p:nvPr/>
          </p:nvGrpSpPr>
          <p:grpSpPr>
            <a:xfrm>
              <a:off x="6602659" y="3967271"/>
              <a:ext cx="410200" cy="410198"/>
              <a:chOff x="6631945" y="3938696"/>
              <a:chExt cx="410200" cy="41019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7ECC1A-87CB-4686-88CA-427E350228F3}"/>
                  </a:ext>
                </a:extLst>
              </p:cNvPr>
              <p:cNvSpPr/>
              <p:nvPr/>
            </p:nvSpPr>
            <p:spPr>
              <a:xfrm>
                <a:off x="6631945" y="3938696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4776E5C-C59F-47D7-8565-ABDABCC4AA60}"/>
                  </a:ext>
                </a:extLst>
              </p:cNvPr>
              <p:cNvSpPr/>
              <p:nvPr/>
            </p:nvSpPr>
            <p:spPr>
              <a:xfrm>
                <a:off x="6748045" y="4077045"/>
                <a:ext cx="178001" cy="13350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922460-72F2-4650-9ABE-22B50D31180E}"/>
                </a:ext>
              </a:extLst>
            </p:cNvPr>
            <p:cNvSpPr txBox="1"/>
            <p:nvPr/>
          </p:nvSpPr>
          <p:spPr>
            <a:xfrm>
              <a:off x="669926" y="3708400"/>
              <a:ext cx="42465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市场概览和我们的位置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B03CE8-72A6-4D93-8A63-839EA4939878}"/>
                </a:ext>
              </a:extLst>
            </p:cNvPr>
            <p:cNvSpPr txBox="1"/>
            <p:nvPr/>
          </p:nvSpPr>
          <p:spPr>
            <a:xfrm>
              <a:off x="5604993" y="4921872"/>
              <a:ext cx="2405532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经营有道，持续增长，超越竞争对手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8FF016-C487-421D-8925-7C3C146000CA}"/>
                </a:ext>
              </a:extLst>
            </p:cNvPr>
            <p:cNvSpPr txBox="1"/>
            <p:nvPr/>
          </p:nvSpPr>
          <p:spPr>
            <a:xfrm>
              <a:off x="8884768" y="4921872"/>
              <a:ext cx="2405532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多年来的成功战略实施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8DAE72-427F-415F-94E1-CBBFAF8FF75C}"/>
                </a:ext>
              </a:extLst>
            </p:cNvPr>
            <p:cNvSpPr txBox="1"/>
            <p:nvPr/>
          </p:nvSpPr>
          <p:spPr>
            <a:xfrm>
              <a:off x="5604993" y="4481537"/>
              <a:ext cx="2405532" cy="338554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市场份额的变化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0665F3A-DDA3-4388-8B05-95B3C0B569EE}"/>
                </a:ext>
              </a:extLst>
            </p:cNvPr>
            <p:cNvSpPr txBox="1"/>
            <p:nvPr/>
          </p:nvSpPr>
          <p:spPr>
            <a:xfrm>
              <a:off x="8884768" y="4481537"/>
              <a:ext cx="2405532" cy="338554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市场战略证明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5C927D-C279-4A79-B8E2-0D985171EF50}"/>
                </a:ext>
              </a:extLst>
            </p:cNvPr>
            <p:cNvSpPr txBox="1"/>
            <p:nvPr/>
          </p:nvSpPr>
          <p:spPr>
            <a:xfrm>
              <a:off x="669926" y="5268121"/>
              <a:ext cx="4246502" cy="294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行业发展迅猛，公司稳居领导地位。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1165C86-CE62-4EF8-9ED9-61E1DE1ECE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9882434" y="3967271"/>
              <a:ext cx="410200" cy="410198"/>
              <a:chOff x="5417189" y="4024421"/>
              <a:chExt cx="410200" cy="41019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1DE647F-DE77-4FB8-BE8C-E1BFB087B010}"/>
                  </a:ext>
                </a:extLst>
              </p:cNvPr>
              <p:cNvSpPr/>
              <p:nvPr/>
            </p:nvSpPr>
            <p:spPr>
              <a:xfrm>
                <a:off x="5417189" y="4024421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ABB8375-45D0-4D03-A63A-E91DF1701CBC}"/>
                  </a:ext>
                </a:extLst>
              </p:cNvPr>
              <p:cNvSpPr/>
              <p:nvPr/>
            </p:nvSpPr>
            <p:spPr>
              <a:xfrm>
                <a:off x="5533289" y="4158600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市场洞察，位置定位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36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0" y="1583092"/>
            <a:ext cx="12192000" cy="4531391"/>
            <a:chOff x="0" y="1583092"/>
            <a:chExt cx="12192000" cy="45313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C277DE7-3631-41E8-9211-9A1D642A548F}"/>
                </a:ext>
              </a:extLst>
            </p:cNvPr>
            <p:cNvSpPr/>
            <p:nvPr/>
          </p:nvSpPr>
          <p:spPr>
            <a:xfrm>
              <a:off x="0" y="3968685"/>
              <a:ext cx="12192000" cy="214579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FB1AB35-AF6A-4625-A484-82F1742BEAB6}"/>
                </a:ext>
              </a:extLst>
            </p:cNvPr>
            <p:cNvGrpSpPr/>
            <p:nvPr/>
          </p:nvGrpSpPr>
          <p:grpSpPr>
            <a:xfrm>
              <a:off x="1028987" y="1583092"/>
              <a:ext cx="2826576" cy="3830249"/>
              <a:chOff x="4120979" y="1130299"/>
              <a:chExt cx="3950043" cy="535264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9F2666B-CCE9-4ABC-A505-94785692A625}"/>
                  </a:ext>
                </a:extLst>
              </p:cNvPr>
              <p:cNvGrpSpPr/>
              <p:nvPr/>
            </p:nvGrpSpPr>
            <p:grpSpPr>
              <a:xfrm>
                <a:off x="4120979" y="1130299"/>
                <a:ext cx="3950043" cy="5352641"/>
                <a:chOff x="4120979" y="1130299"/>
                <a:chExt cx="3950043" cy="5352641"/>
              </a:xfrm>
            </p:grpSpPr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38288998-4301-48CA-8C68-1A750F0B1152}"/>
                    </a:ext>
                  </a:extLst>
                </p:cNvPr>
                <p:cNvSpPr/>
                <p:nvPr/>
              </p:nvSpPr>
              <p:spPr>
                <a:xfrm>
                  <a:off x="4803793" y="1130299"/>
                  <a:ext cx="2578696" cy="5245938"/>
                </a:xfrm>
                <a:custGeom>
                  <a:avLst/>
                  <a:gdLst>
                    <a:gd name="connsiteX0" fmla="*/ 420624 w 2578696"/>
                    <a:gd name="connsiteY0" fmla="*/ 0 h 5245938"/>
                    <a:gd name="connsiteX1" fmla="*/ 2158325 w 2578696"/>
                    <a:gd name="connsiteY1" fmla="*/ 0 h 5245938"/>
                    <a:gd name="connsiteX2" fmla="*/ 2392416 w 2578696"/>
                    <a:gd name="connsiteY2" fmla="*/ 45748 h 5245938"/>
                    <a:gd name="connsiteX3" fmla="*/ 2532982 w 2578696"/>
                    <a:gd name="connsiteY3" fmla="*/ 186314 h 5245938"/>
                    <a:gd name="connsiteX4" fmla="*/ 2578730 w 2578696"/>
                    <a:gd name="connsiteY4" fmla="*/ 420406 h 5245938"/>
                    <a:gd name="connsiteX5" fmla="*/ 2578730 w 2578696"/>
                    <a:gd name="connsiteY5" fmla="*/ 4825533 h 5245938"/>
                    <a:gd name="connsiteX6" fmla="*/ 2532982 w 2578696"/>
                    <a:gd name="connsiteY6" fmla="*/ 5059625 h 5245938"/>
                    <a:gd name="connsiteX7" fmla="*/ 2392416 w 2578696"/>
                    <a:gd name="connsiteY7" fmla="*/ 5200190 h 5245938"/>
                    <a:gd name="connsiteX8" fmla="*/ 2158325 w 2578696"/>
                    <a:gd name="connsiteY8" fmla="*/ 5245939 h 5245938"/>
                    <a:gd name="connsiteX9" fmla="*/ 420624 w 2578696"/>
                    <a:gd name="connsiteY9" fmla="*/ 5245939 h 5245938"/>
                    <a:gd name="connsiteX10" fmla="*/ 186532 w 2578696"/>
                    <a:gd name="connsiteY10" fmla="*/ 5200190 h 5245938"/>
                    <a:gd name="connsiteX11" fmla="*/ 45967 w 2578696"/>
                    <a:gd name="connsiteY11" fmla="*/ 5059625 h 5245938"/>
                    <a:gd name="connsiteX12" fmla="*/ 34 w 2578696"/>
                    <a:gd name="connsiteY12" fmla="*/ 4825717 h 5245938"/>
                    <a:gd name="connsiteX13" fmla="*/ 34 w 2578696"/>
                    <a:gd name="connsiteY13" fmla="*/ 420590 h 5245938"/>
                    <a:gd name="connsiteX14" fmla="*/ 45782 w 2578696"/>
                    <a:gd name="connsiteY14" fmla="*/ 186498 h 5245938"/>
                    <a:gd name="connsiteX15" fmla="*/ 186348 w 2578696"/>
                    <a:gd name="connsiteY15" fmla="*/ 45933 h 5245938"/>
                    <a:gd name="connsiteX16" fmla="*/ 420624 w 2578696"/>
                    <a:gd name="connsiteY16" fmla="*/ 0 h 5245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78696" h="5245938">
                      <a:moveTo>
                        <a:pt x="420624" y="0"/>
                      </a:moveTo>
                      <a:lnTo>
                        <a:pt x="2158325" y="0"/>
                      </a:lnTo>
                      <a:cubicBezTo>
                        <a:pt x="2267900" y="0"/>
                        <a:pt x="2328774" y="11806"/>
                        <a:pt x="2392416" y="45748"/>
                      </a:cubicBezTo>
                      <a:cubicBezTo>
                        <a:pt x="2452738" y="78031"/>
                        <a:pt x="2500884" y="126177"/>
                        <a:pt x="2532982" y="186314"/>
                      </a:cubicBezTo>
                      <a:cubicBezTo>
                        <a:pt x="2566924" y="249956"/>
                        <a:pt x="2578730" y="310831"/>
                        <a:pt x="2578730" y="420406"/>
                      </a:cubicBezTo>
                      <a:lnTo>
                        <a:pt x="2578730" y="4825533"/>
                      </a:lnTo>
                      <a:cubicBezTo>
                        <a:pt x="2578730" y="4935108"/>
                        <a:pt x="2566924" y="4995983"/>
                        <a:pt x="2532982" y="5059625"/>
                      </a:cubicBezTo>
                      <a:cubicBezTo>
                        <a:pt x="2500700" y="5119946"/>
                        <a:pt x="2452553" y="5168093"/>
                        <a:pt x="2392416" y="5200190"/>
                      </a:cubicBezTo>
                      <a:cubicBezTo>
                        <a:pt x="2328774" y="5234132"/>
                        <a:pt x="2267900" y="5245939"/>
                        <a:pt x="2158325" y="5245939"/>
                      </a:cubicBezTo>
                      <a:lnTo>
                        <a:pt x="420624" y="5245939"/>
                      </a:lnTo>
                      <a:cubicBezTo>
                        <a:pt x="311049" y="5245939"/>
                        <a:pt x="250174" y="5234132"/>
                        <a:pt x="186532" y="5200190"/>
                      </a:cubicBezTo>
                      <a:cubicBezTo>
                        <a:pt x="126211" y="5167908"/>
                        <a:pt x="78065" y="5119761"/>
                        <a:pt x="45967" y="5059625"/>
                      </a:cubicBezTo>
                      <a:cubicBezTo>
                        <a:pt x="11840" y="4996351"/>
                        <a:pt x="34" y="4935292"/>
                        <a:pt x="34" y="4825717"/>
                      </a:cubicBezTo>
                      <a:lnTo>
                        <a:pt x="34" y="420590"/>
                      </a:lnTo>
                      <a:cubicBezTo>
                        <a:pt x="34" y="311015"/>
                        <a:pt x="11840" y="250140"/>
                        <a:pt x="45782" y="186498"/>
                      </a:cubicBezTo>
                      <a:cubicBezTo>
                        <a:pt x="78065" y="126177"/>
                        <a:pt x="126211" y="78031"/>
                        <a:pt x="186348" y="45933"/>
                      </a:cubicBezTo>
                      <a:cubicBezTo>
                        <a:pt x="249990" y="11806"/>
                        <a:pt x="311049" y="0"/>
                        <a:pt x="42062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/>
                    </a:gs>
                    <a:gs pos="41000">
                      <a:schemeClr val="tx1"/>
                    </a:gs>
                    <a:gs pos="6000">
                      <a:schemeClr val="tx1">
                        <a:lumMod val="75000"/>
                        <a:lumOff val="25000"/>
                      </a:schemeClr>
                    </a:gs>
                    <a:gs pos="11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98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ln w="483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239F1240-6819-4DD1-9AF9-FEC0E83FB441}"/>
                    </a:ext>
                  </a:extLst>
                </p:cNvPr>
                <p:cNvGrpSpPr/>
                <p:nvPr/>
              </p:nvGrpSpPr>
              <p:grpSpPr>
                <a:xfrm>
                  <a:off x="4822240" y="1145056"/>
                  <a:ext cx="2549181" cy="5216423"/>
                  <a:chOff x="4822240" y="1145056"/>
                  <a:chExt cx="2549181" cy="5216423"/>
                </a:xfrm>
              </p:grpSpPr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9294B42E-12D6-494E-A7AB-429620ED6653}"/>
                      </a:ext>
                    </a:extLst>
                  </p:cNvPr>
                  <p:cNvSpPr/>
                  <p:nvPr/>
                </p:nvSpPr>
                <p:spPr>
                  <a:xfrm>
                    <a:off x="4822240" y="1145056"/>
                    <a:ext cx="2549181" cy="5216423"/>
                  </a:xfrm>
                  <a:custGeom>
                    <a:avLst/>
                    <a:gdLst>
                      <a:gd name="connsiteX0" fmla="*/ 405866 w 2549181"/>
                      <a:gd name="connsiteY0" fmla="*/ 0 h 5216423"/>
                      <a:gd name="connsiteX1" fmla="*/ 2143567 w 2549181"/>
                      <a:gd name="connsiteY1" fmla="*/ 0 h 5216423"/>
                      <a:gd name="connsiteX2" fmla="*/ 2370649 w 2549181"/>
                      <a:gd name="connsiteY2" fmla="*/ 44088 h 5216423"/>
                      <a:gd name="connsiteX3" fmla="*/ 2505127 w 2549181"/>
                      <a:gd name="connsiteY3" fmla="*/ 178566 h 5216423"/>
                      <a:gd name="connsiteX4" fmla="*/ 2549215 w 2549181"/>
                      <a:gd name="connsiteY4" fmla="*/ 405648 h 5216423"/>
                      <a:gd name="connsiteX5" fmla="*/ 2549215 w 2549181"/>
                      <a:gd name="connsiteY5" fmla="*/ 4810775 h 5216423"/>
                      <a:gd name="connsiteX6" fmla="*/ 2505127 w 2549181"/>
                      <a:gd name="connsiteY6" fmla="*/ 5037857 h 5216423"/>
                      <a:gd name="connsiteX7" fmla="*/ 2370649 w 2549181"/>
                      <a:gd name="connsiteY7" fmla="*/ 5172335 h 5216423"/>
                      <a:gd name="connsiteX8" fmla="*/ 2143567 w 2549181"/>
                      <a:gd name="connsiteY8" fmla="*/ 5216423 h 5216423"/>
                      <a:gd name="connsiteX9" fmla="*/ 405866 w 2549181"/>
                      <a:gd name="connsiteY9" fmla="*/ 5216423 h 5216423"/>
                      <a:gd name="connsiteX10" fmla="*/ 178785 w 2549181"/>
                      <a:gd name="connsiteY10" fmla="*/ 5172335 h 5216423"/>
                      <a:gd name="connsiteX11" fmla="*/ 44307 w 2549181"/>
                      <a:gd name="connsiteY11" fmla="*/ 5037857 h 5216423"/>
                      <a:gd name="connsiteX12" fmla="*/ 34 w 2549181"/>
                      <a:gd name="connsiteY12" fmla="*/ 4810960 h 5216423"/>
                      <a:gd name="connsiteX13" fmla="*/ 34 w 2549181"/>
                      <a:gd name="connsiteY13" fmla="*/ 405832 h 5216423"/>
                      <a:gd name="connsiteX14" fmla="*/ 44122 w 2549181"/>
                      <a:gd name="connsiteY14" fmla="*/ 178751 h 5216423"/>
                      <a:gd name="connsiteX15" fmla="*/ 178600 w 2549181"/>
                      <a:gd name="connsiteY15" fmla="*/ 44273 h 5216423"/>
                      <a:gd name="connsiteX16" fmla="*/ 405866 w 2549181"/>
                      <a:gd name="connsiteY16" fmla="*/ 0 h 5216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549181" h="5216423">
                        <a:moveTo>
                          <a:pt x="405866" y="0"/>
                        </a:moveTo>
                        <a:lnTo>
                          <a:pt x="2143567" y="0"/>
                        </a:lnTo>
                        <a:cubicBezTo>
                          <a:pt x="2250744" y="0"/>
                          <a:pt x="2309405" y="11253"/>
                          <a:pt x="2370649" y="44088"/>
                        </a:cubicBezTo>
                        <a:cubicBezTo>
                          <a:pt x="2428388" y="74895"/>
                          <a:pt x="2474321" y="121012"/>
                          <a:pt x="2505127" y="178566"/>
                        </a:cubicBezTo>
                        <a:cubicBezTo>
                          <a:pt x="2537963" y="239810"/>
                          <a:pt x="2549215" y="298471"/>
                          <a:pt x="2549215" y="405648"/>
                        </a:cubicBezTo>
                        <a:lnTo>
                          <a:pt x="2549215" y="4810775"/>
                        </a:lnTo>
                        <a:cubicBezTo>
                          <a:pt x="2549215" y="4917952"/>
                          <a:pt x="2537963" y="4976613"/>
                          <a:pt x="2505127" y="5037857"/>
                        </a:cubicBezTo>
                        <a:cubicBezTo>
                          <a:pt x="2474321" y="5095596"/>
                          <a:pt x="2428203" y="5141529"/>
                          <a:pt x="2370649" y="5172335"/>
                        </a:cubicBezTo>
                        <a:cubicBezTo>
                          <a:pt x="2309405" y="5205171"/>
                          <a:pt x="2250744" y="5216423"/>
                          <a:pt x="2143567" y="5216423"/>
                        </a:cubicBezTo>
                        <a:lnTo>
                          <a:pt x="405866" y="5216423"/>
                        </a:lnTo>
                        <a:cubicBezTo>
                          <a:pt x="298690" y="5216423"/>
                          <a:pt x="240029" y="5205171"/>
                          <a:pt x="178785" y="5172335"/>
                        </a:cubicBezTo>
                        <a:cubicBezTo>
                          <a:pt x="121046" y="5141529"/>
                          <a:pt x="75113" y="5095411"/>
                          <a:pt x="44307" y="5037857"/>
                        </a:cubicBezTo>
                        <a:cubicBezTo>
                          <a:pt x="11287" y="4976982"/>
                          <a:pt x="34" y="4918137"/>
                          <a:pt x="34" y="4810960"/>
                        </a:cubicBezTo>
                        <a:lnTo>
                          <a:pt x="34" y="405832"/>
                        </a:lnTo>
                        <a:cubicBezTo>
                          <a:pt x="34" y="298656"/>
                          <a:pt x="11287" y="239995"/>
                          <a:pt x="44122" y="178751"/>
                        </a:cubicBezTo>
                        <a:cubicBezTo>
                          <a:pt x="74929" y="121012"/>
                          <a:pt x="121046" y="75079"/>
                          <a:pt x="178600" y="44273"/>
                        </a:cubicBezTo>
                        <a:cubicBezTo>
                          <a:pt x="239844" y="11253"/>
                          <a:pt x="298690" y="0"/>
                          <a:pt x="405866" y="0"/>
                        </a:cubicBezTo>
                        <a:close/>
                      </a:path>
                    </a:pathLst>
                  </a:custGeom>
                  <a:solidFill>
                    <a:srgbClr val="C9C6C8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66B7300A-B281-45B5-B014-08654F9A0185}"/>
                      </a:ext>
                    </a:extLst>
                  </p:cNvPr>
                  <p:cNvSpPr/>
                  <p:nvPr/>
                </p:nvSpPr>
                <p:spPr>
                  <a:xfrm>
                    <a:off x="4822240" y="1145056"/>
                    <a:ext cx="2549181" cy="5216423"/>
                  </a:xfrm>
                  <a:custGeom>
                    <a:avLst/>
                    <a:gdLst>
                      <a:gd name="connsiteX0" fmla="*/ 405866 w 2549181"/>
                      <a:gd name="connsiteY0" fmla="*/ 0 h 5216423"/>
                      <a:gd name="connsiteX1" fmla="*/ 2143567 w 2549181"/>
                      <a:gd name="connsiteY1" fmla="*/ 0 h 5216423"/>
                      <a:gd name="connsiteX2" fmla="*/ 2370649 w 2549181"/>
                      <a:gd name="connsiteY2" fmla="*/ 44088 h 5216423"/>
                      <a:gd name="connsiteX3" fmla="*/ 2505127 w 2549181"/>
                      <a:gd name="connsiteY3" fmla="*/ 178566 h 5216423"/>
                      <a:gd name="connsiteX4" fmla="*/ 2549215 w 2549181"/>
                      <a:gd name="connsiteY4" fmla="*/ 405648 h 5216423"/>
                      <a:gd name="connsiteX5" fmla="*/ 2549215 w 2549181"/>
                      <a:gd name="connsiteY5" fmla="*/ 4810775 h 5216423"/>
                      <a:gd name="connsiteX6" fmla="*/ 2505127 w 2549181"/>
                      <a:gd name="connsiteY6" fmla="*/ 5037857 h 5216423"/>
                      <a:gd name="connsiteX7" fmla="*/ 2370649 w 2549181"/>
                      <a:gd name="connsiteY7" fmla="*/ 5172335 h 5216423"/>
                      <a:gd name="connsiteX8" fmla="*/ 2143567 w 2549181"/>
                      <a:gd name="connsiteY8" fmla="*/ 5216423 h 5216423"/>
                      <a:gd name="connsiteX9" fmla="*/ 405866 w 2549181"/>
                      <a:gd name="connsiteY9" fmla="*/ 5216423 h 5216423"/>
                      <a:gd name="connsiteX10" fmla="*/ 178785 w 2549181"/>
                      <a:gd name="connsiteY10" fmla="*/ 5172335 h 5216423"/>
                      <a:gd name="connsiteX11" fmla="*/ 44307 w 2549181"/>
                      <a:gd name="connsiteY11" fmla="*/ 5037857 h 5216423"/>
                      <a:gd name="connsiteX12" fmla="*/ 34 w 2549181"/>
                      <a:gd name="connsiteY12" fmla="*/ 4810960 h 5216423"/>
                      <a:gd name="connsiteX13" fmla="*/ 34 w 2549181"/>
                      <a:gd name="connsiteY13" fmla="*/ 405832 h 5216423"/>
                      <a:gd name="connsiteX14" fmla="*/ 44122 w 2549181"/>
                      <a:gd name="connsiteY14" fmla="*/ 178751 h 5216423"/>
                      <a:gd name="connsiteX15" fmla="*/ 178600 w 2549181"/>
                      <a:gd name="connsiteY15" fmla="*/ 44273 h 5216423"/>
                      <a:gd name="connsiteX16" fmla="*/ 405866 w 2549181"/>
                      <a:gd name="connsiteY16" fmla="*/ 0 h 5216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549181" h="5216423">
                        <a:moveTo>
                          <a:pt x="405866" y="0"/>
                        </a:moveTo>
                        <a:lnTo>
                          <a:pt x="2143567" y="0"/>
                        </a:lnTo>
                        <a:cubicBezTo>
                          <a:pt x="2250744" y="0"/>
                          <a:pt x="2309405" y="11253"/>
                          <a:pt x="2370649" y="44088"/>
                        </a:cubicBezTo>
                        <a:cubicBezTo>
                          <a:pt x="2428388" y="74895"/>
                          <a:pt x="2474321" y="121012"/>
                          <a:pt x="2505127" y="178566"/>
                        </a:cubicBezTo>
                        <a:cubicBezTo>
                          <a:pt x="2537963" y="239810"/>
                          <a:pt x="2549215" y="298471"/>
                          <a:pt x="2549215" y="405648"/>
                        </a:cubicBezTo>
                        <a:lnTo>
                          <a:pt x="2549215" y="4810775"/>
                        </a:lnTo>
                        <a:cubicBezTo>
                          <a:pt x="2549215" y="4917952"/>
                          <a:pt x="2537963" y="4976613"/>
                          <a:pt x="2505127" y="5037857"/>
                        </a:cubicBezTo>
                        <a:cubicBezTo>
                          <a:pt x="2474321" y="5095596"/>
                          <a:pt x="2428203" y="5141529"/>
                          <a:pt x="2370649" y="5172335"/>
                        </a:cubicBezTo>
                        <a:cubicBezTo>
                          <a:pt x="2309405" y="5205171"/>
                          <a:pt x="2250744" y="5216423"/>
                          <a:pt x="2143567" y="5216423"/>
                        </a:cubicBezTo>
                        <a:lnTo>
                          <a:pt x="405866" y="5216423"/>
                        </a:lnTo>
                        <a:cubicBezTo>
                          <a:pt x="298690" y="5216423"/>
                          <a:pt x="240029" y="5205171"/>
                          <a:pt x="178785" y="5172335"/>
                        </a:cubicBezTo>
                        <a:cubicBezTo>
                          <a:pt x="121046" y="5141529"/>
                          <a:pt x="75113" y="5095411"/>
                          <a:pt x="44307" y="5037857"/>
                        </a:cubicBezTo>
                        <a:cubicBezTo>
                          <a:pt x="11287" y="4976982"/>
                          <a:pt x="34" y="4918137"/>
                          <a:pt x="34" y="4810960"/>
                        </a:cubicBezTo>
                        <a:lnTo>
                          <a:pt x="34" y="405832"/>
                        </a:lnTo>
                        <a:cubicBezTo>
                          <a:pt x="34" y="298656"/>
                          <a:pt x="11287" y="239995"/>
                          <a:pt x="44122" y="178751"/>
                        </a:cubicBezTo>
                        <a:cubicBezTo>
                          <a:pt x="74929" y="121012"/>
                          <a:pt x="121046" y="75079"/>
                          <a:pt x="178600" y="44273"/>
                        </a:cubicBezTo>
                        <a:cubicBezTo>
                          <a:pt x="239844" y="11253"/>
                          <a:pt x="298690" y="0"/>
                          <a:pt x="40586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3A50FC0-97F3-4317-A745-3BDCFCBB811C}"/>
                    </a:ext>
                  </a:extLst>
                </p:cNvPr>
                <p:cNvSpPr/>
                <p:nvPr/>
              </p:nvSpPr>
              <p:spPr>
                <a:xfrm>
                  <a:off x="4811171" y="1169037"/>
                  <a:ext cx="2571501" cy="5161266"/>
                </a:xfrm>
                <a:custGeom>
                  <a:avLst/>
                  <a:gdLst>
                    <a:gd name="connsiteX0" fmla="*/ 409371 w 2571501"/>
                    <a:gd name="connsiteY0" fmla="*/ 0 h 5161266"/>
                    <a:gd name="connsiteX1" fmla="*/ 2162199 w 2571501"/>
                    <a:gd name="connsiteY1" fmla="*/ 0 h 5161266"/>
                    <a:gd name="connsiteX2" fmla="*/ 2391310 w 2571501"/>
                    <a:gd name="connsiteY2" fmla="*/ 43535 h 5161266"/>
                    <a:gd name="connsiteX3" fmla="*/ 2527079 w 2571501"/>
                    <a:gd name="connsiteY3" fmla="*/ 176722 h 5161266"/>
                    <a:gd name="connsiteX4" fmla="*/ 2571536 w 2571501"/>
                    <a:gd name="connsiteY4" fmla="*/ 401405 h 5161266"/>
                    <a:gd name="connsiteX5" fmla="*/ 2571536 w 2571501"/>
                    <a:gd name="connsiteY5" fmla="*/ 4759862 h 5161266"/>
                    <a:gd name="connsiteX6" fmla="*/ 2527079 w 2571501"/>
                    <a:gd name="connsiteY6" fmla="*/ 4984546 h 5161266"/>
                    <a:gd name="connsiteX7" fmla="*/ 2391310 w 2571501"/>
                    <a:gd name="connsiteY7" fmla="*/ 5117732 h 5161266"/>
                    <a:gd name="connsiteX8" fmla="*/ 2162199 w 2571501"/>
                    <a:gd name="connsiteY8" fmla="*/ 5161267 h 5161266"/>
                    <a:gd name="connsiteX9" fmla="*/ 409371 w 2571501"/>
                    <a:gd name="connsiteY9" fmla="*/ 5161267 h 5161266"/>
                    <a:gd name="connsiteX10" fmla="*/ 180260 w 2571501"/>
                    <a:gd name="connsiteY10" fmla="*/ 5117732 h 5161266"/>
                    <a:gd name="connsiteX11" fmla="*/ 44491 w 2571501"/>
                    <a:gd name="connsiteY11" fmla="*/ 4984546 h 5161266"/>
                    <a:gd name="connsiteX12" fmla="*/ 34 w 2571501"/>
                    <a:gd name="connsiteY12" fmla="*/ 4759862 h 5161266"/>
                    <a:gd name="connsiteX13" fmla="*/ 34 w 2571501"/>
                    <a:gd name="connsiteY13" fmla="*/ 401590 h 5161266"/>
                    <a:gd name="connsiteX14" fmla="*/ 44491 w 2571501"/>
                    <a:gd name="connsiteY14" fmla="*/ 176906 h 5161266"/>
                    <a:gd name="connsiteX15" fmla="*/ 180260 w 2571501"/>
                    <a:gd name="connsiteY15" fmla="*/ 43719 h 5161266"/>
                    <a:gd name="connsiteX16" fmla="*/ 409371 w 2571501"/>
                    <a:gd name="connsiteY16" fmla="*/ 0 h 5161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71501" h="5161266">
                      <a:moveTo>
                        <a:pt x="409371" y="0"/>
                      </a:moveTo>
                      <a:lnTo>
                        <a:pt x="2162199" y="0"/>
                      </a:lnTo>
                      <a:cubicBezTo>
                        <a:pt x="2270298" y="0"/>
                        <a:pt x="2329512" y="11253"/>
                        <a:pt x="2391310" y="43535"/>
                      </a:cubicBezTo>
                      <a:cubicBezTo>
                        <a:pt x="2449417" y="73972"/>
                        <a:pt x="2495904" y="119536"/>
                        <a:pt x="2527079" y="176722"/>
                      </a:cubicBezTo>
                      <a:cubicBezTo>
                        <a:pt x="2560099" y="237228"/>
                        <a:pt x="2571536" y="295335"/>
                        <a:pt x="2571536" y="401405"/>
                      </a:cubicBezTo>
                      <a:lnTo>
                        <a:pt x="2571536" y="4759862"/>
                      </a:lnTo>
                      <a:cubicBezTo>
                        <a:pt x="2571536" y="4865932"/>
                        <a:pt x="2560099" y="4924040"/>
                        <a:pt x="2527079" y="4984546"/>
                      </a:cubicBezTo>
                      <a:cubicBezTo>
                        <a:pt x="2495904" y="5041546"/>
                        <a:pt x="2449602" y="5087110"/>
                        <a:pt x="2391310" y="5117732"/>
                      </a:cubicBezTo>
                      <a:cubicBezTo>
                        <a:pt x="2329512" y="5150199"/>
                        <a:pt x="2270298" y="5161267"/>
                        <a:pt x="2162199" y="5161267"/>
                      </a:cubicBezTo>
                      <a:lnTo>
                        <a:pt x="409371" y="5161267"/>
                      </a:lnTo>
                      <a:cubicBezTo>
                        <a:pt x="301272" y="5161267"/>
                        <a:pt x="242058" y="5150014"/>
                        <a:pt x="180260" y="5117732"/>
                      </a:cubicBezTo>
                      <a:cubicBezTo>
                        <a:pt x="122153" y="5087295"/>
                        <a:pt x="75666" y="5041731"/>
                        <a:pt x="44491" y="4984546"/>
                      </a:cubicBezTo>
                      <a:cubicBezTo>
                        <a:pt x="11471" y="4924040"/>
                        <a:pt x="34" y="4865932"/>
                        <a:pt x="34" y="4759862"/>
                      </a:cubicBezTo>
                      <a:lnTo>
                        <a:pt x="34" y="401590"/>
                      </a:lnTo>
                      <a:cubicBezTo>
                        <a:pt x="34" y="295520"/>
                        <a:pt x="11471" y="237412"/>
                        <a:pt x="44491" y="176906"/>
                      </a:cubicBezTo>
                      <a:cubicBezTo>
                        <a:pt x="75666" y="119905"/>
                        <a:pt x="121968" y="74341"/>
                        <a:pt x="180260" y="43719"/>
                      </a:cubicBezTo>
                      <a:cubicBezTo>
                        <a:pt x="242058" y="11253"/>
                        <a:pt x="301272" y="0"/>
                        <a:pt x="40937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AF6A61B2-5C32-4C90-A19F-F453C839D558}"/>
                    </a:ext>
                  </a:extLst>
                </p:cNvPr>
                <p:cNvSpPr/>
                <p:nvPr/>
              </p:nvSpPr>
              <p:spPr>
                <a:xfrm>
                  <a:off x="4811171" y="1169037"/>
                  <a:ext cx="2571501" cy="5161266"/>
                </a:xfrm>
                <a:custGeom>
                  <a:avLst/>
                  <a:gdLst>
                    <a:gd name="connsiteX0" fmla="*/ 409371 w 2571501"/>
                    <a:gd name="connsiteY0" fmla="*/ 0 h 5161266"/>
                    <a:gd name="connsiteX1" fmla="*/ 2162199 w 2571501"/>
                    <a:gd name="connsiteY1" fmla="*/ 0 h 5161266"/>
                    <a:gd name="connsiteX2" fmla="*/ 2391310 w 2571501"/>
                    <a:gd name="connsiteY2" fmla="*/ 43535 h 5161266"/>
                    <a:gd name="connsiteX3" fmla="*/ 2527079 w 2571501"/>
                    <a:gd name="connsiteY3" fmla="*/ 176722 h 5161266"/>
                    <a:gd name="connsiteX4" fmla="*/ 2571536 w 2571501"/>
                    <a:gd name="connsiteY4" fmla="*/ 401405 h 5161266"/>
                    <a:gd name="connsiteX5" fmla="*/ 2571536 w 2571501"/>
                    <a:gd name="connsiteY5" fmla="*/ 4759862 h 5161266"/>
                    <a:gd name="connsiteX6" fmla="*/ 2527079 w 2571501"/>
                    <a:gd name="connsiteY6" fmla="*/ 4984546 h 5161266"/>
                    <a:gd name="connsiteX7" fmla="*/ 2391310 w 2571501"/>
                    <a:gd name="connsiteY7" fmla="*/ 5117732 h 5161266"/>
                    <a:gd name="connsiteX8" fmla="*/ 2162199 w 2571501"/>
                    <a:gd name="connsiteY8" fmla="*/ 5161267 h 5161266"/>
                    <a:gd name="connsiteX9" fmla="*/ 409371 w 2571501"/>
                    <a:gd name="connsiteY9" fmla="*/ 5161267 h 5161266"/>
                    <a:gd name="connsiteX10" fmla="*/ 180260 w 2571501"/>
                    <a:gd name="connsiteY10" fmla="*/ 5117732 h 5161266"/>
                    <a:gd name="connsiteX11" fmla="*/ 44491 w 2571501"/>
                    <a:gd name="connsiteY11" fmla="*/ 4984546 h 5161266"/>
                    <a:gd name="connsiteX12" fmla="*/ 34 w 2571501"/>
                    <a:gd name="connsiteY12" fmla="*/ 4759862 h 5161266"/>
                    <a:gd name="connsiteX13" fmla="*/ 34 w 2571501"/>
                    <a:gd name="connsiteY13" fmla="*/ 401590 h 5161266"/>
                    <a:gd name="connsiteX14" fmla="*/ 44491 w 2571501"/>
                    <a:gd name="connsiteY14" fmla="*/ 176906 h 5161266"/>
                    <a:gd name="connsiteX15" fmla="*/ 180260 w 2571501"/>
                    <a:gd name="connsiteY15" fmla="*/ 43719 h 5161266"/>
                    <a:gd name="connsiteX16" fmla="*/ 409371 w 2571501"/>
                    <a:gd name="connsiteY16" fmla="*/ 0 h 5161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71501" h="5161266">
                      <a:moveTo>
                        <a:pt x="409371" y="0"/>
                      </a:moveTo>
                      <a:lnTo>
                        <a:pt x="2162199" y="0"/>
                      </a:lnTo>
                      <a:cubicBezTo>
                        <a:pt x="2270298" y="0"/>
                        <a:pt x="2329512" y="11253"/>
                        <a:pt x="2391310" y="43535"/>
                      </a:cubicBezTo>
                      <a:cubicBezTo>
                        <a:pt x="2449417" y="73972"/>
                        <a:pt x="2495904" y="119536"/>
                        <a:pt x="2527079" y="176722"/>
                      </a:cubicBezTo>
                      <a:cubicBezTo>
                        <a:pt x="2560099" y="237228"/>
                        <a:pt x="2571536" y="295335"/>
                        <a:pt x="2571536" y="401405"/>
                      </a:cubicBezTo>
                      <a:lnTo>
                        <a:pt x="2571536" y="4759862"/>
                      </a:lnTo>
                      <a:cubicBezTo>
                        <a:pt x="2571536" y="4865932"/>
                        <a:pt x="2560099" y="4924040"/>
                        <a:pt x="2527079" y="4984546"/>
                      </a:cubicBezTo>
                      <a:cubicBezTo>
                        <a:pt x="2495904" y="5041546"/>
                        <a:pt x="2449602" y="5087110"/>
                        <a:pt x="2391310" y="5117732"/>
                      </a:cubicBezTo>
                      <a:cubicBezTo>
                        <a:pt x="2329512" y="5150199"/>
                        <a:pt x="2270298" y="5161267"/>
                        <a:pt x="2162199" y="5161267"/>
                      </a:cubicBezTo>
                      <a:lnTo>
                        <a:pt x="409371" y="5161267"/>
                      </a:lnTo>
                      <a:cubicBezTo>
                        <a:pt x="301272" y="5161267"/>
                        <a:pt x="242058" y="5150014"/>
                        <a:pt x="180260" y="5117732"/>
                      </a:cubicBezTo>
                      <a:cubicBezTo>
                        <a:pt x="122153" y="5087295"/>
                        <a:pt x="75666" y="5041731"/>
                        <a:pt x="44491" y="4984546"/>
                      </a:cubicBezTo>
                      <a:cubicBezTo>
                        <a:pt x="11471" y="4924040"/>
                        <a:pt x="34" y="4865932"/>
                        <a:pt x="34" y="4759862"/>
                      </a:cubicBezTo>
                      <a:lnTo>
                        <a:pt x="34" y="401590"/>
                      </a:lnTo>
                      <a:cubicBezTo>
                        <a:pt x="34" y="295520"/>
                        <a:pt x="11471" y="237412"/>
                        <a:pt x="44491" y="176906"/>
                      </a:cubicBezTo>
                      <a:cubicBezTo>
                        <a:pt x="75666" y="119905"/>
                        <a:pt x="121968" y="74341"/>
                        <a:pt x="180260" y="43719"/>
                      </a:cubicBezTo>
                      <a:cubicBezTo>
                        <a:pt x="242058" y="11253"/>
                        <a:pt x="301272" y="0"/>
                        <a:pt x="4093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39000">
                      <a:schemeClr val="bg1">
                        <a:lumMod val="75000"/>
                      </a:schemeClr>
                    </a:gs>
                    <a:gs pos="2000">
                      <a:schemeClr val="tx1">
                        <a:lumMod val="75000"/>
                        <a:lumOff val="25000"/>
                      </a:schemeClr>
                    </a:gs>
                    <a:gs pos="1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98000">
                      <a:schemeClr val="tx1">
                        <a:lumMod val="75000"/>
                        <a:lumOff val="2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0" scaled="0"/>
                </a:gradFill>
                <a:ln w="483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B31E2AB3-B07C-45B1-8061-DF8F08EEA297}"/>
                    </a:ext>
                  </a:extLst>
                </p:cNvPr>
                <p:cNvGrpSpPr/>
                <p:nvPr/>
              </p:nvGrpSpPr>
              <p:grpSpPr>
                <a:xfrm>
                  <a:off x="4853599" y="1159814"/>
                  <a:ext cx="2479082" cy="5187092"/>
                  <a:chOff x="4853599" y="1159814"/>
                  <a:chExt cx="2479082" cy="5187092"/>
                </a:xfrm>
                <a:solidFill>
                  <a:srgbClr val="FFFFFF"/>
                </a:solidFill>
              </p:grpSpPr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1219D33E-9056-431D-8570-FAB5BFCD0D77}"/>
                      </a:ext>
                    </a:extLst>
                  </p:cNvPr>
                  <p:cNvSpPr/>
                  <p:nvPr/>
                </p:nvSpPr>
                <p:spPr>
                  <a:xfrm>
                    <a:off x="4853599" y="1159814"/>
                    <a:ext cx="2479082" cy="5187092"/>
                  </a:xfrm>
                  <a:custGeom>
                    <a:avLst/>
                    <a:gdLst>
                      <a:gd name="connsiteX0" fmla="*/ 394614 w 2479082"/>
                      <a:gd name="connsiteY0" fmla="*/ 0 h 5187092"/>
                      <a:gd name="connsiteX1" fmla="*/ 2084537 w 2479082"/>
                      <a:gd name="connsiteY1" fmla="*/ 0 h 5187092"/>
                      <a:gd name="connsiteX2" fmla="*/ 2305531 w 2479082"/>
                      <a:gd name="connsiteY2" fmla="*/ 43904 h 5187092"/>
                      <a:gd name="connsiteX3" fmla="*/ 2436320 w 2479082"/>
                      <a:gd name="connsiteY3" fmla="*/ 177644 h 5187092"/>
                      <a:gd name="connsiteX4" fmla="*/ 2479117 w 2479082"/>
                      <a:gd name="connsiteY4" fmla="*/ 403434 h 5187092"/>
                      <a:gd name="connsiteX5" fmla="*/ 2479117 w 2479082"/>
                      <a:gd name="connsiteY5" fmla="*/ 4783658 h 5187092"/>
                      <a:gd name="connsiteX6" fmla="*/ 2436320 w 2479082"/>
                      <a:gd name="connsiteY6" fmla="*/ 5009449 h 5187092"/>
                      <a:gd name="connsiteX7" fmla="*/ 2305531 w 2479082"/>
                      <a:gd name="connsiteY7" fmla="*/ 5143189 h 5187092"/>
                      <a:gd name="connsiteX8" fmla="*/ 2084537 w 2479082"/>
                      <a:gd name="connsiteY8" fmla="*/ 5187093 h 5187092"/>
                      <a:gd name="connsiteX9" fmla="*/ 394614 w 2479082"/>
                      <a:gd name="connsiteY9" fmla="*/ 5187093 h 5187092"/>
                      <a:gd name="connsiteX10" fmla="*/ 173620 w 2479082"/>
                      <a:gd name="connsiteY10" fmla="*/ 5143189 h 5187092"/>
                      <a:gd name="connsiteX11" fmla="*/ 42831 w 2479082"/>
                      <a:gd name="connsiteY11" fmla="*/ 5009449 h 5187092"/>
                      <a:gd name="connsiteX12" fmla="*/ 34 w 2479082"/>
                      <a:gd name="connsiteY12" fmla="*/ 4783843 h 5187092"/>
                      <a:gd name="connsiteX13" fmla="*/ 34 w 2479082"/>
                      <a:gd name="connsiteY13" fmla="*/ 403434 h 5187092"/>
                      <a:gd name="connsiteX14" fmla="*/ 42831 w 2479082"/>
                      <a:gd name="connsiteY14" fmla="*/ 177644 h 5187092"/>
                      <a:gd name="connsiteX15" fmla="*/ 173620 w 2479082"/>
                      <a:gd name="connsiteY15" fmla="*/ 43904 h 5187092"/>
                      <a:gd name="connsiteX16" fmla="*/ 394614 w 2479082"/>
                      <a:gd name="connsiteY16" fmla="*/ 0 h 51870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79082" h="5187092">
                        <a:moveTo>
                          <a:pt x="394614" y="0"/>
                        </a:moveTo>
                        <a:lnTo>
                          <a:pt x="2084537" y="0"/>
                        </a:lnTo>
                        <a:cubicBezTo>
                          <a:pt x="2188762" y="0"/>
                          <a:pt x="2245948" y="11253"/>
                          <a:pt x="2305531" y="43904"/>
                        </a:cubicBezTo>
                        <a:cubicBezTo>
                          <a:pt x="2361610" y="74526"/>
                          <a:pt x="2406436" y="120274"/>
                          <a:pt x="2436320" y="177644"/>
                        </a:cubicBezTo>
                        <a:cubicBezTo>
                          <a:pt x="2468233" y="238519"/>
                          <a:pt x="2479117" y="296996"/>
                          <a:pt x="2479117" y="403434"/>
                        </a:cubicBezTo>
                        <a:lnTo>
                          <a:pt x="2479117" y="4783658"/>
                        </a:lnTo>
                        <a:cubicBezTo>
                          <a:pt x="2479117" y="4890282"/>
                          <a:pt x="2468049" y="4948574"/>
                          <a:pt x="2436320" y="5009449"/>
                        </a:cubicBezTo>
                        <a:cubicBezTo>
                          <a:pt x="2406252" y="5066819"/>
                          <a:pt x="2361610" y="5112567"/>
                          <a:pt x="2305531" y="5143189"/>
                        </a:cubicBezTo>
                        <a:cubicBezTo>
                          <a:pt x="2245948" y="5175840"/>
                          <a:pt x="2188947" y="5187093"/>
                          <a:pt x="2084537" y="5187093"/>
                        </a:cubicBezTo>
                        <a:lnTo>
                          <a:pt x="394614" y="5187093"/>
                        </a:lnTo>
                        <a:cubicBezTo>
                          <a:pt x="290389" y="5187093"/>
                          <a:pt x="233203" y="5175840"/>
                          <a:pt x="173620" y="5143189"/>
                        </a:cubicBezTo>
                        <a:cubicBezTo>
                          <a:pt x="117541" y="5112567"/>
                          <a:pt x="72715" y="5066819"/>
                          <a:pt x="42831" y="5009449"/>
                        </a:cubicBezTo>
                        <a:cubicBezTo>
                          <a:pt x="11102" y="4948758"/>
                          <a:pt x="34" y="4890282"/>
                          <a:pt x="34" y="4783843"/>
                        </a:cubicBezTo>
                        <a:lnTo>
                          <a:pt x="34" y="403434"/>
                        </a:lnTo>
                        <a:cubicBezTo>
                          <a:pt x="34" y="296811"/>
                          <a:pt x="11102" y="238519"/>
                          <a:pt x="42831" y="177644"/>
                        </a:cubicBezTo>
                        <a:cubicBezTo>
                          <a:pt x="72899" y="120274"/>
                          <a:pt x="117541" y="74526"/>
                          <a:pt x="173620" y="43904"/>
                        </a:cubicBezTo>
                        <a:cubicBezTo>
                          <a:pt x="233388" y="11253"/>
                          <a:pt x="290389" y="0"/>
                          <a:pt x="3946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191CB009-6901-42B7-8C7C-8E0F322256CE}"/>
                      </a:ext>
                    </a:extLst>
                  </p:cNvPr>
                  <p:cNvSpPr/>
                  <p:nvPr/>
                </p:nvSpPr>
                <p:spPr>
                  <a:xfrm>
                    <a:off x="4853599" y="1159814"/>
                    <a:ext cx="2479082" cy="5187092"/>
                  </a:xfrm>
                  <a:custGeom>
                    <a:avLst/>
                    <a:gdLst>
                      <a:gd name="connsiteX0" fmla="*/ 394614 w 2479082"/>
                      <a:gd name="connsiteY0" fmla="*/ 0 h 5187092"/>
                      <a:gd name="connsiteX1" fmla="*/ 2084537 w 2479082"/>
                      <a:gd name="connsiteY1" fmla="*/ 0 h 5187092"/>
                      <a:gd name="connsiteX2" fmla="*/ 2305531 w 2479082"/>
                      <a:gd name="connsiteY2" fmla="*/ 43904 h 5187092"/>
                      <a:gd name="connsiteX3" fmla="*/ 2436320 w 2479082"/>
                      <a:gd name="connsiteY3" fmla="*/ 177644 h 5187092"/>
                      <a:gd name="connsiteX4" fmla="*/ 2479117 w 2479082"/>
                      <a:gd name="connsiteY4" fmla="*/ 403434 h 5187092"/>
                      <a:gd name="connsiteX5" fmla="*/ 2479117 w 2479082"/>
                      <a:gd name="connsiteY5" fmla="*/ 4783658 h 5187092"/>
                      <a:gd name="connsiteX6" fmla="*/ 2436320 w 2479082"/>
                      <a:gd name="connsiteY6" fmla="*/ 5009449 h 5187092"/>
                      <a:gd name="connsiteX7" fmla="*/ 2305531 w 2479082"/>
                      <a:gd name="connsiteY7" fmla="*/ 5143189 h 5187092"/>
                      <a:gd name="connsiteX8" fmla="*/ 2084537 w 2479082"/>
                      <a:gd name="connsiteY8" fmla="*/ 5187093 h 5187092"/>
                      <a:gd name="connsiteX9" fmla="*/ 394614 w 2479082"/>
                      <a:gd name="connsiteY9" fmla="*/ 5187093 h 5187092"/>
                      <a:gd name="connsiteX10" fmla="*/ 173620 w 2479082"/>
                      <a:gd name="connsiteY10" fmla="*/ 5143189 h 5187092"/>
                      <a:gd name="connsiteX11" fmla="*/ 42831 w 2479082"/>
                      <a:gd name="connsiteY11" fmla="*/ 5009449 h 5187092"/>
                      <a:gd name="connsiteX12" fmla="*/ 34 w 2479082"/>
                      <a:gd name="connsiteY12" fmla="*/ 4783843 h 5187092"/>
                      <a:gd name="connsiteX13" fmla="*/ 34 w 2479082"/>
                      <a:gd name="connsiteY13" fmla="*/ 403434 h 5187092"/>
                      <a:gd name="connsiteX14" fmla="*/ 42831 w 2479082"/>
                      <a:gd name="connsiteY14" fmla="*/ 177644 h 5187092"/>
                      <a:gd name="connsiteX15" fmla="*/ 173620 w 2479082"/>
                      <a:gd name="connsiteY15" fmla="*/ 43904 h 5187092"/>
                      <a:gd name="connsiteX16" fmla="*/ 394614 w 2479082"/>
                      <a:gd name="connsiteY16" fmla="*/ 0 h 51870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79082" h="5187092">
                        <a:moveTo>
                          <a:pt x="394614" y="0"/>
                        </a:moveTo>
                        <a:lnTo>
                          <a:pt x="2084537" y="0"/>
                        </a:lnTo>
                        <a:cubicBezTo>
                          <a:pt x="2188762" y="0"/>
                          <a:pt x="2245948" y="11253"/>
                          <a:pt x="2305531" y="43904"/>
                        </a:cubicBezTo>
                        <a:cubicBezTo>
                          <a:pt x="2361610" y="74526"/>
                          <a:pt x="2406436" y="120274"/>
                          <a:pt x="2436320" y="177644"/>
                        </a:cubicBezTo>
                        <a:cubicBezTo>
                          <a:pt x="2468233" y="238519"/>
                          <a:pt x="2479117" y="296996"/>
                          <a:pt x="2479117" y="403434"/>
                        </a:cubicBezTo>
                        <a:lnTo>
                          <a:pt x="2479117" y="4783658"/>
                        </a:lnTo>
                        <a:cubicBezTo>
                          <a:pt x="2479117" y="4890282"/>
                          <a:pt x="2468049" y="4948574"/>
                          <a:pt x="2436320" y="5009449"/>
                        </a:cubicBezTo>
                        <a:cubicBezTo>
                          <a:pt x="2406252" y="5066819"/>
                          <a:pt x="2361610" y="5112567"/>
                          <a:pt x="2305531" y="5143189"/>
                        </a:cubicBezTo>
                        <a:cubicBezTo>
                          <a:pt x="2245948" y="5175840"/>
                          <a:pt x="2188947" y="5187093"/>
                          <a:pt x="2084537" y="5187093"/>
                        </a:cubicBezTo>
                        <a:lnTo>
                          <a:pt x="394614" y="5187093"/>
                        </a:lnTo>
                        <a:cubicBezTo>
                          <a:pt x="290389" y="5187093"/>
                          <a:pt x="233203" y="5175840"/>
                          <a:pt x="173620" y="5143189"/>
                        </a:cubicBezTo>
                        <a:cubicBezTo>
                          <a:pt x="117541" y="5112567"/>
                          <a:pt x="72715" y="5066819"/>
                          <a:pt x="42831" y="5009449"/>
                        </a:cubicBezTo>
                        <a:cubicBezTo>
                          <a:pt x="11102" y="4948758"/>
                          <a:pt x="34" y="4890282"/>
                          <a:pt x="34" y="4783843"/>
                        </a:cubicBezTo>
                        <a:lnTo>
                          <a:pt x="34" y="403434"/>
                        </a:lnTo>
                        <a:cubicBezTo>
                          <a:pt x="34" y="296811"/>
                          <a:pt x="11102" y="238519"/>
                          <a:pt x="42831" y="177644"/>
                        </a:cubicBezTo>
                        <a:cubicBezTo>
                          <a:pt x="72899" y="120274"/>
                          <a:pt x="117541" y="74526"/>
                          <a:pt x="173620" y="43904"/>
                        </a:cubicBezTo>
                        <a:cubicBezTo>
                          <a:pt x="233388" y="11253"/>
                          <a:pt x="290389" y="0"/>
                          <a:pt x="3946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97B397F7-3CA5-41ED-9151-84B9132AD272}"/>
                    </a:ext>
                  </a:extLst>
                </p:cNvPr>
                <p:cNvSpPr/>
                <p:nvPr/>
              </p:nvSpPr>
              <p:spPr>
                <a:xfrm>
                  <a:off x="4843454" y="1171804"/>
                  <a:ext cx="2506937" cy="5163295"/>
                </a:xfrm>
                <a:custGeom>
                  <a:avLst/>
                  <a:gdLst>
                    <a:gd name="connsiteX0" fmla="*/ 2127887 w 2506937"/>
                    <a:gd name="connsiteY0" fmla="*/ 0 h 5163295"/>
                    <a:gd name="connsiteX1" fmla="*/ 2342425 w 2506937"/>
                    <a:gd name="connsiteY1" fmla="*/ 40952 h 5163295"/>
                    <a:gd name="connsiteX2" fmla="*/ 2466020 w 2506937"/>
                    <a:gd name="connsiteY2" fmla="*/ 164547 h 5163295"/>
                    <a:gd name="connsiteX3" fmla="*/ 2506972 w 2506937"/>
                    <a:gd name="connsiteY3" fmla="*/ 379084 h 5163295"/>
                    <a:gd name="connsiteX4" fmla="*/ 2506972 w 2506937"/>
                    <a:gd name="connsiteY4" fmla="*/ 379084 h 5163295"/>
                    <a:gd name="connsiteX5" fmla="*/ 2506972 w 2506937"/>
                    <a:gd name="connsiteY5" fmla="*/ 4784212 h 5163295"/>
                    <a:gd name="connsiteX6" fmla="*/ 2466020 w 2506937"/>
                    <a:gd name="connsiteY6" fmla="*/ 4998750 h 5163295"/>
                    <a:gd name="connsiteX7" fmla="*/ 2342425 w 2506937"/>
                    <a:gd name="connsiteY7" fmla="*/ 5122344 h 5163295"/>
                    <a:gd name="connsiteX8" fmla="*/ 2127887 w 2506937"/>
                    <a:gd name="connsiteY8" fmla="*/ 5163296 h 5163295"/>
                    <a:gd name="connsiteX9" fmla="*/ 2127887 w 2506937"/>
                    <a:gd name="connsiteY9" fmla="*/ 5163296 h 5163295"/>
                    <a:gd name="connsiteX10" fmla="*/ 379118 w 2506937"/>
                    <a:gd name="connsiteY10" fmla="*/ 5163296 h 5163295"/>
                    <a:gd name="connsiteX11" fmla="*/ 164581 w 2506937"/>
                    <a:gd name="connsiteY11" fmla="*/ 5122344 h 5163295"/>
                    <a:gd name="connsiteX12" fmla="*/ 40986 w 2506937"/>
                    <a:gd name="connsiteY12" fmla="*/ 4998750 h 5163295"/>
                    <a:gd name="connsiteX13" fmla="*/ 34 w 2506937"/>
                    <a:gd name="connsiteY13" fmla="*/ 4784212 h 5163295"/>
                    <a:gd name="connsiteX14" fmla="*/ 34 w 2506937"/>
                    <a:gd name="connsiteY14" fmla="*/ 4784212 h 5163295"/>
                    <a:gd name="connsiteX15" fmla="*/ 34 w 2506937"/>
                    <a:gd name="connsiteY15" fmla="*/ 379084 h 5163295"/>
                    <a:gd name="connsiteX16" fmla="*/ 40986 w 2506937"/>
                    <a:gd name="connsiteY16" fmla="*/ 164547 h 5163295"/>
                    <a:gd name="connsiteX17" fmla="*/ 164581 w 2506937"/>
                    <a:gd name="connsiteY17" fmla="*/ 40952 h 5163295"/>
                    <a:gd name="connsiteX18" fmla="*/ 379118 w 2506937"/>
                    <a:gd name="connsiteY18" fmla="*/ 0 h 5163295"/>
                    <a:gd name="connsiteX19" fmla="*/ 379118 w 2506937"/>
                    <a:gd name="connsiteY19" fmla="*/ 0 h 5163295"/>
                    <a:gd name="connsiteX20" fmla="*/ 2127887 w 2506937"/>
                    <a:gd name="connsiteY20" fmla="*/ 0 h 5163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506937" h="5163295">
                      <a:moveTo>
                        <a:pt x="2127887" y="0"/>
                      </a:moveTo>
                      <a:cubicBezTo>
                        <a:pt x="2230821" y="0"/>
                        <a:pt x="2285424" y="10515"/>
                        <a:pt x="2342425" y="40952"/>
                      </a:cubicBezTo>
                      <a:cubicBezTo>
                        <a:pt x="2395368" y="69360"/>
                        <a:pt x="2437611" y="111604"/>
                        <a:pt x="2466020" y="164547"/>
                      </a:cubicBezTo>
                      <a:cubicBezTo>
                        <a:pt x="2496457" y="221548"/>
                        <a:pt x="2506972" y="276151"/>
                        <a:pt x="2506972" y="379084"/>
                      </a:cubicBezTo>
                      <a:lnTo>
                        <a:pt x="2506972" y="379084"/>
                      </a:lnTo>
                      <a:lnTo>
                        <a:pt x="2506972" y="4784212"/>
                      </a:lnTo>
                      <a:cubicBezTo>
                        <a:pt x="2506972" y="4887146"/>
                        <a:pt x="2496457" y="4941748"/>
                        <a:pt x="2466020" y="4998750"/>
                      </a:cubicBezTo>
                      <a:cubicBezTo>
                        <a:pt x="2437611" y="5051692"/>
                        <a:pt x="2395368" y="5093936"/>
                        <a:pt x="2342425" y="5122344"/>
                      </a:cubicBezTo>
                      <a:cubicBezTo>
                        <a:pt x="2285424" y="5152782"/>
                        <a:pt x="2230821" y="5163296"/>
                        <a:pt x="2127887" y="5163296"/>
                      </a:cubicBezTo>
                      <a:lnTo>
                        <a:pt x="2127887" y="5163296"/>
                      </a:lnTo>
                      <a:lnTo>
                        <a:pt x="379118" y="5163296"/>
                      </a:lnTo>
                      <a:cubicBezTo>
                        <a:pt x="276185" y="5163296"/>
                        <a:pt x="221582" y="5152782"/>
                        <a:pt x="164581" y="5122344"/>
                      </a:cubicBezTo>
                      <a:cubicBezTo>
                        <a:pt x="111638" y="5093936"/>
                        <a:pt x="69394" y="5051692"/>
                        <a:pt x="40986" y="4998750"/>
                      </a:cubicBezTo>
                      <a:cubicBezTo>
                        <a:pt x="10549" y="4941748"/>
                        <a:pt x="34" y="4887146"/>
                        <a:pt x="34" y="4784212"/>
                      </a:cubicBezTo>
                      <a:lnTo>
                        <a:pt x="34" y="4784212"/>
                      </a:lnTo>
                      <a:lnTo>
                        <a:pt x="34" y="379084"/>
                      </a:lnTo>
                      <a:cubicBezTo>
                        <a:pt x="34" y="276151"/>
                        <a:pt x="10549" y="221548"/>
                        <a:pt x="40986" y="164547"/>
                      </a:cubicBezTo>
                      <a:cubicBezTo>
                        <a:pt x="69394" y="111604"/>
                        <a:pt x="111638" y="69360"/>
                        <a:pt x="164581" y="40952"/>
                      </a:cubicBezTo>
                      <a:cubicBezTo>
                        <a:pt x="221582" y="10515"/>
                        <a:pt x="276185" y="0"/>
                        <a:pt x="379118" y="0"/>
                      </a:cubicBezTo>
                      <a:lnTo>
                        <a:pt x="379118" y="0"/>
                      </a:lnTo>
                      <a:lnTo>
                        <a:pt x="2127887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552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B1859BED-3F40-4106-A28C-7F4AE01C4AA1}"/>
                    </a:ext>
                  </a:extLst>
                </p:cNvPr>
                <p:cNvGrpSpPr/>
                <p:nvPr/>
              </p:nvGrpSpPr>
              <p:grpSpPr>
                <a:xfrm>
                  <a:off x="4868357" y="1196707"/>
                  <a:ext cx="2457130" cy="5113489"/>
                  <a:chOff x="4868357" y="1196707"/>
                  <a:chExt cx="2457130" cy="5113489"/>
                </a:xfrm>
              </p:grpSpPr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444AE064-B410-41DB-9E33-82AB01D00AF6}"/>
                      </a:ext>
                    </a:extLst>
                  </p:cNvPr>
                  <p:cNvSpPr/>
                  <p:nvPr/>
                </p:nvSpPr>
                <p:spPr>
                  <a:xfrm>
                    <a:off x="4868357" y="1196707"/>
                    <a:ext cx="2457130" cy="5113489"/>
                  </a:xfrm>
                  <a:custGeom>
                    <a:avLst/>
                    <a:gdLst>
                      <a:gd name="connsiteX0" fmla="*/ 355875 w 2457130"/>
                      <a:gd name="connsiteY0" fmla="*/ 0 h 5113489"/>
                      <a:gd name="connsiteX1" fmla="*/ 2101508 w 2457130"/>
                      <a:gd name="connsiteY1" fmla="*/ 0 h 5113489"/>
                      <a:gd name="connsiteX2" fmla="*/ 2305162 w 2457130"/>
                      <a:gd name="connsiteY2" fmla="*/ 38001 h 5113489"/>
                      <a:gd name="connsiteX3" fmla="*/ 2418980 w 2457130"/>
                      <a:gd name="connsiteY3" fmla="*/ 151449 h 5113489"/>
                      <a:gd name="connsiteX4" fmla="*/ 2457165 w 2457130"/>
                      <a:gd name="connsiteY4" fmla="*/ 354181 h 5113489"/>
                      <a:gd name="connsiteX5" fmla="*/ 2457165 w 2457130"/>
                      <a:gd name="connsiteY5" fmla="*/ 4759308 h 5113489"/>
                      <a:gd name="connsiteX6" fmla="*/ 2418980 w 2457130"/>
                      <a:gd name="connsiteY6" fmla="*/ 4962040 h 5113489"/>
                      <a:gd name="connsiteX7" fmla="*/ 2305162 w 2457130"/>
                      <a:gd name="connsiteY7" fmla="*/ 5075489 h 5113489"/>
                      <a:gd name="connsiteX8" fmla="*/ 2101508 w 2457130"/>
                      <a:gd name="connsiteY8" fmla="*/ 5113489 h 5113489"/>
                      <a:gd name="connsiteX9" fmla="*/ 355875 w 2457130"/>
                      <a:gd name="connsiteY9" fmla="*/ 5113489 h 5113489"/>
                      <a:gd name="connsiteX10" fmla="*/ 152221 w 2457130"/>
                      <a:gd name="connsiteY10" fmla="*/ 5075489 h 5113489"/>
                      <a:gd name="connsiteX11" fmla="*/ 38404 w 2457130"/>
                      <a:gd name="connsiteY11" fmla="*/ 4962040 h 5113489"/>
                      <a:gd name="connsiteX12" fmla="*/ 34 w 2457130"/>
                      <a:gd name="connsiteY12" fmla="*/ 4759308 h 5113489"/>
                      <a:gd name="connsiteX13" fmla="*/ 34 w 2457130"/>
                      <a:gd name="connsiteY13" fmla="*/ 354181 h 5113489"/>
                      <a:gd name="connsiteX14" fmla="*/ 38219 w 2457130"/>
                      <a:gd name="connsiteY14" fmla="*/ 151449 h 5113489"/>
                      <a:gd name="connsiteX15" fmla="*/ 152037 w 2457130"/>
                      <a:gd name="connsiteY15" fmla="*/ 38001 h 5113489"/>
                      <a:gd name="connsiteX16" fmla="*/ 355875 w 2457130"/>
                      <a:gd name="connsiteY16" fmla="*/ 0 h 5113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57130" h="5113489">
                        <a:moveTo>
                          <a:pt x="355875" y="0"/>
                        </a:moveTo>
                        <a:lnTo>
                          <a:pt x="2101508" y="0"/>
                        </a:lnTo>
                        <a:cubicBezTo>
                          <a:pt x="2200199" y="0"/>
                          <a:pt x="2251482" y="9408"/>
                          <a:pt x="2305162" y="38001"/>
                        </a:cubicBezTo>
                        <a:cubicBezTo>
                          <a:pt x="2354047" y="64011"/>
                          <a:pt x="2392970" y="102749"/>
                          <a:pt x="2418980" y="151449"/>
                        </a:cubicBezTo>
                        <a:cubicBezTo>
                          <a:pt x="2447757" y="204945"/>
                          <a:pt x="2457165" y="256043"/>
                          <a:pt x="2457165" y="354181"/>
                        </a:cubicBezTo>
                        <a:lnTo>
                          <a:pt x="2457165" y="4759308"/>
                        </a:lnTo>
                        <a:cubicBezTo>
                          <a:pt x="2457165" y="4857631"/>
                          <a:pt x="2447757" y="4908729"/>
                          <a:pt x="2418980" y="4962040"/>
                        </a:cubicBezTo>
                        <a:cubicBezTo>
                          <a:pt x="2392785" y="5010740"/>
                          <a:pt x="2354047" y="5049294"/>
                          <a:pt x="2305162" y="5075489"/>
                        </a:cubicBezTo>
                        <a:cubicBezTo>
                          <a:pt x="2251482" y="5104081"/>
                          <a:pt x="2200199" y="5113489"/>
                          <a:pt x="2101508" y="5113489"/>
                        </a:cubicBezTo>
                        <a:lnTo>
                          <a:pt x="355875" y="5113489"/>
                        </a:lnTo>
                        <a:cubicBezTo>
                          <a:pt x="257184" y="5113489"/>
                          <a:pt x="205902" y="5104081"/>
                          <a:pt x="152221" y="5075489"/>
                        </a:cubicBezTo>
                        <a:cubicBezTo>
                          <a:pt x="103337" y="5049479"/>
                          <a:pt x="64414" y="5010740"/>
                          <a:pt x="38404" y="4962040"/>
                        </a:cubicBezTo>
                        <a:cubicBezTo>
                          <a:pt x="9442" y="4908729"/>
                          <a:pt x="34" y="4857631"/>
                          <a:pt x="34" y="4759308"/>
                        </a:cubicBezTo>
                        <a:lnTo>
                          <a:pt x="34" y="354181"/>
                        </a:lnTo>
                        <a:cubicBezTo>
                          <a:pt x="34" y="255859"/>
                          <a:pt x="9442" y="204761"/>
                          <a:pt x="38219" y="151449"/>
                        </a:cubicBezTo>
                        <a:cubicBezTo>
                          <a:pt x="64414" y="102749"/>
                          <a:pt x="103152" y="64195"/>
                          <a:pt x="152037" y="38001"/>
                        </a:cubicBezTo>
                        <a:cubicBezTo>
                          <a:pt x="205717" y="9408"/>
                          <a:pt x="257000" y="0"/>
                          <a:pt x="35587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0CB2BF9A-8EF9-4B20-8FD4-D6044D1291C0}"/>
                      </a:ext>
                    </a:extLst>
                  </p:cNvPr>
                  <p:cNvSpPr/>
                  <p:nvPr/>
                </p:nvSpPr>
                <p:spPr>
                  <a:xfrm>
                    <a:off x="4868357" y="1196707"/>
                    <a:ext cx="2457130" cy="5113489"/>
                  </a:xfrm>
                  <a:custGeom>
                    <a:avLst/>
                    <a:gdLst>
                      <a:gd name="connsiteX0" fmla="*/ 355875 w 2457130"/>
                      <a:gd name="connsiteY0" fmla="*/ 0 h 5113489"/>
                      <a:gd name="connsiteX1" fmla="*/ 2101508 w 2457130"/>
                      <a:gd name="connsiteY1" fmla="*/ 0 h 5113489"/>
                      <a:gd name="connsiteX2" fmla="*/ 2305162 w 2457130"/>
                      <a:gd name="connsiteY2" fmla="*/ 38001 h 5113489"/>
                      <a:gd name="connsiteX3" fmla="*/ 2418980 w 2457130"/>
                      <a:gd name="connsiteY3" fmla="*/ 151449 h 5113489"/>
                      <a:gd name="connsiteX4" fmla="*/ 2457165 w 2457130"/>
                      <a:gd name="connsiteY4" fmla="*/ 354181 h 5113489"/>
                      <a:gd name="connsiteX5" fmla="*/ 2457165 w 2457130"/>
                      <a:gd name="connsiteY5" fmla="*/ 4759308 h 5113489"/>
                      <a:gd name="connsiteX6" fmla="*/ 2418980 w 2457130"/>
                      <a:gd name="connsiteY6" fmla="*/ 4962040 h 5113489"/>
                      <a:gd name="connsiteX7" fmla="*/ 2305162 w 2457130"/>
                      <a:gd name="connsiteY7" fmla="*/ 5075489 h 5113489"/>
                      <a:gd name="connsiteX8" fmla="*/ 2101508 w 2457130"/>
                      <a:gd name="connsiteY8" fmla="*/ 5113489 h 5113489"/>
                      <a:gd name="connsiteX9" fmla="*/ 355875 w 2457130"/>
                      <a:gd name="connsiteY9" fmla="*/ 5113489 h 5113489"/>
                      <a:gd name="connsiteX10" fmla="*/ 152221 w 2457130"/>
                      <a:gd name="connsiteY10" fmla="*/ 5075489 h 5113489"/>
                      <a:gd name="connsiteX11" fmla="*/ 38404 w 2457130"/>
                      <a:gd name="connsiteY11" fmla="*/ 4962040 h 5113489"/>
                      <a:gd name="connsiteX12" fmla="*/ 34 w 2457130"/>
                      <a:gd name="connsiteY12" fmla="*/ 4759308 h 5113489"/>
                      <a:gd name="connsiteX13" fmla="*/ 34 w 2457130"/>
                      <a:gd name="connsiteY13" fmla="*/ 354181 h 5113489"/>
                      <a:gd name="connsiteX14" fmla="*/ 38219 w 2457130"/>
                      <a:gd name="connsiteY14" fmla="*/ 151449 h 5113489"/>
                      <a:gd name="connsiteX15" fmla="*/ 152037 w 2457130"/>
                      <a:gd name="connsiteY15" fmla="*/ 38001 h 5113489"/>
                      <a:gd name="connsiteX16" fmla="*/ 355875 w 2457130"/>
                      <a:gd name="connsiteY16" fmla="*/ 0 h 5113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57130" h="5113489">
                        <a:moveTo>
                          <a:pt x="355875" y="0"/>
                        </a:moveTo>
                        <a:lnTo>
                          <a:pt x="2101508" y="0"/>
                        </a:lnTo>
                        <a:cubicBezTo>
                          <a:pt x="2200199" y="0"/>
                          <a:pt x="2251482" y="9408"/>
                          <a:pt x="2305162" y="38001"/>
                        </a:cubicBezTo>
                        <a:cubicBezTo>
                          <a:pt x="2354047" y="64011"/>
                          <a:pt x="2392970" y="102749"/>
                          <a:pt x="2418980" y="151449"/>
                        </a:cubicBezTo>
                        <a:cubicBezTo>
                          <a:pt x="2447757" y="204945"/>
                          <a:pt x="2457165" y="256043"/>
                          <a:pt x="2457165" y="354181"/>
                        </a:cubicBezTo>
                        <a:lnTo>
                          <a:pt x="2457165" y="4759308"/>
                        </a:lnTo>
                        <a:cubicBezTo>
                          <a:pt x="2457165" y="4857631"/>
                          <a:pt x="2447757" y="4908729"/>
                          <a:pt x="2418980" y="4962040"/>
                        </a:cubicBezTo>
                        <a:cubicBezTo>
                          <a:pt x="2392785" y="5010740"/>
                          <a:pt x="2354047" y="5049294"/>
                          <a:pt x="2305162" y="5075489"/>
                        </a:cubicBezTo>
                        <a:cubicBezTo>
                          <a:pt x="2251482" y="5104081"/>
                          <a:pt x="2200199" y="5113489"/>
                          <a:pt x="2101508" y="5113489"/>
                        </a:cubicBezTo>
                        <a:lnTo>
                          <a:pt x="355875" y="5113489"/>
                        </a:lnTo>
                        <a:cubicBezTo>
                          <a:pt x="257184" y="5113489"/>
                          <a:pt x="205902" y="5104081"/>
                          <a:pt x="152221" y="5075489"/>
                        </a:cubicBezTo>
                        <a:cubicBezTo>
                          <a:pt x="103337" y="5049479"/>
                          <a:pt x="64414" y="5010740"/>
                          <a:pt x="38404" y="4962040"/>
                        </a:cubicBezTo>
                        <a:cubicBezTo>
                          <a:pt x="9442" y="4908729"/>
                          <a:pt x="34" y="4857631"/>
                          <a:pt x="34" y="4759308"/>
                        </a:cubicBezTo>
                        <a:lnTo>
                          <a:pt x="34" y="354181"/>
                        </a:lnTo>
                        <a:cubicBezTo>
                          <a:pt x="34" y="255859"/>
                          <a:pt x="9442" y="204761"/>
                          <a:pt x="38219" y="151449"/>
                        </a:cubicBezTo>
                        <a:cubicBezTo>
                          <a:pt x="64414" y="102749"/>
                          <a:pt x="103152" y="64195"/>
                          <a:pt x="152037" y="38001"/>
                        </a:cubicBezTo>
                        <a:cubicBezTo>
                          <a:pt x="205717" y="9408"/>
                          <a:pt x="257000" y="0"/>
                          <a:pt x="35587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9302B9EF-006D-4B8C-9818-34EB0BA66540}"/>
                    </a:ext>
                  </a:extLst>
                </p:cNvPr>
                <p:cNvSpPr/>
                <p:nvPr/>
              </p:nvSpPr>
              <p:spPr>
                <a:xfrm>
                  <a:off x="4907095" y="1229912"/>
                  <a:ext cx="2379838" cy="5047449"/>
                </a:xfrm>
                <a:custGeom>
                  <a:avLst/>
                  <a:gdLst>
                    <a:gd name="connsiteX0" fmla="*/ 321011 w 2379838"/>
                    <a:gd name="connsiteY0" fmla="*/ 0 h 5047449"/>
                    <a:gd name="connsiteX1" fmla="*/ 2058711 w 2379838"/>
                    <a:gd name="connsiteY1" fmla="*/ 0 h 5047449"/>
                    <a:gd name="connsiteX2" fmla="*/ 2245948 w 2379838"/>
                    <a:gd name="connsiteY2" fmla="*/ 34127 h 5047449"/>
                    <a:gd name="connsiteX3" fmla="*/ 2345746 w 2379838"/>
                    <a:gd name="connsiteY3" fmla="*/ 133925 h 5047449"/>
                    <a:gd name="connsiteX4" fmla="*/ 2379872 w 2379838"/>
                    <a:gd name="connsiteY4" fmla="*/ 321161 h 5047449"/>
                    <a:gd name="connsiteX5" fmla="*/ 2379872 w 2379838"/>
                    <a:gd name="connsiteY5" fmla="*/ 4726289 h 5047449"/>
                    <a:gd name="connsiteX6" fmla="*/ 2345746 w 2379838"/>
                    <a:gd name="connsiteY6" fmla="*/ 4913525 h 5047449"/>
                    <a:gd name="connsiteX7" fmla="*/ 2245948 w 2379838"/>
                    <a:gd name="connsiteY7" fmla="*/ 5013323 h 5047449"/>
                    <a:gd name="connsiteX8" fmla="*/ 2058711 w 2379838"/>
                    <a:gd name="connsiteY8" fmla="*/ 5047449 h 5047449"/>
                    <a:gd name="connsiteX9" fmla="*/ 321011 w 2379838"/>
                    <a:gd name="connsiteY9" fmla="*/ 5047449 h 5047449"/>
                    <a:gd name="connsiteX10" fmla="*/ 133774 w 2379838"/>
                    <a:gd name="connsiteY10" fmla="*/ 5013323 h 5047449"/>
                    <a:gd name="connsiteX11" fmla="*/ 33976 w 2379838"/>
                    <a:gd name="connsiteY11" fmla="*/ 4913525 h 5047449"/>
                    <a:gd name="connsiteX12" fmla="*/ 34 w 2379838"/>
                    <a:gd name="connsiteY12" fmla="*/ 4726104 h 5047449"/>
                    <a:gd name="connsiteX13" fmla="*/ 34 w 2379838"/>
                    <a:gd name="connsiteY13" fmla="*/ 320977 h 5047449"/>
                    <a:gd name="connsiteX14" fmla="*/ 34161 w 2379838"/>
                    <a:gd name="connsiteY14" fmla="*/ 133740 h 5047449"/>
                    <a:gd name="connsiteX15" fmla="*/ 133959 w 2379838"/>
                    <a:gd name="connsiteY15" fmla="*/ 33942 h 5047449"/>
                    <a:gd name="connsiteX16" fmla="*/ 321011 w 2379838"/>
                    <a:gd name="connsiteY16" fmla="*/ 0 h 5047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379838" h="5047449">
                      <a:moveTo>
                        <a:pt x="321011" y="0"/>
                      </a:moveTo>
                      <a:lnTo>
                        <a:pt x="2058711" y="0"/>
                      </a:lnTo>
                      <a:cubicBezTo>
                        <a:pt x="2153160" y="0"/>
                        <a:pt x="2198539" y="8855"/>
                        <a:pt x="2245948" y="34127"/>
                      </a:cubicBezTo>
                      <a:cubicBezTo>
                        <a:pt x="2288744" y="57001"/>
                        <a:pt x="2322687" y="90943"/>
                        <a:pt x="2345746" y="133925"/>
                      </a:cubicBezTo>
                      <a:cubicBezTo>
                        <a:pt x="2371018" y="181149"/>
                        <a:pt x="2379872" y="226713"/>
                        <a:pt x="2379872" y="321161"/>
                      </a:cubicBezTo>
                      <a:lnTo>
                        <a:pt x="2379872" y="4726289"/>
                      </a:lnTo>
                      <a:cubicBezTo>
                        <a:pt x="2379872" y="4820737"/>
                        <a:pt x="2371018" y="4866116"/>
                        <a:pt x="2345746" y="4913525"/>
                      </a:cubicBezTo>
                      <a:cubicBezTo>
                        <a:pt x="2322871" y="4956322"/>
                        <a:pt x="2288929" y="4990264"/>
                        <a:pt x="2245948" y="5013323"/>
                      </a:cubicBezTo>
                      <a:cubicBezTo>
                        <a:pt x="2198724" y="5038595"/>
                        <a:pt x="2153160" y="5047449"/>
                        <a:pt x="2058711" y="5047449"/>
                      </a:cubicBezTo>
                      <a:lnTo>
                        <a:pt x="321011" y="5047449"/>
                      </a:lnTo>
                      <a:cubicBezTo>
                        <a:pt x="226562" y="5047449"/>
                        <a:pt x="181183" y="5038595"/>
                        <a:pt x="133774" y="5013323"/>
                      </a:cubicBezTo>
                      <a:cubicBezTo>
                        <a:pt x="90977" y="4990449"/>
                        <a:pt x="57035" y="4956506"/>
                        <a:pt x="33976" y="4913525"/>
                      </a:cubicBezTo>
                      <a:cubicBezTo>
                        <a:pt x="8889" y="4865932"/>
                        <a:pt x="34" y="4820552"/>
                        <a:pt x="34" y="4726104"/>
                      </a:cubicBezTo>
                      <a:lnTo>
                        <a:pt x="34" y="320977"/>
                      </a:lnTo>
                      <a:cubicBezTo>
                        <a:pt x="34" y="226528"/>
                        <a:pt x="8889" y="181149"/>
                        <a:pt x="34161" y="133740"/>
                      </a:cubicBezTo>
                      <a:cubicBezTo>
                        <a:pt x="57035" y="90943"/>
                        <a:pt x="90977" y="57001"/>
                        <a:pt x="133959" y="33942"/>
                      </a:cubicBezTo>
                      <a:cubicBezTo>
                        <a:pt x="181183" y="8855"/>
                        <a:pt x="226562" y="0"/>
                        <a:pt x="32101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1B0C6FF-A53E-437E-B6B7-01698E44989F}"/>
                    </a:ext>
                  </a:extLst>
                </p:cNvPr>
                <p:cNvGrpSpPr/>
                <p:nvPr/>
              </p:nvGrpSpPr>
              <p:grpSpPr>
                <a:xfrm>
                  <a:off x="4868357" y="1235423"/>
                  <a:ext cx="2457112" cy="5037740"/>
                  <a:chOff x="4868357" y="1235423"/>
                  <a:chExt cx="2457112" cy="5037740"/>
                </a:xfrm>
              </p:grpSpPr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EB373836-53BB-489A-9001-932BFCAA5E9B}"/>
                      </a:ext>
                    </a:extLst>
                  </p:cNvPr>
                  <p:cNvGrpSpPr/>
                  <p:nvPr/>
                </p:nvGrpSpPr>
                <p:grpSpPr>
                  <a:xfrm>
                    <a:off x="4868357" y="1235423"/>
                    <a:ext cx="152368" cy="5037740"/>
                    <a:chOff x="4868357" y="1235423"/>
                    <a:chExt cx="152368" cy="5037740"/>
                  </a:xfrm>
                </p:grpSpPr>
                <p:sp>
                  <p:nvSpPr>
                    <p:cNvPr id="51" name="Freeform: Shape 50">
                      <a:extLst>
                        <a:ext uri="{FF2B5EF4-FFF2-40B4-BE49-F238E27FC236}">
                          <a16:creationId xmlns:a16="http://schemas.microsoft.com/office/drawing/2014/main" id="{38BE6067-A8A7-43B6-BE07-B07B80BBFC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8357" y="1235423"/>
                      <a:ext cx="152368" cy="5037740"/>
                    </a:xfrm>
                    <a:custGeom>
                      <a:avLst/>
                      <a:gdLst>
                        <a:gd name="connsiteX0" fmla="*/ 152072 w 152368"/>
                        <a:gd name="connsiteY0" fmla="*/ 5037753 h 5037740"/>
                        <a:gd name="connsiteX1" fmla="*/ 38254 w 152368"/>
                        <a:gd name="connsiteY1" fmla="*/ 4924304 h 5037740"/>
                        <a:gd name="connsiteX2" fmla="*/ 69 w 152368"/>
                        <a:gd name="connsiteY2" fmla="*/ 4721573 h 5037740"/>
                        <a:gd name="connsiteX3" fmla="*/ 69 w 152368"/>
                        <a:gd name="connsiteY3" fmla="*/ 316445 h 5037740"/>
                        <a:gd name="connsiteX4" fmla="*/ 38254 w 152368"/>
                        <a:gd name="connsiteY4" fmla="*/ 113714 h 5037740"/>
                        <a:gd name="connsiteX5" fmla="*/ 152072 w 152368"/>
                        <a:gd name="connsiteY5" fmla="*/ 265 h 5037740"/>
                        <a:gd name="connsiteX6" fmla="*/ 36409 w 152368"/>
                        <a:gd name="connsiteY6" fmla="*/ 297998 h 5037740"/>
                        <a:gd name="connsiteX7" fmla="*/ 36409 w 152368"/>
                        <a:gd name="connsiteY7" fmla="*/ 4740020 h 5037740"/>
                        <a:gd name="connsiteX8" fmla="*/ 152072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72" y="5037753"/>
                          </a:moveTo>
                          <a:cubicBezTo>
                            <a:pt x="103187" y="5011743"/>
                            <a:pt x="64264" y="4973004"/>
                            <a:pt x="38254" y="4924304"/>
                          </a:cubicBezTo>
                          <a:cubicBezTo>
                            <a:pt x="9477" y="4870808"/>
                            <a:pt x="69" y="4819710"/>
                            <a:pt x="69" y="4721573"/>
                          </a:cubicBezTo>
                          <a:lnTo>
                            <a:pt x="69" y="316445"/>
                          </a:lnTo>
                          <a:cubicBezTo>
                            <a:pt x="69" y="218123"/>
                            <a:pt x="9477" y="167025"/>
                            <a:pt x="38254" y="113714"/>
                          </a:cubicBezTo>
                          <a:cubicBezTo>
                            <a:pt x="64449" y="65014"/>
                            <a:pt x="103187" y="26275"/>
                            <a:pt x="152072" y="265"/>
                          </a:cubicBezTo>
                          <a:cubicBezTo>
                            <a:pt x="160004" y="-3978"/>
                            <a:pt x="36409" y="55421"/>
                            <a:pt x="36409" y="297998"/>
                          </a:cubicBezTo>
                          <a:cubicBezTo>
                            <a:pt x="36409" y="1076274"/>
                            <a:pt x="36409" y="3508871"/>
                            <a:pt x="36409" y="4740020"/>
                          </a:cubicBezTo>
                          <a:cubicBezTo>
                            <a:pt x="36409" y="4973373"/>
                            <a:pt x="155761" y="5039782"/>
                            <a:pt x="152072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2" name="Freeform: Shape 51">
                      <a:extLst>
                        <a:ext uri="{FF2B5EF4-FFF2-40B4-BE49-F238E27FC236}">
                          <a16:creationId xmlns:a16="http://schemas.microsoft.com/office/drawing/2014/main" id="{5F5AEBCA-3553-42F3-B06D-E8C17B1273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8357" y="1235423"/>
                      <a:ext cx="152368" cy="5037740"/>
                    </a:xfrm>
                    <a:custGeom>
                      <a:avLst/>
                      <a:gdLst>
                        <a:gd name="connsiteX0" fmla="*/ 152072 w 152368"/>
                        <a:gd name="connsiteY0" fmla="*/ 5037753 h 5037740"/>
                        <a:gd name="connsiteX1" fmla="*/ 38254 w 152368"/>
                        <a:gd name="connsiteY1" fmla="*/ 4924304 h 5037740"/>
                        <a:gd name="connsiteX2" fmla="*/ 69 w 152368"/>
                        <a:gd name="connsiteY2" fmla="*/ 4721573 h 5037740"/>
                        <a:gd name="connsiteX3" fmla="*/ 69 w 152368"/>
                        <a:gd name="connsiteY3" fmla="*/ 316445 h 5037740"/>
                        <a:gd name="connsiteX4" fmla="*/ 38254 w 152368"/>
                        <a:gd name="connsiteY4" fmla="*/ 113714 h 5037740"/>
                        <a:gd name="connsiteX5" fmla="*/ 152072 w 152368"/>
                        <a:gd name="connsiteY5" fmla="*/ 265 h 5037740"/>
                        <a:gd name="connsiteX6" fmla="*/ 36409 w 152368"/>
                        <a:gd name="connsiteY6" fmla="*/ 297998 h 5037740"/>
                        <a:gd name="connsiteX7" fmla="*/ 36409 w 152368"/>
                        <a:gd name="connsiteY7" fmla="*/ 4740020 h 5037740"/>
                        <a:gd name="connsiteX8" fmla="*/ 152072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72" y="5037753"/>
                          </a:moveTo>
                          <a:cubicBezTo>
                            <a:pt x="103187" y="5011743"/>
                            <a:pt x="64264" y="4973004"/>
                            <a:pt x="38254" y="4924304"/>
                          </a:cubicBezTo>
                          <a:cubicBezTo>
                            <a:pt x="9477" y="4870808"/>
                            <a:pt x="69" y="4819710"/>
                            <a:pt x="69" y="4721573"/>
                          </a:cubicBezTo>
                          <a:lnTo>
                            <a:pt x="69" y="316445"/>
                          </a:lnTo>
                          <a:cubicBezTo>
                            <a:pt x="69" y="218123"/>
                            <a:pt x="9477" y="167025"/>
                            <a:pt x="38254" y="113714"/>
                          </a:cubicBezTo>
                          <a:cubicBezTo>
                            <a:pt x="64449" y="65014"/>
                            <a:pt x="103187" y="26275"/>
                            <a:pt x="152072" y="265"/>
                          </a:cubicBezTo>
                          <a:cubicBezTo>
                            <a:pt x="160004" y="-3978"/>
                            <a:pt x="36409" y="55421"/>
                            <a:pt x="36409" y="297998"/>
                          </a:cubicBezTo>
                          <a:cubicBezTo>
                            <a:pt x="36409" y="1076274"/>
                            <a:pt x="36409" y="3508871"/>
                            <a:pt x="36409" y="4740020"/>
                          </a:cubicBezTo>
                          <a:cubicBezTo>
                            <a:pt x="36409" y="4973373"/>
                            <a:pt x="155761" y="5039782"/>
                            <a:pt x="152072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D21AF649-0BB9-42B8-9ED3-5ED44223BCB6}"/>
                      </a:ext>
                    </a:extLst>
                  </p:cNvPr>
                  <p:cNvGrpSpPr/>
                  <p:nvPr/>
                </p:nvGrpSpPr>
                <p:grpSpPr>
                  <a:xfrm>
                    <a:off x="7173100" y="1235423"/>
                    <a:ext cx="152368" cy="5037740"/>
                    <a:chOff x="7173100" y="1235423"/>
                    <a:chExt cx="152368" cy="5037740"/>
                  </a:xfrm>
                </p:grpSpPr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C820AF13-2446-42E6-A8C4-A536E5A3E26C}"/>
                        </a:ext>
                      </a:extLst>
                    </p:cNvPr>
                    <p:cNvSpPr/>
                    <p:nvPr/>
                  </p:nvSpPr>
                  <p:spPr>
                    <a:xfrm rot="10800000" flipV="1">
                      <a:off x="7173100" y="1235423"/>
                      <a:ext cx="152368" cy="5037740"/>
                    </a:xfrm>
                    <a:custGeom>
                      <a:avLst/>
                      <a:gdLst>
                        <a:gd name="connsiteX0" fmla="*/ 152016 w 152368"/>
                        <a:gd name="connsiteY0" fmla="*/ 5037753 h 5037740"/>
                        <a:gd name="connsiteX1" fmla="*/ 38198 w 152368"/>
                        <a:gd name="connsiteY1" fmla="*/ 4924304 h 5037740"/>
                        <a:gd name="connsiteX2" fmla="*/ 13 w 152368"/>
                        <a:gd name="connsiteY2" fmla="*/ 4721573 h 5037740"/>
                        <a:gd name="connsiteX3" fmla="*/ 13 w 152368"/>
                        <a:gd name="connsiteY3" fmla="*/ 316445 h 5037740"/>
                        <a:gd name="connsiteX4" fmla="*/ 38198 w 152368"/>
                        <a:gd name="connsiteY4" fmla="*/ 113714 h 5037740"/>
                        <a:gd name="connsiteX5" fmla="*/ 152016 w 152368"/>
                        <a:gd name="connsiteY5" fmla="*/ 265 h 5037740"/>
                        <a:gd name="connsiteX6" fmla="*/ 36353 w 152368"/>
                        <a:gd name="connsiteY6" fmla="*/ 297998 h 5037740"/>
                        <a:gd name="connsiteX7" fmla="*/ 36353 w 152368"/>
                        <a:gd name="connsiteY7" fmla="*/ 4740020 h 5037740"/>
                        <a:gd name="connsiteX8" fmla="*/ 152016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16" y="5037753"/>
                          </a:moveTo>
                          <a:cubicBezTo>
                            <a:pt x="103131" y="5011743"/>
                            <a:pt x="64208" y="4973004"/>
                            <a:pt x="38198" y="4924304"/>
                          </a:cubicBezTo>
                          <a:cubicBezTo>
                            <a:pt x="9421" y="4870808"/>
                            <a:pt x="13" y="4819710"/>
                            <a:pt x="13" y="4721573"/>
                          </a:cubicBezTo>
                          <a:lnTo>
                            <a:pt x="13" y="316445"/>
                          </a:lnTo>
                          <a:cubicBezTo>
                            <a:pt x="13" y="218123"/>
                            <a:pt x="9421" y="167025"/>
                            <a:pt x="38198" y="113714"/>
                          </a:cubicBezTo>
                          <a:cubicBezTo>
                            <a:pt x="64393" y="65014"/>
                            <a:pt x="103131" y="26460"/>
                            <a:pt x="152016" y="265"/>
                          </a:cubicBezTo>
                          <a:cubicBezTo>
                            <a:pt x="159948" y="-3978"/>
                            <a:pt x="36353" y="55421"/>
                            <a:pt x="36353" y="297998"/>
                          </a:cubicBezTo>
                          <a:cubicBezTo>
                            <a:pt x="36353" y="1076274"/>
                            <a:pt x="36353" y="3508871"/>
                            <a:pt x="36353" y="4740020"/>
                          </a:cubicBezTo>
                          <a:cubicBezTo>
                            <a:pt x="36353" y="4973373"/>
                            <a:pt x="155705" y="5039782"/>
                            <a:pt x="152016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0" name="Freeform: Shape 49">
                      <a:extLst>
                        <a:ext uri="{FF2B5EF4-FFF2-40B4-BE49-F238E27FC236}">
                          <a16:creationId xmlns:a16="http://schemas.microsoft.com/office/drawing/2014/main" id="{FDBF9508-0A9B-4777-B7A1-BBF782C1763A}"/>
                        </a:ext>
                      </a:extLst>
                    </p:cNvPr>
                    <p:cNvSpPr/>
                    <p:nvPr/>
                  </p:nvSpPr>
                  <p:spPr>
                    <a:xfrm rot="10800000" flipV="1">
                      <a:off x="7173100" y="1235423"/>
                      <a:ext cx="152368" cy="5037740"/>
                    </a:xfrm>
                    <a:custGeom>
                      <a:avLst/>
                      <a:gdLst>
                        <a:gd name="connsiteX0" fmla="*/ 152016 w 152368"/>
                        <a:gd name="connsiteY0" fmla="*/ 5037753 h 5037740"/>
                        <a:gd name="connsiteX1" fmla="*/ 38198 w 152368"/>
                        <a:gd name="connsiteY1" fmla="*/ 4924304 h 5037740"/>
                        <a:gd name="connsiteX2" fmla="*/ 13 w 152368"/>
                        <a:gd name="connsiteY2" fmla="*/ 4721573 h 5037740"/>
                        <a:gd name="connsiteX3" fmla="*/ 13 w 152368"/>
                        <a:gd name="connsiteY3" fmla="*/ 316445 h 5037740"/>
                        <a:gd name="connsiteX4" fmla="*/ 38198 w 152368"/>
                        <a:gd name="connsiteY4" fmla="*/ 113714 h 5037740"/>
                        <a:gd name="connsiteX5" fmla="*/ 152016 w 152368"/>
                        <a:gd name="connsiteY5" fmla="*/ 265 h 5037740"/>
                        <a:gd name="connsiteX6" fmla="*/ 36353 w 152368"/>
                        <a:gd name="connsiteY6" fmla="*/ 297998 h 5037740"/>
                        <a:gd name="connsiteX7" fmla="*/ 36353 w 152368"/>
                        <a:gd name="connsiteY7" fmla="*/ 4740020 h 5037740"/>
                        <a:gd name="connsiteX8" fmla="*/ 152016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16" y="5037753"/>
                          </a:moveTo>
                          <a:cubicBezTo>
                            <a:pt x="103131" y="5011743"/>
                            <a:pt x="64208" y="4973004"/>
                            <a:pt x="38198" y="4924304"/>
                          </a:cubicBezTo>
                          <a:cubicBezTo>
                            <a:pt x="9421" y="4870808"/>
                            <a:pt x="13" y="4819710"/>
                            <a:pt x="13" y="4721573"/>
                          </a:cubicBezTo>
                          <a:lnTo>
                            <a:pt x="13" y="316445"/>
                          </a:lnTo>
                          <a:cubicBezTo>
                            <a:pt x="13" y="218123"/>
                            <a:pt x="9421" y="167025"/>
                            <a:pt x="38198" y="113714"/>
                          </a:cubicBezTo>
                          <a:cubicBezTo>
                            <a:pt x="64393" y="65014"/>
                            <a:pt x="103131" y="26460"/>
                            <a:pt x="152016" y="265"/>
                          </a:cubicBezTo>
                          <a:cubicBezTo>
                            <a:pt x="159948" y="-3978"/>
                            <a:pt x="36353" y="55421"/>
                            <a:pt x="36353" y="297998"/>
                          </a:cubicBezTo>
                          <a:cubicBezTo>
                            <a:pt x="36353" y="1076274"/>
                            <a:pt x="36353" y="3508871"/>
                            <a:pt x="36353" y="4740020"/>
                          </a:cubicBezTo>
                          <a:cubicBezTo>
                            <a:pt x="36353" y="4973373"/>
                            <a:pt x="155705" y="5039782"/>
                            <a:pt x="152016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C3D30095-754F-43B1-BC36-B327C11C0A8A}"/>
                    </a:ext>
                  </a:extLst>
                </p:cNvPr>
                <p:cNvGrpSpPr/>
                <p:nvPr/>
              </p:nvGrpSpPr>
              <p:grpSpPr>
                <a:xfrm>
                  <a:off x="4803793" y="1130299"/>
                  <a:ext cx="2578880" cy="5246307"/>
                  <a:chOff x="4803793" y="1130299"/>
                  <a:chExt cx="2578880" cy="5246307"/>
                </a:xfrm>
                <a:solidFill>
                  <a:srgbClr val="000000"/>
                </a:solidFill>
              </p:grpSpPr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310D1C87-C9AA-4DD8-A9C2-C5A089A47D55}"/>
                      </a:ext>
                    </a:extLst>
                  </p:cNvPr>
                  <p:cNvSpPr/>
                  <p:nvPr/>
                </p:nvSpPr>
                <p:spPr>
                  <a:xfrm>
                    <a:off x="4803793" y="1593316"/>
                    <a:ext cx="42427" cy="31359"/>
                  </a:xfrm>
                  <a:custGeom>
                    <a:avLst/>
                    <a:gdLst>
                      <a:gd name="connsiteX0" fmla="*/ 34 w 42427"/>
                      <a:gd name="connsiteY0" fmla="*/ 0 h 31359"/>
                      <a:gd name="connsiteX1" fmla="*/ 42462 w 42427"/>
                      <a:gd name="connsiteY1" fmla="*/ 0 h 31359"/>
                      <a:gd name="connsiteX2" fmla="*/ 42462 w 42427"/>
                      <a:gd name="connsiteY2" fmla="*/ 31360 h 31359"/>
                      <a:gd name="connsiteX3" fmla="*/ 34 w 42427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427" h="31359">
                        <a:moveTo>
                          <a:pt x="34" y="0"/>
                        </a:moveTo>
                        <a:lnTo>
                          <a:pt x="42462" y="0"/>
                        </a:lnTo>
                        <a:lnTo>
                          <a:pt x="42462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810DC8B8-3795-4C52-B29E-45076FD7C237}"/>
                      </a:ext>
                    </a:extLst>
                  </p:cNvPr>
                  <p:cNvSpPr/>
                  <p:nvPr/>
                </p:nvSpPr>
                <p:spPr>
                  <a:xfrm>
                    <a:off x="7347624" y="1593316"/>
                    <a:ext cx="35049" cy="31359"/>
                  </a:xfrm>
                  <a:custGeom>
                    <a:avLst/>
                    <a:gdLst>
                      <a:gd name="connsiteX0" fmla="*/ 34 w 35049"/>
                      <a:gd name="connsiteY0" fmla="*/ 0 h 31359"/>
                      <a:gd name="connsiteX1" fmla="*/ 35083 w 35049"/>
                      <a:gd name="connsiteY1" fmla="*/ 0 h 31359"/>
                      <a:gd name="connsiteX2" fmla="*/ 35083 w 35049"/>
                      <a:gd name="connsiteY2" fmla="*/ 31360 h 31359"/>
                      <a:gd name="connsiteX3" fmla="*/ 34 w 35049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5049" h="31359">
                        <a:moveTo>
                          <a:pt x="34" y="0"/>
                        </a:moveTo>
                        <a:lnTo>
                          <a:pt x="35083" y="0"/>
                        </a:lnTo>
                        <a:lnTo>
                          <a:pt x="35083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2B87D70C-BA1B-4E64-8BA4-8B73086DFB36}"/>
                      </a:ext>
                    </a:extLst>
                  </p:cNvPr>
                  <p:cNvSpPr/>
                  <p:nvPr/>
                </p:nvSpPr>
                <p:spPr>
                  <a:xfrm>
                    <a:off x="4803793" y="5882228"/>
                    <a:ext cx="42427" cy="31359"/>
                  </a:xfrm>
                  <a:custGeom>
                    <a:avLst/>
                    <a:gdLst>
                      <a:gd name="connsiteX0" fmla="*/ 34 w 42427"/>
                      <a:gd name="connsiteY0" fmla="*/ 0 h 31359"/>
                      <a:gd name="connsiteX1" fmla="*/ 42462 w 42427"/>
                      <a:gd name="connsiteY1" fmla="*/ 0 h 31359"/>
                      <a:gd name="connsiteX2" fmla="*/ 42462 w 42427"/>
                      <a:gd name="connsiteY2" fmla="*/ 31360 h 31359"/>
                      <a:gd name="connsiteX3" fmla="*/ 34 w 42427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427" h="31359">
                        <a:moveTo>
                          <a:pt x="34" y="0"/>
                        </a:moveTo>
                        <a:lnTo>
                          <a:pt x="42462" y="0"/>
                        </a:lnTo>
                        <a:lnTo>
                          <a:pt x="42462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C7486550-DAB4-4854-8503-8C5FBA94A05A}"/>
                      </a:ext>
                    </a:extLst>
                  </p:cNvPr>
                  <p:cNvSpPr/>
                  <p:nvPr/>
                </p:nvSpPr>
                <p:spPr>
                  <a:xfrm>
                    <a:off x="7347624" y="5882228"/>
                    <a:ext cx="35049" cy="31359"/>
                  </a:xfrm>
                  <a:custGeom>
                    <a:avLst/>
                    <a:gdLst>
                      <a:gd name="connsiteX0" fmla="*/ 34 w 35049"/>
                      <a:gd name="connsiteY0" fmla="*/ 0 h 31359"/>
                      <a:gd name="connsiteX1" fmla="*/ 35083 w 35049"/>
                      <a:gd name="connsiteY1" fmla="*/ 0 h 31359"/>
                      <a:gd name="connsiteX2" fmla="*/ 35083 w 35049"/>
                      <a:gd name="connsiteY2" fmla="*/ 31360 h 31359"/>
                      <a:gd name="connsiteX3" fmla="*/ 34 w 35049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5049" h="31359">
                        <a:moveTo>
                          <a:pt x="34" y="0"/>
                        </a:moveTo>
                        <a:lnTo>
                          <a:pt x="35083" y="0"/>
                        </a:lnTo>
                        <a:lnTo>
                          <a:pt x="35083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90EF2014-83EE-49CD-8567-34A868ADDFA4}"/>
                      </a:ext>
                    </a:extLst>
                  </p:cNvPr>
                  <p:cNvSpPr/>
                  <p:nvPr/>
                </p:nvSpPr>
                <p:spPr>
                  <a:xfrm>
                    <a:off x="6895674" y="1130299"/>
                    <a:ext cx="31359" cy="42427"/>
                  </a:xfrm>
                  <a:custGeom>
                    <a:avLst/>
                    <a:gdLst>
                      <a:gd name="connsiteX0" fmla="*/ 34 w 31359"/>
                      <a:gd name="connsiteY0" fmla="*/ 0 h 42427"/>
                      <a:gd name="connsiteX1" fmla="*/ 31394 w 31359"/>
                      <a:gd name="connsiteY1" fmla="*/ 0 h 42427"/>
                      <a:gd name="connsiteX2" fmla="*/ 31394 w 31359"/>
                      <a:gd name="connsiteY2" fmla="*/ 42428 h 42427"/>
                      <a:gd name="connsiteX3" fmla="*/ 34 w 31359"/>
                      <a:gd name="connsiteY3" fmla="*/ 42428 h 42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359" h="42427">
                        <a:moveTo>
                          <a:pt x="34" y="0"/>
                        </a:moveTo>
                        <a:lnTo>
                          <a:pt x="31394" y="0"/>
                        </a:lnTo>
                        <a:lnTo>
                          <a:pt x="31394" y="42428"/>
                        </a:lnTo>
                        <a:lnTo>
                          <a:pt x="34" y="424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DDF5F5C5-EF9C-4891-A1DD-EC3AB649E1F4}"/>
                      </a:ext>
                    </a:extLst>
                  </p:cNvPr>
                  <p:cNvSpPr/>
                  <p:nvPr/>
                </p:nvSpPr>
                <p:spPr>
                  <a:xfrm>
                    <a:off x="5266811" y="6334178"/>
                    <a:ext cx="31359" cy="42427"/>
                  </a:xfrm>
                  <a:custGeom>
                    <a:avLst/>
                    <a:gdLst>
                      <a:gd name="connsiteX0" fmla="*/ 34 w 31359"/>
                      <a:gd name="connsiteY0" fmla="*/ 0 h 42427"/>
                      <a:gd name="connsiteX1" fmla="*/ 31394 w 31359"/>
                      <a:gd name="connsiteY1" fmla="*/ 0 h 42427"/>
                      <a:gd name="connsiteX2" fmla="*/ 31394 w 31359"/>
                      <a:gd name="connsiteY2" fmla="*/ 42428 h 42427"/>
                      <a:gd name="connsiteX3" fmla="*/ 34 w 31359"/>
                      <a:gd name="connsiteY3" fmla="*/ 42428 h 42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359" h="42427">
                        <a:moveTo>
                          <a:pt x="34" y="0"/>
                        </a:moveTo>
                        <a:lnTo>
                          <a:pt x="31394" y="0"/>
                        </a:lnTo>
                        <a:lnTo>
                          <a:pt x="31394" y="42428"/>
                        </a:lnTo>
                        <a:lnTo>
                          <a:pt x="34" y="424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C2FF515A-EE44-4C28-ABAF-BD4E92E0D9CD}"/>
                    </a:ext>
                  </a:extLst>
                </p:cNvPr>
                <p:cNvGrpSpPr/>
                <p:nvPr/>
              </p:nvGrpSpPr>
              <p:grpSpPr>
                <a:xfrm>
                  <a:off x="4792725" y="1779630"/>
                  <a:ext cx="20373" cy="184469"/>
                  <a:chOff x="4792725" y="1779630"/>
                  <a:chExt cx="20373" cy="184469"/>
                </a:xfrm>
              </p:grpSpPr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A2C738F3-FC83-43C5-A382-ED8C51A91155}"/>
                      </a:ext>
                    </a:extLst>
                  </p:cNvPr>
                  <p:cNvSpPr/>
                  <p:nvPr/>
                </p:nvSpPr>
                <p:spPr>
                  <a:xfrm>
                    <a:off x="4792725" y="1779630"/>
                    <a:ext cx="20373" cy="184469"/>
                  </a:xfrm>
                  <a:custGeom>
                    <a:avLst/>
                    <a:gdLst>
                      <a:gd name="connsiteX0" fmla="*/ 12941 w 20373"/>
                      <a:gd name="connsiteY0" fmla="*/ 352 h 184469"/>
                      <a:gd name="connsiteX1" fmla="*/ 28 w 20373"/>
                      <a:gd name="connsiteY1" fmla="*/ 13265 h 184469"/>
                      <a:gd name="connsiteX2" fmla="*/ 28 w 20373"/>
                      <a:gd name="connsiteY2" fmla="*/ 171908 h 184469"/>
                      <a:gd name="connsiteX3" fmla="*/ 12941 w 20373"/>
                      <a:gd name="connsiteY3" fmla="*/ 184821 h 184469"/>
                      <a:gd name="connsiteX4" fmla="*/ 20320 w 20373"/>
                      <a:gd name="connsiteY4" fmla="*/ 184821 h 184469"/>
                      <a:gd name="connsiteX5" fmla="*/ 20320 w 20373"/>
                      <a:gd name="connsiteY5" fmla="*/ 352 h 184469"/>
                      <a:gd name="connsiteX6" fmla="*/ 12941 w 20373"/>
                      <a:gd name="connsiteY6" fmla="*/ 352 h 1844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373" h="184469">
                        <a:moveTo>
                          <a:pt x="12941" y="352"/>
                        </a:moveTo>
                        <a:cubicBezTo>
                          <a:pt x="5747" y="352"/>
                          <a:pt x="28" y="6071"/>
                          <a:pt x="28" y="13265"/>
                        </a:cubicBezTo>
                        <a:lnTo>
                          <a:pt x="28" y="171908"/>
                        </a:lnTo>
                        <a:cubicBezTo>
                          <a:pt x="28" y="179103"/>
                          <a:pt x="5747" y="184821"/>
                          <a:pt x="12941" y="184821"/>
                        </a:cubicBezTo>
                        <a:lnTo>
                          <a:pt x="20320" y="184821"/>
                        </a:lnTo>
                        <a:cubicBezTo>
                          <a:pt x="20320" y="175044"/>
                          <a:pt x="20504" y="9760"/>
                          <a:pt x="20320" y="352"/>
                        </a:cubicBezTo>
                        <a:lnTo>
                          <a:pt x="12941" y="352"/>
                        </a:lnTo>
                        <a:close/>
                      </a:path>
                    </a:pathLst>
                  </a:custGeom>
                  <a:solidFill>
                    <a:srgbClr val="A5A5A5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D191CDC3-65A9-4EA5-BC7F-F44F1EA85F9A}"/>
                      </a:ext>
                    </a:extLst>
                  </p:cNvPr>
                  <p:cNvSpPr/>
                  <p:nvPr/>
                </p:nvSpPr>
                <p:spPr>
                  <a:xfrm>
                    <a:off x="4792725" y="1779630"/>
                    <a:ext cx="20373" cy="184469"/>
                  </a:xfrm>
                  <a:custGeom>
                    <a:avLst/>
                    <a:gdLst>
                      <a:gd name="connsiteX0" fmla="*/ 12941 w 20373"/>
                      <a:gd name="connsiteY0" fmla="*/ 352 h 184469"/>
                      <a:gd name="connsiteX1" fmla="*/ 28 w 20373"/>
                      <a:gd name="connsiteY1" fmla="*/ 13265 h 184469"/>
                      <a:gd name="connsiteX2" fmla="*/ 28 w 20373"/>
                      <a:gd name="connsiteY2" fmla="*/ 171908 h 184469"/>
                      <a:gd name="connsiteX3" fmla="*/ 12941 w 20373"/>
                      <a:gd name="connsiteY3" fmla="*/ 184821 h 184469"/>
                      <a:gd name="connsiteX4" fmla="*/ 20320 w 20373"/>
                      <a:gd name="connsiteY4" fmla="*/ 184821 h 184469"/>
                      <a:gd name="connsiteX5" fmla="*/ 20320 w 20373"/>
                      <a:gd name="connsiteY5" fmla="*/ 352 h 184469"/>
                      <a:gd name="connsiteX6" fmla="*/ 12941 w 20373"/>
                      <a:gd name="connsiteY6" fmla="*/ 352 h 1844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373" h="184469">
                        <a:moveTo>
                          <a:pt x="12941" y="352"/>
                        </a:moveTo>
                        <a:cubicBezTo>
                          <a:pt x="5747" y="352"/>
                          <a:pt x="28" y="6071"/>
                          <a:pt x="28" y="13265"/>
                        </a:cubicBezTo>
                        <a:lnTo>
                          <a:pt x="28" y="171908"/>
                        </a:lnTo>
                        <a:cubicBezTo>
                          <a:pt x="28" y="179103"/>
                          <a:pt x="5747" y="184821"/>
                          <a:pt x="12941" y="184821"/>
                        </a:cubicBezTo>
                        <a:lnTo>
                          <a:pt x="20320" y="184821"/>
                        </a:lnTo>
                        <a:cubicBezTo>
                          <a:pt x="20320" y="175044"/>
                          <a:pt x="20504" y="9760"/>
                          <a:pt x="20320" y="352"/>
                        </a:cubicBezTo>
                        <a:lnTo>
                          <a:pt x="12941" y="352"/>
                        </a:lnTo>
                        <a:close/>
                      </a:path>
                    </a:pathLst>
                  </a:custGeom>
                  <a:gradFill>
                    <a:gsLst>
                      <a:gs pos="21000">
                        <a:schemeClr val="bg1">
                          <a:lumMod val="85000"/>
                        </a:schemeClr>
                      </a:gs>
                      <a:gs pos="2000">
                        <a:schemeClr val="bg2">
                          <a:lumMod val="25000"/>
                        </a:schemeClr>
                      </a:gs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0">
                        <a:schemeClr val="bg2">
                          <a:lumMod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  <a:gs pos="82000">
                        <a:schemeClr val="bg1">
                          <a:lumMod val="85000"/>
                        </a:schemeClr>
                      </a:gs>
                      <a:gs pos="98000">
                        <a:schemeClr val="bg2">
                          <a:lumMod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  <a:ln w="6098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22158E5C-48D5-476A-A339-29B3883E324C}"/>
                    </a:ext>
                  </a:extLst>
                </p:cNvPr>
                <p:cNvGrpSpPr/>
                <p:nvPr/>
              </p:nvGrpSpPr>
              <p:grpSpPr>
                <a:xfrm>
                  <a:off x="4792909" y="2117209"/>
                  <a:ext cx="20189" cy="350491"/>
                  <a:chOff x="4792909" y="2117209"/>
                  <a:chExt cx="20189" cy="350491"/>
                </a:xfrm>
              </p:grpSpPr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AD025533-B1FA-42A2-98F6-F30B4A38D090}"/>
                      </a:ext>
                    </a:extLst>
                  </p:cNvPr>
                  <p:cNvSpPr/>
                  <p:nvPr/>
                </p:nvSpPr>
                <p:spPr>
                  <a:xfrm>
                    <a:off x="4792909" y="2117209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solidFill>
                    <a:srgbClr val="A5A5A5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Freeform: Shape 37">
                    <a:extLst>
                      <a:ext uri="{FF2B5EF4-FFF2-40B4-BE49-F238E27FC236}">
                        <a16:creationId xmlns:a16="http://schemas.microsoft.com/office/drawing/2014/main" id="{69F78498-EA59-4C73-B07E-657DBFB19624}"/>
                      </a:ext>
                    </a:extLst>
                  </p:cNvPr>
                  <p:cNvSpPr/>
                  <p:nvPr/>
                </p:nvSpPr>
                <p:spPr>
                  <a:xfrm>
                    <a:off x="4792909" y="2117209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gradFill>
                    <a:gsLst>
                      <a:gs pos="21000">
                        <a:schemeClr val="bg1">
                          <a:lumMod val="85000"/>
                        </a:schemeClr>
                      </a:gs>
                      <a:gs pos="2000">
                        <a:schemeClr val="bg2">
                          <a:lumMod val="25000"/>
                        </a:schemeClr>
                      </a:gs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0">
                        <a:schemeClr val="bg2">
                          <a:lumMod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  <a:gs pos="82000">
                        <a:schemeClr val="bg1">
                          <a:lumMod val="85000"/>
                        </a:schemeClr>
                      </a:gs>
                      <a:gs pos="98000">
                        <a:schemeClr val="bg2">
                          <a:lumMod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  <a:ln w="6098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6221A097-D18D-4695-9B54-7507A486F47B}"/>
                    </a:ext>
                  </a:extLst>
                </p:cNvPr>
                <p:cNvGrpSpPr/>
                <p:nvPr/>
              </p:nvGrpSpPr>
              <p:grpSpPr>
                <a:xfrm>
                  <a:off x="4792909" y="2554402"/>
                  <a:ext cx="20189" cy="350491"/>
                  <a:chOff x="4792909" y="2554402"/>
                  <a:chExt cx="20189" cy="350491"/>
                </a:xfrm>
              </p:grpSpPr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E0ADC672-E9D0-46C9-9E00-02585C9CF667}"/>
                      </a:ext>
                    </a:extLst>
                  </p:cNvPr>
                  <p:cNvSpPr/>
                  <p:nvPr/>
                </p:nvSpPr>
                <p:spPr>
                  <a:xfrm>
                    <a:off x="4792909" y="2554402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solidFill>
                    <a:srgbClr val="A5A5A5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Freeform: Shape 35">
                    <a:extLst>
                      <a:ext uri="{FF2B5EF4-FFF2-40B4-BE49-F238E27FC236}">
                        <a16:creationId xmlns:a16="http://schemas.microsoft.com/office/drawing/2014/main" id="{20F6A225-E20C-47CE-A97B-4D4F46BBC507}"/>
                      </a:ext>
                    </a:extLst>
                  </p:cNvPr>
                  <p:cNvSpPr/>
                  <p:nvPr/>
                </p:nvSpPr>
                <p:spPr>
                  <a:xfrm>
                    <a:off x="4792909" y="2554402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gradFill>
                    <a:gsLst>
                      <a:gs pos="21000">
                        <a:schemeClr val="bg1">
                          <a:lumMod val="85000"/>
                        </a:schemeClr>
                      </a:gs>
                      <a:gs pos="2000">
                        <a:schemeClr val="bg2">
                          <a:lumMod val="25000"/>
                        </a:schemeClr>
                      </a:gs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0">
                        <a:schemeClr val="bg2">
                          <a:lumMod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  <a:gs pos="82000">
                        <a:schemeClr val="bg1">
                          <a:lumMod val="85000"/>
                        </a:schemeClr>
                      </a:gs>
                      <a:gs pos="98000">
                        <a:schemeClr val="bg2">
                          <a:lumMod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  <a:ln w="6098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C988A09-19BF-4E21-9EE4-601FB67FAD79}"/>
                    </a:ext>
                  </a:extLst>
                </p:cNvPr>
                <p:cNvSpPr/>
                <p:nvPr/>
              </p:nvSpPr>
              <p:spPr>
                <a:xfrm rot="10800000" flipV="1">
                  <a:off x="7378902" y="2231580"/>
                  <a:ext cx="20189" cy="557097"/>
                </a:xfrm>
                <a:custGeom>
                  <a:avLst/>
                  <a:gdLst>
                    <a:gd name="connsiteX0" fmla="*/ 12700 w 20189"/>
                    <a:gd name="connsiteY0" fmla="*/ 352 h 557097"/>
                    <a:gd name="connsiteX1" fmla="*/ 894 w 20189"/>
                    <a:gd name="connsiteY1" fmla="*/ 7731 h 557097"/>
                    <a:gd name="connsiteX2" fmla="*/ -28 w 20189"/>
                    <a:gd name="connsiteY2" fmla="*/ 11605 h 557097"/>
                    <a:gd name="connsiteX3" fmla="*/ -28 w 20189"/>
                    <a:gd name="connsiteY3" fmla="*/ 542138 h 557097"/>
                    <a:gd name="connsiteX4" fmla="*/ 894 w 20189"/>
                    <a:gd name="connsiteY4" fmla="*/ 547672 h 557097"/>
                    <a:gd name="connsiteX5" fmla="*/ 12700 w 20189"/>
                    <a:gd name="connsiteY5" fmla="*/ 557449 h 557097"/>
                    <a:gd name="connsiteX6" fmla="*/ 20079 w 20189"/>
                    <a:gd name="connsiteY6" fmla="*/ 557449 h 557097"/>
                    <a:gd name="connsiteX7" fmla="*/ 20079 w 20189"/>
                    <a:gd name="connsiteY7" fmla="*/ 352 h 557097"/>
                    <a:gd name="connsiteX8" fmla="*/ 12700 w 20189"/>
                    <a:gd name="connsiteY8" fmla="*/ 352 h 557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189" h="557097">
                      <a:moveTo>
                        <a:pt x="12700" y="352"/>
                      </a:moveTo>
                      <a:cubicBezTo>
                        <a:pt x="8457" y="1459"/>
                        <a:pt x="3477" y="4041"/>
                        <a:pt x="894" y="7731"/>
                      </a:cubicBezTo>
                      <a:cubicBezTo>
                        <a:pt x="341" y="8469"/>
                        <a:pt x="-28" y="10867"/>
                        <a:pt x="-28" y="11605"/>
                      </a:cubicBezTo>
                      <a:cubicBezTo>
                        <a:pt x="-28" y="47023"/>
                        <a:pt x="-28" y="361727"/>
                        <a:pt x="-28" y="542138"/>
                      </a:cubicBezTo>
                      <a:cubicBezTo>
                        <a:pt x="-28" y="542876"/>
                        <a:pt x="525" y="546750"/>
                        <a:pt x="894" y="547672"/>
                      </a:cubicBezTo>
                      <a:cubicBezTo>
                        <a:pt x="3108" y="553022"/>
                        <a:pt x="6797" y="554313"/>
                        <a:pt x="12700" y="557449"/>
                      </a:cubicBezTo>
                      <a:lnTo>
                        <a:pt x="20079" y="557449"/>
                      </a:lnTo>
                      <a:cubicBezTo>
                        <a:pt x="20079" y="547672"/>
                        <a:pt x="20263" y="9760"/>
                        <a:pt x="20079" y="352"/>
                      </a:cubicBezTo>
                      <a:lnTo>
                        <a:pt x="12700" y="352"/>
                      </a:lnTo>
                      <a:close/>
                    </a:path>
                  </a:pathLst>
                </a:custGeom>
                <a:gradFill>
                  <a:gsLst>
                    <a:gs pos="21000">
                      <a:schemeClr val="bg1">
                        <a:lumMod val="85000"/>
                      </a:schemeClr>
                    </a:gs>
                    <a:gs pos="2000">
                      <a:schemeClr val="bg2">
                        <a:lumMod val="25000"/>
                      </a:schemeClr>
                    </a:gs>
                    <a:gs pos="1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bg2">
                        <a:lumMod val="25000"/>
                      </a:schemeClr>
                    </a:gs>
                    <a:gs pos="99000">
                      <a:schemeClr val="tx1">
                        <a:lumMod val="75000"/>
                        <a:lumOff val="25000"/>
                      </a:schemeClr>
                    </a:gs>
                    <a:gs pos="82000">
                      <a:schemeClr val="bg1">
                        <a:lumMod val="85000"/>
                      </a:schemeClr>
                    </a:gs>
                    <a:gs pos="98000">
                      <a:schemeClr val="bg2">
                        <a:lumMod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n w="6098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DB272E3-A3C5-45C8-AD05-CDF4E19985F9}"/>
                    </a:ext>
                  </a:extLst>
                </p:cNvPr>
                <p:cNvSpPr/>
                <p:nvPr/>
              </p:nvSpPr>
              <p:spPr>
                <a:xfrm>
                  <a:off x="5953036" y="1311078"/>
                  <a:ext cx="287772" cy="44272"/>
                </a:xfrm>
                <a:custGeom>
                  <a:avLst/>
                  <a:gdLst>
                    <a:gd name="connsiteX0" fmla="*/ 22793 w 287772"/>
                    <a:gd name="connsiteY0" fmla="*/ 98 h 44272"/>
                    <a:gd name="connsiteX1" fmla="*/ 266293 w 287772"/>
                    <a:gd name="connsiteY1" fmla="*/ 98 h 44272"/>
                    <a:gd name="connsiteX2" fmla="*/ 288429 w 287772"/>
                    <a:gd name="connsiteY2" fmla="*/ 22234 h 44272"/>
                    <a:gd name="connsiteX3" fmla="*/ 288429 w 287772"/>
                    <a:gd name="connsiteY3" fmla="*/ 22234 h 44272"/>
                    <a:gd name="connsiteX4" fmla="*/ 266293 w 287772"/>
                    <a:gd name="connsiteY4" fmla="*/ 44371 h 44272"/>
                    <a:gd name="connsiteX5" fmla="*/ 22793 w 287772"/>
                    <a:gd name="connsiteY5" fmla="*/ 44371 h 44272"/>
                    <a:gd name="connsiteX6" fmla="*/ 657 w 287772"/>
                    <a:gd name="connsiteY6" fmla="*/ 22234 h 44272"/>
                    <a:gd name="connsiteX7" fmla="*/ 657 w 287772"/>
                    <a:gd name="connsiteY7" fmla="*/ 22234 h 44272"/>
                    <a:gd name="connsiteX8" fmla="*/ 22793 w 287772"/>
                    <a:gd name="connsiteY8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7772" h="44272">
                      <a:moveTo>
                        <a:pt x="22793" y="98"/>
                      </a:moveTo>
                      <a:lnTo>
                        <a:pt x="266293" y="98"/>
                      </a:lnTo>
                      <a:cubicBezTo>
                        <a:pt x="278468" y="98"/>
                        <a:pt x="288429" y="10059"/>
                        <a:pt x="288429" y="22234"/>
                      </a:cubicBezTo>
                      <a:lnTo>
                        <a:pt x="288429" y="22234"/>
                      </a:lnTo>
                      <a:cubicBezTo>
                        <a:pt x="288429" y="34409"/>
                        <a:pt x="278468" y="44371"/>
                        <a:pt x="266293" y="44371"/>
                      </a:cubicBezTo>
                      <a:lnTo>
                        <a:pt x="22793" y="44371"/>
                      </a:lnTo>
                      <a:cubicBezTo>
                        <a:pt x="10618" y="44371"/>
                        <a:pt x="657" y="34409"/>
                        <a:pt x="657" y="22234"/>
                      </a:cubicBezTo>
                      <a:lnTo>
                        <a:pt x="657" y="22234"/>
                      </a:lnTo>
                      <a:cubicBezTo>
                        <a:pt x="657" y="10059"/>
                        <a:pt x="10618" y="98"/>
                        <a:pt x="22793" y="98"/>
                      </a:cubicBezTo>
                      <a:close/>
                    </a:path>
                  </a:pathLst>
                </a:custGeom>
                <a:solidFill>
                  <a:srgbClr val="1D1C1C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03D3315-0D92-44CF-8DA0-C01C8926E5D8}"/>
                    </a:ext>
                  </a:extLst>
                </p:cNvPr>
                <p:cNvSpPr/>
                <p:nvPr/>
              </p:nvSpPr>
              <p:spPr>
                <a:xfrm>
                  <a:off x="5953036" y="1311078"/>
                  <a:ext cx="287772" cy="38738"/>
                </a:xfrm>
                <a:custGeom>
                  <a:avLst/>
                  <a:gdLst>
                    <a:gd name="connsiteX0" fmla="*/ 288429 w 287772"/>
                    <a:gd name="connsiteY0" fmla="*/ 35701 h 38738"/>
                    <a:gd name="connsiteX1" fmla="*/ 288429 w 287772"/>
                    <a:gd name="connsiteY1" fmla="*/ 38837 h 38738"/>
                    <a:gd name="connsiteX2" fmla="*/ 657 w 287772"/>
                    <a:gd name="connsiteY2" fmla="*/ 38837 h 38738"/>
                    <a:gd name="connsiteX3" fmla="*/ 657 w 287772"/>
                    <a:gd name="connsiteY3" fmla="*/ 35516 h 38738"/>
                    <a:gd name="connsiteX4" fmla="*/ 288429 w 287772"/>
                    <a:gd name="connsiteY4" fmla="*/ 35516 h 38738"/>
                    <a:gd name="connsiteX5" fmla="*/ 288429 w 287772"/>
                    <a:gd name="connsiteY5" fmla="*/ 27584 h 38738"/>
                    <a:gd name="connsiteX6" fmla="*/ 288429 w 287772"/>
                    <a:gd name="connsiteY6" fmla="*/ 30904 h 38738"/>
                    <a:gd name="connsiteX7" fmla="*/ 657 w 287772"/>
                    <a:gd name="connsiteY7" fmla="*/ 30904 h 38738"/>
                    <a:gd name="connsiteX8" fmla="*/ 657 w 287772"/>
                    <a:gd name="connsiteY8" fmla="*/ 27584 h 38738"/>
                    <a:gd name="connsiteX9" fmla="*/ 288429 w 287772"/>
                    <a:gd name="connsiteY9" fmla="*/ 27584 h 38738"/>
                    <a:gd name="connsiteX10" fmla="*/ 288429 w 287772"/>
                    <a:gd name="connsiteY10" fmla="*/ 17807 h 38738"/>
                    <a:gd name="connsiteX11" fmla="*/ 288429 w 287772"/>
                    <a:gd name="connsiteY11" fmla="*/ 21128 h 38738"/>
                    <a:gd name="connsiteX12" fmla="*/ 657 w 287772"/>
                    <a:gd name="connsiteY12" fmla="*/ 21128 h 38738"/>
                    <a:gd name="connsiteX13" fmla="*/ 657 w 287772"/>
                    <a:gd name="connsiteY13" fmla="*/ 17807 h 38738"/>
                    <a:gd name="connsiteX14" fmla="*/ 288429 w 287772"/>
                    <a:gd name="connsiteY14" fmla="*/ 17807 h 38738"/>
                    <a:gd name="connsiteX15" fmla="*/ 288429 w 287772"/>
                    <a:gd name="connsiteY15" fmla="*/ 9875 h 38738"/>
                    <a:gd name="connsiteX16" fmla="*/ 288429 w 287772"/>
                    <a:gd name="connsiteY16" fmla="*/ 13011 h 38738"/>
                    <a:gd name="connsiteX17" fmla="*/ 657 w 287772"/>
                    <a:gd name="connsiteY17" fmla="*/ 13011 h 38738"/>
                    <a:gd name="connsiteX18" fmla="*/ 657 w 287772"/>
                    <a:gd name="connsiteY18" fmla="*/ 9875 h 38738"/>
                    <a:gd name="connsiteX19" fmla="*/ 288429 w 287772"/>
                    <a:gd name="connsiteY19" fmla="*/ 9875 h 38738"/>
                    <a:gd name="connsiteX20" fmla="*/ 288429 w 287772"/>
                    <a:gd name="connsiteY20" fmla="*/ 98 h 38738"/>
                    <a:gd name="connsiteX21" fmla="*/ 288429 w 287772"/>
                    <a:gd name="connsiteY21" fmla="*/ 3418 h 38738"/>
                    <a:gd name="connsiteX22" fmla="*/ 657 w 287772"/>
                    <a:gd name="connsiteY22" fmla="*/ 3418 h 38738"/>
                    <a:gd name="connsiteX23" fmla="*/ 657 w 287772"/>
                    <a:gd name="connsiteY23" fmla="*/ 98 h 38738"/>
                    <a:gd name="connsiteX24" fmla="*/ 288429 w 287772"/>
                    <a:gd name="connsiteY24" fmla="*/ 98 h 38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87772" h="38738">
                      <a:moveTo>
                        <a:pt x="288429" y="35701"/>
                      </a:moveTo>
                      <a:lnTo>
                        <a:pt x="288429" y="38837"/>
                      </a:lnTo>
                      <a:lnTo>
                        <a:pt x="657" y="38837"/>
                      </a:lnTo>
                      <a:lnTo>
                        <a:pt x="657" y="35516"/>
                      </a:lnTo>
                      <a:lnTo>
                        <a:pt x="288429" y="35516"/>
                      </a:lnTo>
                      <a:close/>
                      <a:moveTo>
                        <a:pt x="288429" y="27584"/>
                      </a:moveTo>
                      <a:lnTo>
                        <a:pt x="288429" y="30904"/>
                      </a:lnTo>
                      <a:lnTo>
                        <a:pt x="657" y="30904"/>
                      </a:lnTo>
                      <a:lnTo>
                        <a:pt x="657" y="27584"/>
                      </a:lnTo>
                      <a:lnTo>
                        <a:pt x="288429" y="27584"/>
                      </a:lnTo>
                      <a:close/>
                      <a:moveTo>
                        <a:pt x="288429" y="17807"/>
                      </a:moveTo>
                      <a:lnTo>
                        <a:pt x="288429" y="21128"/>
                      </a:lnTo>
                      <a:lnTo>
                        <a:pt x="657" y="21128"/>
                      </a:lnTo>
                      <a:lnTo>
                        <a:pt x="657" y="17807"/>
                      </a:lnTo>
                      <a:lnTo>
                        <a:pt x="288429" y="17807"/>
                      </a:lnTo>
                      <a:close/>
                      <a:moveTo>
                        <a:pt x="288429" y="9875"/>
                      </a:moveTo>
                      <a:lnTo>
                        <a:pt x="288429" y="13011"/>
                      </a:lnTo>
                      <a:lnTo>
                        <a:pt x="657" y="13011"/>
                      </a:lnTo>
                      <a:lnTo>
                        <a:pt x="657" y="9875"/>
                      </a:lnTo>
                      <a:lnTo>
                        <a:pt x="288429" y="9875"/>
                      </a:lnTo>
                      <a:close/>
                      <a:moveTo>
                        <a:pt x="288429" y="98"/>
                      </a:moveTo>
                      <a:lnTo>
                        <a:pt x="288429" y="3418"/>
                      </a:lnTo>
                      <a:lnTo>
                        <a:pt x="657" y="3418"/>
                      </a:lnTo>
                      <a:lnTo>
                        <a:pt x="657" y="98"/>
                      </a:lnTo>
                      <a:lnTo>
                        <a:pt x="288429" y="98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A67949D-5DC0-4298-8F52-F85C5EF4D4B4}"/>
                    </a:ext>
                  </a:extLst>
                </p:cNvPr>
                <p:cNvSpPr/>
                <p:nvPr/>
              </p:nvSpPr>
              <p:spPr>
                <a:xfrm>
                  <a:off x="5953036" y="1318457"/>
                  <a:ext cx="287772" cy="38738"/>
                </a:xfrm>
                <a:custGeom>
                  <a:avLst/>
                  <a:gdLst>
                    <a:gd name="connsiteX0" fmla="*/ 288429 w 287772"/>
                    <a:gd name="connsiteY0" fmla="*/ 35701 h 38738"/>
                    <a:gd name="connsiteX1" fmla="*/ 288429 w 287772"/>
                    <a:gd name="connsiteY1" fmla="*/ 38837 h 38738"/>
                    <a:gd name="connsiteX2" fmla="*/ 657 w 287772"/>
                    <a:gd name="connsiteY2" fmla="*/ 38837 h 38738"/>
                    <a:gd name="connsiteX3" fmla="*/ 657 w 287772"/>
                    <a:gd name="connsiteY3" fmla="*/ 35516 h 38738"/>
                    <a:gd name="connsiteX4" fmla="*/ 288429 w 287772"/>
                    <a:gd name="connsiteY4" fmla="*/ 35516 h 38738"/>
                    <a:gd name="connsiteX5" fmla="*/ 288429 w 287772"/>
                    <a:gd name="connsiteY5" fmla="*/ 27584 h 38738"/>
                    <a:gd name="connsiteX6" fmla="*/ 288429 w 287772"/>
                    <a:gd name="connsiteY6" fmla="*/ 30904 h 38738"/>
                    <a:gd name="connsiteX7" fmla="*/ 657 w 287772"/>
                    <a:gd name="connsiteY7" fmla="*/ 30904 h 38738"/>
                    <a:gd name="connsiteX8" fmla="*/ 657 w 287772"/>
                    <a:gd name="connsiteY8" fmla="*/ 27584 h 38738"/>
                    <a:gd name="connsiteX9" fmla="*/ 288429 w 287772"/>
                    <a:gd name="connsiteY9" fmla="*/ 27584 h 38738"/>
                    <a:gd name="connsiteX10" fmla="*/ 288429 w 287772"/>
                    <a:gd name="connsiteY10" fmla="*/ 17807 h 38738"/>
                    <a:gd name="connsiteX11" fmla="*/ 288429 w 287772"/>
                    <a:gd name="connsiteY11" fmla="*/ 21128 h 38738"/>
                    <a:gd name="connsiteX12" fmla="*/ 657 w 287772"/>
                    <a:gd name="connsiteY12" fmla="*/ 21128 h 38738"/>
                    <a:gd name="connsiteX13" fmla="*/ 657 w 287772"/>
                    <a:gd name="connsiteY13" fmla="*/ 17807 h 38738"/>
                    <a:gd name="connsiteX14" fmla="*/ 288429 w 287772"/>
                    <a:gd name="connsiteY14" fmla="*/ 17807 h 38738"/>
                    <a:gd name="connsiteX15" fmla="*/ 288429 w 287772"/>
                    <a:gd name="connsiteY15" fmla="*/ 9875 h 38738"/>
                    <a:gd name="connsiteX16" fmla="*/ 288429 w 287772"/>
                    <a:gd name="connsiteY16" fmla="*/ 13011 h 38738"/>
                    <a:gd name="connsiteX17" fmla="*/ 657 w 287772"/>
                    <a:gd name="connsiteY17" fmla="*/ 13011 h 38738"/>
                    <a:gd name="connsiteX18" fmla="*/ 657 w 287772"/>
                    <a:gd name="connsiteY18" fmla="*/ 9875 h 38738"/>
                    <a:gd name="connsiteX19" fmla="*/ 288429 w 287772"/>
                    <a:gd name="connsiteY19" fmla="*/ 9875 h 38738"/>
                    <a:gd name="connsiteX20" fmla="*/ 288429 w 287772"/>
                    <a:gd name="connsiteY20" fmla="*/ 98 h 38738"/>
                    <a:gd name="connsiteX21" fmla="*/ 288429 w 287772"/>
                    <a:gd name="connsiteY21" fmla="*/ 3418 h 38738"/>
                    <a:gd name="connsiteX22" fmla="*/ 657 w 287772"/>
                    <a:gd name="connsiteY22" fmla="*/ 3418 h 38738"/>
                    <a:gd name="connsiteX23" fmla="*/ 657 w 287772"/>
                    <a:gd name="connsiteY23" fmla="*/ 98 h 38738"/>
                    <a:gd name="connsiteX24" fmla="*/ 288429 w 287772"/>
                    <a:gd name="connsiteY24" fmla="*/ 98 h 38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87772" h="38738">
                      <a:moveTo>
                        <a:pt x="288429" y="35701"/>
                      </a:moveTo>
                      <a:lnTo>
                        <a:pt x="288429" y="38837"/>
                      </a:lnTo>
                      <a:lnTo>
                        <a:pt x="657" y="38837"/>
                      </a:lnTo>
                      <a:lnTo>
                        <a:pt x="657" y="35516"/>
                      </a:lnTo>
                      <a:lnTo>
                        <a:pt x="288429" y="35516"/>
                      </a:lnTo>
                      <a:close/>
                      <a:moveTo>
                        <a:pt x="288429" y="27584"/>
                      </a:moveTo>
                      <a:lnTo>
                        <a:pt x="288429" y="30904"/>
                      </a:lnTo>
                      <a:lnTo>
                        <a:pt x="657" y="30904"/>
                      </a:lnTo>
                      <a:lnTo>
                        <a:pt x="657" y="27584"/>
                      </a:lnTo>
                      <a:lnTo>
                        <a:pt x="288429" y="27584"/>
                      </a:lnTo>
                      <a:close/>
                      <a:moveTo>
                        <a:pt x="288429" y="17807"/>
                      </a:moveTo>
                      <a:lnTo>
                        <a:pt x="288429" y="21128"/>
                      </a:lnTo>
                      <a:lnTo>
                        <a:pt x="657" y="21128"/>
                      </a:lnTo>
                      <a:lnTo>
                        <a:pt x="657" y="17807"/>
                      </a:lnTo>
                      <a:lnTo>
                        <a:pt x="288429" y="17807"/>
                      </a:lnTo>
                      <a:close/>
                      <a:moveTo>
                        <a:pt x="288429" y="9875"/>
                      </a:moveTo>
                      <a:lnTo>
                        <a:pt x="288429" y="13011"/>
                      </a:lnTo>
                      <a:lnTo>
                        <a:pt x="657" y="13011"/>
                      </a:lnTo>
                      <a:lnTo>
                        <a:pt x="657" y="9875"/>
                      </a:lnTo>
                      <a:lnTo>
                        <a:pt x="288429" y="9875"/>
                      </a:lnTo>
                      <a:close/>
                      <a:moveTo>
                        <a:pt x="288429" y="98"/>
                      </a:moveTo>
                      <a:lnTo>
                        <a:pt x="288429" y="3418"/>
                      </a:lnTo>
                      <a:lnTo>
                        <a:pt x="657" y="3418"/>
                      </a:lnTo>
                      <a:lnTo>
                        <a:pt x="657" y="98"/>
                      </a:lnTo>
                      <a:lnTo>
                        <a:pt x="288429" y="98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3429A65D-8A2B-44F0-9820-7C406D3759E9}"/>
                    </a:ext>
                  </a:extLst>
                </p:cNvPr>
                <p:cNvSpPr/>
                <p:nvPr/>
              </p:nvSpPr>
              <p:spPr>
                <a:xfrm>
                  <a:off x="5959493" y="1311078"/>
                  <a:ext cx="274859" cy="44272"/>
                </a:xfrm>
                <a:custGeom>
                  <a:avLst/>
                  <a:gdLst>
                    <a:gd name="connsiteX0" fmla="*/ 3977 w 274859"/>
                    <a:gd name="connsiteY0" fmla="*/ 98 h 44272"/>
                    <a:gd name="connsiteX1" fmla="*/ 3977 w 274859"/>
                    <a:gd name="connsiteY1" fmla="*/ 44371 h 44272"/>
                    <a:gd name="connsiteX2" fmla="*/ 657 w 274859"/>
                    <a:gd name="connsiteY2" fmla="*/ 44371 h 44272"/>
                    <a:gd name="connsiteX3" fmla="*/ 657 w 274859"/>
                    <a:gd name="connsiteY3" fmla="*/ 98 h 44272"/>
                    <a:gd name="connsiteX4" fmla="*/ 3977 w 274859"/>
                    <a:gd name="connsiteY4" fmla="*/ 98 h 44272"/>
                    <a:gd name="connsiteX5" fmla="*/ 13754 w 274859"/>
                    <a:gd name="connsiteY5" fmla="*/ 98 h 44272"/>
                    <a:gd name="connsiteX6" fmla="*/ 13754 w 274859"/>
                    <a:gd name="connsiteY6" fmla="*/ 44371 h 44272"/>
                    <a:gd name="connsiteX7" fmla="*/ 10434 w 274859"/>
                    <a:gd name="connsiteY7" fmla="*/ 44371 h 44272"/>
                    <a:gd name="connsiteX8" fmla="*/ 10434 w 274859"/>
                    <a:gd name="connsiteY8" fmla="*/ 98 h 44272"/>
                    <a:gd name="connsiteX9" fmla="*/ 13754 w 274859"/>
                    <a:gd name="connsiteY9" fmla="*/ 98 h 44272"/>
                    <a:gd name="connsiteX10" fmla="*/ 21871 w 274859"/>
                    <a:gd name="connsiteY10" fmla="*/ 98 h 44272"/>
                    <a:gd name="connsiteX11" fmla="*/ 21871 w 274859"/>
                    <a:gd name="connsiteY11" fmla="*/ 44371 h 44272"/>
                    <a:gd name="connsiteX12" fmla="*/ 18551 w 274859"/>
                    <a:gd name="connsiteY12" fmla="*/ 44371 h 44272"/>
                    <a:gd name="connsiteX13" fmla="*/ 18551 w 274859"/>
                    <a:gd name="connsiteY13" fmla="*/ 98 h 44272"/>
                    <a:gd name="connsiteX14" fmla="*/ 21871 w 274859"/>
                    <a:gd name="connsiteY14" fmla="*/ 98 h 44272"/>
                    <a:gd name="connsiteX15" fmla="*/ 31832 w 274859"/>
                    <a:gd name="connsiteY15" fmla="*/ 98 h 44272"/>
                    <a:gd name="connsiteX16" fmla="*/ 31832 w 274859"/>
                    <a:gd name="connsiteY16" fmla="*/ 44371 h 44272"/>
                    <a:gd name="connsiteX17" fmla="*/ 28512 w 274859"/>
                    <a:gd name="connsiteY17" fmla="*/ 44371 h 44272"/>
                    <a:gd name="connsiteX18" fmla="*/ 28512 w 274859"/>
                    <a:gd name="connsiteY18" fmla="*/ 98 h 44272"/>
                    <a:gd name="connsiteX19" fmla="*/ 31832 w 274859"/>
                    <a:gd name="connsiteY19" fmla="*/ 98 h 44272"/>
                    <a:gd name="connsiteX20" fmla="*/ 39949 w 274859"/>
                    <a:gd name="connsiteY20" fmla="*/ 98 h 44272"/>
                    <a:gd name="connsiteX21" fmla="*/ 39949 w 274859"/>
                    <a:gd name="connsiteY21" fmla="*/ 44371 h 44272"/>
                    <a:gd name="connsiteX22" fmla="*/ 36629 w 274859"/>
                    <a:gd name="connsiteY22" fmla="*/ 44371 h 44272"/>
                    <a:gd name="connsiteX23" fmla="*/ 36629 w 274859"/>
                    <a:gd name="connsiteY23" fmla="*/ 98 h 44272"/>
                    <a:gd name="connsiteX24" fmla="*/ 39949 w 274859"/>
                    <a:gd name="connsiteY24" fmla="*/ 98 h 44272"/>
                    <a:gd name="connsiteX25" fmla="*/ 49726 w 274859"/>
                    <a:gd name="connsiteY25" fmla="*/ 98 h 44272"/>
                    <a:gd name="connsiteX26" fmla="*/ 49726 w 274859"/>
                    <a:gd name="connsiteY26" fmla="*/ 44371 h 44272"/>
                    <a:gd name="connsiteX27" fmla="*/ 46405 w 274859"/>
                    <a:gd name="connsiteY27" fmla="*/ 44371 h 44272"/>
                    <a:gd name="connsiteX28" fmla="*/ 46405 w 274859"/>
                    <a:gd name="connsiteY28" fmla="*/ 98 h 44272"/>
                    <a:gd name="connsiteX29" fmla="*/ 49726 w 274859"/>
                    <a:gd name="connsiteY29" fmla="*/ 98 h 44272"/>
                    <a:gd name="connsiteX30" fmla="*/ 57842 w 274859"/>
                    <a:gd name="connsiteY30" fmla="*/ 98 h 44272"/>
                    <a:gd name="connsiteX31" fmla="*/ 57842 w 274859"/>
                    <a:gd name="connsiteY31" fmla="*/ 44371 h 44272"/>
                    <a:gd name="connsiteX32" fmla="*/ 54707 w 274859"/>
                    <a:gd name="connsiteY32" fmla="*/ 44371 h 44272"/>
                    <a:gd name="connsiteX33" fmla="*/ 54707 w 274859"/>
                    <a:gd name="connsiteY33" fmla="*/ 98 h 44272"/>
                    <a:gd name="connsiteX34" fmla="*/ 57842 w 274859"/>
                    <a:gd name="connsiteY34" fmla="*/ 98 h 44272"/>
                    <a:gd name="connsiteX35" fmla="*/ 67804 w 274859"/>
                    <a:gd name="connsiteY35" fmla="*/ 98 h 44272"/>
                    <a:gd name="connsiteX36" fmla="*/ 67804 w 274859"/>
                    <a:gd name="connsiteY36" fmla="*/ 44371 h 44272"/>
                    <a:gd name="connsiteX37" fmla="*/ 64483 w 274859"/>
                    <a:gd name="connsiteY37" fmla="*/ 44371 h 44272"/>
                    <a:gd name="connsiteX38" fmla="*/ 64483 w 274859"/>
                    <a:gd name="connsiteY38" fmla="*/ 98 h 44272"/>
                    <a:gd name="connsiteX39" fmla="*/ 67804 w 274859"/>
                    <a:gd name="connsiteY39" fmla="*/ 98 h 44272"/>
                    <a:gd name="connsiteX40" fmla="*/ 75920 w 274859"/>
                    <a:gd name="connsiteY40" fmla="*/ 98 h 44272"/>
                    <a:gd name="connsiteX41" fmla="*/ 75920 w 274859"/>
                    <a:gd name="connsiteY41" fmla="*/ 44371 h 44272"/>
                    <a:gd name="connsiteX42" fmla="*/ 72600 w 274859"/>
                    <a:gd name="connsiteY42" fmla="*/ 44371 h 44272"/>
                    <a:gd name="connsiteX43" fmla="*/ 72600 w 274859"/>
                    <a:gd name="connsiteY43" fmla="*/ 98 h 44272"/>
                    <a:gd name="connsiteX44" fmla="*/ 75920 w 274859"/>
                    <a:gd name="connsiteY44" fmla="*/ 98 h 44272"/>
                    <a:gd name="connsiteX45" fmla="*/ 85697 w 274859"/>
                    <a:gd name="connsiteY45" fmla="*/ 98 h 44272"/>
                    <a:gd name="connsiteX46" fmla="*/ 85697 w 274859"/>
                    <a:gd name="connsiteY46" fmla="*/ 44371 h 44272"/>
                    <a:gd name="connsiteX47" fmla="*/ 82377 w 274859"/>
                    <a:gd name="connsiteY47" fmla="*/ 44371 h 44272"/>
                    <a:gd name="connsiteX48" fmla="*/ 82377 w 274859"/>
                    <a:gd name="connsiteY48" fmla="*/ 98 h 44272"/>
                    <a:gd name="connsiteX49" fmla="*/ 85697 w 274859"/>
                    <a:gd name="connsiteY49" fmla="*/ 98 h 44272"/>
                    <a:gd name="connsiteX50" fmla="*/ 93998 w 274859"/>
                    <a:gd name="connsiteY50" fmla="*/ 98 h 44272"/>
                    <a:gd name="connsiteX51" fmla="*/ 93998 w 274859"/>
                    <a:gd name="connsiteY51" fmla="*/ 44371 h 44272"/>
                    <a:gd name="connsiteX52" fmla="*/ 90678 w 274859"/>
                    <a:gd name="connsiteY52" fmla="*/ 44371 h 44272"/>
                    <a:gd name="connsiteX53" fmla="*/ 90678 w 274859"/>
                    <a:gd name="connsiteY53" fmla="*/ 98 h 44272"/>
                    <a:gd name="connsiteX54" fmla="*/ 93998 w 274859"/>
                    <a:gd name="connsiteY54" fmla="*/ 98 h 44272"/>
                    <a:gd name="connsiteX55" fmla="*/ 103775 w 274859"/>
                    <a:gd name="connsiteY55" fmla="*/ 98 h 44272"/>
                    <a:gd name="connsiteX56" fmla="*/ 103775 w 274859"/>
                    <a:gd name="connsiteY56" fmla="*/ 44371 h 44272"/>
                    <a:gd name="connsiteX57" fmla="*/ 100455 w 274859"/>
                    <a:gd name="connsiteY57" fmla="*/ 44371 h 44272"/>
                    <a:gd name="connsiteX58" fmla="*/ 100455 w 274859"/>
                    <a:gd name="connsiteY58" fmla="*/ 98 h 44272"/>
                    <a:gd name="connsiteX59" fmla="*/ 103775 w 274859"/>
                    <a:gd name="connsiteY59" fmla="*/ 98 h 44272"/>
                    <a:gd name="connsiteX60" fmla="*/ 111892 w 274859"/>
                    <a:gd name="connsiteY60" fmla="*/ 98 h 44272"/>
                    <a:gd name="connsiteX61" fmla="*/ 111892 w 274859"/>
                    <a:gd name="connsiteY61" fmla="*/ 44371 h 44272"/>
                    <a:gd name="connsiteX62" fmla="*/ 108572 w 274859"/>
                    <a:gd name="connsiteY62" fmla="*/ 44371 h 44272"/>
                    <a:gd name="connsiteX63" fmla="*/ 108572 w 274859"/>
                    <a:gd name="connsiteY63" fmla="*/ 98 h 44272"/>
                    <a:gd name="connsiteX64" fmla="*/ 111892 w 274859"/>
                    <a:gd name="connsiteY64" fmla="*/ 98 h 44272"/>
                    <a:gd name="connsiteX65" fmla="*/ 121669 w 274859"/>
                    <a:gd name="connsiteY65" fmla="*/ 98 h 44272"/>
                    <a:gd name="connsiteX66" fmla="*/ 121669 w 274859"/>
                    <a:gd name="connsiteY66" fmla="*/ 44371 h 44272"/>
                    <a:gd name="connsiteX67" fmla="*/ 118348 w 274859"/>
                    <a:gd name="connsiteY67" fmla="*/ 44371 h 44272"/>
                    <a:gd name="connsiteX68" fmla="*/ 118348 w 274859"/>
                    <a:gd name="connsiteY68" fmla="*/ 98 h 44272"/>
                    <a:gd name="connsiteX69" fmla="*/ 121669 w 274859"/>
                    <a:gd name="connsiteY69" fmla="*/ 98 h 44272"/>
                    <a:gd name="connsiteX70" fmla="*/ 131630 w 274859"/>
                    <a:gd name="connsiteY70" fmla="*/ 98 h 44272"/>
                    <a:gd name="connsiteX71" fmla="*/ 131630 w 274859"/>
                    <a:gd name="connsiteY71" fmla="*/ 44371 h 44272"/>
                    <a:gd name="connsiteX72" fmla="*/ 128310 w 274859"/>
                    <a:gd name="connsiteY72" fmla="*/ 44371 h 44272"/>
                    <a:gd name="connsiteX73" fmla="*/ 128310 w 274859"/>
                    <a:gd name="connsiteY73" fmla="*/ 98 h 44272"/>
                    <a:gd name="connsiteX74" fmla="*/ 131630 w 274859"/>
                    <a:gd name="connsiteY74" fmla="*/ 98 h 44272"/>
                    <a:gd name="connsiteX75" fmla="*/ 139747 w 274859"/>
                    <a:gd name="connsiteY75" fmla="*/ 98 h 44272"/>
                    <a:gd name="connsiteX76" fmla="*/ 139747 w 274859"/>
                    <a:gd name="connsiteY76" fmla="*/ 44371 h 44272"/>
                    <a:gd name="connsiteX77" fmla="*/ 136426 w 274859"/>
                    <a:gd name="connsiteY77" fmla="*/ 44371 h 44272"/>
                    <a:gd name="connsiteX78" fmla="*/ 136426 w 274859"/>
                    <a:gd name="connsiteY78" fmla="*/ 98 h 44272"/>
                    <a:gd name="connsiteX79" fmla="*/ 139747 w 274859"/>
                    <a:gd name="connsiteY79" fmla="*/ 98 h 44272"/>
                    <a:gd name="connsiteX80" fmla="*/ 149524 w 274859"/>
                    <a:gd name="connsiteY80" fmla="*/ 98 h 44272"/>
                    <a:gd name="connsiteX81" fmla="*/ 149524 w 274859"/>
                    <a:gd name="connsiteY81" fmla="*/ 44371 h 44272"/>
                    <a:gd name="connsiteX82" fmla="*/ 146203 w 274859"/>
                    <a:gd name="connsiteY82" fmla="*/ 44371 h 44272"/>
                    <a:gd name="connsiteX83" fmla="*/ 146203 w 274859"/>
                    <a:gd name="connsiteY83" fmla="*/ 98 h 44272"/>
                    <a:gd name="connsiteX84" fmla="*/ 149524 w 274859"/>
                    <a:gd name="connsiteY84" fmla="*/ 98 h 44272"/>
                    <a:gd name="connsiteX85" fmla="*/ 157640 w 274859"/>
                    <a:gd name="connsiteY85" fmla="*/ 98 h 44272"/>
                    <a:gd name="connsiteX86" fmla="*/ 157640 w 274859"/>
                    <a:gd name="connsiteY86" fmla="*/ 44371 h 44272"/>
                    <a:gd name="connsiteX87" fmla="*/ 154320 w 274859"/>
                    <a:gd name="connsiteY87" fmla="*/ 44371 h 44272"/>
                    <a:gd name="connsiteX88" fmla="*/ 154320 w 274859"/>
                    <a:gd name="connsiteY88" fmla="*/ 98 h 44272"/>
                    <a:gd name="connsiteX89" fmla="*/ 157640 w 274859"/>
                    <a:gd name="connsiteY89" fmla="*/ 98 h 44272"/>
                    <a:gd name="connsiteX90" fmla="*/ 167602 w 274859"/>
                    <a:gd name="connsiteY90" fmla="*/ 98 h 44272"/>
                    <a:gd name="connsiteX91" fmla="*/ 167602 w 274859"/>
                    <a:gd name="connsiteY91" fmla="*/ 44371 h 44272"/>
                    <a:gd name="connsiteX92" fmla="*/ 164281 w 274859"/>
                    <a:gd name="connsiteY92" fmla="*/ 44371 h 44272"/>
                    <a:gd name="connsiteX93" fmla="*/ 164281 w 274859"/>
                    <a:gd name="connsiteY93" fmla="*/ 98 h 44272"/>
                    <a:gd name="connsiteX94" fmla="*/ 167602 w 274859"/>
                    <a:gd name="connsiteY94" fmla="*/ 98 h 44272"/>
                    <a:gd name="connsiteX95" fmla="*/ 175718 w 274859"/>
                    <a:gd name="connsiteY95" fmla="*/ 98 h 44272"/>
                    <a:gd name="connsiteX96" fmla="*/ 175718 w 274859"/>
                    <a:gd name="connsiteY96" fmla="*/ 44371 h 44272"/>
                    <a:gd name="connsiteX97" fmla="*/ 172398 w 274859"/>
                    <a:gd name="connsiteY97" fmla="*/ 44371 h 44272"/>
                    <a:gd name="connsiteX98" fmla="*/ 172398 w 274859"/>
                    <a:gd name="connsiteY98" fmla="*/ 98 h 44272"/>
                    <a:gd name="connsiteX99" fmla="*/ 175718 w 274859"/>
                    <a:gd name="connsiteY99" fmla="*/ 98 h 44272"/>
                    <a:gd name="connsiteX100" fmla="*/ 185495 w 274859"/>
                    <a:gd name="connsiteY100" fmla="*/ 98 h 44272"/>
                    <a:gd name="connsiteX101" fmla="*/ 185495 w 274859"/>
                    <a:gd name="connsiteY101" fmla="*/ 44371 h 44272"/>
                    <a:gd name="connsiteX102" fmla="*/ 182175 w 274859"/>
                    <a:gd name="connsiteY102" fmla="*/ 44371 h 44272"/>
                    <a:gd name="connsiteX103" fmla="*/ 182175 w 274859"/>
                    <a:gd name="connsiteY103" fmla="*/ 98 h 44272"/>
                    <a:gd name="connsiteX104" fmla="*/ 185495 w 274859"/>
                    <a:gd name="connsiteY104" fmla="*/ 98 h 44272"/>
                    <a:gd name="connsiteX105" fmla="*/ 193796 w 274859"/>
                    <a:gd name="connsiteY105" fmla="*/ 98 h 44272"/>
                    <a:gd name="connsiteX106" fmla="*/ 193796 w 274859"/>
                    <a:gd name="connsiteY106" fmla="*/ 44371 h 44272"/>
                    <a:gd name="connsiteX107" fmla="*/ 190476 w 274859"/>
                    <a:gd name="connsiteY107" fmla="*/ 44371 h 44272"/>
                    <a:gd name="connsiteX108" fmla="*/ 190476 w 274859"/>
                    <a:gd name="connsiteY108" fmla="*/ 98 h 44272"/>
                    <a:gd name="connsiteX109" fmla="*/ 193796 w 274859"/>
                    <a:gd name="connsiteY109" fmla="*/ 98 h 44272"/>
                    <a:gd name="connsiteX110" fmla="*/ 203573 w 274859"/>
                    <a:gd name="connsiteY110" fmla="*/ 98 h 44272"/>
                    <a:gd name="connsiteX111" fmla="*/ 203573 w 274859"/>
                    <a:gd name="connsiteY111" fmla="*/ 44371 h 44272"/>
                    <a:gd name="connsiteX112" fmla="*/ 200253 w 274859"/>
                    <a:gd name="connsiteY112" fmla="*/ 44371 h 44272"/>
                    <a:gd name="connsiteX113" fmla="*/ 200253 w 274859"/>
                    <a:gd name="connsiteY113" fmla="*/ 98 h 44272"/>
                    <a:gd name="connsiteX114" fmla="*/ 203573 w 274859"/>
                    <a:gd name="connsiteY114" fmla="*/ 98 h 44272"/>
                    <a:gd name="connsiteX115" fmla="*/ 211690 w 274859"/>
                    <a:gd name="connsiteY115" fmla="*/ 98 h 44272"/>
                    <a:gd name="connsiteX116" fmla="*/ 211690 w 274859"/>
                    <a:gd name="connsiteY116" fmla="*/ 44371 h 44272"/>
                    <a:gd name="connsiteX117" fmla="*/ 208369 w 274859"/>
                    <a:gd name="connsiteY117" fmla="*/ 44371 h 44272"/>
                    <a:gd name="connsiteX118" fmla="*/ 208369 w 274859"/>
                    <a:gd name="connsiteY118" fmla="*/ 98 h 44272"/>
                    <a:gd name="connsiteX119" fmla="*/ 211690 w 274859"/>
                    <a:gd name="connsiteY119" fmla="*/ 98 h 44272"/>
                    <a:gd name="connsiteX120" fmla="*/ 221467 w 274859"/>
                    <a:gd name="connsiteY120" fmla="*/ 98 h 44272"/>
                    <a:gd name="connsiteX121" fmla="*/ 221467 w 274859"/>
                    <a:gd name="connsiteY121" fmla="*/ 44371 h 44272"/>
                    <a:gd name="connsiteX122" fmla="*/ 218146 w 274859"/>
                    <a:gd name="connsiteY122" fmla="*/ 44371 h 44272"/>
                    <a:gd name="connsiteX123" fmla="*/ 218146 w 274859"/>
                    <a:gd name="connsiteY123" fmla="*/ 98 h 44272"/>
                    <a:gd name="connsiteX124" fmla="*/ 221467 w 274859"/>
                    <a:gd name="connsiteY124" fmla="*/ 98 h 44272"/>
                    <a:gd name="connsiteX125" fmla="*/ 229768 w 274859"/>
                    <a:gd name="connsiteY125" fmla="*/ 98 h 44272"/>
                    <a:gd name="connsiteX126" fmla="*/ 229768 w 274859"/>
                    <a:gd name="connsiteY126" fmla="*/ 44371 h 44272"/>
                    <a:gd name="connsiteX127" fmla="*/ 226447 w 274859"/>
                    <a:gd name="connsiteY127" fmla="*/ 44371 h 44272"/>
                    <a:gd name="connsiteX128" fmla="*/ 226447 w 274859"/>
                    <a:gd name="connsiteY128" fmla="*/ 98 h 44272"/>
                    <a:gd name="connsiteX129" fmla="*/ 229768 w 274859"/>
                    <a:gd name="connsiteY129" fmla="*/ 98 h 44272"/>
                    <a:gd name="connsiteX130" fmla="*/ 239545 w 274859"/>
                    <a:gd name="connsiteY130" fmla="*/ 98 h 44272"/>
                    <a:gd name="connsiteX131" fmla="*/ 239545 w 274859"/>
                    <a:gd name="connsiteY131" fmla="*/ 44371 h 44272"/>
                    <a:gd name="connsiteX132" fmla="*/ 236224 w 274859"/>
                    <a:gd name="connsiteY132" fmla="*/ 44371 h 44272"/>
                    <a:gd name="connsiteX133" fmla="*/ 236224 w 274859"/>
                    <a:gd name="connsiteY133" fmla="*/ 98 h 44272"/>
                    <a:gd name="connsiteX134" fmla="*/ 239545 w 274859"/>
                    <a:gd name="connsiteY134" fmla="*/ 98 h 44272"/>
                    <a:gd name="connsiteX135" fmla="*/ 249322 w 274859"/>
                    <a:gd name="connsiteY135" fmla="*/ 98 h 44272"/>
                    <a:gd name="connsiteX136" fmla="*/ 249322 w 274859"/>
                    <a:gd name="connsiteY136" fmla="*/ 44371 h 44272"/>
                    <a:gd name="connsiteX137" fmla="*/ 246001 w 274859"/>
                    <a:gd name="connsiteY137" fmla="*/ 44371 h 44272"/>
                    <a:gd name="connsiteX138" fmla="*/ 246001 w 274859"/>
                    <a:gd name="connsiteY138" fmla="*/ 98 h 44272"/>
                    <a:gd name="connsiteX139" fmla="*/ 249322 w 274859"/>
                    <a:gd name="connsiteY139" fmla="*/ 98 h 44272"/>
                    <a:gd name="connsiteX140" fmla="*/ 257438 w 274859"/>
                    <a:gd name="connsiteY140" fmla="*/ 98 h 44272"/>
                    <a:gd name="connsiteX141" fmla="*/ 257438 w 274859"/>
                    <a:gd name="connsiteY141" fmla="*/ 44371 h 44272"/>
                    <a:gd name="connsiteX142" fmla="*/ 254302 w 274859"/>
                    <a:gd name="connsiteY142" fmla="*/ 44371 h 44272"/>
                    <a:gd name="connsiteX143" fmla="*/ 254302 w 274859"/>
                    <a:gd name="connsiteY143" fmla="*/ 98 h 44272"/>
                    <a:gd name="connsiteX144" fmla="*/ 257438 w 274859"/>
                    <a:gd name="connsiteY144" fmla="*/ 98 h 44272"/>
                    <a:gd name="connsiteX145" fmla="*/ 267400 w 274859"/>
                    <a:gd name="connsiteY145" fmla="*/ 98 h 44272"/>
                    <a:gd name="connsiteX146" fmla="*/ 267400 w 274859"/>
                    <a:gd name="connsiteY146" fmla="*/ 44371 h 44272"/>
                    <a:gd name="connsiteX147" fmla="*/ 264079 w 274859"/>
                    <a:gd name="connsiteY147" fmla="*/ 44371 h 44272"/>
                    <a:gd name="connsiteX148" fmla="*/ 264079 w 274859"/>
                    <a:gd name="connsiteY148" fmla="*/ 98 h 44272"/>
                    <a:gd name="connsiteX149" fmla="*/ 267400 w 274859"/>
                    <a:gd name="connsiteY149" fmla="*/ 98 h 44272"/>
                    <a:gd name="connsiteX150" fmla="*/ 275516 w 274859"/>
                    <a:gd name="connsiteY150" fmla="*/ 98 h 44272"/>
                    <a:gd name="connsiteX151" fmla="*/ 275516 w 274859"/>
                    <a:gd name="connsiteY151" fmla="*/ 44371 h 44272"/>
                    <a:gd name="connsiteX152" fmla="*/ 272196 w 274859"/>
                    <a:gd name="connsiteY152" fmla="*/ 44371 h 44272"/>
                    <a:gd name="connsiteX153" fmla="*/ 272196 w 274859"/>
                    <a:gd name="connsiteY153" fmla="*/ 98 h 44272"/>
                    <a:gd name="connsiteX154" fmla="*/ 275516 w 274859"/>
                    <a:gd name="connsiteY154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274859" h="44272">
                      <a:moveTo>
                        <a:pt x="3977" y="98"/>
                      </a:moveTo>
                      <a:lnTo>
                        <a:pt x="3977" y="44371"/>
                      </a:lnTo>
                      <a:lnTo>
                        <a:pt x="657" y="44371"/>
                      </a:lnTo>
                      <a:lnTo>
                        <a:pt x="657" y="98"/>
                      </a:lnTo>
                      <a:lnTo>
                        <a:pt x="3977" y="98"/>
                      </a:lnTo>
                      <a:close/>
                      <a:moveTo>
                        <a:pt x="13754" y="98"/>
                      </a:moveTo>
                      <a:lnTo>
                        <a:pt x="13754" y="44371"/>
                      </a:lnTo>
                      <a:lnTo>
                        <a:pt x="10434" y="44371"/>
                      </a:lnTo>
                      <a:lnTo>
                        <a:pt x="10434" y="98"/>
                      </a:lnTo>
                      <a:lnTo>
                        <a:pt x="13754" y="98"/>
                      </a:lnTo>
                      <a:close/>
                      <a:moveTo>
                        <a:pt x="21871" y="98"/>
                      </a:moveTo>
                      <a:lnTo>
                        <a:pt x="21871" y="44371"/>
                      </a:lnTo>
                      <a:lnTo>
                        <a:pt x="18551" y="44371"/>
                      </a:lnTo>
                      <a:lnTo>
                        <a:pt x="18551" y="98"/>
                      </a:lnTo>
                      <a:lnTo>
                        <a:pt x="21871" y="98"/>
                      </a:lnTo>
                      <a:close/>
                      <a:moveTo>
                        <a:pt x="31832" y="98"/>
                      </a:moveTo>
                      <a:lnTo>
                        <a:pt x="31832" y="44371"/>
                      </a:lnTo>
                      <a:lnTo>
                        <a:pt x="28512" y="44371"/>
                      </a:lnTo>
                      <a:lnTo>
                        <a:pt x="28512" y="98"/>
                      </a:lnTo>
                      <a:lnTo>
                        <a:pt x="31832" y="98"/>
                      </a:lnTo>
                      <a:close/>
                      <a:moveTo>
                        <a:pt x="39949" y="98"/>
                      </a:moveTo>
                      <a:lnTo>
                        <a:pt x="39949" y="44371"/>
                      </a:lnTo>
                      <a:lnTo>
                        <a:pt x="36629" y="44371"/>
                      </a:lnTo>
                      <a:lnTo>
                        <a:pt x="36629" y="98"/>
                      </a:lnTo>
                      <a:lnTo>
                        <a:pt x="39949" y="98"/>
                      </a:lnTo>
                      <a:close/>
                      <a:moveTo>
                        <a:pt x="49726" y="98"/>
                      </a:moveTo>
                      <a:lnTo>
                        <a:pt x="49726" y="44371"/>
                      </a:lnTo>
                      <a:lnTo>
                        <a:pt x="46405" y="44371"/>
                      </a:lnTo>
                      <a:lnTo>
                        <a:pt x="46405" y="98"/>
                      </a:lnTo>
                      <a:lnTo>
                        <a:pt x="49726" y="98"/>
                      </a:lnTo>
                      <a:close/>
                      <a:moveTo>
                        <a:pt x="57842" y="98"/>
                      </a:moveTo>
                      <a:lnTo>
                        <a:pt x="57842" y="44371"/>
                      </a:lnTo>
                      <a:lnTo>
                        <a:pt x="54707" y="44371"/>
                      </a:lnTo>
                      <a:lnTo>
                        <a:pt x="54707" y="98"/>
                      </a:lnTo>
                      <a:lnTo>
                        <a:pt x="57842" y="98"/>
                      </a:lnTo>
                      <a:close/>
                      <a:moveTo>
                        <a:pt x="67804" y="98"/>
                      </a:moveTo>
                      <a:lnTo>
                        <a:pt x="67804" y="44371"/>
                      </a:lnTo>
                      <a:lnTo>
                        <a:pt x="64483" y="44371"/>
                      </a:lnTo>
                      <a:lnTo>
                        <a:pt x="64483" y="98"/>
                      </a:lnTo>
                      <a:lnTo>
                        <a:pt x="67804" y="98"/>
                      </a:lnTo>
                      <a:close/>
                      <a:moveTo>
                        <a:pt x="75920" y="98"/>
                      </a:moveTo>
                      <a:lnTo>
                        <a:pt x="75920" y="44371"/>
                      </a:lnTo>
                      <a:lnTo>
                        <a:pt x="72600" y="44371"/>
                      </a:lnTo>
                      <a:lnTo>
                        <a:pt x="72600" y="98"/>
                      </a:lnTo>
                      <a:lnTo>
                        <a:pt x="75920" y="98"/>
                      </a:lnTo>
                      <a:close/>
                      <a:moveTo>
                        <a:pt x="85697" y="98"/>
                      </a:moveTo>
                      <a:lnTo>
                        <a:pt x="85697" y="44371"/>
                      </a:lnTo>
                      <a:lnTo>
                        <a:pt x="82377" y="44371"/>
                      </a:lnTo>
                      <a:lnTo>
                        <a:pt x="82377" y="98"/>
                      </a:lnTo>
                      <a:lnTo>
                        <a:pt x="85697" y="98"/>
                      </a:lnTo>
                      <a:close/>
                      <a:moveTo>
                        <a:pt x="93998" y="98"/>
                      </a:moveTo>
                      <a:lnTo>
                        <a:pt x="93998" y="44371"/>
                      </a:lnTo>
                      <a:lnTo>
                        <a:pt x="90678" y="44371"/>
                      </a:lnTo>
                      <a:lnTo>
                        <a:pt x="90678" y="98"/>
                      </a:lnTo>
                      <a:lnTo>
                        <a:pt x="93998" y="98"/>
                      </a:lnTo>
                      <a:close/>
                      <a:moveTo>
                        <a:pt x="103775" y="98"/>
                      </a:moveTo>
                      <a:lnTo>
                        <a:pt x="103775" y="44371"/>
                      </a:lnTo>
                      <a:lnTo>
                        <a:pt x="100455" y="44371"/>
                      </a:lnTo>
                      <a:lnTo>
                        <a:pt x="100455" y="98"/>
                      </a:lnTo>
                      <a:lnTo>
                        <a:pt x="103775" y="98"/>
                      </a:lnTo>
                      <a:close/>
                      <a:moveTo>
                        <a:pt x="111892" y="98"/>
                      </a:moveTo>
                      <a:lnTo>
                        <a:pt x="111892" y="44371"/>
                      </a:lnTo>
                      <a:lnTo>
                        <a:pt x="108572" y="44371"/>
                      </a:lnTo>
                      <a:lnTo>
                        <a:pt x="108572" y="98"/>
                      </a:lnTo>
                      <a:lnTo>
                        <a:pt x="111892" y="98"/>
                      </a:lnTo>
                      <a:close/>
                      <a:moveTo>
                        <a:pt x="121669" y="98"/>
                      </a:moveTo>
                      <a:lnTo>
                        <a:pt x="121669" y="44371"/>
                      </a:lnTo>
                      <a:lnTo>
                        <a:pt x="118348" y="44371"/>
                      </a:lnTo>
                      <a:lnTo>
                        <a:pt x="118348" y="98"/>
                      </a:lnTo>
                      <a:lnTo>
                        <a:pt x="121669" y="98"/>
                      </a:lnTo>
                      <a:close/>
                      <a:moveTo>
                        <a:pt x="131630" y="98"/>
                      </a:moveTo>
                      <a:lnTo>
                        <a:pt x="131630" y="44371"/>
                      </a:lnTo>
                      <a:lnTo>
                        <a:pt x="128310" y="44371"/>
                      </a:lnTo>
                      <a:lnTo>
                        <a:pt x="128310" y="98"/>
                      </a:lnTo>
                      <a:lnTo>
                        <a:pt x="131630" y="98"/>
                      </a:lnTo>
                      <a:close/>
                      <a:moveTo>
                        <a:pt x="139747" y="98"/>
                      </a:moveTo>
                      <a:lnTo>
                        <a:pt x="139747" y="44371"/>
                      </a:lnTo>
                      <a:lnTo>
                        <a:pt x="136426" y="44371"/>
                      </a:lnTo>
                      <a:lnTo>
                        <a:pt x="136426" y="98"/>
                      </a:lnTo>
                      <a:lnTo>
                        <a:pt x="139747" y="98"/>
                      </a:lnTo>
                      <a:close/>
                      <a:moveTo>
                        <a:pt x="149524" y="98"/>
                      </a:moveTo>
                      <a:lnTo>
                        <a:pt x="149524" y="44371"/>
                      </a:lnTo>
                      <a:lnTo>
                        <a:pt x="146203" y="44371"/>
                      </a:lnTo>
                      <a:lnTo>
                        <a:pt x="146203" y="98"/>
                      </a:lnTo>
                      <a:lnTo>
                        <a:pt x="149524" y="98"/>
                      </a:lnTo>
                      <a:close/>
                      <a:moveTo>
                        <a:pt x="157640" y="98"/>
                      </a:moveTo>
                      <a:lnTo>
                        <a:pt x="157640" y="44371"/>
                      </a:lnTo>
                      <a:lnTo>
                        <a:pt x="154320" y="44371"/>
                      </a:lnTo>
                      <a:lnTo>
                        <a:pt x="154320" y="98"/>
                      </a:lnTo>
                      <a:lnTo>
                        <a:pt x="157640" y="98"/>
                      </a:lnTo>
                      <a:close/>
                      <a:moveTo>
                        <a:pt x="167602" y="98"/>
                      </a:moveTo>
                      <a:lnTo>
                        <a:pt x="167602" y="44371"/>
                      </a:lnTo>
                      <a:lnTo>
                        <a:pt x="164281" y="44371"/>
                      </a:lnTo>
                      <a:lnTo>
                        <a:pt x="164281" y="98"/>
                      </a:lnTo>
                      <a:lnTo>
                        <a:pt x="167602" y="98"/>
                      </a:lnTo>
                      <a:close/>
                      <a:moveTo>
                        <a:pt x="175718" y="98"/>
                      </a:moveTo>
                      <a:lnTo>
                        <a:pt x="175718" y="44371"/>
                      </a:lnTo>
                      <a:lnTo>
                        <a:pt x="172398" y="44371"/>
                      </a:lnTo>
                      <a:lnTo>
                        <a:pt x="172398" y="98"/>
                      </a:lnTo>
                      <a:lnTo>
                        <a:pt x="175718" y="98"/>
                      </a:lnTo>
                      <a:close/>
                      <a:moveTo>
                        <a:pt x="185495" y="98"/>
                      </a:moveTo>
                      <a:lnTo>
                        <a:pt x="185495" y="44371"/>
                      </a:lnTo>
                      <a:lnTo>
                        <a:pt x="182175" y="44371"/>
                      </a:lnTo>
                      <a:lnTo>
                        <a:pt x="182175" y="98"/>
                      </a:lnTo>
                      <a:lnTo>
                        <a:pt x="185495" y="98"/>
                      </a:lnTo>
                      <a:close/>
                      <a:moveTo>
                        <a:pt x="193796" y="98"/>
                      </a:moveTo>
                      <a:lnTo>
                        <a:pt x="193796" y="44371"/>
                      </a:lnTo>
                      <a:lnTo>
                        <a:pt x="190476" y="44371"/>
                      </a:lnTo>
                      <a:lnTo>
                        <a:pt x="190476" y="98"/>
                      </a:lnTo>
                      <a:lnTo>
                        <a:pt x="193796" y="98"/>
                      </a:lnTo>
                      <a:close/>
                      <a:moveTo>
                        <a:pt x="203573" y="98"/>
                      </a:moveTo>
                      <a:lnTo>
                        <a:pt x="203573" y="44371"/>
                      </a:lnTo>
                      <a:lnTo>
                        <a:pt x="200253" y="44371"/>
                      </a:lnTo>
                      <a:lnTo>
                        <a:pt x="200253" y="98"/>
                      </a:lnTo>
                      <a:lnTo>
                        <a:pt x="203573" y="98"/>
                      </a:lnTo>
                      <a:close/>
                      <a:moveTo>
                        <a:pt x="211690" y="98"/>
                      </a:moveTo>
                      <a:lnTo>
                        <a:pt x="211690" y="44371"/>
                      </a:lnTo>
                      <a:lnTo>
                        <a:pt x="208369" y="44371"/>
                      </a:lnTo>
                      <a:lnTo>
                        <a:pt x="208369" y="98"/>
                      </a:lnTo>
                      <a:lnTo>
                        <a:pt x="211690" y="98"/>
                      </a:lnTo>
                      <a:close/>
                      <a:moveTo>
                        <a:pt x="221467" y="98"/>
                      </a:moveTo>
                      <a:lnTo>
                        <a:pt x="221467" y="44371"/>
                      </a:lnTo>
                      <a:lnTo>
                        <a:pt x="218146" y="44371"/>
                      </a:lnTo>
                      <a:lnTo>
                        <a:pt x="218146" y="98"/>
                      </a:lnTo>
                      <a:lnTo>
                        <a:pt x="221467" y="98"/>
                      </a:lnTo>
                      <a:close/>
                      <a:moveTo>
                        <a:pt x="229768" y="98"/>
                      </a:moveTo>
                      <a:lnTo>
                        <a:pt x="229768" y="44371"/>
                      </a:lnTo>
                      <a:lnTo>
                        <a:pt x="226447" y="44371"/>
                      </a:lnTo>
                      <a:lnTo>
                        <a:pt x="226447" y="98"/>
                      </a:lnTo>
                      <a:lnTo>
                        <a:pt x="229768" y="98"/>
                      </a:lnTo>
                      <a:close/>
                      <a:moveTo>
                        <a:pt x="239545" y="98"/>
                      </a:moveTo>
                      <a:lnTo>
                        <a:pt x="239545" y="44371"/>
                      </a:lnTo>
                      <a:lnTo>
                        <a:pt x="236224" y="44371"/>
                      </a:lnTo>
                      <a:lnTo>
                        <a:pt x="236224" y="98"/>
                      </a:lnTo>
                      <a:lnTo>
                        <a:pt x="239545" y="98"/>
                      </a:lnTo>
                      <a:close/>
                      <a:moveTo>
                        <a:pt x="249322" y="98"/>
                      </a:moveTo>
                      <a:lnTo>
                        <a:pt x="249322" y="44371"/>
                      </a:lnTo>
                      <a:lnTo>
                        <a:pt x="246001" y="44371"/>
                      </a:lnTo>
                      <a:lnTo>
                        <a:pt x="246001" y="98"/>
                      </a:lnTo>
                      <a:lnTo>
                        <a:pt x="249322" y="98"/>
                      </a:lnTo>
                      <a:close/>
                      <a:moveTo>
                        <a:pt x="257438" y="98"/>
                      </a:moveTo>
                      <a:lnTo>
                        <a:pt x="257438" y="44371"/>
                      </a:lnTo>
                      <a:lnTo>
                        <a:pt x="254302" y="44371"/>
                      </a:lnTo>
                      <a:lnTo>
                        <a:pt x="254302" y="98"/>
                      </a:lnTo>
                      <a:lnTo>
                        <a:pt x="257438" y="98"/>
                      </a:lnTo>
                      <a:close/>
                      <a:moveTo>
                        <a:pt x="267400" y="98"/>
                      </a:moveTo>
                      <a:lnTo>
                        <a:pt x="267400" y="44371"/>
                      </a:lnTo>
                      <a:lnTo>
                        <a:pt x="264079" y="44371"/>
                      </a:lnTo>
                      <a:lnTo>
                        <a:pt x="264079" y="98"/>
                      </a:lnTo>
                      <a:lnTo>
                        <a:pt x="267400" y="98"/>
                      </a:lnTo>
                      <a:close/>
                      <a:moveTo>
                        <a:pt x="275516" y="98"/>
                      </a:moveTo>
                      <a:lnTo>
                        <a:pt x="275516" y="44371"/>
                      </a:lnTo>
                      <a:lnTo>
                        <a:pt x="272196" y="44371"/>
                      </a:lnTo>
                      <a:lnTo>
                        <a:pt x="272196" y="98"/>
                      </a:lnTo>
                      <a:lnTo>
                        <a:pt x="275516" y="98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3DAC1102-615E-4B63-AF57-54A37A07F022}"/>
                    </a:ext>
                  </a:extLst>
                </p:cNvPr>
                <p:cNvSpPr/>
                <p:nvPr/>
              </p:nvSpPr>
              <p:spPr>
                <a:xfrm>
                  <a:off x="5951929" y="1311078"/>
                  <a:ext cx="274859" cy="44272"/>
                </a:xfrm>
                <a:custGeom>
                  <a:avLst/>
                  <a:gdLst>
                    <a:gd name="connsiteX0" fmla="*/ 3977 w 274859"/>
                    <a:gd name="connsiteY0" fmla="*/ 98 h 44272"/>
                    <a:gd name="connsiteX1" fmla="*/ 3977 w 274859"/>
                    <a:gd name="connsiteY1" fmla="*/ 44371 h 44272"/>
                    <a:gd name="connsiteX2" fmla="*/ 657 w 274859"/>
                    <a:gd name="connsiteY2" fmla="*/ 44371 h 44272"/>
                    <a:gd name="connsiteX3" fmla="*/ 657 w 274859"/>
                    <a:gd name="connsiteY3" fmla="*/ 98 h 44272"/>
                    <a:gd name="connsiteX4" fmla="*/ 3977 w 274859"/>
                    <a:gd name="connsiteY4" fmla="*/ 98 h 44272"/>
                    <a:gd name="connsiteX5" fmla="*/ 13754 w 274859"/>
                    <a:gd name="connsiteY5" fmla="*/ 98 h 44272"/>
                    <a:gd name="connsiteX6" fmla="*/ 13754 w 274859"/>
                    <a:gd name="connsiteY6" fmla="*/ 44371 h 44272"/>
                    <a:gd name="connsiteX7" fmla="*/ 10434 w 274859"/>
                    <a:gd name="connsiteY7" fmla="*/ 44371 h 44272"/>
                    <a:gd name="connsiteX8" fmla="*/ 10434 w 274859"/>
                    <a:gd name="connsiteY8" fmla="*/ 98 h 44272"/>
                    <a:gd name="connsiteX9" fmla="*/ 13754 w 274859"/>
                    <a:gd name="connsiteY9" fmla="*/ 98 h 44272"/>
                    <a:gd name="connsiteX10" fmla="*/ 22055 w 274859"/>
                    <a:gd name="connsiteY10" fmla="*/ 98 h 44272"/>
                    <a:gd name="connsiteX11" fmla="*/ 22055 w 274859"/>
                    <a:gd name="connsiteY11" fmla="*/ 44371 h 44272"/>
                    <a:gd name="connsiteX12" fmla="*/ 18735 w 274859"/>
                    <a:gd name="connsiteY12" fmla="*/ 44371 h 44272"/>
                    <a:gd name="connsiteX13" fmla="*/ 18735 w 274859"/>
                    <a:gd name="connsiteY13" fmla="*/ 98 h 44272"/>
                    <a:gd name="connsiteX14" fmla="*/ 22055 w 274859"/>
                    <a:gd name="connsiteY14" fmla="*/ 98 h 44272"/>
                    <a:gd name="connsiteX15" fmla="*/ 31832 w 274859"/>
                    <a:gd name="connsiteY15" fmla="*/ 98 h 44272"/>
                    <a:gd name="connsiteX16" fmla="*/ 31832 w 274859"/>
                    <a:gd name="connsiteY16" fmla="*/ 44371 h 44272"/>
                    <a:gd name="connsiteX17" fmla="*/ 28512 w 274859"/>
                    <a:gd name="connsiteY17" fmla="*/ 44371 h 44272"/>
                    <a:gd name="connsiteX18" fmla="*/ 28512 w 274859"/>
                    <a:gd name="connsiteY18" fmla="*/ 98 h 44272"/>
                    <a:gd name="connsiteX19" fmla="*/ 31832 w 274859"/>
                    <a:gd name="connsiteY19" fmla="*/ 98 h 44272"/>
                    <a:gd name="connsiteX20" fmla="*/ 39949 w 274859"/>
                    <a:gd name="connsiteY20" fmla="*/ 98 h 44272"/>
                    <a:gd name="connsiteX21" fmla="*/ 39949 w 274859"/>
                    <a:gd name="connsiteY21" fmla="*/ 44371 h 44272"/>
                    <a:gd name="connsiteX22" fmla="*/ 36629 w 274859"/>
                    <a:gd name="connsiteY22" fmla="*/ 44371 h 44272"/>
                    <a:gd name="connsiteX23" fmla="*/ 36629 w 274859"/>
                    <a:gd name="connsiteY23" fmla="*/ 98 h 44272"/>
                    <a:gd name="connsiteX24" fmla="*/ 39949 w 274859"/>
                    <a:gd name="connsiteY24" fmla="*/ 98 h 44272"/>
                    <a:gd name="connsiteX25" fmla="*/ 49726 w 274859"/>
                    <a:gd name="connsiteY25" fmla="*/ 98 h 44272"/>
                    <a:gd name="connsiteX26" fmla="*/ 49726 w 274859"/>
                    <a:gd name="connsiteY26" fmla="*/ 44371 h 44272"/>
                    <a:gd name="connsiteX27" fmla="*/ 46405 w 274859"/>
                    <a:gd name="connsiteY27" fmla="*/ 44371 h 44272"/>
                    <a:gd name="connsiteX28" fmla="*/ 46405 w 274859"/>
                    <a:gd name="connsiteY28" fmla="*/ 98 h 44272"/>
                    <a:gd name="connsiteX29" fmla="*/ 49726 w 274859"/>
                    <a:gd name="connsiteY29" fmla="*/ 98 h 44272"/>
                    <a:gd name="connsiteX30" fmla="*/ 58027 w 274859"/>
                    <a:gd name="connsiteY30" fmla="*/ 98 h 44272"/>
                    <a:gd name="connsiteX31" fmla="*/ 58027 w 274859"/>
                    <a:gd name="connsiteY31" fmla="*/ 44371 h 44272"/>
                    <a:gd name="connsiteX32" fmla="*/ 54707 w 274859"/>
                    <a:gd name="connsiteY32" fmla="*/ 44371 h 44272"/>
                    <a:gd name="connsiteX33" fmla="*/ 54707 w 274859"/>
                    <a:gd name="connsiteY33" fmla="*/ 98 h 44272"/>
                    <a:gd name="connsiteX34" fmla="*/ 58027 w 274859"/>
                    <a:gd name="connsiteY34" fmla="*/ 98 h 44272"/>
                    <a:gd name="connsiteX35" fmla="*/ 67804 w 274859"/>
                    <a:gd name="connsiteY35" fmla="*/ 98 h 44272"/>
                    <a:gd name="connsiteX36" fmla="*/ 67804 w 274859"/>
                    <a:gd name="connsiteY36" fmla="*/ 44371 h 44272"/>
                    <a:gd name="connsiteX37" fmla="*/ 64483 w 274859"/>
                    <a:gd name="connsiteY37" fmla="*/ 44371 h 44272"/>
                    <a:gd name="connsiteX38" fmla="*/ 64483 w 274859"/>
                    <a:gd name="connsiteY38" fmla="*/ 98 h 44272"/>
                    <a:gd name="connsiteX39" fmla="*/ 67804 w 274859"/>
                    <a:gd name="connsiteY39" fmla="*/ 98 h 44272"/>
                    <a:gd name="connsiteX40" fmla="*/ 75920 w 274859"/>
                    <a:gd name="connsiteY40" fmla="*/ 98 h 44272"/>
                    <a:gd name="connsiteX41" fmla="*/ 75920 w 274859"/>
                    <a:gd name="connsiteY41" fmla="*/ 44371 h 44272"/>
                    <a:gd name="connsiteX42" fmla="*/ 72600 w 274859"/>
                    <a:gd name="connsiteY42" fmla="*/ 44371 h 44272"/>
                    <a:gd name="connsiteX43" fmla="*/ 72600 w 274859"/>
                    <a:gd name="connsiteY43" fmla="*/ 98 h 44272"/>
                    <a:gd name="connsiteX44" fmla="*/ 75920 w 274859"/>
                    <a:gd name="connsiteY44" fmla="*/ 98 h 44272"/>
                    <a:gd name="connsiteX45" fmla="*/ 85697 w 274859"/>
                    <a:gd name="connsiteY45" fmla="*/ 98 h 44272"/>
                    <a:gd name="connsiteX46" fmla="*/ 85697 w 274859"/>
                    <a:gd name="connsiteY46" fmla="*/ 44371 h 44272"/>
                    <a:gd name="connsiteX47" fmla="*/ 82377 w 274859"/>
                    <a:gd name="connsiteY47" fmla="*/ 44371 h 44272"/>
                    <a:gd name="connsiteX48" fmla="*/ 82377 w 274859"/>
                    <a:gd name="connsiteY48" fmla="*/ 98 h 44272"/>
                    <a:gd name="connsiteX49" fmla="*/ 85697 w 274859"/>
                    <a:gd name="connsiteY49" fmla="*/ 98 h 44272"/>
                    <a:gd name="connsiteX50" fmla="*/ 93998 w 274859"/>
                    <a:gd name="connsiteY50" fmla="*/ 98 h 44272"/>
                    <a:gd name="connsiteX51" fmla="*/ 93998 w 274859"/>
                    <a:gd name="connsiteY51" fmla="*/ 44371 h 44272"/>
                    <a:gd name="connsiteX52" fmla="*/ 90678 w 274859"/>
                    <a:gd name="connsiteY52" fmla="*/ 44371 h 44272"/>
                    <a:gd name="connsiteX53" fmla="*/ 90678 w 274859"/>
                    <a:gd name="connsiteY53" fmla="*/ 98 h 44272"/>
                    <a:gd name="connsiteX54" fmla="*/ 93998 w 274859"/>
                    <a:gd name="connsiteY54" fmla="*/ 98 h 44272"/>
                    <a:gd name="connsiteX55" fmla="*/ 103775 w 274859"/>
                    <a:gd name="connsiteY55" fmla="*/ 98 h 44272"/>
                    <a:gd name="connsiteX56" fmla="*/ 103775 w 274859"/>
                    <a:gd name="connsiteY56" fmla="*/ 44371 h 44272"/>
                    <a:gd name="connsiteX57" fmla="*/ 100455 w 274859"/>
                    <a:gd name="connsiteY57" fmla="*/ 44371 h 44272"/>
                    <a:gd name="connsiteX58" fmla="*/ 100455 w 274859"/>
                    <a:gd name="connsiteY58" fmla="*/ 98 h 44272"/>
                    <a:gd name="connsiteX59" fmla="*/ 103775 w 274859"/>
                    <a:gd name="connsiteY59" fmla="*/ 98 h 44272"/>
                    <a:gd name="connsiteX60" fmla="*/ 111892 w 274859"/>
                    <a:gd name="connsiteY60" fmla="*/ 98 h 44272"/>
                    <a:gd name="connsiteX61" fmla="*/ 111892 w 274859"/>
                    <a:gd name="connsiteY61" fmla="*/ 44371 h 44272"/>
                    <a:gd name="connsiteX62" fmla="*/ 108756 w 274859"/>
                    <a:gd name="connsiteY62" fmla="*/ 44371 h 44272"/>
                    <a:gd name="connsiteX63" fmla="*/ 108756 w 274859"/>
                    <a:gd name="connsiteY63" fmla="*/ 98 h 44272"/>
                    <a:gd name="connsiteX64" fmla="*/ 111892 w 274859"/>
                    <a:gd name="connsiteY64" fmla="*/ 98 h 44272"/>
                    <a:gd name="connsiteX65" fmla="*/ 121853 w 274859"/>
                    <a:gd name="connsiteY65" fmla="*/ 98 h 44272"/>
                    <a:gd name="connsiteX66" fmla="*/ 121853 w 274859"/>
                    <a:gd name="connsiteY66" fmla="*/ 44371 h 44272"/>
                    <a:gd name="connsiteX67" fmla="*/ 118533 w 274859"/>
                    <a:gd name="connsiteY67" fmla="*/ 44371 h 44272"/>
                    <a:gd name="connsiteX68" fmla="*/ 118533 w 274859"/>
                    <a:gd name="connsiteY68" fmla="*/ 98 h 44272"/>
                    <a:gd name="connsiteX69" fmla="*/ 121853 w 274859"/>
                    <a:gd name="connsiteY69" fmla="*/ 98 h 44272"/>
                    <a:gd name="connsiteX70" fmla="*/ 131630 w 274859"/>
                    <a:gd name="connsiteY70" fmla="*/ 98 h 44272"/>
                    <a:gd name="connsiteX71" fmla="*/ 131630 w 274859"/>
                    <a:gd name="connsiteY71" fmla="*/ 44371 h 44272"/>
                    <a:gd name="connsiteX72" fmla="*/ 128310 w 274859"/>
                    <a:gd name="connsiteY72" fmla="*/ 44371 h 44272"/>
                    <a:gd name="connsiteX73" fmla="*/ 128310 w 274859"/>
                    <a:gd name="connsiteY73" fmla="*/ 98 h 44272"/>
                    <a:gd name="connsiteX74" fmla="*/ 131630 w 274859"/>
                    <a:gd name="connsiteY74" fmla="*/ 98 h 44272"/>
                    <a:gd name="connsiteX75" fmla="*/ 139747 w 274859"/>
                    <a:gd name="connsiteY75" fmla="*/ 98 h 44272"/>
                    <a:gd name="connsiteX76" fmla="*/ 139747 w 274859"/>
                    <a:gd name="connsiteY76" fmla="*/ 44371 h 44272"/>
                    <a:gd name="connsiteX77" fmla="*/ 136426 w 274859"/>
                    <a:gd name="connsiteY77" fmla="*/ 44371 h 44272"/>
                    <a:gd name="connsiteX78" fmla="*/ 136426 w 274859"/>
                    <a:gd name="connsiteY78" fmla="*/ 98 h 44272"/>
                    <a:gd name="connsiteX79" fmla="*/ 139747 w 274859"/>
                    <a:gd name="connsiteY79" fmla="*/ 98 h 44272"/>
                    <a:gd name="connsiteX80" fmla="*/ 149524 w 274859"/>
                    <a:gd name="connsiteY80" fmla="*/ 98 h 44272"/>
                    <a:gd name="connsiteX81" fmla="*/ 149524 w 274859"/>
                    <a:gd name="connsiteY81" fmla="*/ 44371 h 44272"/>
                    <a:gd name="connsiteX82" fmla="*/ 146203 w 274859"/>
                    <a:gd name="connsiteY82" fmla="*/ 44371 h 44272"/>
                    <a:gd name="connsiteX83" fmla="*/ 146203 w 274859"/>
                    <a:gd name="connsiteY83" fmla="*/ 98 h 44272"/>
                    <a:gd name="connsiteX84" fmla="*/ 149524 w 274859"/>
                    <a:gd name="connsiteY84" fmla="*/ 98 h 44272"/>
                    <a:gd name="connsiteX85" fmla="*/ 157825 w 274859"/>
                    <a:gd name="connsiteY85" fmla="*/ 98 h 44272"/>
                    <a:gd name="connsiteX86" fmla="*/ 157825 w 274859"/>
                    <a:gd name="connsiteY86" fmla="*/ 44371 h 44272"/>
                    <a:gd name="connsiteX87" fmla="*/ 154504 w 274859"/>
                    <a:gd name="connsiteY87" fmla="*/ 44371 h 44272"/>
                    <a:gd name="connsiteX88" fmla="*/ 154504 w 274859"/>
                    <a:gd name="connsiteY88" fmla="*/ 98 h 44272"/>
                    <a:gd name="connsiteX89" fmla="*/ 157825 w 274859"/>
                    <a:gd name="connsiteY89" fmla="*/ 98 h 44272"/>
                    <a:gd name="connsiteX90" fmla="*/ 167602 w 274859"/>
                    <a:gd name="connsiteY90" fmla="*/ 98 h 44272"/>
                    <a:gd name="connsiteX91" fmla="*/ 167602 w 274859"/>
                    <a:gd name="connsiteY91" fmla="*/ 44371 h 44272"/>
                    <a:gd name="connsiteX92" fmla="*/ 164281 w 274859"/>
                    <a:gd name="connsiteY92" fmla="*/ 44371 h 44272"/>
                    <a:gd name="connsiteX93" fmla="*/ 164281 w 274859"/>
                    <a:gd name="connsiteY93" fmla="*/ 98 h 44272"/>
                    <a:gd name="connsiteX94" fmla="*/ 167602 w 274859"/>
                    <a:gd name="connsiteY94" fmla="*/ 98 h 44272"/>
                    <a:gd name="connsiteX95" fmla="*/ 175718 w 274859"/>
                    <a:gd name="connsiteY95" fmla="*/ 98 h 44272"/>
                    <a:gd name="connsiteX96" fmla="*/ 175718 w 274859"/>
                    <a:gd name="connsiteY96" fmla="*/ 44371 h 44272"/>
                    <a:gd name="connsiteX97" fmla="*/ 172398 w 274859"/>
                    <a:gd name="connsiteY97" fmla="*/ 44371 h 44272"/>
                    <a:gd name="connsiteX98" fmla="*/ 172398 w 274859"/>
                    <a:gd name="connsiteY98" fmla="*/ 98 h 44272"/>
                    <a:gd name="connsiteX99" fmla="*/ 175718 w 274859"/>
                    <a:gd name="connsiteY99" fmla="*/ 98 h 44272"/>
                    <a:gd name="connsiteX100" fmla="*/ 185495 w 274859"/>
                    <a:gd name="connsiteY100" fmla="*/ 98 h 44272"/>
                    <a:gd name="connsiteX101" fmla="*/ 185495 w 274859"/>
                    <a:gd name="connsiteY101" fmla="*/ 44371 h 44272"/>
                    <a:gd name="connsiteX102" fmla="*/ 182175 w 274859"/>
                    <a:gd name="connsiteY102" fmla="*/ 44371 h 44272"/>
                    <a:gd name="connsiteX103" fmla="*/ 182175 w 274859"/>
                    <a:gd name="connsiteY103" fmla="*/ 98 h 44272"/>
                    <a:gd name="connsiteX104" fmla="*/ 185495 w 274859"/>
                    <a:gd name="connsiteY104" fmla="*/ 98 h 44272"/>
                    <a:gd name="connsiteX105" fmla="*/ 193796 w 274859"/>
                    <a:gd name="connsiteY105" fmla="*/ 98 h 44272"/>
                    <a:gd name="connsiteX106" fmla="*/ 193796 w 274859"/>
                    <a:gd name="connsiteY106" fmla="*/ 44371 h 44272"/>
                    <a:gd name="connsiteX107" fmla="*/ 190476 w 274859"/>
                    <a:gd name="connsiteY107" fmla="*/ 44371 h 44272"/>
                    <a:gd name="connsiteX108" fmla="*/ 190476 w 274859"/>
                    <a:gd name="connsiteY108" fmla="*/ 98 h 44272"/>
                    <a:gd name="connsiteX109" fmla="*/ 193796 w 274859"/>
                    <a:gd name="connsiteY109" fmla="*/ 98 h 44272"/>
                    <a:gd name="connsiteX110" fmla="*/ 203573 w 274859"/>
                    <a:gd name="connsiteY110" fmla="*/ 98 h 44272"/>
                    <a:gd name="connsiteX111" fmla="*/ 203573 w 274859"/>
                    <a:gd name="connsiteY111" fmla="*/ 44371 h 44272"/>
                    <a:gd name="connsiteX112" fmla="*/ 200253 w 274859"/>
                    <a:gd name="connsiteY112" fmla="*/ 44371 h 44272"/>
                    <a:gd name="connsiteX113" fmla="*/ 200253 w 274859"/>
                    <a:gd name="connsiteY113" fmla="*/ 98 h 44272"/>
                    <a:gd name="connsiteX114" fmla="*/ 203573 w 274859"/>
                    <a:gd name="connsiteY114" fmla="*/ 98 h 44272"/>
                    <a:gd name="connsiteX115" fmla="*/ 211690 w 274859"/>
                    <a:gd name="connsiteY115" fmla="*/ 98 h 44272"/>
                    <a:gd name="connsiteX116" fmla="*/ 211690 w 274859"/>
                    <a:gd name="connsiteY116" fmla="*/ 44371 h 44272"/>
                    <a:gd name="connsiteX117" fmla="*/ 208369 w 274859"/>
                    <a:gd name="connsiteY117" fmla="*/ 44371 h 44272"/>
                    <a:gd name="connsiteX118" fmla="*/ 208369 w 274859"/>
                    <a:gd name="connsiteY118" fmla="*/ 98 h 44272"/>
                    <a:gd name="connsiteX119" fmla="*/ 211690 w 274859"/>
                    <a:gd name="connsiteY119" fmla="*/ 98 h 44272"/>
                    <a:gd name="connsiteX120" fmla="*/ 221651 w 274859"/>
                    <a:gd name="connsiteY120" fmla="*/ 98 h 44272"/>
                    <a:gd name="connsiteX121" fmla="*/ 221651 w 274859"/>
                    <a:gd name="connsiteY121" fmla="*/ 44371 h 44272"/>
                    <a:gd name="connsiteX122" fmla="*/ 218331 w 274859"/>
                    <a:gd name="connsiteY122" fmla="*/ 44371 h 44272"/>
                    <a:gd name="connsiteX123" fmla="*/ 218331 w 274859"/>
                    <a:gd name="connsiteY123" fmla="*/ 98 h 44272"/>
                    <a:gd name="connsiteX124" fmla="*/ 221651 w 274859"/>
                    <a:gd name="connsiteY124" fmla="*/ 98 h 44272"/>
                    <a:gd name="connsiteX125" fmla="*/ 229768 w 274859"/>
                    <a:gd name="connsiteY125" fmla="*/ 98 h 44272"/>
                    <a:gd name="connsiteX126" fmla="*/ 229768 w 274859"/>
                    <a:gd name="connsiteY126" fmla="*/ 44371 h 44272"/>
                    <a:gd name="connsiteX127" fmla="*/ 226447 w 274859"/>
                    <a:gd name="connsiteY127" fmla="*/ 44371 h 44272"/>
                    <a:gd name="connsiteX128" fmla="*/ 226447 w 274859"/>
                    <a:gd name="connsiteY128" fmla="*/ 98 h 44272"/>
                    <a:gd name="connsiteX129" fmla="*/ 229768 w 274859"/>
                    <a:gd name="connsiteY129" fmla="*/ 98 h 44272"/>
                    <a:gd name="connsiteX130" fmla="*/ 239545 w 274859"/>
                    <a:gd name="connsiteY130" fmla="*/ 98 h 44272"/>
                    <a:gd name="connsiteX131" fmla="*/ 239545 w 274859"/>
                    <a:gd name="connsiteY131" fmla="*/ 44371 h 44272"/>
                    <a:gd name="connsiteX132" fmla="*/ 236224 w 274859"/>
                    <a:gd name="connsiteY132" fmla="*/ 44371 h 44272"/>
                    <a:gd name="connsiteX133" fmla="*/ 236224 w 274859"/>
                    <a:gd name="connsiteY133" fmla="*/ 98 h 44272"/>
                    <a:gd name="connsiteX134" fmla="*/ 239545 w 274859"/>
                    <a:gd name="connsiteY134" fmla="*/ 98 h 44272"/>
                    <a:gd name="connsiteX135" fmla="*/ 249322 w 274859"/>
                    <a:gd name="connsiteY135" fmla="*/ 98 h 44272"/>
                    <a:gd name="connsiteX136" fmla="*/ 249322 w 274859"/>
                    <a:gd name="connsiteY136" fmla="*/ 44371 h 44272"/>
                    <a:gd name="connsiteX137" fmla="*/ 246001 w 274859"/>
                    <a:gd name="connsiteY137" fmla="*/ 44371 h 44272"/>
                    <a:gd name="connsiteX138" fmla="*/ 246001 w 274859"/>
                    <a:gd name="connsiteY138" fmla="*/ 98 h 44272"/>
                    <a:gd name="connsiteX139" fmla="*/ 249322 w 274859"/>
                    <a:gd name="connsiteY139" fmla="*/ 98 h 44272"/>
                    <a:gd name="connsiteX140" fmla="*/ 257623 w 274859"/>
                    <a:gd name="connsiteY140" fmla="*/ 98 h 44272"/>
                    <a:gd name="connsiteX141" fmla="*/ 257623 w 274859"/>
                    <a:gd name="connsiteY141" fmla="*/ 44371 h 44272"/>
                    <a:gd name="connsiteX142" fmla="*/ 254302 w 274859"/>
                    <a:gd name="connsiteY142" fmla="*/ 44371 h 44272"/>
                    <a:gd name="connsiteX143" fmla="*/ 254302 w 274859"/>
                    <a:gd name="connsiteY143" fmla="*/ 98 h 44272"/>
                    <a:gd name="connsiteX144" fmla="*/ 257623 w 274859"/>
                    <a:gd name="connsiteY144" fmla="*/ 98 h 44272"/>
                    <a:gd name="connsiteX145" fmla="*/ 267400 w 274859"/>
                    <a:gd name="connsiteY145" fmla="*/ 98 h 44272"/>
                    <a:gd name="connsiteX146" fmla="*/ 267400 w 274859"/>
                    <a:gd name="connsiteY146" fmla="*/ 44371 h 44272"/>
                    <a:gd name="connsiteX147" fmla="*/ 264079 w 274859"/>
                    <a:gd name="connsiteY147" fmla="*/ 44371 h 44272"/>
                    <a:gd name="connsiteX148" fmla="*/ 264079 w 274859"/>
                    <a:gd name="connsiteY148" fmla="*/ 98 h 44272"/>
                    <a:gd name="connsiteX149" fmla="*/ 267400 w 274859"/>
                    <a:gd name="connsiteY149" fmla="*/ 98 h 44272"/>
                    <a:gd name="connsiteX150" fmla="*/ 275516 w 274859"/>
                    <a:gd name="connsiteY150" fmla="*/ 98 h 44272"/>
                    <a:gd name="connsiteX151" fmla="*/ 275516 w 274859"/>
                    <a:gd name="connsiteY151" fmla="*/ 44371 h 44272"/>
                    <a:gd name="connsiteX152" fmla="*/ 272196 w 274859"/>
                    <a:gd name="connsiteY152" fmla="*/ 44371 h 44272"/>
                    <a:gd name="connsiteX153" fmla="*/ 272196 w 274859"/>
                    <a:gd name="connsiteY153" fmla="*/ 98 h 44272"/>
                    <a:gd name="connsiteX154" fmla="*/ 275516 w 274859"/>
                    <a:gd name="connsiteY154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274859" h="44272">
                      <a:moveTo>
                        <a:pt x="3977" y="98"/>
                      </a:moveTo>
                      <a:lnTo>
                        <a:pt x="3977" y="44371"/>
                      </a:lnTo>
                      <a:lnTo>
                        <a:pt x="657" y="44371"/>
                      </a:lnTo>
                      <a:lnTo>
                        <a:pt x="657" y="98"/>
                      </a:lnTo>
                      <a:lnTo>
                        <a:pt x="3977" y="98"/>
                      </a:lnTo>
                      <a:close/>
                      <a:moveTo>
                        <a:pt x="13754" y="98"/>
                      </a:moveTo>
                      <a:lnTo>
                        <a:pt x="13754" y="44371"/>
                      </a:lnTo>
                      <a:lnTo>
                        <a:pt x="10434" y="44371"/>
                      </a:lnTo>
                      <a:lnTo>
                        <a:pt x="10434" y="98"/>
                      </a:lnTo>
                      <a:lnTo>
                        <a:pt x="13754" y="98"/>
                      </a:lnTo>
                      <a:close/>
                      <a:moveTo>
                        <a:pt x="22055" y="98"/>
                      </a:moveTo>
                      <a:lnTo>
                        <a:pt x="22055" y="44371"/>
                      </a:lnTo>
                      <a:lnTo>
                        <a:pt x="18735" y="44371"/>
                      </a:lnTo>
                      <a:lnTo>
                        <a:pt x="18735" y="98"/>
                      </a:lnTo>
                      <a:lnTo>
                        <a:pt x="22055" y="98"/>
                      </a:lnTo>
                      <a:close/>
                      <a:moveTo>
                        <a:pt x="31832" y="98"/>
                      </a:moveTo>
                      <a:lnTo>
                        <a:pt x="31832" y="44371"/>
                      </a:lnTo>
                      <a:lnTo>
                        <a:pt x="28512" y="44371"/>
                      </a:lnTo>
                      <a:lnTo>
                        <a:pt x="28512" y="98"/>
                      </a:lnTo>
                      <a:lnTo>
                        <a:pt x="31832" y="98"/>
                      </a:lnTo>
                      <a:close/>
                      <a:moveTo>
                        <a:pt x="39949" y="98"/>
                      </a:moveTo>
                      <a:lnTo>
                        <a:pt x="39949" y="44371"/>
                      </a:lnTo>
                      <a:lnTo>
                        <a:pt x="36629" y="44371"/>
                      </a:lnTo>
                      <a:lnTo>
                        <a:pt x="36629" y="98"/>
                      </a:lnTo>
                      <a:lnTo>
                        <a:pt x="39949" y="98"/>
                      </a:lnTo>
                      <a:close/>
                      <a:moveTo>
                        <a:pt x="49726" y="98"/>
                      </a:moveTo>
                      <a:lnTo>
                        <a:pt x="49726" y="44371"/>
                      </a:lnTo>
                      <a:lnTo>
                        <a:pt x="46405" y="44371"/>
                      </a:lnTo>
                      <a:lnTo>
                        <a:pt x="46405" y="98"/>
                      </a:lnTo>
                      <a:lnTo>
                        <a:pt x="49726" y="98"/>
                      </a:lnTo>
                      <a:close/>
                      <a:moveTo>
                        <a:pt x="58027" y="98"/>
                      </a:moveTo>
                      <a:lnTo>
                        <a:pt x="58027" y="44371"/>
                      </a:lnTo>
                      <a:lnTo>
                        <a:pt x="54707" y="44371"/>
                      </a:lnTo>
                      <a:lnTo>
                        <a:pt x="54707" y="98"/>
                      </a:lnTo>
                      <a:lnTo>
                        <a:pt x="58027" y="98"/>
                      </a:lnTo>
                      <a:close/>
                      <a:moveTo>
                        <a:pt x="67804" y="98"/>
                      </a:moveTo>
                      <a:lnTo>
                        <a:pt x="67804" y="44371"/>
                      </a:lnTo>
                      <a:lnTo>
                        <a:pt x="64483" y="44371"/>
                      </a:lnTo>
                      <a:lnTo>
                        <a:pt x="64483" y="98"/>
                      </a:lnTo>
                      <a:lnTo>
                        <a:pt x="67804" y="98"/>
                      </a:lnTo>
                      <a:close/>
                      <a:moveTo>
                        <a:pt x="75920" y="98"/>
                      </a:moveTo>
                      <a:lnTo>
                        <a:pt x="75920" y="44371"/>
                      </a:lnTo>
                      <a:lnTo>
                        <a:pt x="72600" y="44371"/>
                      </a:lnTo>
                      <a:lnTo>
                        <a:pt x="72600" y="98"/>
                      </a:lnTo>
                      <a:lnTo>
                        <a:pt x="75920" y="98"/>
                      </a:lnTo>
                      <a:close/>
                      <a:moveTo>
                        <a:pt x="85697" y="98"/>
                      </a:moveTo>
                      <a:lnTo>
                        <a:pt x="85697" y="44371"/>
                      </a:lnTo>
                      <a:lnTo>
                        <a:pt x="82377" y="44371"/>
                      </a:lnTo>
                      <a:lnTo>
                        <a:pt x="82377" y="98"/>
                      </a:lnTo>
                      <a:lnTo>
                        <a:pt x="85697" y="98"/>
                      </a:lnTo>
                      <a:close/>
                      <a:moveTo>
                        <a:pt x="93998" y="98"/>
                      </a:moveTo>
                      <a:lnTo>
                        <a:pt x="93998" y="44371"/>
                      </a:lnTo>
                      <a:lnTo>
                        <a:pt x="90678" y="44371"/>
                      </a:lnTo>
                      <a:lnTo>
                        <a:pt x="90678" y="98"/>
                      </a:lnTo>
                      <a:lnTo>
                        <a:pt x="93998" y="98"/>
                      </a:lnTo>
                      <a:close/>
                      <a:moveTo>
                        <a:pt x="103775" y="98"/>
                      </a:moveTo>
                      <a:lnTo>
                        <a:pt x="103775" y="44371"/>
                      </a:lnTo>
                      <a:lnTo>
                        <a:pt x="100455" y="44371"/>
                      </a:lnTo>
                      <a:lnTo>
                        <a:pt x="100455" y="98"/>
                      </a:lnTo>
                      <a:lnTo>
                        <a:pt x="103775" y="98"/>
                      </a:lnTo>
                      <a:close/>
                      <a:moveTo>
                        <a:pt x="111892" y="98"/>
                      </a:moveTo>
                      <a:lnTo>
                        <a:pt x="111892" y="44371"/>
                      </a:lnTo>
                      <a:lnTo>
                        <a:pt x="108756" y="44371"/>
                      </a:lnTo>
                      <a:lnTo>
                        <a:pt x="108756" y="98"/>
                      </a:lnTo>
                      <a:lnTo>
                        <a:pt x="111892" y="98"/>
                      </a:lnTo>
                      <a:close/>
                      <a:moveTo>
                        <a:pt x="121853" y="98"/>
                      </a:moveTo>
                      <a:lnTo>
                        <a:pt x="121853" y="44371"/>
                      </a:lnTo>
                      <a:lnTo>
                        <a:pt x="118533" y="44371"/>
                      </a:lnTo>
                      <a:lnTo>
                        <a:pt x="118533" y="98"/>
                      </a:lnTo>
                      <a:lnTo>
                        <a:pt x="121853" y="98"/>
                      </a:lnTo>
                      <a:close/>
                      <a:moveTo>
                        <a:pt x="131630" y="98"/>
                      </a:moveTo>
                      <a:lnTo>
                        <a:pt x="131630" y="44371"/>
                      </a:lnTo>
                      <a:lnTo>
                        <a:pt x="128310" y="44371"/>
                      </a:lnTo>
                      <a:lnTo>
                        <a:pt x="128310" y="98"/>
                      </a:lnTo>
                      <a:lnTo>
                        <a:pt x="131630" y="98"/>
                      </a:lnTo>
                      <a:close/>
                      <a:moveTo>
                        <a:pt x="139747" y="98"/>
                      </a:moveTo>
                      <a:lnTo>
                        <a:pt x="139747" y="44371"/>
                      </a:lnTo>
                      <a:lnTo>
                        <a:pt x="136426" y="44371"/>
                      </a:lnTo>
                      <a:lnTo>
                        <a:pt x="136426" y="98"/>
                      </a:lnTo>
                      <a:lnTo>
                        <a:pt x="139747" y="98"/>
                      </a:lnTo>
                      <a:close/>
                      <a:moveTo>
                        <a:pt x="149524" y="98"/>
                      </a:moveTo>
                      <a:lnTo>
                        <a:pt x="149524" y="44371"/>
                      </a:lnTo>
                      <a:lnTo>
                        <a:pt x="146203" y="44371"/>
                      </a:lnTo>
                      <a:lnTo>
                        <a:pt x="146203" y="98"/>
                      </a:lnTo>
                      <a:lnTo>
                        <a:pt x="149524" y="98"/>
                      </a:lnTo>
                      <a:close/>
                      <a:moveTo>
                        <a:pt x="157825" y="98"/>
                      </a:moveTo>
                      <a:lnTo>
                        <a:pt x="157825" y="44371"/>
                      </a:lnTo>
                      <a:lnTo>
                        <a:pt x="154504" y="44371"/>
                      </a:lnTo>
                      <a:lnTo>
                        <a:pt x="154504" y="98"/>
                      </a:lnTo>
                      <a:lnTo>
                        <a:pt x="157825" y="98"/>
                      </a:lnTo>
                      <a:close/>
                      <a:moveTo>
                        <a:pt x="167602" y="98"/>
                      </a:moveTo>
                      <a:lnTo>
                        <a:pt x="167602" y="44371"/>
                      </a:lnTo>
                      <a:lnTo>
                        <a:pt x="164281" y="44371"/>
                      </a:lnTo>
                      <a:lnTo>
                        <a:pt x="164281" y="98"/>
                      </a:lnTo>
                      <a:lnTo>
                        <a:pt x="167602" y="98"/>
                      </a:lnTo>
                      <a:close/>
                      <a:moveTo>
                        <a:pt x="175718" y="98"/>
                      </a:moveTo>
                      <a:lnTo>
                        <a:pt x="175718" y="44371"/>
                      </a:lnTo>
                      <a:lnTo>
                        <a:pt x="172398" y="44371"/>
                      </a:lnTo>
                      <a:lnTo>
                        <a:pt x="172398" y="98"/>
                      </a:lnTo>
                      <a:lnTo>
                        <a:pt x="175718" y="98"/>
                      </a:lnTo>
                      <a:close/>
                      <a:moveTo>
                        <a:pt x="185495" y="98"/>
                      </a:moveTo>
                      <a:lnTo>
                        <a:pt x="185495" y="44371"/>
                      </a:lnTo>
                      <a:lnTo>
                        <a:pt x="182175" y="44371"/>
                      </a:lnTo>
                      <a:lnTo>
                        <a:pt x="182175" y="98"/>
                      </a:lnTo>
                      <a:lnTo>
                        <a:pt x="185495" y="98"/>
                      </a:lnTo>
                      <a:close/>
                      <a:moveTo>
                        <a:pt x="193796" y="98"/>
                      </a:moveTo>
                      <a:lnTo>
                        <a:pt x="193796" y="44371"/>
                      </a:lnTo>
                      <a:lnTo>
                        <a:pt x="190476" y="44371"/>
                      </a:lnTo>
                      <a:lnTo>
                        <a:pt x="190476" y="98"/>
                      </a:lnTo>
                      <a:lnTo>
                        <a:pt x="193796" y="98"/>
                      </a:lnTo>
                      <a:close/>
                      <a:moveTo>
                        <a:pt x="203573" y="98"/>
                      </a:moveTo>
                      <a:lnTo>
                        <a:pt x="203573" y="44371"/>
                      </a:lnTo>
                      <a:lnTo>
                        <a:pt x="200253" y="44371"/>
                      </a:lnTo>
                      <a:lnTo>
                        <a:pt x="200253" y="98"/>
                      </a:lnTo>
                      <a:lnTo>
                        <a:pt x="203573" y="98"/>
                      </a:lnTo>
                      <a:close/>
                      <a:moveTo>
                        <a:pt x="211690" y="98"/>
                      </a:moveTo>
                      <a:lnTo>
                        <a:pt x="211690" y="44371"/>
                      </a:lnTo>
                      <a:lnTo>
                        <a:pt x="208369" y="44371"/>
                      </a:lnTo>
                      <a:lnTo>
                        <a:pt x="208369" y="98"/>
                      </a:lnTo>
                      <a:lnTo>
                        <a:pt x="211690" y="98"/>
                      </a:lnTo>
                      <a:close/>
                      <a:moveTo>
                        <a:pt x="221651" y="98"/>
                      </a:moveTo>
                      <a:lnTo>
                        <a:pt x="221651" y="44371"/>
                      </a:lnTo>
                      <a:lnTo>
                        <a:pt x="218331" y="44371"/>
                      </a:lnTo>
                      <a:lnTo>
                        <a:pt x="218331" y="98"/>
                      </a:lnTo>
                      <a:lnTo>
                        <a:pt x="221651" y="98"/>
                      </a:lnTo>
                      <a:close/>
                      <a:moveTo>
                        <a:pt x="229768" y="98"/>
                      </a:moveTo>
                      <a:lnTo>
                        <a:pt x="229768" y="44371"/>
                      </a:lnTo>
                      <a:lnTo>
                        <a:pt x="226447" y="44371"/>
                      </a:lnTo>
                      <a:lnTo>
                        <a:pt x="226447" y="98"/>
                      </a:lnTo>
                      <a:lnTo>
                        <a:pt x="229768" y="98"/>
                      </a:lnTo>
                      <a:close/>
                      <a:moveTo>
                        <a:pt x="239545" y="98"/>
                      </a:moveTo>
                      <a:lnTo>
                        <a:pt x="239545" y="44371"/>
                      </a:lnTo>
                      <a:lnTo>
                        <a:pt x="236224" y="44371"/>
                      </a:lnTo>
                      <a:lnTo>
                        <a:pt x="236224" y="98"/>
                      </a:lnTo>
                      <a:lnTo>
                        <a:pt x="239545" y="98"/>
                      </a:lnTo>
                      <a:close/>
                      <a:moveTo>
                        <a:pt x="249322" y="98"/>
                      </a:moveTo>
                      <a:lnTo>
                        <a:pt x="249322" y="44371"/>
                      </a:lnTo>
                      <a:lnTo>
                        <a:pt x="246001" y="44371"/>
                      </a:lnTo>
                      <a:lnTo>
                        <a:pt x="246001" y="98"/>
                      </a:lnTo>
                      <a:lnTo>
                        <a:pt x="249322" y="98"/>
                      </a:lnTo>
                      <a:close/>
                      <a:moveTo>
                        <a:pt x="257623" y="98"/>
                      </a:moveTo>
                      <a:lnTo>
                        <a:pt x="257623" y="44371"/>
                      </a:lnTo>
                      <a:lnTo>
                        <a:pt x="254302" y="44371"/>
                      </a:lnTo>
                      <a:lnTo>
                        <a:pt x="254302" y="98"/>
                      </a:lnTo>
                      <a:lnTo>
                        <a:pt x="257623" y="98"/>
                      </a:lnTo>
                      <a:close/>
                      <a:moveTo>
                        <a:pt x="267400" y="98"/>
                      </a:moveTo>
                      <a:lnTo>
                        <a:pt x="267400" y="44371"/>
                      </a:lnTo>
                      <a:lnTo>
                        <a:pt x="264079" y="44371"/>
                      </a:lnTo>
                      <a:lnTo>
                        <a:pt x="264079" y="98"/>
                      </a:lnTo>
                      <a:lnTo>
                        <a:pt x="267400" y="98"/>
                      </a:lnTo>
                      <a:close/>
                      <a:moveTo>
                        <a:pt x="275516" y="98"/>
                      </a:moveTo>
                      <a:lnTo>
                        <a:pt x="275516" y="44371"/>
                      </a:lnTo>
                      <a:lnTo>
                        <a:pt x="272196" y="44371"/>
                      </a:lnTo>
                      <a:lnTo>
                        <a:pt x="272196" y="98"/>
                      </a:lnTo>
                      <a:lnTo>
                        <a:pt x="275516" y="98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82951AA-886B-4B29-9713-9B409D460B5F}"/>
                    </a:ext>
                  </a:extLst>
                </p:cNvPr>
                <p:cNvSpPr/>
                <p:nvPr/>
              </p:nvSpPr>
              <p:spPr>
                <a:xfrm>
                  <a:off x="5953036" y="1311078"/>
                  <a:ext cx="287772" cy="44272"/>
                </a:xfrm>
                <a:custGeom>
                  <a:avLst/>
                  <a:gdLst>
                    <a:gd name="connsiteX0" fmla="*/ 22793 w 287772"/>
                    <a:gd name="connsiteY0" fmla="*/ 98 h 44272"/>
                    <a:gd name="connsiteX1" fmla="*/ 266293 w 287772"/>
                    <a:gd name="connsiteY1" fmla="*/ 98 h 44272"/>
                    <a:gd name="connsiteX2" fmla="*/ 288429 w 287772"/>
                    <a:gd name="connsiteY2" fmla="*/ 22234 h 44272"/>
                    <a:gd name="connsiteX3" fmla="*/ 288429 w 287772"/>
                    <a:gd name="connsiteY3" fmla="*/ 22234 h 44272"/>
                    <a:gd name="connsiteX4" fmla="*/ 266293 w 287772"/>
                    <a:gd name="connsiteY4" fmla="*/ 44371 h 44272"/>
                    <a:gd name="connsiteX5" fmla="*/ 22793 w 287772"/>
                    <a:gd name="connsiteY5" fmla="*/ 44371 h 44272"/>
                    <a:gd name="connsiteX6" fmla="*/ 657 w 287772"/>
                    <a:gd name="connsiteY6" fmla="*/ 22234 h 44272"/>
                    <a:gd name="connsiteX7" fmla="*/ 657 w 287772"/>
                    <a:gd name="connsiteY7" fmla="*/ 22234 h 44272"/>
                    <a:gd name="connsiteX8" fmla="*/ 22793 w 287772"/>
                    <a:gd name="connsiteY8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7772" h="44272">
                      <a:moveTo>
                        <a:pt x="22793" y="98"/>
                      </a:moveTo>
                      <a:lnTo>
                        <a:pt x="266293" y="98"/>
                      </a:lnTo>
                      <a:cubicBezTo>
                        <a:pt x="278468" y="98"/>
                        <a:pt x="288429" y="10059"/>
                        <a:pt x="288429" y="22234"/>
                      </a:cubicBezTo>
                      <a:lnTo>
                        <a:pt x="288429" y="22234"/>
                      </a:lnTo>
                      <a:cubicBezTo>
                        <a:pt x="288429" y="34409"/>
                        <a:pt x="278468" y="44371"/>
                        <a:pt x="266293" y="44371"/>
                      </a:cubicBezTo>
                      <a:lnTo>
                        <a:pt x="22793" y="44371"/>
                      </a:lnTo>
                      <a:cubicBezTo>
                        <a:pt x="10618" y="44371"/>
                        <a:pt x="657" y="34409"/>
                        <a:pt x="657" y="22234"/>
                      </a:cubicBezTo>
                      <a:lnTo>
                        <a:pt x="657" y="22234"/>
                      </a:lnTo>
                      <a:cubicBezTo>
                        <a:pt x="657" y="10059"/>
                        <a:pt x="10618" y="98"/>
                        <a:pt x="22793" y="98"/>
                      </a:cubicBezTo>
                      <a:close/>
                    </a:path>
                  </a:pathLst>
                </a:custGeom>
                <a:solidFill>
                  <a:srgbClr val="000000">
                    <a:alpha val="4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B49AC77B-EB99-4872-BB40-2946948D7539}"/>
                    </a:ext>
                  </a:extLst>
                </p:cNvPr>
                <p:cNvGrpSpPr/>
                <p:nvPr/>
              </p:nvGrpSpPr>
              <p:grpSpPr>
                <a:xfrm>
                  <a:off x="6312751" y="1290787"/>
                  <a:ext cx="77477" cy="77477"/>
                  <a:chOff x="6312751" y="1290787"/>
                  <a:chExt cx="77477" cy="77477"/>
                </a:xfrm>
              </p:grpSpPr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B56532BA-25E0-45A2-95DC-1C735DCE1F0A}"/>
                      </a:ext>
                    </a:extLst>
                  </p:cNvPr>
                  <p:cNvSpPr/>
                  <p:nvPr/>
                </p:nvSpPr>
                <p:spPr>
                  <a:xfrm>
                    <a:off x="6312751" y="1290787"/>
                    <a:ext cx="77477" cy="77477"/>
                  </a:xfrm>
                  <a:custGeom>
                    <a:avLst/>
                    <a:gdLst>
                      <a:gd name="connsiteX0" fmla="*/ 78329 w 77477"/>
                      <a:gd name="connsiteY0" fmla="*/ 38826 h 77477"/>
                      <a:gd name="connsiteX1" fmla="*/ 39591 w 77477"/>
                      <a:gd name="connsiteY1" fmla="*/ 77564 h 77477"/>
                      <a:gd name="connsiteX2" fmla="*/ 852 w 77477"/>
                      <a:gd name="connsiteY2" fmla="*/ 38826 h 77477"/>
                      <a:gd name="connsiteX3" fmla="*/ 39591 w 77477"/>
                      <a:gd name="connsiteY3" fmla="*/ 87 h 77477"/>
                      <a:gd name="connsiteX4" fmla="*/ 78329 w 77477"/>
                      <a:gd name="connsiteY4" fmla="*/ 38826 h 774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7477" h="77477">
                        <a:moveTo>
                          <a:pt x="78329" y="38826"/>
                        </a:moveTo>
                        <a:cubicBezTo>
                          <a:pt x="78329" y="60220"/>
                          <a:pt x="60985" y="77564"/>
                          <a:pt x="39591" y="77564"/>
                        </a:cubicBezTo>
                        <a:cubicBezTo>
                          <a:pt x="18196" y="77564"/>
                          <a:pt x="852" y="60220"/>
                          <a:pt x="852" y="38826"/>
                        </a:cubicBezTo>
                        <a:cubicBezTo>
                          <a:pt x="852" y="17431"/>
                          <a:pt x="18196" y="87"/>
                          <a:pt x="39591" y="87"/>
                        </a:cubicBezTo>
                        <a:cubicBezTo>
                          <a:pt x="60985" y="87"/>
                          <a:pt x="78329" y="17431"/>
                          <a:pt x="78329" y="38826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36D35815-BE71-4B48-B691-89DFBFF24EC3}"/>
                      </a:ext>
                    </a:extLst>
                  </p:cNvPr>
                  <p:cNvGrpSpPr/>
                  <p:nvPr/>
                </p:nvGrpSpPr>
                <p:grpSpPr>
                  <a:xfrm>
                    <a:off x="6331198" y="1309234"/>
                    <a:ext cx="40583" cy="40583"/>
                    <a:chOff x="6331198" y="1309234"/>
                    <a:chExt cx="40583" cy="40583"/>
                  </a:xfrm>
                </p:grpSpPr>
                <p:sp>
                  <p:nvSpPr>
                    <p:cNvPr id="33" name="Freeform: Shape 32">
                      <a:extLst>
                        <a:ext uri="{FF2B5EF4-FFF2-40B4-BE49-F238E27FC236}">
                          <a16:creationId xmlns:a16="http://schemas.microsoft.com/office/drawing/2014/main" id="{3C7A0E03-7DF9-49B0-9F48-A7CD6D1F76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31198" y="1309234"/>
                      <a:ext cx="40583" cy="40583"/>
                    </a:xfrm>
                    <a:custGeom>
                      <a:avLst/>
                      <a:gdLst>
                        <a:gd name="connsiteX0" fmla="*/ 41435 w 40583"/>
                        <a:gd name="connsiteY0" fmla="*/ 20379 h 40583"/>
                        <a:gd name="connsiteX1" fmla="*/ 21144 w 40583"/>
                        <a:gd name="connsiteY1" fmla="*/ 40670 h 40583"/>
                        <a:gd name="connsiteX2" fmla="*/ 852 w 40583"/>
                        <a:gd name="connsiteY2" fmla="*/ 20379 h 40583"/>
                        <a:gd name="connsiteX3" fmla="*/ 21144 w 40583"/>
                        <a:gd name="connsiteY3" fmla="*/ 87 h 40583"/>
                        <a:gd name="connsiteX4" fmla="*/ 41435 w 40583"/>
                        <a:gd name="connsiteY4" fmla="*/ 20379 h 40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583" h="40583">
                          <a:moveTo>
                            <a:pt x="41435" y="20379"/>
                          </a:moveTo>
                          <a:cubicBezTo>
                            <a:pt x="41435" y="31585"/>
                            <a:pt x="32350" y="40670"/>
                            <a:pt x="21144" y="40670"/>
                          </a:cubicBezTo>
                          <a:cubicBezTo>
                            <a:pt x="9937" y="40670"/>
                            <a:pt x="852" y="31585"/>
                            <a:pt x="852" y="20379"/>
                          </a:cubicBezTo>
                          <a:cubicBezTo>
                            <a:pt x="852" y="9172"/>
                            <a:pt x="9937" y="87"/>
                            <a:pt x="21144" y="87"/>
                          </a:cubicBezTo>
                          <a:cubicBezTo>
                            <a:pt x="32350" y="87"/>
                            <a:pt x="41435" y="9172"/>
                            <a:pt x="41435" y="203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4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" name="Freeform: Shape 33">
                      <a:extLst>
                        <a:ext uri="{FF2B5EF4-FFF2-40B4-BE49-F238E27FC236}">
                          <a16:creationId xmlns:a16="http://schemas.microsoft.com/office/drawing/2014/main" id="{F8D1BA74-A441-444F-8BA7-9438F7AEB8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31198" y="1309234"/>
                      <a:ext cx="40583" cy="40583"/>
                    </a:xfrm>
                    <a:custGeom>
                      <a:avLst/>
                      <a:gdLst>
                        <a:gd name="connsiteX0" fmla="*/ 41435 w 40583"/>
                        <a:gd name="connsiteY0" fmla="*/ 20379 h 40583"/>
                        <a:gd name="connsiteX1" fmla="*/ 21144 w 40583"/>
                        <a:gd name="connsiteY1" fmla="*/ 40670 h 40583"/>
                        <a:gd name="connsiteX2" fmla="*/ 852 w 40583"/>
                        <a:gd name="connsiteY2" fmla="*/ 20379 h 40583"/>
                        <a:gd name="connsiteX3" fmla="*/ 21144 w 40583"/>
                        <a:gd name="connsiteY3" fmla="*/ 87 h 40583"/>
                        <a:gd name="connsiteX4" fmla="*/ 41435 w 40583"/>
                        <a:gd name="connsiteY4" fmla="*/ 20379 h 40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583" h="40583">
                          <a:moveTo>
                            <a:pt x="41435" y="20379"/>
                          </a:moveTo>
                          <a:cubicBezTo>
                            <a:pt x="41435" y="31585"/>
                            <a:pt x="32350" y="40670"/>
                            <a:pt x="21144" y="40670"/>
                          </a:cubicBezTo>
                          <a:cubicBezTo>
                            <a:pt x="9937" y="40670"/>
                            <a:pt x="852" y="31585"/>
                            <a:pt x="852" y="20379"/>
                          </a:cubicBezTo>
                          <a:cubicBezTo>
                            <a:pt x="852" y="9172"/>
                            <a:pt x="9937" y="87"/>
                            <a:pt x="21144" y="87"/>
                          </a:cubicBezTo>
                          <a:cubicBezTo>
                            <a:pt x="32350" y="87"/>
                            <a:pt x="41435" y="9172"/>
                            <a:pt x="41435" y="20379"/>
                          </a:cubicBezTo>
                          <a:close/>
                        </a:path>
                      </a:pathLst>
                    </a:custGeom>
                    <a:solidFill>
                      <a:srgbClr val="2A4893"/>
                    </a:solidFill>
                    <a:ln w="184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923F97CF-00A4-4EEC-BE01-317AB947095D}"/>
                      </a:ext>
                    </a:extLst>
                  </p:cNvPr>
                  <p:cNvSpPr/>
                  <p:nvPr/>
                </p:nvSpPr>
                <p:spPr>
                  <a:xfrm>
                    <a:off x="6328425" y="1309261"/>
                    <a:ext cx="13877" cy="33223"/>
                  </a:xfrm>
                  <a:custGeom>
                    <a:avLst/>
                    <a:gdLst>
                      <a:gd name="connsiteX0" fmla="*/ 10266 w 13877"/>
                      <a:gd name="connsiteY0" fmla="*/ 14079 h 33223"/>
                      <a:gd name="connsiteX1" fmla="*/ 13402 w 13877"/>
                      <a:gd name="connsiteY1" fmla="*/ 428 h 33223"/>
                      <a:gd name="connsiteX2" fmla="*/ 3072 w 13877"/>
                      <a:gd name="connsiteY2" fmla="*/ 13157 h 33223"/>
                      <a:gd name="connsiteX3" fmla="*/ 7499 w 13877"/>
                      <a:gd name="connsiteY3" fmla="*/ 33264 h 33223"/>
                      <a:gd name="connsiteX4" fmla="*/ 10266 w 13877"/>
                      <a:gd name="connsiteY4" fmla="*/ 14079 h 33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877" h="33223">
                        <a:moveTo>
                          <a:pt x="10266" y="14079"/>
                        </a:moveTo>
                        <a:cubicBezTo>
                          <a:pt x="12111" y="6885"/>
                          <a:pt x="17092" y="1351"/>
                          <a:pt x="13402" y="428"/>
                        </a:cubicBezTo>
                        <a:cubicBezTo>
                          <a:pt x="9713" y="-494"/>
                          <a:pt x="8606" y="-494"/>
                          <a:pt x="3072" y="13157"/>
                        </a:cubicBezTo>
                        <a:cubicBezTo>
                          <a:pt x="-2462" y="26807"/>
                          <a:pt x="3626" y="32342"/>
                          <a:pt x="7499" y="33264"/>
                        </a:cubicBezTo>
                        <a:cubicBezTo>
                          <a:pt x="11373" y="34186"/>
                          <a:pt x="8422" y="21273"/>
                          <a:pt x="10266" y="14079"/>
                        </a:cubicBezTo>
                        <a:close/>
                      </a:path>
                    </a:pathLst>
                  </a:custGeom>
                  <a:solidFill>
                    <a:srgbClr val="3E89CC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4FDFFFE8-7AF1-45DA-9F9D-CCD9B1D1CF82}"/>
                      </a:ext>
                    </a:extLst>
                  </p:cNvPr>
                  <p:cNvSpPr/>
                  <p:nvPr/>
                </p:nvSpPr>
                <p:spPr>
                  <a:xfrm>
                    <a:off x="6355179" y="1309234"/>
                    <a:ext cx="23981" cy="31359"/>
                  </a:xfrm>
                  <a:custGeom>
                    <a:avLst/>
                    <a:gdLst>
                      <a:gd name="connsiteX0" fmla="*/ 24833 w 23981"/>
                      <a:gd name="connsiteY0" fmla="*/ 15767 h 31359"/>
                      <a:gd name="connsiteX1" fmla="*/ 12843 w 23981"/>
                      <a:gd name="connsiteY1" fmla="*/ 31447 h 31359"/>
                      <a:gd name="connsiteX2" fmla="*/ 852 w 23981"/>
                      <a:gd name="connsiteY2" fmla="*/ 15767 h 31359"/>
                      <a:gd name="connsiteX3" fmla="*/ 12843 w 23981"/>
                      <a:gd name="connsiteY3" fmla="*/ 87 h 31359"/>
                      <a:gd name="connsiteX4" fmla="*/ 24833 w 23981"/>
                      <a:gd name="connsiteY4" fmla="*/ 15767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81" h="31359">
                        <a:moveTo>
                          <a:pt x="24833" y="15767"/>
                        </a:moveTo>
                        <a:cubicBezTo>
                          <a:pt x="24833" y="24427"/>
                          <a:pt x="19465" y="31447"/>
                          <a:pt x="12843" y="31447"/>
                        </a:cubicBezTo>
                        <a:cubicBezTo>
                          <a:pt x="6220" y="31447"/>
                          <a:pt x="852" y="24427"/>
                          <a:pt x="852" y="15767"/>
                        </a:cubicBezTo>
                        <a:cubicBezTo>
                          <a:pt x="852" y="7107"/>
                          <a:pt x="6220" y="87"/>
                          <a:pt x="12843" y="87"/>
                        </a:cubicBezTo>
                        <a:cubicBezTo>
                          <a:pt x="19465" y="87"/>
                          <a:pt x="24833" y="7107"/>
                          <a:pt x="24833" y="15767"/>
                        </a:cubicBezTo>
                        <a:close/>
                      </a:path>
                    </a:pathLst>
                  </a:custGeom>
                  <a:solidFill>
                    <a:srgbClr val="1C5894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F1376EBA-7068-4ED3-B0DC-AC1C698FB128}"/>
                      </a:ext>
                    </a:extLst>
                  </p:cNvPr>
                  <p:cNvSpPr/>
                  <p:nvPr/>
                </p:nvSpPr>
                <p:spPr>
                  <a:xfrm rot="-959840">
                    <a:off x="6337479" y="1334149"/>
                    <a:ext cx="36156" cy="23612"/>
                  </a:xfrm>
                  <a:custGeom>
                    <a:avLst/>
                    <a:gdLst>
                      <a:gd name="connsiteX0" fmla="*/ 37009 w 36156"/>
                      <a:gd name="connsiteY0" fmla="*/ 11893 h 23612"/>
                      <a:gd name="connsiteX1" fmla="*/ 18930 w 36156"/>
                      <a:gd name="connsiteY1" fmla="*/ 23700 h 23612"/>
                      <a:gd name="connsiteX2" fmla="*/ 852 w 36156"/>
                      <a:gd name="connsiteY2" fmla="*/ 11893 h 23612"/>
                      <a:gd name="connsiteX3" fmla="*/ 18930 w 36156"/>
                      <a:gd name="connsiteY3" fmla="*/ 87 h 23612"/>
                      <a:gd name="connsiteX4" fmla="*/ 37009 w 36156"/>
                      <a:gd name="connsiteY4" fmla="*/ 11893 h 236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156" h="23612">
                        <a:moveTo>
                          <a:pt x="37009" y="11893"/>
                        </a:moveTo>
                        <a:cubicBezTo>
                          <a:pt x="37009" y="18414"/>
                          <a:pt x="28915" y="23700"/>
                          <a:pt x="18930" y="23700"/>
                        </a:cubicBezTo>
                        <a:cubicBezTo>
                          <a:pt x="8946" y="23700"/>
                          <a:pt x="852" y="18414"/>
                          <a:pt x="852" y="11893"/>
                        </a:cubicBezTo>
                        <a:cubicBezTo>
                          <a:pt x="852" y="5373"/>
                          <a:pt x="8946" y="87"/>
                          <a:pt x="18930" y="87"/>
                        </a:cubicBezTo>
                        <a:cubicBezTo>
                          <a:pt x="28915" y="87"/>
                          <a:pt x="37009" y="5373"/>
                          <a:pt x="37009" y="11893"/>
                        </a:cubicBezTo>
                        <a:close/>
                      </a:path>
                    </a:pathLst>
                  </a:custGeom>
                  <a:solidFill>
                    <a:srgbClr val="0A152B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617E552-B0D8-44A3-9D6C-1C4D98853C53}"/>
                    </a:ext>
                  </a:extLst>
                </p:cNvPr>
                <p:cNvSpPr/>
                <p:nvPr/>
              </p:nvSpPr>
              <p:spPr>
                <a:xfrm>
                  <a:off x="4120979" y="6276559"/>
                  <a:ext cx="3950043" cy="206381"/>
                </a:xfrm>
                <a:prstGeom prst="ellipse">
                  <a:avLst/>
                </a:prstGeom>
                <a:solidFill>
                  <a:schemeClr val="tx1">
                    <a:lumMod val="90000"/>
                    <a:lumOff val="10000"/>
                    <a:alpha val="50000"/>
                  </a:schemeClr>
                </a:solidFill>
                <a:ln>
                  <a:noFill/>
                </a:ln>
                <a:effectLst>
                  <a:softEdge rad="762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81F87F7F-8BB2-40FD-B319-6E82FA584A35}"/>
                  </a:ext>
                </a:extLst>
              </p:cNvPr>
              <p:cNvSpPr/>
              <p:nvPr/>
            </p:nvSpPr>
            <p:spPr>
              <a:xfrm>
                <a:off x="4951553" y="1274185"/>
                <a:ext cx="2290370" cy="4958166"/>
              </a:xfrm>
              <a:custGeom>
                <a:avLst/>
                <a:gdLst>
                  <a:gd name="connsiteX0" fmla="*/ 531201 w 2290370"/>
                  <a:gd name="connsiteY0" fmla="*/ 78 h 4958166"/>
                  <a:gd name="connsiteX1" fmla="*/ 564406 w 2290370"/>
                  <a:gd name="connsiteY1" fmla="*/ 33282 h 4958166"/>
                  <a:gd name="connsiteX2" fmla="*/ 580639 w 2290370"/>
                  <a:gd name="connsiteY2" fmla="*/ 107439 h 4958166"/>
                  <a:gd name="connsiteX3" fmla="*/ 626572 w 2290370"/>
                  <a:gd name="connsiteY3" fmla="*/ 153372 h 4958166"/>
                  <a:gd name="connsiteX4" fmla="*/ 711981 w 2290370"/>
                  <a:gd name="connsiteY4" fmla="*/ 169605 h 4958166"/>
                  <a:gd name="connsiteX5" fmla="*/ 711981 w 2290370"/>
                  <a:gd name="connsiteY5" fmla="*/ 169605 h 4958166"/>
                  <a:gd name="connsiteX6" fmla="*/ 1578618 w 2290370"/>
                  <a:gd name="connsiteY6" fmla="*/ 169605 h 4958166"/>
                  <a:gd name="connsiteX7" fmla="*/ 1664027 w 2290370"/>
                  <a:gd name="connsiteY7" fmla="*/ 153372 h 4958166"/>
                  <a:gd name="connsiteX8" fmla="*/ 1709960 w 2290370"/>
                  <a:gd name="connsiteY8" fmla="*/ 107439 h 4958166"/>
                  <a:gd name="connsiteX9" fmla="*/ 1726193 w 2290370"/>
                  <a:gd name="connsiteY9" fmla="*/ 33282 h 4958166"/>
                  <a:gd name="connsiteX10" fmla="*/ 1759398 w 2290370"/>
                  <a:gd name="connsiteY10" fmla="*/ 78 h 4958166"/>
                  <a:gd name="connsiteX11" fmla="*/ 1759398 w 2290370"/>
                  <a:gd name="connsiteY11" fmla="*/ 78 h 4958166"/>
                  <a:gd name="connsiteX12" fmla="*/ 2013965 w 2290370"/>
                  <a:gd name="connsiteY12" fmla="*/ 78 h 4958166"/>
                  <a:gd name="connsiteX13" fmla="*/ 2180172 w 2290370"/>
                  <a:gd name="connsiteY13" fmla="*/ 28855 h 4958166"/>
                  <a:gd name="connsiteX14" fmla="*/ 2261708 w 2290370"/>
                  <a:gd name="connsiteY14" fmla="*/ 110391 h 4958166"/>
                  <a:gd name="connsiteX15" fmla="*/ 2290485 w 2290370"/>
                  <a:gd name="connsiteY15" fmla="*/ 276597 h 4958166"/>
                  <a:gd name="connsiteX16" fmla="*/ 2290485 w 2290370"/>
                  <a:gd name="connsiteY16" fmla="*/ 4681725 h 4958166"/>
                  <a:gd name="connsiteX17" fmla="*/ 2261708 w 2290370"/>
                  <a:gd name="connsiteY17" fmla="*/ 4847932 h 4958166"/>
                  <a:gd name="connsiteX18" fmla="*/ 2180172 w 2290370"/>
                  <a:gd name="connsiteY18" fmla="*/ 4929467 h 4958166"/>
                  <a:gd name="connsiteX19" fmla="*/ 2013965 w 2290370"/>
                  <a:gd name="connsiteY19" fmla="*/ 4958244 h 4958166"/>
                  <a:gd name="connsiteX20" fmla="*/ 276633 w 2290370"/>
                  <a:gd name="connsiteY20" fmla="*/ 4958244 h 4958166"/>
                  <a:gd name="connsiteX21" fmla="*/ 110427 w 2290370"/>
                  <a:gd name="connsiteY21" fmla="*/ 4929467 h 4958166"/>
                  <a:gd name="connsiteX22" fmla="*/ 28891 w 2290370"/>
                  <a:gd name="connsiteY22" fmla="*/ 4847932 h 4958166"/>
                  <a:gd name="connsiteX23" fmla="*/ 114 w 2290370"/>
                  <a:gd name="connsiteY23" fmla="*/ 4681725 h 4958166"/>
                  <a:gd name="connsiteX24" fmla="*/ 114 w 2290370"/>
                  <a:gd name="connsiteY24" fmla="*/ 276782 h 4958166"/>
                  <a:gd name="connsiteX25" fmla="*/ 28891 w 2290370"/>
                  <a:gd name="connsiteY25" fmla="*/ 110575 h 4958166"/>
                  <a:gd name="connsiteX26" fmla="*/ 110427 w 2290370"/>
                  <a:gd name="connsiteY26" fmla="*/ 29040 h 4958166"/>
                  <a:gd name="connsiteX27" fmla="*/ 276633 w 2290370"/>
                  <a:gd name="connsiteY27" fmla="*/ 78 h 4958166"/>
                  <a:gd name="connsiteX28" fmla="*/ 531201 w 2290370"/>
                  <a:gd name="connsiteY28" fmla="*/ 78 h 4958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290370" h="4958166">
                    <a:moveTo>
                      <a:pt x="531201" y="78"/>
                    </a:moveTo>
                    <a:cubicBezTo>
                      <a:pt x="549464" y="78"/>
                      <a:pt x="563852" y="15020"/>
                      <a:pt x="564406" y="33282"/>
                    </a:cubicBezTo>
                    <a:cubicBezTo>
                      <a:pt x="565328" y="69992"/>
                      <a:pt x="571046" y="89361"/>
                      <a:pt x="580639" y="107439"/>
                    </a:cubicBezTo>
                    <a:cubicBezTo>
                      <a:pt x="591338" y="127362"/>
                      <a:pt x="606834" y="142857"/>
                      <a:pt x="626572" y="153372"/>
                    </a:cubicBezTo>
                    <a:cubicBezTo>
                      <a:pt x="646494" y="164071"/>
                      <a:pt x="667708" y="169605"/>
                      <a:pt x="711981" y="169605"/>
                    </a:cubicBezTo>
                    <a:lnTo>
                      <a:pt x="711981" y="169605"/>
                    </a:lnTo>
                    <a:lnTo>
                      <a:pt x="1578618" y="169605"/>
                    </a:lnTo>
                    <a:cubicBezTo>
                      <a:pt x="1622890" y="169605"/>
                      <a:pt x="1644289" y="163887"/>
                      <a:pt x="1664027" y="153372"/>
                    </a:cubicBezTo>
                    <a:cubicBezTo>
                      <a:pt x="1683950" y="142673"/>
                      <a:pt x="1699445" y="127177"/>
                      <a:pt x="1709960" y="107439"/>
                    </a:cubicBezTo>
                    <a:cubicBezTo>
                      <a:pt x="1719552" y="89361"/>
                      <a:pt x="1725086" y="69992"/>
                      <a:pt x="1726193" y="33282"/>
                    </a:cubicBezTo>
                    <a:cubicBezTo>
                      <a:pt x="1726747" y="15020"/>
                      <a:pt x="1741135" y="78"/>
                      <a:pt x="1759398" y="78"/>
                    </a:cubicBezTo>
                    <a:lnTo>
                      <a:pt x="1759398" y="78"/>
                    </a:lnTo>
                    <a:lnTo>
                      <a:pt x="2013965" y="78"/>
                    </a:lnTo>
                    <a:cubicBezTo>
                      <a:pt x="2110258" y="78"/>
                      <a:pt x="2145123" y="10039"/>
                      <a:pt x="2180172" y="28855"/>
                    </a:cubicBezTo>
                    <a:cubicBezTo>
                      <a:pt x="2215221" y="47671"/>
                      <a:pt x="2242892" y="75341"/>
                      <a:pt x="2261708" y="110391"/>
                    </a:cubicBezTo>
                    <a:cubicBezTo>
                      <a:pt x="2280524" y="145624"/>
                      <a:pt x="2290485" y="180489"/>
                      <a:pt x="2290485" y="276597"/>
                    </a:cubicBezTo>
                    <a:lnTo>
                      <a:pt x="2290485" y="4681725"/>
                    </a:lnTo>
                    <a:cubicBezTo>
                      <a:pt x="2290485" y="4778018"/>
                      <a:pt x="2280524" y="4812883"/>
                      <a:pt x="2261708" y="4847932"/>
                    </a:cubicBezTo>
                    <a:cubicBezTo>
                      <a:pt x="2242892" y="4883165"/>
                      <a:pt x="2215221" y="4910651"/>
                      <a:pt x="2180172" y="4929467"/>
                    </a:cubicBezTo>
                    <a:cubicBezTo>
                      <a:pt x="2144939" y="4948283"/>
                      <a:pt x="2110074" y="4958244"/>
                      <a:pt x="2013965" y="4958244"/>
                    </a:cubicBezTo>
                    <a:lnTo>
                      <a:pt x="276633" y="4958244"/>
                    </a:lnTo>
                    <a:cubicBezTo>
                      <a:pt x="180341" y="4958244"/>
                      <a:pt x="145476" y="4948283"/>
                      <a:pt x="110427" y="4929467"/>
                    </a:cubicBezTo>
                    <a:cubicBezTo>
                      <a:pt x="75193" y="4910651"/>
                      <a:pt x="47707" y="4882981"/>
                      <a:pt x="28891" y="4847932"/>
                    </a:cubicBezTo>
                    <a:cubicBezTo>
                      <a:pt x="10075" y="4812883"/>
                      <a:pt x="114" y="4777833"/>
                      <a:pt x="114" y="4681725"/>
                    </a:cubicBezTo>
                    <a:lnTo>
                      <a:pt x="114" y="276782"/>
                    </a:lnTo>
                    <a:cubicBezTo>
                      <a:pt x="114" y="180489"/>
                      <a:pt x="10075" y="145624"/>
                      <a:pt x="28891" y="110575"/>
                    </a:cubicBezTo>
                    <a:cubicBezTo>
                      <a:pt x="47707" y="75526"/>
                      <a:pt x="75377" y="47856"/>
                      <a:pt x="110427" y="29040"/>
                    </a:cubicBezTo>
                    <a:cubicBezTo>
                      <a:pt x="145476" y="10224"/>
                      <a:pt x="180341" y="78"/>
                      <a:pt x="276633" y="78"/>
                    </a:cubicBezTo>
                    <a:lnTo>
                      <a:pt x="531201" y="78"/>
                    </a:lnTo>
                    <a:close/>
                  </a:path>
                </a:pathLst>
              </a:custGeom>
              <a:blipFill rotWithShape="0">
                <a:blip r:embed="rId3"/>
                <a:srcRect/>
                <a:stretch>
                  <a:fillRect l="-209350" r="-209350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78D50AB-A9FC-421E-BE0B-AFCEA942FD29}"/>
                </a:ext>
              </a:extLst>
            </p:cNvPr>
            <p:cNvGrpSpPr/>
            <p:nvPr/>
          </p:nvGrpSpPr>
          <p:grpSpPr>
            <a:xfrm>
              <a:off x="4148757" y="1887488"/>
              <a:ext cx="2001232" cy="1349663"/>
              <a:chOff x="4425744" y="1962755"/>
              <a:chExt cx="2001232" cy="1349663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4B47FC-552B-4E58-B0FC-E8514C09F091}"/>
                  </a:ext>
                </a:extLst>
              </p:cNvPr>
              <p:cNvSpPr txBox="1"/>
              <p:nvPr/>
            </p:nvSpPr>
            <p:spPr>
              <a:xfrm>
                <a:off x="4425744" y="2543650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市场份额的增长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4B62876-0EF4-4A8A-9BDF-2637F7962C00}"/>
                  </a:ext>
                </a:extLst>
              </p:cNvPr>
              <p:cNvSpPr txBox="1"/>
              <p:nvPr/>
            </p:nvSpPr>
            <p:spPr>
              <a:xfrm>
                <a:off x="4447763" y="2795995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市场占有率，公司逐年稳步增长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06BC2D56-0D0B-4BD0-BABB-D4DAABE0E6D6}"/>
                  </a:ext>
                </a:extLst>
              </p:cNvPr>
              <p:cNvGrpSpPr/>
              <p:nvPr/>
            </p:nvGrpSpPr>
            <p:grpSpPr>
              <a:xfrm>
                <a:off x="4535874" y="1962755"/>
                <a:ext cx="410200" cy="410198"/>
                <a:chOff x="3526795" y="4024421"/>
                <a:chExt cx="410200" cy="410198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C25EB9CC-5F89-4E30-B23E-18135552EE4D}"/>
                    </a:ext>
                  </a:extLst>
                </p:cNvPr>
                <p:cNvSpPr/>
                <p:nvPr/>
              </p:nvSpPr>
              <p:spPr>
                <a:xfrm>
                  <a:off x="3526795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6A00C2CC-9985-4D8C-A248-1E2523D9DC1E}"/>
                    </a:ext>
                  </a:extLst>
                </p:cNvPr>
                <p:cNvSpPr/>
                <p:nvPr/>
              </p:nvSpPr>
              <p:spPr>
                <a:xfrm>
                  <a:off x="3642895" y="4162770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BBBB039-D1B4-496D-8E6E-682998A218A0}"/>
                </a:ext>
              </a:extLst>
            </p:cNvPr>
            <p:cNvGrpSpPr/>
            <p:nvPr/>
          </p:nvGrpSpPr>
          <p:grpSpPr>
            <a:xfrm>
              <a:off x="6835238" y="1889350"/>
              <a:ext cx="2001232" cy="1567540"/>
              <a:chOff x="6971706" y="1964617"/>
              <a:chExt cx="2001232" cy="1567540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A4417E9D-CD48-43D5-A3E3-43635721DC0A}"/>
                  </a:ext>
                </a:extLst>
              </p:cNvPr>
              <p:cNvGrpSpPr/>
              <p:nvPr/>
            </p:nvGrpSpPr>
            <p:grpSpPr>
              <a:xfrm>
                <a:off x="7092912" y="1964617"/>
                <a:ext cx="410200" cy="410198"/>
                <a:chOff x="4471992" y="4024421"/>
                <a:chExt cx="410200" cy="410198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E2154ED-6480-49E9-A7E6-509E844F4797}"/>
                    </a:ext>
                  </a:extLst>
                </p:cNvPr>
                <p:cNvSpPr/>
                <p:nvPr/>
              </p:nvSpPr>
              <p:spPr>
                <a:xfrm>
                  <a:off x="4471992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18079B30-A7D1-49A9-8421-0681C82FE30F}"/>
                    </a:ext>
                  </a:extLst>
                </p:cNvPr>
                <p:cNvSpPr/>
                <p:nvPr/>
              </p:nvSpPr>
              <p:spPr>
                <a:xfrm>
                  <a:off x="4595899" y="4146869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3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E84379D-ED87-4118-880C-F8E5BAB7EE37}"/>
                  </a:ext>
                </a:extLst>
              </p:cNvPr>
              <p:cNvSpPr txBox="1"/>
              <p:nvPr/>
            </p:nvSpPr>
            <p:spPr>
              <a:xfrm>
                <a:off x="6971706" y="2541789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竞争对手分析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4F18548-79A0-4720-AFC8-BD955F6DD4B4}"/>
                  </a:ext>
                </a:extLst>
              </p:cNvPr>
              <p:cNvSpPr txBox="1"/>
              <p:nvPr/>
            </p:nvSpPr>
            <p:spPr>
              <a:xfrm>
                <a:off x="6993725" y="2794134"/>
                <a:ext cx="1979213" cy="738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对公司的主要竞争对手进行全面分析，评估其在市场中的优势和劣势。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625B1BF-7B2F-4C29-A676-2A507DFA2211}"/>
                </a:ext>
              </a:extLst>
            </p:cNvPr>
            <p:cNvGrpSpPr/>
            <p:nvPr/>
          </p:nvGrpSpPr>
          <p:grpSpPr>
            <a:xfrm>
              <a:off x="9517668" y="1891211"/>
              <a:ext cx="2001232" cy="1563817"/>
              <a:chOff x="9517668" y="1966478"/>
              <a:chExt cx="2001232" cy="1563817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4181401E-6106-4F4E-A742-B4D4FDD035B3}"/>
                  </a:ext>
                </a:extLst>
              </p:cNvPr>
              <p:cNvGrpSpPr/>
              <p:nvPr/>
            </p:nvGrpSpPr>
            <p:grpSpPr>
              <a:xfrm>
                <a:off x="9639767" y="1966478"/>
                <a:ext cx="410200" cy="410198"/>
                <a:chOff x="5417189" y="4024421"/>
                <a:chExt cx="410200" cy="410198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78748C9B-FF66-4C79-A184-D444CC9DBC72}"/>
                    </a:ext>
                  </a:extLst>
                </p:cNvPr>
                <p:cNvSpPr/>
                <p:nvPr/>
              </p:nvSpPr>
              <p:spPr>
                <a:xfrm>
                  <a:off x="5417189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DE1F291E-169D-4A43-B88D-B8F1EA86BA6A}"/>
                    </a:ext>
                  </a:extLst>
                </p:cNvPr>
                <p:cNvSpPr/>
                <p:nvPr/>
              </p:nvSpPr>
              <p:spPr>
                <a:xfrm>
                  <a:off x="5533289" y="4158600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F5803FD-8768-40B3-BF11-75A563F99CB9}"/>
                  </a:ext>
                </a:extLst>
              </p:cNvPr>
              <p:cNvSpPr txBox="1"/>
              <p:nvPr/>
            </p:nvSpPr>
            <p:spPr>
              <a:xfrm>
                <a:off x="9517668" y="2539927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市场反馈分析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65FEC3F-5C9F-42EF-BD94-001FC2EFE4F5}"/>
                  </a:ext>
                </a:extLst>
              </p:cNvPr>
              <p:cNvSpPr txBox="1"/>
              <p:nvPr/>
            </p:nvSpPr>
            <p:spPr>
              <a:xfrm>
                <a:off x="9539687" y="2792272"/>
                <a:ext cx="1979213" cy="738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通过客户反馈和市场调研，评估公司产品和服务在市场中的表现和认可度。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1212BBF-0806-4EC6-9FFA-78A28326BAB7}"/>
                </a:ext>
              </a:extLst>
            </p:cNvPr>
            <p:cNvGrpSpPr/>
            <p:nvPr/>
          </p:nvGrpSpPr>
          <p:grpSpPr>
            <a:xfrm>
              <a:off x="4148757" y="4282825"/>
              <a:ext cx="7291258" cy="776592"/>
              <a:chOff x="4148757" y="4282825"/>
              <a:chExt cx="7291258" cy="776592"/>
            </a:xfrm>
          </p:grpSpPr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C0AFDB6-B6FA-4D5B-959B-D3A48B7F015F}"/>
                  </a:ext>
                </a:extLst>
              </p:cNvPr>
              <p:cNvSpPr txBox="1"/>
              <p:nvPr/>
            </p:nvSpPr>
            <p:spPr>
              <a:xfrm>
                <a:off x="4148757" y="4282825"/>
                <a:ext cx="725721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市场表现的分析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D214761-8A8E-42C4-B5AE-7D85CFF7F959}"/>
                  </a:ext>
                </a:extLst>
              </p:cNvPr>
              <p:cNvSpPr txBox="1"/>
              <p:nvPr/>
            </p:nvSpPr>
            <p:spPr>
              <a:xfrm>
                <a:off x="4182798" y="4764593"/>
                <a:ext cx="7257217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详细分析公司在市场中的表现和竞争地位。</a:t>
                </a:r>
              </a:p>
            </p:txBody>
          </p:sp>
        </p:grpSp>
      </p:grpSp>
      <p:sp>
        <p:nvSpPr>
          <p:cNvPr id="103" name="Title 10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公司市场表现分析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386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îSľíḑê"/>
          <p:cNvGrpSpPr/>
          <p:nvPr/>
        </p:nvGrpSpPr>
        <p:grpSpPr>
          <a:xfrm>
            <a:off x="911092" y="1318696"/>
            <a:ext cx="10606121" cy="4230181"/>
            <a:chOff x="911092" y="1318696"/>
            <a:chExt cx="10606121" cy="4230181"/>
          </a:xfrm>
        </p:grpSpPr>
        <p:sp>
          <p:nvSpPr>
            <p:cNvPr id="5" name="ïš1iḓê">
              <a:extLst>
                <a:ext uri="{FF2B5EF4-FFF2-40B4-BE49-F238E27FC236}">
                  <a16:creationId xmlns:a16="http://schemas.microsoft.com/office/drawing/2014/main" id="{253C882E-161E-4D4A-B0F6-5263477A987F}"/>
                </a:ext>
              </a:extLst>
            </p:cNvPr>
            <p:cNvSpPr/>
            <p:nvPr/>
          </p:nvSpPr>
          <p:spPr>
            <a:xfrm>
              <a:off x="911092" y="1654227"/>
              <a:ext cx="3549546" cy="3549546"/>
            </a:xfrm>
            <a:prstGeom prst="ellipse">
              <a:avLst/>
            </a:prstGeom>
            <a:blipFill rotWithShape="0">
              <a:blip r:embed="rId3"/>
              <a:srcRect/>
              <a:stretch>
                <a:fillRect l="-25119" r="-25119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26" name="îṣliḑé">
              <a:extLst>
                <a:ext uri="{FF2B5EF4-FFF2-40B4-BE49-F238E27FC236}">
                  <a16:creationId xmlns:a16="http://schemas.microsoft.com/office/drawing/2014/main" id="{190E993A-32AE-4748-822B-ED443D0DD249}"/>
                </a:ext>
              </a:extLst>
            </p:cNvPr>
            <p:cNvGrpSpPr/>
            <p:nvPr/>
          </p:nvGrpSpPr>
          <p:grpSpPr>
            <a:xfrm>
              <a:off x="5648902" y="3082435"/>
              <a:ext cx="410200" cy="410198"/>
              <a:chOff x="6844265" y="4734713"/>
              <a:chExt cx="410200" cy="410198"/>
            </a:xfrm>
          </p:grpSpPr>
          <p:sp>
            <p:nvSpPr>
              <p:cNvPr id="27" name="ïśḻïḋè">
                <a:extLst>
                  <a:ext uri="{FF2B5EF4-FFF2-40B4-BE49-F238E27FC236}">
                    <a16:creationId xmlns:a16="http://schemas.microsoft.com/office/drawing/2014/main" id="{62207146-74F7-4C12-B1BA-BB40DD3BCB44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ïšľiḑé">
                <a:extLst>
                  <a:ext uri="{FF2B5EF4-FFF2-40B4-BE49-F238E27FC236}">
                    <a16:creationId xmlns:a16="http://schemas.microsoft.com/office/drawing/2014/main" id="{58FE8B58-6B95-40ED-BF43-E2133A2CF1F1}"/>
                  </a:ext>
                </a:extLst>
              </p:cNvPr>
              <p:cNvSpPr/>
              <p:nvPr/>
            </p:nvSpPr>
            <p:spPr>
              <a:xfrm>
                <a:off x="6960365" y="4868892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išḷiḑê">
              <a:extLst>
                <a:ext uri="{FF2B5EF4-FFF2-40B4-BE49-F238E27FC236}">
                  <a16:creationId xmlns:a16="http://schemas.microsoft.com/office/drawing/2014/main" id="{E06BD52C-CF37-4754-B19A-969D5B9AD9FC}"/>
                </a:ext>
              </a:extLst>
            </p:cNvPr>
            <p:cNvGrpSpPr/>
            <p:nvPr/>
          </p:nvGrpSpPr>
          <p:grpSpPr>
            <a:xfrm>
              <a:off x="5648902" y="4520821"/>
              <a:ext cx="410200" cy="410198"/>
              <a:chOff x="6844265" y="4734713"/>
              <a:chExt cx="410200" cy="410198"/>
            </a:xfrm>
          </p:grpSpPr>
          <p:sp>
            <p:nvSpPr>
              <p:cNvPr id="30" name="íṥlïḋé">
                <a:extLst>
                  <a:ext uri="{FF2B5EF4-FFF2-40B4-BE49-F238E27FC236}">
                    <a16:creationId xmlns:a16="http://schemas.microsoft.com/office/drawing/2014/main" id="{70CD2065-F949-43E6-B421-6B4A8B1C2C68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ïşļîḓe">
                <a:extLst>
                  <a:ext uri="{FF2B5EF4-FFF2-40B4-BE49-F238E27FC236}">
                    <a16:creationId xmlns:a16="http://schemas.microsoft.com/office/drawing/2014/main" id="{D2EC9E46-05AA-4A70-B8F1-803B5BE9013C}"/>
                  </a:ext>
                </a:extLst>
              </p:cNvPr>
              <p:cNvSpPr/>
              <p:nvPr/>
            </p:nvSpPr>
            <p:spPr>
              <a:xfrm>
                <a:off x="6960365" y="4875291"/>
                <a:ext cx="178001" cy="141741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2" name="iṥlîḑé">
              <a:extLst>
                <a:ext uri="{FF2B5EF4-FFF2-40B4-BE49-F238E27FC236}">
                  <a16:creationId xmlns:a16="http://schemas.microsoft.com/office/drawing/2014/main" id="{FD167308-E241-41B2-88E9-717A0F088F19}"/>
                </a:ext>
              </a:extLst>
            </p:cNvPr>
            <p:cNvGrpSpPr/>
            <p:nvPr/>
          </p:nvGrpSpPr>
          <p:grpSpPr>
            <a:xfrm>
              <a:off x="8850018" y="3082435"/>
              <a:ext cx="410200" cy="410198"/>
              <a:chOff x="6844265" y="4734713"/>
              <a:chExt cx="410200" cy="410198"/>
            </a:xfrm>
          </p:grpSpPr>
          <p:sp>
            <p:nvSpPr>
              <p:cNvPr id="33" name="ïşľide">
                <a:extLst>
                  <a:ext uri="{FF2B5EF4-FFF2-40B4-BE49-F238E27FC236}">
                    <a16:creationId xmlns:a16="http://schemas.microsoft.com/office/drawing/2014/main" id="{9C64E9BE-5E20-4F27-B4D8-84B19D8694EC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5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ïṡľîḍê">
                <a:extLst>
                  <a:ext uri="{FF2B5EF4-FFF2-40B4-BE49-F238E27FC236}">
                    <a16:creationId xmlns:a16="http://schemas.microsoft.com/office/drawing/2014/main" id="{F85A7931-B1D5-407E-B989-49639C5D3841}"/>
                  </a:ext>
                </a:extLst>
              </p:cNvPr>
              <p:cNvSpPr/>
              <p:nvPr/>
            </p:nvSpPr>
            <p:spPr>
              <a:xfrm>
                <a:off x="6960364" y="4855575"/>
                <a:ext cx="178001" cy="174822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" name="íṩļíḍe">
              <a:extLst>
                <a:ext uri="{FF2B5EF4-FFF2-40B4-BE49-F238E27FC236}">
                  <a16:creationId xmlns:a16="http://schemas.microsoft.com/office/drawing/2014/main" id="{C22CA046-B32F-44EC-8E2A-60327D417977}"/>
                </a:ext>
              </a:extLst>
            </p:cNvPr>
            <p:cNvGrpSpPr/>
            <p:nvPr/>
          </p:nvGrpSpPr>
          <p:grpSpPr>
            <a:xfrm>
              <a:off x="8850018" y="4520821"/>
              <a:ext cx="410200" cy="410198"/>
              <a:chOff x="6844265" y="4734713"/>
              <a:chExt cx="410200" cy="410198"/>
            </a:xfrm>
          </p:grpSpPr>
          <p:sp>
            <p:nvSpPr>
              <p:cNvPr id="36" name="íśḻiḍê">
                <a:extLst>
                  <a:ext uri="{FF2B5EF4-FFF2-40B4-BE49-F238E27FC236}">
                    <a16:creationId xmlns:a16="http://schemas.microsoft.com/office/drawing/2014/main" id="{BA32A21E-1F21-4CA9-B835-59AAF90D771A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ïṣļiḓe">
                <a:extLst>
                  <a:ext uri="{FF2B5EF4-FFF2-40B4-BE49-F238E27FC236}">
                    <a16:creationId xmlns:a16="http://schemas.microsoft.com/office/drawing/2014/main" id="{585A46FF-8F1E-4C0D-8EC6-207632EF86A5}"/>
                  </a:ext>
                </a:extLst>
              </p:cNvPr>
              <p:cNvSpPr/>
              <p:nvPr/>
            </p:nvSpPr>
            <p:spPr>
              <a:xfrm>
                <a:off x="6960365" y="4855582"/>
                <a:ext cx="178001" cy="162108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ïsľïḋê">
              <a:extLst>
                <a:ext uri="{FF2B5EF4-FFF2-40B4-BE49-F238E27FC236}">
                  <a16:creationId xmlns:a16="http://schemas.microsoft.com/office/drawing/2014/main" id="{B6C4F9D5-92E5-4F4E-8AF3-67AD59F536A4}"/>
                </a:ext>
              </a:extLst>
            </p:cNvPr>
            <p:cNvSpPr txBox="1"/>
            <p:nvPr/>
          </p:nvSpPr>
          <p:spPr>
            <a:xfrm>
              <a:off x="6106962" y="3033914"/>
              <a:ext cx="2063532" cy="307777"/>
            </a:xfrm>
            <a:prstGeom prst="rect">
              <a:avLst/>
            </a:prstGeom>
            <a:noFill/>
          </p:spPr>
          <p:txBody>
            <a:bodyPr wrap="non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对手市场份额降</a:t>
              </a:r>
            </a:p>
          </p:txBody>
        </p:sp>
        <p:sp>
          <p:nvSpPr>
            <p:cNvPr id="41" name="ísḷïďe">
              <a:extLst>
                <a:ext uri="{FF2B5EF4-FFF2-40B4-BE49-F238E27FC236}">
                  <a16:creationId xmlns:a16="http://schemas.microsoft.com/office/drawing/2014/main" id="{34A3F051-E186-4F06-83EF-22C1E5D583DE}"/>
                </a:ext>
              </a:extLst>
            </p:cNvPr>
            <p:cNvSpPr txBox="1"/>
            <p:nvPr/>
          </p:nvSpPr>
          <p:spPr>
            <a:xfrm>
              <a:off x="6106962" y="3372468"/>
              <a:ext cx="2063532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竞争对手市场份额下降，我方增长机会来临</a:t>
              </a:r>
            </a:p>
          </p:txBody>
        </p:sp>
        <p:sp>
          <p:nvSpPr>
            <p:cNvPr id="45" name="íSļîḍé">
              <a:extLst>
                <a:ext uri="{FF2B5EF4-FFF2-40B4-BE49-F238E27FC236}">
                  <a16:creationId xmlns:a16="http://schemas.microsoft.com/office/drawing/2014/main" id="{18697D99-E004-4340-A797-6D66C79C77AA}"/>
                </a:ext>
              </a:extLst>
            </p:cNvPr>
            <p:cNvSpPr txBox="1"/>
            <p:nvPr/>
          </p:nvSpPr>
          <p:spPr>
            <a:xfrm>
              <a:off x="9308078" y="3033914"/>
              <a:ext cx="2063532" cy="307777"/>
            </a:xfrm>
            <a:prstGeom prst="rect">
              <a:avLst/>
            </a:prstGeom>
            <a:noFill/>
          </p:spPr>
          <p:txBody>
            <a:bodyPr wrap="non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新产品市场增长</a:t>
              </a:r>
            </a:p>
          </p:txBody>
        </p:sp>
        <p:sp>
          <p:nvSpPr>
            <p:cNvPr id="46" name="íśļiḋè">
              <a:extLst>
                <a:ext uri="{FF2B5EF4-FFF2-40B4-BE49-F238E27FC236}">
                  <a16:creationId xmlns:a16="http://schemas.microsoft.com/office/drawing/2014/main" id="{2C5FD786-1876-4632-ADE7-5C72952B953C}"/>
                </a:ext>
              </a:extLst>
            </p:cNvPr>
            <p:cNvSpPr txBox="1"/>
            <p:nvPr/>
          </p:nvSpPr>
          <p:spPr>
            <a:xfrm>
              <a:off x="9308078" y="3372468"/>
              <a:ext cx="2063532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我们成功推出了一系列创新产品，通过提供独特的解决方案，赢得了更多市场份额。</a:t>
              </a:r>
            </a:p>
          </p:txBody>
        </p:sp>
        <p:sp>
          <p:nvSpPr>
            <p:cNvPr id="53" name="ïsļïḓê">
              <a:extLst>
                <a:ext uri="{FF2B5EF4-FFF2-40B4-BE49-F238E27FC236}">
                  <a16:creationId xmlns:a16="http://schemas.microsoft.com/office/drawing/2014/main" id="{0409D96F-FAB1-4EE7-9072-585FD80602B9}"/>
                </a:ext>
              </a:extLst>
            </p:cNvPr>
            <p:cNvSpPr txBox="1"/>
            <p:nvPr/>
          </p:nvSpPr>
          <p:spPr>
            <a:xfrm>
              <a:off x="6106962" y="4472300"/>
              <a:ext cx="2063532" cy="307777"/>
            </a:xfrm>
            <a:prstGeom prst="rect">
              <a:avLst/>
            </a:prstGeom>
            <a:noFill/>
          </p:spPr>
          <p:txBody>
            <a:bodyPr wrap="non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超越行业的增长</a:t>
              </a:r>
            </a:p>
          </p:txBody>
        </p:sp>
        <p:sp>
          <p:nvSpPr>
            <p:cNvPr id="54" name="íṣ1ïḑè">
              <a:extLst>
                <a:ext uri="{FF2B5EF4-FFF2-40B4-BE49-F238E27FC236}">
                  <a16:creationId xmlns:a16="http://schemas.microsoft.com/office/drawing/2014/main" id="{D350C740-E3F7-4AD6-91F5-0040670B866E}"/>
                </a:ext>
              </a:extLst>
            </p:cNvPr>
            <p:cNvSpPr txBox="1"/>
            <p:nvPr/>
          </p:nvSpPr>
          <p:spPr>
            <a:xfrm>
              <a:off x="6106962" y="4810854"/>
              <a:ext cx="2063532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我们的市场份额增长速度超过了行业平均水平，证明了我们在市场竞争中的优势。</a:t>
              </a:r>
            </a:p>
          </p:txBody>
        </p:sp>
        <p:sp>
          <p:nvSpPr>
            <p:cNvPr id="55" name="íṣļîďê">
              <a:extLst>
                <a:ext uri="{FF2B5EF4-FFF2-40B4-BE49-F238E27FC236}">
                  <a16:creationId xmlns:a16="http://schemas.microsoft.com/office/drawing/2014/main" id="{EEFD889E-8639-42C6-9EC7-18DB8963EDD2}"/>
                </a:ext>
              </a:extLst>
            </p:cNvPr>
            <p:cNvSpPr txBox="1"/>
            <p:nvPr/>
          </p:nvSpPr>
          <p:spPr>
            <a:xfrm>
              <a:off x="9308078" y="4472300"/>
              <a:ext cx="2063532" cy="307777"/>
            </a:xfrm>
            <a:prstGeom prst="rect">
              <a:avLst/>
            </a:prstGeom>
            <a:noFill/>
          </p:spPr>
          <p:txBody>
            <a:bodyPr wrap="non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市场份额稳步增长</a:t>
              </a:r>
            </a:p>
          </p:txBody>
        </p:sp>
        <p:sp>
          <p:nvSpPr>
            <p:cNvPr id="56" name="iṡļîďê">
              <a:extLst>
                <a:ext uri="{FF2B5EF4-FFF2-40B4-BE49-F238E27FC236}">
                  <a16:creationId xmlns:a16="http://schemas.microsoft.com/office/drawing/2014/main" id="{056966B8-2C1A-476D-8121-F33EC491B39B}"/>
                </a:ext>
              </a:extLst>
            </p:cNvPr>
            <p:cNvSpPr txBox="1"/>
            <p:nvPr/>
          </p:nvSpPr>
          <p:spPr>
            <a:xfrm>
              <a:off x="9308078" y="4810854"/>
              <a:ext cx="2063532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我们的市场份额在过去一年中稳步增长，预计将继续保持增长势头。</a:t>
              </a:r>
            </a:p>
          </p:txBody>
        </p:sp>
        <p:sp>
          <p:nvSpPr>
            <p:cNvPr id="58" name="i$ḷîďè">
              <a:extLst>
                <a:ext uri="{FF2B5EF4-FFF2-40B4-BE49-F238E27FC236}">
                  <a16:creationId xmlns:a16="http://schemas.microsoft.com/office/drawing/2014/main" id="{20448B84-7D7C-4E40-AC29-C5DCA8FCC648}"/>
                </a:ext>
              </a:extLst>
            </p:cNvPr>
            <p:cNvSpPr txBox="1"/>
            <p:nvPr/>
          </p:nvSpPr>
          <p:spPr>
            <a:xfrm>
              <a:off x="5618841" y="1318696"/>
              <a:ext cx="5898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i="1" dirty="0">
                  <a:solidFill>
                    <a:schemeClr val="tx1"/>
                  </a:solidFill>
                </a:rPr>
                <a:t>竞争市场份额增长</a:t>
              </a:r>
            </a:p>
          </p:txBody>
        </p:sp>
      </p:grpSp>
      <p:sp>
        <p:nvSpPr>
          <p:cNvPr id="60" name="Title 5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市场份额的变化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374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61486" y="1214657"/>
            <a:ext cx="10436310" cy="4591523"/>
            <a:chOff x="961486" y="1214657"/>
            <a:chExt cx="10436310" cy="4591523"/>
          </a:xfrm>
        </p:grpSpPr>
        <p:grpSp>
          <p:nvGrpSpPr>
            <p:cNvPr id="72" name="Group 7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3B77891C-421F-4A4E-AD0D-05812F3C77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372358" y="2281228"/>
              <a:ext cx="3529534" cy="3524952"/>
              <a:chOff x="3648075" y="992188"/>
              <a:chExt cx="4891088" cy="4884738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72AF539-12AB-4CE0-A587-90408283441C}"/>
                  </a:ext>
                </a:extLst>
              </p:cNvPr>
              <p:cNvSpPr/>
              <p:nvPr/>
            </p:nvSpPr>
            <p:spPr bwMode="auto">
              <a:xfrm>
                <a:off x="5545926" y="2982913"/>
                <a:ext cx="1260475" cy="1260475"/>
              </a:xfrm>
              <a:custGeom>
                <a:avLst/>
                <a:gdLst>
                  <a:gd name="T0" fmla="*/ 366 w 732"/>
                  <a:gd name="T1" fmla="*/ 0 h 733"/>
                  <a:gd name="T2" fmla="*/ 0 w 732"/>
                  <a:gd name="T3" fmla="*/ 367 h 733"/>
                  <a:gd name="T4" fmla="*/ 366 w 732"/>
                  <a:gd name="T5" fmla="*/ 733 h 733"/>
                  <a:gd name="T6" fmla="*/ 732 w 732"/>
                  <a:gd name="T7" fmla="*/ 367 h 733"/>
                  <a:gd name="T8" fmla="*/ 366 w 732"/>
                  <a:gd name="T9" fmla="*/ 0 h 733"/>
                  <a:gd name="T10" fmla="*/ 623 w 732"/>
                  <a:gd name="T11" fmla="*/ 516 h 733"/>
                  <a:gd name="T12" fmla="*/ 533 w 732"/>
                  <a:gd name="T13" fmla="*/ 516 h 733"/>
                  <a:gd name="T14" fmla="*/ 547 w 732"/>
                  <a:gd name="T15" fmla="*/ 401 h 733"/>
                  <a:gd name="T16" fmla="*/ 661 w 732"/>
                  <a:gd name="T17" fmla="*/ 401 h 733"/>
                  <a:gd name="T18" fmla="*/ 623 w 732"/>
                  <a:gd name="T19" fmla="*/ 516 h 733"/>
                  <a:gd name="T20" fmla="*/ 109 w 732"/>
                  <a:gd name="T21" fmla="*/ 217 h 733"/>
                  <a:gd name="T22" fmla="*/ 199 w 732"/>
                  <a:gd name="T23" fmla="*/ 217 h 733"/>
                  <a:gd name="T24" fmla="*/ 185 w 732"/>
                  <a:gd name="T25" fmla="*/ 332 h 733"/>
                  <a:gd name="T26" fmla="*/ 71 w 732"/>
                  <a:gd name="T27" fmla="*/ 332 h 733"/>
                  <a:gd name="T28" fmla="*/ 109 w 732"/>
                  <a:gd name="T29" fmla="*/ 217 h 733"/>
                  <a:gd name="T30" fmla="*/ 440 w 732"/>
                  <a:gd name="T31" fmla="*/ 148 h 733"/>
                  <a:gd name="T32" fmla="*/ 292 w 732"/>
                  <a:gd name="T33" fmla="*/ 148 h 733"/>
                  <a:gd name="T34" fmla="*/ 366 w 732"/>
                  <a:gd name="T35" fmla="*/ 69 h 733"/>
                  <a:gd name="T36" fmla="*/ 440 w 732"/>
                  <a:gd name="T37" fmla="*/ 148 h 733"/>
                  <a:gd name="T38" fmla="*/ 492 w 732"/>
                  <a:gd name="T39" fmla="*/ 97 h 733"/>
                  <a:gd name="T40" fmla="*/ 567 w 732"/>
                  <a:gd name="T41" fmla="*/ 148 h 733"/>
                  <a:gd name="T42" fmla="*/ 514 w 732"/>
                  <a:gd name="T43" fmla="*/ 148 h 733"/>
                  <a:gd name="T44" fmla="*/ 492 w 732"/>
                  <a:gd name="T45" fmla="*/ 97 h 733"/>
                  <a:gd name="T46" fmla="*/ 254 w 732"/>
                  <a:gd name="T47" fmla="*/ 332 h 733"/>
                  <a:gd name="T48" fmla="*/ 270 w 732"/>
                  <a:gd name="T49" fmla="*/ 217 h 733"/>
                  <a:gd name="T50" fmla="*/ 462 w 732"/>
                  <a:gd name="T51" fmla="*/ 217 h 733"/>
                  <a:gd name="T52" fmla="*/ 478 w 732"/>
                  <a:gd name="T53" fmla="*/ 332 h 733"/>
                  <a:gd name="T54" fmla="*/ 254 w 732"/>
                  <a:gd name="T55" fmla="*/ 332 h 733"/>
                  <a:gd name="T56" fmla="*/ 478 w 732"/>
                  <a:gd name="T57" fmla="*/ 401 h 733"/>
                  <a:gd name="T58" fmla="*/ 462 w 732"/>
                  <a:gd name="T59" fmla="*/ 516 h 733"/>
                  <a:gd name="T60" fmla="*/ 270 w 732"/>
                  <a:gd name="T61" fmla="*/ 516 h 733"/>
                  <a:gd name="T62" fmla="*/ 254 w 732"/>
                  <a:gd name="T63" fmla="*/ 401 h 733"/>
                  <a:gd name="T64" fmla="*/ 478 w 732"/>
                  <a:gd name="T65" fmla="*/ 401 h 733"/>
                  <a:gd name="T66" fmla="*/ 218 w 732"/>
                  <a:gd name="T67" fmla="*/ 148 h 733"/>
                  <a:gd name="T68" fmla="*/ 165 w 732"/>
                  <a:gd name="T69" fmla="*/ 148 h 733"/>
                  <a:gd name="T70" fmla="*/ 240 w 732"/>
                  <a:gd name="T71" fmla="*/ 97 h 733"/>
                  <a:gd name="T72" fmla="*/ 218 w 732"/>
                  <a:gd name="T73" fmla="*/ 148 h 733"/>
                  <a:gd name="T74" fmla="*/ 185 w 732"/>
                  <a:gd name="T75" fmla="*/ 401 h 733"/>
                  <a:gd name="T76" fmla="*/ 199 w 732"/>
                  <a:gd name="T77" fmla="*/ 516 h 733"/>
                  <a:gd name="T78" fmla="*/ 109 w 732"/>
                  <a:gd name="T79" fmla="*/ 516 h 733"/>
                  <a:gd name="T80" fmla="*/ 71 w 732"/>
                  <a:gd name="T81" fmla="*/ 401 h 733"/>
                  <a:gd name="T82" fmla="*/ 185 w 732"/>
                  <a:gd name="T83" fmla="*/ 401 h 733"/>
                  <a:gd name="T84" fmla="*/ 218 w 732"/>
                  <a:gd name="T85" fmla="*/ 586 h 733"/>
                  <a:gd name="T86" fmla="*/ 240 w 732"/>
                  <a:gd name="T87" fmla="*/ 636 h 733"/>
                  <a:gd name="T88" fmla="*/ 165 w 732"/>
                  <a:gd name="T89" fmla="*/ 586 h 733"/>
                  <a:gd name="T90" fmla="*/ 218 w 732"/>
                  <a:gd name="T91" fmla="*/ 586 h 733"/>
                  <a:gd name="T92" fmla="*/ 292 w 732"/>
                  <a:gd name="T93" fmla="*/ 586 h 733"/>
                  <a:gd name="T94" fmla="*/ 440 w 732"/>
                  <a:gd name="T95" fmla="*/ 586 h 733"/>
                  <a:gd name="T96" fmla="*/ 366 w 732"/>
                  <a:gd name="T97" fmla="*/ 664 h 733"/>
                  <a:gd name="T98" fmla="*/ 292 w 732"/>
                  <a:gd name="T99" fmla="*/ 586 h 733"/>
                  <a:gd name="T100" fmla="*/ 514 w 732"/>
                  <a:gd name="T101" fmla="*/ 586 h 733"/>
                  <a:gd name="T102" fmla="*/ 567 w 732"/>
                  <a:gd name="T103" fmla="*/ 586 h 733"/>
                  <a:gd name="T104" fmla="*/ 492 w 732"/>
                  <a:gd name="T105" fmla="*/ 636 h 733"/>
                  <a:gd name="T106" fmla="*/ 514 w 732"/>
                  <a:gd name="T107" fmla="*/ 586 h 733"/>
                  <a:gd name="T108" fmla="*/ 547 w 732"/>
                  <a:gd name="T109" fmla="*/ 332 h 733"/>
                  <a:gd name="T110" fmla="*/ 533 w 732"/>
                  <a:gd name="T111" fmla="*/ 217 h 733"/>
                  <a:gd name="T112" fmla="*/ 623 w 732"/>
                  <a:gd name="T113" fmla="*/ 217 h 733"/>
                  <a:gd name="T114" fmla="*/ 661 w 732"/>
                  <a:gd name="T115" fmla="*/ 332 h 733"/>
                  <a:gd name="T116" fmla="*/ 547 w 732"/>
                  <a:gd name="T117" fmla="*/ 332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32" h="733">
                    <a:moveTo>
                      <a:pt x="366" y="0"/>
                    </a:moveTo>
                    <a:cubicBezTo>
                      <a:pt x="164" y="0"/>
                      <a:pt x="0" y="165"/>
                      <a:pt x="0" y="367"/>
                    </a:cubicBezTo>
                    <a:cubicBezTo>
                      <a:pt x="0" y="569"/>
                      <a:pt x="164" y="733"/>
                      <a:pt x="366" y="733"/>
                    </a:cubicBezTo>
                    <a:cubicBezTo>
                      <a:pt x="568" y="733"/>
                      <a:pt x="732" y="569"/>
                      <a:pt x="732" y="367"/>
                    </a:cubicBezTo>
                    <a:cubicBezTo>
                      <a:pt x="732" y="165"/>
                      <a:pt x="568" y="0"/>
                      <a:pt x="366" y="0"/>
                    </a:cubicBezTo>
                    <a:close/>
                    <a:moveTo>
                      <a:pt x="623" y="516"/>
                    </a:moveTo>
                    <a:cubicBezTo>
                      <a:pt x="533" y="516"/>
                      <a:pt x="533" y="516"/>
                      <a:pt x="533" y="516"/>
                    </a:cubicBezTo>
                    <a:cubicBezTo>
                      <a:pt x="541" y="481"/>
                      <a:pt x="546" y="442"/>
                      <a:pt x="547" y="401"/>
                    </a:cubicBezTo>
                    <a:cubicBezTo>
                      <a:pt x="661" y="401"/>
                      <a:pt x="661" y="401"/>
                      <a:pt x="661" y="401"/>
                    </a:cubicBezTo>
                    <a:cubicBezTo>
                      <a:pt x="656" y="443"/>
                      <a:pt x="643" y="482"/>
                      <a:pt x="623" y="516"/>
                    </a:cubicBezTo>
                    <a:close/>
                    <a:moveTo>
                      <a:pt x="109" y="217"/>
                    </a:moveTo>
                    <a:cubicBezTo>
                      <a:pt x="199" y="217"/>
                      <a:pt x="199" y="217"/>
                      <a:pt x="199" y="217"/>
                    </a:cubicBezTo>
                    <a:cubicBezTo>
                      <a:pt x="191" y="252"/>
                      <a:pt x="186" y="291"/>
                      <a:pt x="185" y="332"/>
                    </a:cubicBezTo>
                    <a:cubicBezTo>
                      <a:pt x="71" y="332"/>
                      <a:pt x="71" y="332"/>
                      <a:pt x="71" y="332"/>
                    </a:cubicBezTo>
                    <a:cubicBezTo>
                      <a:pt x="76" y="290"/>
                      <a:pt x="89" y="251"/>
                      <a:pt x="109" y="217"/>
                    </a:cubicBezTo>
                    <a:close/>
                    <a:moveTo>
                      <a:pt x="440" y="148"/>
                    </a:moveTo>
                    <a:cubicBezTo>
                      <a:pt x="292" y="148"/>
                      <a:pt x="292" y="148"/>
                      <a:pt x="292" y="148"/>
                    </a:cubicBezTo>
                    <a:cubicBezTo>
                      <a:pt x="315" y="97"/>
                      <a:pt x="343" y="69"/>
                      <a:pt x="366" y="69"/>
                    </a:cubicBezTo>
                    <a:cubicBezTo>
                      <a:pt x="389" y="69"/>
                      <a:pt x="417" y="97"/>
                      <a:pt x="440" y="148"/>
                    </a:cubicBezTo>
                    <a:close/>
                    <a:moveTo>
                      <a:pt x="492" y="97"/>
                    </a:moveTo>
                    <a:cubicBezTo>
                      <a:pt x="519" y="110"/>
                      <a:pt x="545" y="127"/>
                      <a:pt x="567" y="148"/>
                    </a:cubicBezTo>
                    <a:cubicBezTo>
                      <a:pt x="514" y="148"/>
                      <a:pt x="514" y="148"/>
                      <a:pt x="514" y="148"/>
                    </a:cubicBezTo>
                    <a:cubicBezTo>
                      <a:pt x="507" y="130"/>
                      <a:pt x="500" y="113"/>
                      <a:pt x="492" y="97"/>
                    </a:cubicBezTo>
                    <a:close/>
                    <a:moveTo>
                      <a:pt x="254" y="332"/>
                    </a:moveTo>
                    <a:cubicBezTo>
                      <a:pt x="256" y="289"/>
                      <a:pt x="262" y="250"/>
                      <a:pt x="270" y="217"/>
                    </a:cubicBezTo>
                    <a:cubicBezTo>
                      <a:pt x="462" y="217"/>
                      <a:pt x="462" y="217"/>
                      <a:pt x="462" y="217"/>
                    </a:cubicBezTo>
                    <a:cubicBezTo>
                      <a:pt x="470" y="250"/>
                      <a:pt x="476" y="289"/>
                      <a:pt x="478" y="332"/>
                    </a:cubicBezTo>
                    <a:lnTo>
                      <a:pt x="254" y="332"/>
                    </a:lnTo>
                    <a:close/>
                    <a:moveTo>
                      <a:pt x="478" y="401"/>
                    </a:moveTo>
                    <a:cubicBezTo>
                      <a:pt x="476" y="444"/>
                      <a:pt x="470" y="483"/>
                      <a:pt x="462" y="516"/>
                    </a:cubicBezTo>
                    <a:cubicBezTo>
                      <a:pt x="270" y="516"/>
                      <a:pt x="270" y="516"/>
                      <a:pt x="270" y="516"/>
                    </a:cubicBezTo>
                    <a:cubicBezTo>
                      <a:pt x="262" y="483"/>
                      <a:pt x="256" y="444"/>
                      <a:pt x="254" y="401"/>
                    </a:cubicBezTo>
                    <a:cubicBezTo>
                      <a:pt x="478" y="401"/>
                      <a:pt x="478" y="401"/>
                      <a:pt x="478" y="401"/>
                    </a:cubicBezTo>
                    <a:close/>
                    <a:moveTo>
                      <a:pt x="218" y="148"/>
                    </a:moveTo>
                    <a:cubicBezTo>
                      <a:pt x="165" y="148"/>
                      <a:pt x="165" y="148"/>
                      <a:pt x="165" y="148"/>
                    </a:cubicBezTo>
                    <a:cubicBezTo>
                      <a:pt x="187" y="127"/>
                      <a:pt x="213" y="110"/>
                      <a:pt x="240" y="97"/>
                    </a:cubicBezTo>
                    <a:cubicBezTo>
                      <a:pt x="232" y="113"/>
                      <a:pt x="225" y="130"/>
                      <a:pt x="218" y="148"/>
                    </a:cubicBezTo>
                    <a:close/>
                    <a:moveTo>
                      <a:pt x="185" y="401"/>
                    </a:moveTo>
                    <a:cubicBezTo>
                      <a:pt x="186" y="442"/>
                      <a:pt x="191" y="481"/>
                      <a:pt x="199" y="516"/>
                    </a:cubicBezTo>
                    <a:cubicBezTo>
                      <a:pt x="109" y="516"/>
                      <a:pt x="109" y="516"/>
                      <a:pt x="109" y="516"/>
                    </a:cubicBezTo>
                    <a:cubicBezTo>
                      <a:pt x="89" y="482"/>
                      <a:pt x="76" y="443"/>
                      <a:pt x="71" y="401"/>
                    </a:cubicBezTo>
                    <a:cubicBezTo>
                      <a:pt x="185" y="401"/>
                      <a:pt x="185" y="401"/>
                      <a:pt x="185" y="401"/>
                    </a:cubicBezTo>
                    <a:close/>
                    <a:moveTo>
                      <a:pt x="218" y="586"/>
                    </a:moveTo>
                    <a:cubicBezTo>
                      <a:pt x="225" y="604"/>
                      <a:pt x="232" y="621"/>
                      <a:pt x="240" y="636"/>
                    </a:cubicBezTo>
                    <a:cubicBezTo>
                      <a:pt x="213" y="623"/>
                      <a:pt x="187" y="606"/>
                      <a:pt x="165" y="586"/>
                    </a:cubicBezTo>
                    <a:lnTo>
                      <a:pt x="218" y="586"/>
                    </a:lnTo>
                    <a:close/>
                    <a:moveTo>
                      <a:pt x="292" y="586"/>
                    </a:moveTo>
                    <a:cubicBezTo>
                      <a:pt x="440" y="586"/>
                      <a:pt x="440" y="586"/>
                      <a:pt x="440" y="586"/>
                    </a:cubicBezTo>
                    <a:cubicBezTo>
                      <a:pt x="417" y="636"/>
                      <a:pt x="389" y="664"/>
                      <a:pt x="366" y="664"/>
                    </a:cubicBezTo>
                    <a:cubicBezTo>
                      <a:pt x="343" y="664"/>
                      <a:pt x="315" y="636"/>
                      <a:pt x="292" y="586"/>
                    </a:cubicBezTo>
                    <a:close/>
                    <a:moveTo>
                      <a:pt x="514" y="586"/>
                    </a:moveTo>
                    <a:cubicBezTo>
                      <a:pt x="567" y="586"/>
                      <a:pt x="567" y="586"/>
                      <a:pt x="567" y="586"/>
                    </a:cubicBezTo>
                    <a:cubicBezTo>
                      <a:pt x="545" y="606"/>
                      <a:pt x="519" y="623"/>
                      <a:pt x="492" y="636"/>
                    </a:cubicBezTo>
                    <a:cubicBezTo>
                      <a:pt x="500" y="621"/>
                      <a:pt x="507" y="604"/>
                      <a:pt x="514" y="586"/>
                    </a:cubicBezTo>
                    <a:close/>
                    <a:moveTo>
                      <a:pt x="547" y="332"/>
                    </a:moveTo>
                    <a:cubicBezTo>
                      <a:pt x="546" y="291"/>
                      <a:pt x="541" y="252"/>
                      <a:pt x="533" y="217"/>
                    </a:cubicBezTo>
                    <a:cubicBezTo>
                      <a:pt x="623" y="217"/>
                      <a:pt x="623" y="217"/>
                      <a:pt x="623" y="217"/>
                    </a:cubicBezTo>
                    <a:cubicBezTo>
                      <a:pt x="643" y="251"/>
                      <a:pt x="656" y="290"/>
                      <a:pt x="661" y="332"/>
                    </a:cubicBezTo>
                    <a:lnTo>
                      <a:pt x="547" y="332"/>
                    </a:lnTo>
                    <a:close/>
                  </a:path>
                </a:pathLst>
              </a:custGeom>
              <a:solidFill>
                <a:srgbClr val="11BB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73BC7A21-6813-4497-9D5E-82CE1F07BD7B}"/>
                  </a:ext>
                </a:extLst>
              </p:cNvPr>
              <p:cNvSpPr/>
              <p:nvPr/>
            </p:nvSpPr>
            <p:spPr bwMode="auto">
              <a:xfrm>
                <a:off x="3649663" y="3468688"/>
                <a:ext cx="1631950" cy="1260475"/>
              </a:xfrm>
              <a:custGeom>
                <a:avLst/>
                <a:gdLst>
                  <a:gd name="T0" fmla="*/ 732 w 738"/>
                  <a:gd name="T1" fmla="*/ 413 h 571"/>
                  <a:gd name="T2" fmla="*/ 574 w 738"/>
                  <a:gd name="T3" fmla="*/ 23 h 571"/>
                  <a:gd name="T4" fmla="*/ 537 w 738"/>
                  <a:gd name="T5" fmla="*/ 2 h 571"/>
                  <a:gd name="T6" fmla="*/ 121 w 738"/>
                  <a:gd name="T7" fmla="*/ 59 h 571"/>
                  <a:gd name="T8" fmla="*/ 92 w 738"/>
                  <a:gd name="T9" fmla="*/ 86 h 571"/>
                  <a:gd name="T10" fmla="*/ 108 w 738"/>
                  <a:gd name="T11" fmla="*/ 124 h 571"/>
                  <a:gd name="T12" fmla="*/ 195 w 738"/>
                  <a:gd name="T13" fmla="*/ 174 h 571"/>
                  <a:gd name="T14" fmla="*/ 6 w 738"/>
                  <a:gd name="T15" fmla="*/ 520 h 571"/>
                  <a:gd name="T16" fmla="*/ 7 w 738"/>
                  <a:gd name="T17" fmla="*/ 554 h 571"/>
                  <a:gd name="T18" fmla="*/ 37 w 738"/>
                  <a:gd name="T19" fmla="*/ 571 h 571"/>
                  <a:gd name="T20" fmla="*/ 479 w 738"/>
                  <a:gd name="T21" fmla="*/ 571 h 571"/>
                  <a:gd name="T22" fmla="*/ 509 w 738"/>
                  <a:gd name="T23" fmla="*/ 554 h 571"/>
                  <a:gd name="T24" fmla="*/ 597 w 738"/>
                  <a:gd name="T25" fmla="*/ 406 h 571"/>
                  <a:gd name="T26" fmla="*/ 683 w 738"/>
                  <a:gd name="T27" fmla="*/ 456 h 571"/>
                  <a:gd name="T28" fmla="*/ 723 w 738"/>
                  <a:gd name="T29" fmla="*/ 452 h 571"/>
                  <a:gd name="T30" fmla="*/ 732 w 738"/>
                  <a:gd name="T31" fmla="*/ 413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38" h="571">
                    <a:moveTo>
                      <a:pt x="732" y="413"/>
                    </a:moveTo>
                    <a:cubicBezTo>
                      <a:pt x="574" y="23"/>
                      <a:pt x="574" y="23"/>
                      <a:pt x="574" y="23"/>
                    </a:cubicBezTo>
                    <a:cubicBezTo>
                      <a:pt x="568" y="8"/>
                      <a:pt x="553" y="0"/>
                      <a:pt x="537" y="2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07" y="61"/>
                      <a:pt x="95" y="72"/>
                      <a:pt x="92" y="86"/>
                    </a:cubicBezTo>
                    <a:cubicBezTo>
                      <a:pt x="88" y="100"/>
                      <a:pt x="95" y="116"/>
                      <a:pt x="108" y="124"/>
                    </a:cubicBezTo>
                    <a:cubicBezTo>
                      <a:pt x="195" y="174"/>
                      <a:pt x="195" y="174"/>
                      <a:pt x="195" y="174"/>
                    </a:cubicBezTo>
                    <a:cubicBezTo>
                      <a:pt x="6" y="520"/>
                      <a:pt x="6" y="520"/>
                      <a:pt x="6" y="520"/>
                    </a:cubicBezTo>
                    <a:cubicBezTo>
                      <a:pt x="0" y="530"/>
                      <a:pt x="1" y="543"/>
                      <a:pt x="7" y="554"/>
                    </a:cubicBezTo>
                    <a:cubicBezTo>
                      <a:pt x="13" y="564"/>
                      <a:pt x="24" y="571"/>
                      <a:pt x="37" y="571"/>
                    </a:cubicBezTo>
                    <a:cubicBezTo>
                      <a:pt x="479" y="571"/>
                      <a:pt x="479" y="571"/>
                      <a:pt x="479" y="571"/>
                    </a:cubicBezTo>
                    <a:cubicBezTo>
                      <a:pt x="491" y="571"/>
                      <a:pt x="502" y="564"/>
                      <a:pt x="509" y="554"/>
                    </a:cubicBezTo>
                    <a:cubicBezTo>
                      <a:pt x="597" y="406"/>
                      <a:pt x="597" y="406"/>
                      <a:pt x="597" y="406"/>
                    </a:cubicBezTo>
                    <a:cubicBezTo>
                      <a:pt x="683" y="456"/>
                      <a:pt x="683" y="456"/>
                      <a:pt x="683" y="456"/>
                    </a:cubicBezTo>
                    <a:cubicBezTo>
                      <a:pt x="696" y="463"/>
                      <a:pt x="712" y="461"/>
                      <a:pt x="723" y="452"/>
                    </a:cubicBezTo>
                    <a:cubicBezTo>
                      <a:pt x="734" y="442"/>
                      <a:pt x="738" y="426"/>
                      <a:pt x="732" y="41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12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2441B49-C046-4972-8545-329C122D1145}"/>
                  </a:ext>
                </a:extLst>
              </p:cNvPr>
              <p:cNvSpPr/>
              <p:nvPr/>
            </p:nvSpPr>
            <p:spPr bwMode="auto">
              <a:xfrm>
                <a:off x="3648075" y="4576763"/>
                <a:ext cx="1790700" cy="968375"/>
              </a:xfrm>
              <a:custGeom>
                <a:avLst/>
                <a:gdLst>
                  <a:gd name="T0" fmla="*/ 775 w 810"/>
                  <a:gd name="T1" fmla="*/ 0 h 438"/>
                  <a:gd name="T2" fmla="*/ 38 w 810"/>
                  <a:gd name="T3" fmla="*/ 0 h 438"/>
                  <a:gd name="T4" fmla="*/ 6 w 810"/>
                  <a:gd name="T5" fmla="*/ 20 h 438"/>
                  <a:gd name="T6" fmla="*/ 12 w 810"/>
                  <a:gd name="T7" fmla="*/ 57 h 438"/>
                  <a:gd name="T8" fmla="*/ 344 w 810"/>
                  <a:gd name="T9" fmla="*/ 426 h 438"/>
                  <a:gd name="T10" fmla="*/ 369 w 810"/>
                  <a:gd name="T11" fmla="*/ 438 h 438"/>
                  <a:gd name="T12" fmla="*/ 775 w 810"/>
                  <a:gd name="T13" fmla="*/ 438 h 438"/>
                  <a:gd name="T14" fmla="*/ 810 w 810"/>
                  <a:gd name="T15" fmla="*/ 403 h 438"/>
                  <a:gd name="T16" fmla="*/ 810 w 810"/>
                  <a:gd name="T17" fmla="*/ 34 h 438"/>
                  <a:gd name="T18" fmla="*/ 775 w 810"/>
                  <a:gd name="T19" fmla="*/ 0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10" h="438">
                    <a:moveTo>
                      <a:pt x="775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24" y="0"/>
                      <a:pt x="12" y="8"/>
                      <a:pt x="6" y="20"/>
                    </a:cubicBezTo>
                    <a:cubicBezTo>
                      <a:pt x="0" y="33"/>
                      <a:pt x="3" y="47"/>
                      <a:pt x="12" y="57"/>
                    </a:cubicBezTo>
                    <a:cubicBezTo>
                      <a:pt x="344" y="426"/>
                      <a:pt x="344" y="426"/>
                      <a:pt x="344" y="426"/>
                    </a:cubicBezTo>
                    <a:cubicBezTo>
                      <a:pt x="350" y="433"/>
                      <a:pt x="360" y="438"/>
                      <a:pt x="369" y="438"/>
                    </a:cubicBezTo>
                    <a:cubicBezTo>
                      <a:pt x="775" y="438"/>
                      <a:pt x="775" y="438"/>
                      <a:pt x="775" y="438"/>
                    </a:cubicBezTo>
                    <a:cubicBezTo>
                      <a:pt x="794" y="438"/>
                      <a:pt x="810" y="422"/>
                      <a:pt x="810" y="403"/>
                    </a:cubicBezTo>
                    <a:cubicBezTo>
                      <a:pt x="810" y="34"/>
                      <a:pt x="810" y="34"/>
                      <a:pt x="810" y="34"/>
                    </a:cubicBezTo>
                    <a:cubicBezTo>
                      <a:pt x="810" y="15"/>
                      <a:pt x="794" y="0"/>
                      <a:pt x="77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A06FB3B-A686-4232-B5DC-0AD0424FBCA4}"/>
                  </a:ext>
                </a:extLst>
              </p:cNvPr>
              <p:cNvSpPr/>
              <p:nvPr/>
            </p:nvSpPr>
            <p:spPr bwMode="auto">
              <a:xfrm>
                <a:off x="5768975" y="1000125"/>
                <a:ext cx="1558925" cy="1730375"/>
              </a:xfrm>
              <a:custGeom>
                <a:avLst/>
                <a:gdLst>
                  <a:gd name="T0" fmla="*/ 696 w 705"/>
                  <a:gd name="T1" fmla="*/ 380 h 784"/>
                  <a:gd name="T2" fmla="*/ 658 w 705"/>
                  <a:gd name="T3" fmla="*/ 368 h 784"/>
                  <a:gd name="T4" fmla="*/ 562 w 705"/>
                  <a:gd name="T5" fmla="*/ 398 h 784"/>
                  <a:gd name="T6" fmla="*/ 435 w 705"/>
                  <a:gd name="T7" fmla="*/ 25 h 784"/>
                  <a:gd name="T8" fmla="*/ 409 w 705"/>
                  <a:gd name="T9" fmla="*/ 2 h 784"/>
                  <a:gd name="T10" fmla="*/ 376 w 705"/>
                  <a:gd name="T11" fmla="*/ 13 h 784"/>
                  <a:gd name="T12" fmla="*/ 77 w 705"/>
                  <a:gd name="T13" fmla="*/ 339 h 784"/>
                  <a:gd name="T14" fmla="*/ 70 w 705"/>
                  <a:gd name="T15" fmla="*/ 372 h 784"/>
                  <a:gd name="T16" fmla="*/ 119 w 705"/>
                  <a:gd name="T17" fmla="*/ 538 h 784"/>
                  <a:gd name="T18" fmla="*/ 25 w 705"/>
                  <a:gd name="T19" fmla="*/ 567 h 784"/>
                  <a:gd name="T20" fmla="*/ 0 w 705"/>
                  <a:gd name="T21" fmla="*/ 599 h 784"/>
                  <a:gd name="T22" fmla="*/ 23 w 705"/>
                  <a:gd name="T23" fmla="*/ 633 h 784"/>
                  <a:gd name="T24" fmla="*/ 417 w 705"/>
                  <a:gd name="T25" fmla="*/ 779 h 784"/>
                  <a:gd name="T26" fmla="*/ 458 w 705"/>
                  <a:gd name="T27" fmla="*/ 766 h 784"/>
                  <a:gd name="T28" fmla="*/ 697 w 705"/>
                  <a:gd name="T29" fmla="*/ 420 h 784"/>
                  <a:gd name="T30" fmla="*/ 696 w 705"/>
                  <a:gd name="T31" fmla="*/ 38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05" h="784">
                    <a:moveTo>
                      <a:pt x="696" y="380"/>
                    </a:moveTo>
                    <a:cubicBezTo>
                      <a:pt x="687" y="368"/>
                      <a:pt x="672" y="363"/>
                      <a:pt x="658" y="368"/>
                    </a:cubicBezTo>
                    <a:cubicBezTo>
                      <a:pt x="562" y="398"/>
                      <a:pt x="562" y="398"/>
                      <a:pt x="562" y="398"/>
                    </a:cubicBezTo>
                    <a:cubicBezTo>
                      <a:pt x="435" y="25"/>
                      <a:pt x="435" y="25"/>
                      <a:pt x="435" y="25"/>
                    </a:cubicBezTo>
                    <a:cubicBezTo>
                      <a:pt x="431" y="13"/>
                      <a:pt x="421" y="5"/>
                      <a:pt x="409" y="2"/>
                    </a:cubicBezTo>
                    <a:cubicBezTo>
                      <a:pt x="397" y="0"/>
                      <a:pt x="385" y="4"/>
                      <a:pt x="376" y="13"/>
                    </a:cubicBezTo>
                    <a:cubicBezTo>
                      <a:pt x="77" y="339"/>
                      <a:pt x="77" y="339"/>
                      <a:pt x="77" y="339"/>
                    </a:cubicBezTo>
                    <a:cubicBezTo>
                      <a:pt x="69" y="348"/>
                      <a:pt x="66" y="361"/>
                      <a:pt x="70" y="372"/>
                    </a:cubicBezTo>
                    <a:cubicBezTo>
                      <a:pt x="119" y="538"/>
                      <a:pt x="119" y="538"/>
                      <a:pt x="119" y="538"/>
                    </a:cubicBezTo>
                    <a:cubicBezTo>
                      <a:pt x="25" y="567"/>
                      <a:pt x="25" y="567"/>
                      <a:pt x="25" y="567"/>
                    </a:cubicBezTo>
                    <a:cubicBezTo>
                      <a:pt x="11" y="572"/>
                      <a:pt x="1" y="584"/>
                      <a:pt x="0" y="599"/>
                    </a:cubicBezTo>
                    <a:cubicBezTo>
                      <a:pt x="0" y="614"/>
                      <a:pt x="9" y="627"/>
                      <a:pt x="23" y="633"/>
                    </a:cubicBezTo>
                    <a:cubicBezTo>
                      <a:pt x="417" y="779"/>
                      <a:pt x="417" y="779"/>
                      <a:pt x="417" y="779"/>
                    </a:cubicBezTo>
                    <a:cubicBezTo>
                      <a:pt x="432" y="784"/>
                      <a:pt x="449" y="779"/>
                      <a:pt x="458" y="766"/>
                    </a:cubicBezTo>
                    <a:cubicBezTo>
                      <a:pt x="697" y="420"/>
                      <a:pt x="697" y="420"/>
                      <a:pt x="697" y="420"/>
                    </a:cubicBezTo>
                    <a:cubicBezTo>
                      <a:pt x="705" y="408"/>
                      <a:pt x="705" y="392"/>
                      <a:pt x="696" y="38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12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F961A634-544F-4C61-91C5-DFCF529A6808}"/>
                  </a:ext>
                </a:extLst>
              </p:cNvPr>
              <p:cNvSpPr/>
              <p:nvPr/>
            </p:nvSpPr>
            <p:spPr bwMode="auto">
              <a:xfrm>
                <a:off x="4870450" y="992188"/>
                <a:ext cx="1868488" cy="1371600"/>
              </a:xfrm>
              <a:custGeom>
                <a:avLst/>
                <a:gdLst>
                  <a:gd name="T0" fmla="*/ 840 w 845"/>
                  <a:gd name="T1" fmla="*/ 25 h 621"/>
                  <a:gd name="T2" fmla="*/ 808 w 845"/>
                  <a:gd name="T3" fmla="*/ 4 h 621"/>
                  <a:gd name="T4" fmla="*/ 312 w 845"/>
                  <a:gd name="T5" fmla="*/ 0 h 621"/>
                  <a:gd name="T6" fmla="*/ 286 w 845"/>
                  <a:gd name="T7" fmla="*/ 11 h 621"/>
                  <a:gd name="T8" fmla="*/ 12 w 845"/>
                  <a:gd name="T9" fmla="*/ 310 h 621"/>
                  <a:gd name="T10" fmla="*/ 14 w 845"/>
                  <a:gd name="T11" fmla="*/ 359 h 621"/>
                  <a:gd name="T12" fmla="*/ 286 w 845"/>
                  <a:gd name="T13" fmla="*/ 608 h 621"/>
                  <a:gd name="T14" fmla="*/ 335 w 845"/>
                  <a:gd name="T15" fmla="*/ 606 h 621"/>
                  <a:gd name="T16" fmla="*/ 833 w 845"/>
                  <a:gd name="T17" fmla="*/ 62 h 621"/>
                  <a:gd name="T18" fmla="*/ 840 w 845"/>
                  <a:gd name="T19" fmla="*/ 25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5" h="621">
                    <a:moveTo>
                      <a:pt x="840" y="25"/>
                    </a:moveTo>
                    <a:cubicBezTo>
                      <a:pt x="834" y="13"/>
                      <a:pt x="822" y="5"/>
                      <a:pt x="808" y="4"/>
                    </a:cubicBezTo>
                    <a:cubicBezTo>
                      <a:pt x="312" y="0"/>
                      <a:pt x="312" y="0"/>
                      <a:pt x="312" y="0"/>
                    </a:cubicBezTo>
                    <a:cubicBezTo>
                      <a:pt x="302" y="0"/>
                      <a:pt x="293" y="4"/>
                      <a:pt x="286" y="11"/>
                    </a:cubicBezTo>
                    <a:cubicBezTo>
                      <a:pt x="12" y="310"/>
                      <a:pt x="12" y="310"/>
                      <a:pt x="12" y="310"/>
                    </a:cubicBezTo>
                    <a:cubicBezTo>
                      <a:pt x="0" y="324"/>
                      <a:pt x="0" y="346"/>
                      <a:pt x="14" y="359"/>
                    </a:cubicBezTo>
                    <a:cubicBezTo>
                      <a:pt x="286" y="608"/>
                      <a:pt x="286" y="608"/>
                      <a:pt x="286" y="608"/>
                    </a:cubicBezTo>
                    <a:cubicBezTo>
                      <a:pt x="300" y="621"/>
                      <a:pt x="322" y="620"/>
                      <a:pt x="335" y="606"/>
                    </a:cubicBezTo>
                    <a:cubicBezTo>
                      <a:pt x="833" y="62"/>
                      <a:pt x="833" y="62"/>
                      <a:pt x="833" y="62"/>
                    </a:cubicBezTo>
                    <a:cubicBezTo>
                      <a:pt x="843" y="52"/>
                      <a:pt x="845" y="38"/>
                      <a:pt x="840" y="2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D67AAB38-ABD7-4B86-8413-874339753911}"/>
                  </a:ext>
                </a:extLst>
              </p:cNvPr>
              <p:cNvSpPr/>
              <p:nvPr/>
            </p:nvSpPr>
            <p:spPr bwMode="auto">
              <a:xfrm>
                <a:off x="6523038" y="4243388"/>
                <a:ext cx="1677988" cy="1633538"/>
              </a:xfrm>
              <a:custGeom>
                <a:avLst/>
                <a:gdLst>
                  <a:gd name="T0" fmla="*/ 753 w 759"/>
                  <a:gd name="T1" fmla="*/ 540 h 739"/>
                  <a:gd name="T2" fmla="*/ 532 w 759"/>
                  <a:gd name="T3" fmla="*/ 157 h 739"/>
                  <a:gd name="T4" fmla="*/ 502 w 759"/>
                  <a:gd name="T5" fmla="*/ 139 h 739"/>
                  <a:gd name="T6" fmla="*/ 330 w 759"/>
                  <a:gd name="T7" fmla="*/ 137 h 739"/>
                  <a:gd name="T8" fmla="*/ 330 w 759"/>
                  <a:gd name="T9" fmla="*/ 38 h 739"/>
                  <a:gd name="T10" fmla="*/ 308 w 759"/>
                  <a:gd name="T11" fmla="*/ 5 h 739"/>
                  <a:gd name="T12" fmla="*/ 268 w 759"/>
                  <a:gd name="T13" fmla="*/ 16 h 739"/>
                  <a:gd name="T14" fmla="*/ 10 w 759"/>
                  <a:gd name="T15" fmla="*/ 348 h 739"/>
                  <a:gd name="T16" fmla="*/ 10 w 759"/>
                  <a:gd name="T17" fmla="*/ 391 h 739"/>
                  <a:gd name="T18" fmla="*/ 268 w 759"/>
                  <a:gd name="T19" fmla="*/ 723 h 739"/>
                  <a:gd name="T20" fmla="*/ 306 w 759"/>
                  <a:gd name="T21" fmla="*/ 734 h 739"/>
                  <a:gd name="T22" fmla="*/ 330 w 759"/>
                  <a:gd name="T23" fmla="*/ 701 h 739"/>
                  <a:gd name="T24" fmla="*/ 330 w 759"/>
                  <a:gd name="T25" fmla="*/ 601 h 739"/>
                  <a:gd name="T26" fmla="*/ 724 w 759"/>
                  <a:gd name="T27" fmla="*/ 592 h 739"/>
                  <a:gd name="T28" fmla="*/ 753 w 759"/>
                  <a:gd name="T29" fmla="*/ 574 h 739"/>
                  <a:gd name="T30" fmla="*/ 753 w 759"/>
                  <a:gd name="T31" fmla="*/ 540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59" h="739">
                    <a:moveTo>
                      <a:pt x="753" y="540"/>
                    </a:moveTo>
                    <a:cubicBezTo>
                      <a:pt x="532" y="157"/>
                      <a:pt x="532" y="157"/>
                      <a:pt x="532" y="157"/>
                    </a:cubicBezTo>
                    <a:cubicBezTo>
                      <a:pt x="526" y="146"/>
                      <a:pt x="514" y="140"/>
                      <a:pt x="502" y="139"/>
                    </a:cubicBezTo>
                    <a:cubicBezTo>
                      <a:pt x="330" y="137"/>
                      <a:pt x="330" y="137"/>
                      <a:pt x="330" y="137"/>
                    </a:cubicBezTo>
                    <a:cubicBezTo>
                      <a:pt x="330" y="38"/>
                      <a:pt x="330" y="38"/>
                      <a:pt x="330" y="38"/>
                    </a:cubicBezTo>
                    <a:cubicBezTo>
                      <a:pt x="330" y="24"/>
                      <a:pt x="321" y="11"/>
                      <a:pt x="308" y="5"/>
                    </a:cubicBezTo>
                    <a:cubicBezTo>
                      <a:pt x="294" y="0"/>
                      <a:pt x="277" y="5"/>
                      <a:pt x="268" y="16"/>
                    </a:cubicBezTo>
                    <a:cubicBezTo>
                      <a:pt x="10" y="348"/>
                      <a:pt x="10" y="348"/>
                      <a:pt x="10" y="348"/>
                    </a:cubicBezTo>
                    <a:cubicBezTo>
                      <a:pt x="0" y="361"/>
                      <a:pt x="0" y="378"/>
                      <a:pt x="10" y="391"/>
                    </a:cubicBezTo>
                    <a:cubicBezTo>
                      <a:pt x="268" y="723"/>
                      <a:pt x="268" y="723"/>
                      <a:pt x="268" y="723"/>
                    </a:cubicBezTo>
                    <a:cubicBezTo>
                      <a:pt x="277" y="734"/>
                      <a:pt x="293" y="739"/>
                      <a:pt x="306" y="734"/>
                    </a:cubicBezTo>
                    <a:cubicBezTo>
                      <a:pt x="320" y="730"/>
                      <a:pt x="330" y="716"/>
                      <a:pt x="330" y="701"/>
                    </a:cubicBezTo>
                    <a:cubicBezTo>
                      <a:pt x="330" y="601"/>
                      <a:pt x="330" y="601"/>
                      <a:pt x="330" y="601"/>
                    </a:cubicBezTo>
                    <a:cubicBezTo>
                      <a:pt x="724" y="592"/>
                      <a:pt x="724" y="592"/>
                      <a:pt x="724" y="592"/>
                    </a:cubicBezTo>
                    <a:cubicBezTo>
                      <a:pt x="736" y="591"/>
                      <a:pt x="747" y="585"/>
                      <a:pt x="753" y="574"/>
                    </a:cubicBezTo>
                    <a:cubicBezTo>
                      <a:pt x="759" y="564"/>
                      <a:pt x="759" y="551"/>
                      <a:pt x="753" y="54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12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9C8A262-5B4C-452B-AC99-73D0388D73F2}"/>
                  </a:ext>
                </a:extLst>
              </p:cNvPr>
              <p:cNvSpPr/>
              <p:nvPr/>
            </p:nvSpPr>
            <p:spPr bwMode="auto">
              <a:xfrm>
                <a:off x="7219950" y="3570288"/>
                <a:ext cx="1319213" cy="1981200"/>
              </a:xfrm>
              <a:custGeom>
                <a:avLst/>
                <a:gdLst>
                  <a:gd name="T0" fmla="*/ 591 w 597"/>
                  <a:gd name="T1" fmla="*/ 373 h 897"/>
                  <a:gd name="T2" fmla="*/ 389 w 597"/>
                  <a:gd name="T3" fmla="*/ 22 h 897"/>
                  <a:gd name="T4" fmla="*/ 341 w 597"/>
                  <a:gd name="T5" fmla="*/ 9 h 897"/>
                  <a:gd name="T6" fmla="*/ 22 w 597"/>
                  <a:gd name="T7" fmla="*/ 194 h 897"/>
                  <a:gd name="T8" fmla="*/ 9 w 597"/>
                  <a:gd name="T9" fmla="*/ 241 h 897"/>
                  <a:gd name="T10" fmla="*/ 378 w 597"/>
                  <a:gd name="T11" fmla="*/ 880 h 897"/>
                  <a:gd name="T12" fmla="*/ 408 w 597"/>
                  <a:gd name="T13" fmla="*/ 897 h 897"/>
                  <a:gd name="T14" fmla="*/ 412 w 597"/>
                  <a:gd name="T15" fmla="*/ 897 h 897"/>
                  <a:gd name="T16" fmla="*/ 441 w 597"/>
                  <a:gd name="T17" fmla="*/ 873 h 897"/>
                  <a:gd name="T18" fmla="*/ 594 w 597"/>
                  <a:gd name="T19" fmla="*/ 401 h 897"/>
                  <a:gd name="T20" fmla="*/ 591 w 597"/>
                  <a:gd name="T21" fmla="*/ 373 h 8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7" h="897">
                    <a:moveTo>
                      <a:pt x="591" y="373"/>
                    </a:moveTo>
                    <a:cubicBezTo>
                      <a:pt x="389" y="22"/>
                      <a:pt x="389" y="22"/>
                      <a:pt x="389" y="22"/>
                    </a:cubicBezTo>
                    <a:cubicBezTo>
                      <a:pt x="379" y="5"/>
                      <a:pt x="358" y="0"/>
                      <a:pt x="341" y="9"/>
                    </a:cubicBezTo>
                    <a:cubicBezTo>
                      <a:pt x="22" y="194"/>
                      <a:pt x="22" y="194"/>
                      <a:pt x="22" y="194"/>
                    </a:cubicBezTo>
                    <a:cubicBezTo>
                      <a:pt x="6" y="203"/>
                      <a:pt x="0" y="224"/>
                      <a:pt x="9" y="241"/>
                    </a:cubicBezTo>
                    <a:cubicBezTo>
                      <a:pt x="378" y="880"/>
                      <a:pt x="378" y="880"/>
                      <a:pt x="378" y="880"/>
                    </a:cubicBezTo>
                    <a:cubicBezTo>
                      <a:pt x="384" y="890"/>
                      <a:pt x="396" y="897"/>
                      <a:pt x="408" y="897"/>
                    </a:cubicBezTo>
                    <a:cubicBezTo>
                      <a:pt x="409" y="897"/>
                      <a:pt x="410" y="897"/>
                      <a:pt x="412" y="897"/>
                    </a:cubicBezTo>
                    <a:cubicBezTo>
                      <a:pt x="425" y="895"/>
                      <a:pt x="437" y="886"/>
                      <a:pt x="441" y="873"/>
                    </a:cubicBezTo>
                    <a:cubicBezTo>
                      <a:pt x="594" y="401"/>
                      <a:pt x="594" y="401"/>
                      <a:pt x="594" y="401"/>
                    </a:cubicBezTo>
                    <a:cubicBezTo>
                      <a:pt x="597" y="392"/>
                      <a:pt x="596" y="382"/>
                      <a:pt x="591" y="37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48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67C3D1F-FB8E-4340-8126-31F39FE47266}"/>
                </a:ext>
              </a:extLst>
            </p:cNvPr>
            <p:cNvGrpSpPr/>
            <p:nvPr/>
          </p:nvGrpSpPr>
          <p:grpSpPr>
            <a:xfrm>
              <a:off x="8555264" y="2638681"/>
              <a:ext cx="2842532" cy="664156"/>
              <a:chOff x="844173" y="2422024"/>
              <a:chExt cx="2842532" cy="664156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538994EB-9587-4783-9E5B-5D99485C6446}"/>
                  </a:ext>
                </a:extLst>
              </p:cNvPr>
              <p:cNvGrpSpPr/>
              <p:nvPr/>
            </p:nvGrpSpPr>
            <p:grpSpPr>
              <a:xfrm>
                <a:off x="1428758" y="2422024"/>
                <a:ext cx="2257947" cy="664156"/>
                <a:chOff x="6873246" y="3437950"/>
                <a:chExt cx="2257947" cy="619507"/>
              </a:xfrm>
            </p:grpSpPr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F7A8EB51-1F54-4420-B911-4377B0CE91C0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市场竞争格局的稳固</a:t>
                  </a: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0002F91-8B71-4181-AAE0-64972436E2A6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竞争对手分析</a:t>
                  </a:r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BE3B8515-8FF4-4987-A18E-916CCB77E8B9}"/>
                  </a:ext>
                </a:extLst>
              </p:cNvPr>
              <p:cNvGrpSpPr/>
              <p:nvPr/>
            </p:nvGrpSpPr>
            <p:grpSpPr>
              <a:xfrm>
                <a:off x="844173" y="2422026"/>
                <a:ext cx="444222" cy="444220"/>
                <a:chOff x="4678401" y="2094096"/>
                <a:chExt cx="444222" cy="444220"/>
              </a:xfrm>
            </p:grpSpPr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EAAF13A-3B9E-4D50-924C-9AB4A7A89E12}"/>
                    </a:ext>
                  </a:extLst>
                </p:cNvPr>
                <p:cNvSpPr/>
                <p:nvPr/>
              </p:nvSpPr>
              <p:spPr>
                <a:xfrm>
                  <a:off x="4678401" y="209409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3D8451F7-2EFA-437E-8967-CA3D0E9AD732}"/>
                    </a:ext>
                  </a:extLst>
                </p:cNvPr>
                <p:cNvSpPr/>
                <p:nvPr/>
              </p:nvSpPr>
              <p:spPr bwMode="auto">
                <a:xfrm>
                  <a:off x="4788717" y="2220630"/>
                  <a:ext cx="205561" cy="171132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</p:grp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9D791370-8587-4FF4-8AB8-30CE6C7A88C5}"/>
                </a:ext>
              </a:extLst>
            </p:cNvPr>
            <p:cNvGrpSpPr/>
            <p:nvPr/>
          </p:nvGrpSpPr>
          <p:grpSpPr>
            <a:xfrm>
              <a:off x="8555264" y="4751774"/>
              <a:ext cx="2842532" cy="664156"/>
              <a:chOff x="844173" y="3314604"/>
              <a:chExt cx="2842532" cy="664156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C6DB24A9-F138-4F68-B4B3-BAD5F28A9FA0}"/>
                  </a:ext>
                </a:extLst>
              </p:cNvPr>
              <p:cNvGrpSpPr/>
              <p:nvPr/>
            </p:nvGrpSpPr>
            <p:grpSpPr>
              <a:xfrm>
                <a:off x="844173" y="3314606"/>
                <a:ext cx="444222" cy="444220"/>
                <a:chOff x="5472389" y="2095128"/>
                <a:chExt cx="444222" cy="444220"/>
              </a:xfrm>
            </p:grpSpPr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03D74FB6-18F1-4021-99DE-85B42ECE8391}"/>
                    </a:ext>
                  </a:extLst>
                </p:cNvPr>
                <p:cNvSpPr/>
                <p:nvPr/>
              </p:nvSpPr>
              <p:spPr>
                <a:xfrm>
                  <a:off x="5472389" y="2095128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99DD9D38-1864-4753-9F0F-DF5986D89993}"/>
                    </a:ext>
                  </a:extLst>
                </p:cNvPr>
                <p:cNvSpPr/>
                <p:nvPr/>
              </p:nvSpPr>
              <p:spPr bwMode="auto">
                <a:xfrm>
                  <a:off x="5591720" y="2223635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F3ABB885-AEA5-4BBF-8420-1564ACB08A2B}"/>
                  </a:ext>
                </a:extLst>
              </p:cNvPr>
              <p:cNvGrpSpPr/>
              <p:nvPr/>
            </p:nvGrpSpPr>
            <p:grpSpPr>
              <a:xfrm>
                <a:off x="1428758" y="3314604"/>
                <a:ext cx="2257947" cy="664156"/>
                <a:chOff x="6873246" y="3437950"/>
                <a:chExt cx="2257947" cy="619507"/>
              </a:xfrm>
            </p:grpSpPr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FE5E380A-675E-4518-B23B-1BAAE8723716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产品市场占有率的增长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F39AA90E-390D-46F6-9349-9F92315298E1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市场渗透率提升</a:t>
                  </a:r>
                </a:p>
              </p:txBody>
            </p:sp>
          </p:grp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290892BA-3AC4-427E-9362-0B1AF1F6D0D4}"/>
                </a:ext>
              </a:extLst>
            </p:cNvPr>
            <p:cNvGrpSpPr/>
            <p:nvPr/>
          </p:nvGrpSpPr>
          <p:grpSpPr>
            <a:xfrm>
              <a:off x="961486" y="2638681"/>
              <a:ext cx="2603486" cy="664156"/>
              <a:chOff x="2682676" y="4413419"/>
              <a:chExt cx="2603486" cy="664156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69595BDF-7900-4983-929C-9E97176B5E39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ABFB5156-1FF2-4AE5-AFD6-2ADAB1B6381D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4A72F118-AA9C-4175-AC3E-B6E7957D772B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EFB70C84-4A90-43FA-93CA-EA94A97A8660}"/>
                  </a:ext>
                </a:extLst>
              </p:cNvPr>
              <p:cNvGrpSpPr/>
              <p:nvPr/>
            </p:nvGrpSpPr>
            <p:grpSpPr>
              <a:xfrm>
                <a:off x="2682676" y="4413419"/>
                <a:ext cx="1954395" cy="664156"/>
                <a:chOff x="8127164" y="3437950"/>
                <a:chExt cx="1954395" cy="619507"/>
              </a:xfrm>
            </p:grpSpPr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8260FDCD-0ACA-48DA-A273-201956FCBA9F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市场份额的变化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FA6A55BE-F84A-461F-BA2A-8880AC7E2BF8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整体市场表现</a:t>
                  </a:r>
                </a:p>
              </p:txBody>
            </p:sp>
          </p:grp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B8627C2-A07F-4ED1-AB98-C5ECF9986BA3}"/>
                </a:ext>
              </a:extLst>
            </p:cNvPr>
            <p:cNvGrpSpPr/>
            <p:nvPr/>
          </p:nvGrpSpPr>
          <p:grpSpPr>
            <a:xfrm>
              <a:off x="961486" y="4751774"/>
              <a:ext cx="2603486" cy="664156"/>
              <a:chOff x="2682676" y="4413419"/>
              <a:chExt cx="2603486" cy="66415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50459D31-32F7-44CA-B21A-5B4612673B79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C9D16003-98D7-4D45-8E5E-DF5C7A829E99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68B5D21-C4DE-4F22-B40C-E0C706146662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6F434DD-240E-4B4E-BE60-BF9BD7865BFC}"/>
                  </a:ext>
                </a:extLst>
              </p:cNvPr>
              <p:cNvGrpSpPr/>
              <p:nvPr/>
            </p:nvGrpSpPr>
            <p:grpSpPr>
              <a:xfrm>
                <a:off x="2682676" y="4413419"/>
                <a:ext cx="1954395" cy="664156"/>
                <a:chOff x="8127164" y="3437950"/>
                <a:chExt cx="1954395" cy="619507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F47CD2E-E081-4CEC-8A5D-F42A5E761249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市场扩张策略的成功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6FC9C0A-B570-412B-9FBE-A5921EEEDD1E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新市场开拓</a:t>
                  </a:r>
                </a:p>
              </p:txBody>
            </p:sp>
          </p:grp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9EA342B-A1CC-4AA2-AEB4-2D8BBC5789C1}"/>
                </a:ext>
              </a:extLst>
            </p:cNvPr>
            <p:cNvSpPr/>
            <p:nvPr/>
          </p:nvSpPr>
          <p:spPr>
            <a:xfrm>
              <a:off x="1465943" y="1214657"/>
              <a:ext cx="9260114" cy="56651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市场战略的有效性</a:t>
              </a:r>
            </a:p>
          </p:txBody>
        </p:sp>
      </p:grpSp>
      <p:sp>
        <p:nvSpPr>
          <p:cNvPr id="136" name="Title 13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战略之道，效果显著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837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3335" y="0"/>
            <a:ext cx="12195335" cy="6858000"/>
            <a:chOff x="-3335" y="0"/>
            <a:chExt cx="12195335" cy="68580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254659-19CA-4952-B7D6-9D976C47510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8E7EF0">
                <a:alpha val="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8A453D7-2F9D-4572-A6BF-0F2EB714D942}"/>
                </a:ext>
              </a:extLst>
            </p:cNvPr>
            <p:cNvSpPr/>
            <p:nvPr/>
          </p:nvSpPr>
          <p:spPr>
            <a:xfrm rot="533347">
              <a:off x="-3335" y="1613314"/>
              <a:ext cx="3678238" cy="3678238"/>
            </a:xfrm>
            <a:prstGeom prst="ellipse">
              <a:avLst/>
            </a:prstGeom>
            <a:gradFill>
              <a:gsLst>
                <a:gs pos="0">
                  <a:schemeClr val="accent5">
                    <a:lumMod val="20000"/>
                    <a:lumOff val="80000"/>
                    <a:alpha val="0"/>
                  </a:schemeClr>
                </a:gs>
                <a:gs pos="60000">
                  <a:schemeClr val="accent5">
                    <a:lumMod val="60000"/>
                    <a:lumOff val="40000"/>
                    <a:alpha val="32000"/>
                  </a:schemeClr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softEdge rad="533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319D73-8CB5-4311-B45B-1509E4C87676}"/>
                </a:ext>
              </a:extLst>
            </p:cNvPr>
            <p:cNvSpPr txBox="1"/>
            <p:nvPr/>
          </p:nvSpPr>
          <p:spPr>
            <a:xfrm>
              <a:off x="660401" y="2480934"/>
              <a:ext cx="10858499" cy="29482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展示公司市场表现分析和竞争地位的数据和证据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2C46198-3B06-457F-AA57-9522EA006A4E}"/>
                </a:ext>
              </a:extLst>
            </p:cNvPr>
            <p:cNvGrpSpPr/>
            <p:nvPr/>
          </p:nvGrpSpPr>
          <p:grpSpPr>
            <a:xfrm>
              <a:off x="660400" y="5009945"/>
              <a:ext cx="3543300" cy="1079500"/>
              <a:chOff x="660400" y="1524000"/>
              <a:chExt cx="3543300" cy="1079500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CD2267D-860D-4567-8173-67A6C7C477C3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82FFDAF-7D4D-48A7-BF3B-B868A9A1FD40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 dirty="0">
                    <a:solidFill>
                      <a:srgbClr val="FFFFFF"/>
                    </a:solidFill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A55CF4-0295-4349-BA50-9AA4C0539579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4"/>
                    </a:solidFill>
                  </a:rPr>
                  <a:t>用户满意度调查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0E6089-4902-46BD-92CE-068DFC771F11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用户对公司产品和服务的满意程度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9ACAF12-F614-4F63-93BF-E973D04F1CC1}"/>
                </a:ext>
              </a:extLst>
            </p:cNvPr>
            <p:cNvGrpSpPr/>
            <p:nvPr/>
          </p:nvGrpSpPr>
          <p:grpSpPr>
            <a:xfrm>
              <a:off x="7975600" y="5009945"/>
              <a:ext cx="3543300" cy="1079500"/>
              <a:chOff x="660400" y="1524000"/>
              <a:chExt cx="3543300" cy="1079500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B515AA9-F305-4DB8-AA97-2ABA8677182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AEC9966-49D1-41B9-BB85-02EB2025D854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 dirty="0">
                    <a:solidFill>
                      <a:srgbClr val="FFFFFF"/>
                    </a:solidFill>
                  </a:rPr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2474AD-3733-410D-B032-1E67573B0ECF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3"/>
                    </a:solidFill>
                  </a:rPr>
                  <a:t>品牌知名度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40E391-153C-4E94-BE38-5530DA0FE587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公司品牌在市场中的认知和影响力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E76F056-0DB1-4D93-B1F1-76F7B71DDA8D}"/>
                </a:ext>
              </a:extLst>
            </p:cNvPr>
            <p:cNvGrpSpPr/>
            <p:nvPr/>
          </p:nvGrpSpPr>
          <p:grpSpPr>
            <a:xfrm>
              <a:off x="4318000" y="5009945"/>
              <a:ext cx="3543300" cy="1079500"/>
              <a:chOff x="660400" y="1524000"/>
              <a:chExt cx="3543300" cy="1079500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AE545D8-EB63-43D7-91BF-FF41CD22FF57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26E6B0C-1EE7-458D-906D-F1139991AD0B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 dirty="0">
                    <a:solidFill>
                      <a:srgbClr val="FFFFFF"/>
                    </a:solidFill>
                  </a:rPr>
                  <a:t>5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1702F-7356-4C5F-9C2D-806F27CAD4D6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2"/>
                    </a:solidFill>
                  </a:rPr>
                  <a:t>客户保持率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13CF46-466E-42E1-BB8A-97246E0E6A98}"/>
                  </a:ext>
                </a:extLst>
              </p:cNvPr>
              <p:cNvSpPr txBox="1"/>
              <p:nvPr/>
            </p:nvSpPr>
            <p:spPr>
              <a:xfrm>
                <a:off x="1616075" y="1757813"/>
                <a:ext cx="2324100" cy="294824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公司客户的保持和续约情况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68B4BD1-A834-4217-8BA0-519060F9DBF4}"/>
                </a:ext>
              </a:extLst>
            </p:cNvPr>
            <p:cNvSpPr txBox="1"/>
            <p:nvPr/>
          </p:nvSpPr>
          <p:spPr>
            <a:xfrm>
              <a:off x="660401" y="1288325"/>
              <a:ext cx="10858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市场战略的有效性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BDAD9E4-3534-465B-9E98-86C5B8741C6A}"/>
                </a:ext>
              </a:extLst>
            </p:cNvPr>
            <p:cNvSpPr/>
            <p:nvPr/>
          </p:nvSpPr>
          <p:spPr>
            <a:xfrm rot="7408701">
              <a:off x="10379496" y="699669"/>
              <a:ext cx="1483841" cy="148384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9000">
                  <a:schemeClr val="accent1">
                    <a:alpha val="82000"/>
                  </a:schemeClr>
                </a:gs>
                <a:gs pos="47000">
                  <a:schemeClr val="accent1">
                    <a:lumMod val="60000"/>
                    <a:lumOff val="40000"/>
                    <a:alpha val="79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57150" cap="rnd">
              <a:noFill/>
              <a:prstDash val="solid"/>
              <a:round/>
            </a:ln>
            <a:effectLst>
              <a:softEdge rad="355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985EDA7-7D5D-4A8C-8F8E-F396EA29154E}"/>
                </a:ext>
              </a:extLst>
            </p:cNvPr>
            <p:cNvGrpSpPr/>
            <p:nvPr/>
          </p:nvGrpSpPr>
          <p:grpSpPr>
            <a:xfrm>
              <a:off x="660400" y="3758006"/>
              <a:ext cx="3543300" cy="1079500"/>
              <a:chOff x="660400" y="1524000"/>
              <a:chExt cx="3543300" cy="1079500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E1856748-743A-430F-98B0-7C058EE855A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54B26C7-E50D-4A69-9263-0A30E145D85A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>
                    <a:solidFill>
                      <a:srgbClr val="FFFFFF"/>
                    </a:solidFill>
                  </a:rPr>
                  <a:t>1</a:t>
                </a:r>
                <a:endParaRPr lang="en-GB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485FFE9-ED86-43E4-8D44-5ED030DE9A62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6"/>
                    </a:solidFill>
                  </a:rPr>
                  <a:t>市场份额的变化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1DBFE7-6F9A-45C0-BB96-19ACA3EFF25B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公司市场份额，一年间的起伏变化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B3EE849-3341-4793-BD77-903935CC649F}"/>
                </a:ext>
              </a:extLst>
            </p:cNvPr>
            <p:cNvGrpSpPr/>
            <p:nvPr/>
          </p:nvGrpSpPr>
          <p:grpSpPr>
            <a:xfrm>
              <a:off x="7975600" y="3758006"/>
              <a:ext cx="3543300" cy="1079500"/>
              <a:chOff x="660400" y="1524000"/>
              <a:chExt cx="3543300" cy="1079500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53582BF1-EA06-478B-8361-8C853003740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9C4F112-58CF-486E-BE1B-D7B82584FF20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>
                    <a:solidFill>
                      <a:srgbClr val="FFFFFF"/>
                    </a:solidFill>
                  </a:rPr>
                  <a:t>3</a:t>
                </a:r>
                <a:endParaRPr lang="en-GB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0CE6A88-BB9E-45B9-92B9-9AB192EFFA60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1"/>
                    </a:solidFill>
                  </a:rPr>
                  <a:t>竞争对手分析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4212D84-081A-4C16-8593-E87D3785DAD7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公司与竞争对手之间的比较和优势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BCCB1B6-A2E9-424C-87E6-202D9D9FDBD8}"/>
                </a:ext>
              </a:extLst>
            </p:cNvPr>
            <p:cNvGrpSpPr/>
            <p:nvPr/>
          </p:nvGrpSpPr>
          <p:grpSpPr>
            <a:xfrm>
              <a:off x="4318000" y="3758006"/>
              <a:ext cx="3543300" cy="1079500"/>
              <a:chOff x="660400" y="1524000"/>
              <a:chExt cx="3543300" cy="107950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1EAE1E49-A766-4999-A476-A7515B3932E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7A66B2C-0A83-4DEE-8CB8-6E75C1CD6322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5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>
                    <a:solidFill>
                      <a:srgbClr val="FFFFFF"/>
                    </a:solidFill>
                  </a:rPr>
                  <a:t>2</a:t>
                </a:r>
                <a:endParaRPr lang="en-GB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DA9044-C838-4574-9DE6-55862005101C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5"/>
                    </a:solidFill>
                  </a:rPr>
                  <a:t>市场战略的成功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186C3E5-70C2-4969-AC85-F6AFE32B3FB3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公司市场战略的有效性和取得的成果</a:t>
                </a:r>
              </a:p>
            </p:txBody>
          </p:sp>
        </p:grpSp>
      </p:grpSp>
      <p:sp>
        <p:nvSpPr>
          <p:cNvPr id="55" name="Title 5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稳固地位的证明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010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02.技术创新和产品研发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公司技术创新成果展示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0854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465943" y="1214657"/>
            <a:ext cx="9260114" cy="4469843"/>
            <a:chOff x="1465943" y="1214657"/>
            <a:chExt cx="9260114" cy="446984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5352691-0342-4843-8385-459CFEBC372C}"/>
                </a:ext>
              </a:extLst>
            </p:cNvPr>
            <p:cNvSpPr/>
            <p:nvPr/>
          </p:nvSpPr>
          <p:spPr>
            <a:xfrm>
              <a:off x="1814674" y="2857566"/>
              <a:ext cx="2637590" cy="2610369"/>
            </a:xfrm>
            <a:custGeom>
              <a:avLst/>
              <a:gdLst>
                <a:gd name="T0" fmla="*/ 2709 w 7873"/>
                <a:gd name="T1" fmla="*/ 1592 h 7791"/>
                <a:gd name="T2" fmla="*/ 5329 w 7873"/>
                <a:gd name="T3" fmla="*/ 1624 h 7791"/>
                <a:gd name="T4" fmla="*/ 5782 w 7873"/>
                <a:gd name="T5" fmla="*/ 969 h 7791"/>
                <a:gd name="T6" fmla="*/ 5477 w 7873"/>
                <a:gd name="T7" fmla="*/ 432 h 7791"/>
                <a:gd name="T8" fmla="*/ 4004 w 7873"/>
                <a:gd name="T9" fmla="*/ 13 h 7791"/>
                <a:gd name="T10" fmla="*/ 2709 w 7873"/>
                <a:gd name="T11" fmla="*/ 368 h 7791"/>
                <a:gd name="T12" fmla="*/ 2352 w 7873"/>
                <a:gd name="T13" fmla="*/ 840 h 7791"/>
                <a:gd name="T14" fmla="*/ 2709 w 7873"/>
                <a:gd name="T15" fmla="*/ 1592 h 7791"/>
                <a:gd name="T16" fmla="*/ 2699 w 7873"/>
                <a:gd name="T17" fmla="*/ 2258 h 7791"/>
                <a:gd name="T18" fmla="*/ 3046 w 7873"/>
                <a:gd name="T19" fmla="*/ 2376 h 7791"/>
                <a:gd name="T20" fmla="*/ 3351 w 7873"/>
                <a:gd name="T21" fmla="*/ 2537 h 7791"/>
                <a:gd name="T22" fmla="*/ 4656 w 7873"/>
                <a:gd name="T23" fmla="*/ 2570 h 7791"/>
                <a:gd name="T24" fmla="*/ 5624 w 7873"/>
                <a:gd name="T25" fmla="*/ 2076 h 7791"/>
                <a:gd name="T26" fmla="*/ 5782 w 7873"/>
                <a:gd name="T27" fmla="*/ 1335 h 7791"/>
                <a:gd name="T28" fmla="*/ 5698 w 7873"/>
                <a:gd name="T29" fmla="*/ 1592 h 7791"/>
                <a:gd name="T30" fmla="*/ 2331 w 7873"/>
                <a:gd name="T31" fmla="*/ 1335 h 7791"/>
                <a:gd name="T32" fmla="*/ 2699 w 7873"/>
                <a:gd name="T33" fmla="*/ 2258 h 7791"/>
                <a:gd name="T34" fmla="*/ 3730 w 7873"/>
                <a:gd name="T35" fmla="*/ 2903 h 7791"/>
                <a:gd name="T36" fmla="*/ 3888 w 7873"/>
                <a:gd name="T37" fmla="*/ 3300 h 7791"/>
                <a:gd name="T38" fmla="*/ 4414 w 7873"/>
                <a:gd name="T39" fmla="*/ 3128 h 7791"/>
                <a:gd name="T40" fmla="*/ 5519 w 7873"/>
                <a:gd name="T41" fmla="*/ 2849 h 7791"/>
                <a:gd name="T42" fmla="*/ 5782 w 7873"/>
                <a:gd name="T43" fmla="*/ 2011 h 7791"/>
                <a:gd name="T44" fmla="*/ 5761 w 7873"/>
                <a:gd name="T45" fmla="*/ 2140 h 7791"/>
                <a:gd name="T46" fmla="*/ 3730 w 7873"/>
                <a:gd name="T47" fmla="*/ 2903 h 7791"/>
                <a:gd name="T48" fmla="*/ 3330 w 7873"/>
                <a:gd name="T49" fmla="*/ 2967 h 7791"/>
                <a:gd name="T50" fmla="*/ 1752 w 7873"/>
                <a:gd name="T51" fmla="*/ 2494 h 7791"/>
                <a:gd name="T52" fmla="*/ 742 w 7873"/>
                <a:gd name="T53" fmla="*/ 2709 h 7791"/>
                <a:gd name="T54" fmla="*/ 152 w 7873"/>
                <a:gd name="T55" fmla="*/ 3644 h 7791"/>
                <a:gd name="T56" fmla="*/ 1815 w 7873"/>
                <a:gd name="T57" fmla="*/ 4428 h 7791"/>
                <a:gd name="T58" fmla="*/ 3530 w 7873"/>
                <a:gd name="T59" fmla="*/ 3687 h 7791"/>
                <a:gd name="T60" fmla="*/ 3330 w 7873"/>
                <a:gd name="T61" fmla="*/ 2967 h 7791"/>
                <a:gd name="T62" fmla="*/ 3236 w 7873"/>
                <a:gd name="T63" fmla="*/ 4267 h 7791"/>
                <a:gd name="T64" fmla="*/ 100 w 7873"/>
                <a:gd name="T65" fmla="*/ 3837 h 7791"/>
                <a:gd name="T66" fmla="*/ 289 w 7873"/>
                <a:gd name="T67" fmla="*/ 4567 h 7791"/>
                <a:gd name="T68" fmla="*/ 3036 w 7873"/>
                <a:gd name="T69" fmla="*/ 4825 h 7791"/>
                <a:gd name="T70" fmla="*/ 3288 w 7873"/>
                <a:gd name="T71" fmla="*/ 4234 h 7791"/>
                <a:gd name="T72" fmla="*/ 3236 w 7873"/>
                <a:gd name="T73" fmla="*/ 4267 h 7791"/>
                <a:gd name="T74" fmla="*/ 7676 w 7873"/>
                <a:gd name="T75" fmla="*/ 4686 h 7791"/>
                <a:gd name="T76" fmla="*/ 5708 w 7873"/>
                <a:gd name="T77" fmla="*/ 3407 h 7791"/>
                <a:gd name="T78" fmla="*/ 4193 w 7873"/>
                <a:gd name="T79" fmla="*/ 4063 h 7791"/>
                <a:gd name="T80" fmla="*/ 3572 w 7873"/>
                <a:gd name="T81" fmla="*/ 5620 h 7791"/>
                <a:gd name="T82" fmla="*/ 4214 w 7873"/>
                <a:gd name="T83" fmla="*/ 7145 h 7791"/>
                <a:gd name="T84" fmla="*/ 5740 w 7873"/>
                <a:gd name="T85" fmla="*/ 7779 h 7791"/>
                <a:gd name="T86" fmla="*/ 7245 w 7873"/>
                <a:gd name="T87" fmla="*/ 7134 h 7791"/>
                <a:gd name="T88" fmla="*/ 7866 w 7873"/>
                <a:gd name="T89" fmla="*/ 5577 h 7791"/>
                <a:gd name="T90" fmla="*/ 7676 w 7873"/>
                <a:gd name="T91" fmla="*/ 4686 h 7791"/>
                <a:gd name="T92" fmla="*/ 5719 w 7873"/>
                <a:gd name="T93" fmla="*/ 6286 h 7791"/>
                <a:gd name="T94" fmla="*/ 4267 w 7873"/>
                <a:gd name="T95" fmla="*/ 5953 h 7791"/>
                <a:gd name="T96" fmla="*/ 4330 w 7873"/>
                <a:gd name="T97" fmla="*/ 5556 h 7791"/>
                <a:gd name="T98" fmla="*/ 5603 w 7873"/>
                <a:gd name="T99" fmla="*/ 5867 h 7791"/>
                <a:gd name="T100" fmla="*/ 6908 w 7873"/>
                <a:gd name="T101" fmla="*/ 3977 h 7791"/>
                <a:gd name="T102" fmla="*/ 7255 w 7873"/>
                <a:gd name="T103" fmla="*/ 4535 h 7791"/>
                <a:gd name="T104" fmla="*/ 5719 w 7873"/>
                <a:gd name="T105" fmla="*/ 6286 h 7791"/>
                <a:gd name="T106" fmla="*/ 121 w 7873"/>
                <a:gd name="T107" fmla="*/ 4492 h 7791"/>
                <a:gd name="T108" fmla="*/ 152 w 7873"/>
                <a:gd name="T109" fmla="*/ 5008 h 7791"/>
                <a:gd name="T110" fmla="*/ 1310 w 7873"/>
                <a:gd name="T111" fmla="*/ 5738 h 7791"/>
                <a:gd name="T112" fmla="*/ 2930 w 7873"/>
                <a:gd name="T113" fmla="*/ 5566 h 7791"/>
                <a:gd name="T114" fmla="*/ 2962 w 7873"/>
                <a:gd name="T115" fmla="*/ 5169 h 7791"/>
                <a:gd name="T116" fmla="*/ 121 w 7873"/>
                <a:gd name="T117" fmla="*/ 4492 h 7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73" h="7791">
                  <a:moveTo>
                    <a:pt x="2709" y="1592"/>
                  </a:moveTo>
                  <a:cubicBezTo>
                    <a:pt x="3377" y="2060"/>
                    <a:pt x="4681" y="2036"/>
                    <a:pt x="5329" y="1624"/>
                  </a:cubicBezTo>
                  <a:cubicBezTo>
                    <a:pt x="5545" y="1487"/>
                    <a:pt x="5785" y="1286"/>
                    <a:pt x="5782" y="969"/>
                  </a:cubicBezTo>
                  <a:cubicBezTo>
                    <a:pt x="5780" y="712"/>
                    <a:pt x="5610" y="541"/>
                    <a:pt x="5477" y="432"/>
                  </a:cubicBezTo>
                  <a:cubicBezTo>
                    <a:pt x="5134" y="153"/>
                    <a:pt x="4575" y="0"/>
                    <a:pt x="4004" y="13"/>
                  </a:cubicBezTo>
                  <a:cubicBezTo>
                    <a:pt x="3452" y="27"/>
                    <a:pt x="3028" y="142"/>
                    <a:pt x="2709" y="368"/>
                  </a:cubicBezTo>
                  <a:cubicBezTo>
                    <a:pt x="2579" y="460"/>
                    <a:pt x="2397" y="651"/>
                    <a:pt x="2352" y="840"/>
                  </a:cubicBezTo>
                  <a:cubicBezTo>
                    <a:pt x="2268" y="1188"/>
                    <a:pt x="2508" y="1452"/>
                    <a:pt x="2709" y="1592"/>
                  </a:cubicBezTo>
                  <a:close/>
                  <a:moveTo>
                    <a:pt x="2699" y="2258"/>
                  </a:moveTo>
                  <a:cubicBezTo>
                    <a:pt x="2797" y="2310"/>
                    <a:pt x="2931" y="2327"/>
                    <a:pt x="3046" y="2376"/>
                  </a:cubicBezTo>
                  <a:cubicBezTo>
                    <a:pt x="3149" y="2421"/>
                    <a:pt x="3244" y="2499"/>
                    <a:pt x="3351" y="2537"/>
                  </a:cubicBezTo>
                  <a:cubicBezTo>
                    <a:pt x="3702" y="2664"/>
                    <a:pt x="4247" y="2653"/>
                    <a:pt x="4656" y="2570"/>
                  </a:cubicBezTo>
                  <a:cubicBezTo>
                    <a:pt x="5060" y="2487"/>
                    <a:pt x="5429" y="2312"/>
                    <a:pt x="5624" y="2076"/>
                  </a:cubicBezTo>
                  <a:cubicBezTo>
                    <a:pt x="5764" y="1906"/>
                    <a:pt x="5830" y="1635"/>
                    <a:pt x="5782" y="1335"/>
                  </a:cubicBezTo>
                  <a:cubicBezTo>
                    <a:pt x="5772" y="1424"/>
                    <a:pt x="5742" y="1519"/>
                    <a:pt x="5698" y="1592"/>
                  </a:cubicBezTo>
                  <a:cubicBezTo>
                    <a:pt x="5156" y="2500"/>
                    <a:pt x="2595" y="2483"/>
                    <a:pt x="2331" y="1335"/>
                  </a:cubicBezTo>
                  <a:cubicBezTo>
                    <a:pt x="2289" y="1782"/>
                    <a:pt x="2428" y="2114"/>
                    <a:pt x="2699" y="2258"/>
                  </a:cubicBezTo>
                  <a:close/>
                  <a:moveTo>
                    <a:pt x="3730" y="2903"/>
                  </a:moveTo>
                  <a:cubicBezTo>
                    <a:pt x="3794" y="3024"/>
                    <a:pt x="3869" y="3133"/>
                    <a:pt x="3888" y="3300"/>
                  </a:cubicBezTo>
                  <a:cubicBezTo>
                    <a:pt x="4160" y="3343"/>
                    <a:pt x="4254" y="3211"/>
                    <a:pt x="4414" y="3128"/>
                  </a:cubicBezTo>
                  <a:cubicBezTo>
                    <a:pt x="4739" y="2959"/>
                    <a:pt x="5059" y="2880"/>
                    <a:pt x="5519" y="2849"/>
                  </a:cubicBezTo>
                  <a:cubicBezTo>
                    <a:pt x="5727" y="2700"/>
                    <a:pt x="5840" y="2396"/>
                    <a:pt x="5782" y="2011"/>
                  </a:cubicBezTo>
                  <a:cubicBezTo>
                    <a:pt x="5775" y="2060"/>
                    <a:pt x="5774" y="2105"/>
                    <a:pt x="5761" y="2140"/>
                  </a:cubicBezTo>
                  <a:cubicBezTo>
                    <a:pt x="5540" y="2743"/>
                    <a:pt x="4538" y="2972"/>
                    <a:pt x="3730" y="2903"/>
                  </a:cubicBezTo>
                  <a:close/>
                  <a:moveTo>
                    <a:pt x="3330" y="2967"/>
                  </a:moveTo>
                  <a:cubicBezTo>
                    <a:pt x="2977" y="2629"/>
                    <a:pt x="2385" y="2464"/>
                    <a:pt x="1752" y="2494"/>
                  </a:cubicBezTo>
                  <a:cubicBezTo>
                    <a:pt x="1329" y="2515"/>
                    <a:pt x="1030" y="2573"/>
                    <a:pt x="742" y="2709"/>
                  </a:cubicBezTo>
                  <a:cubicBezTo>
                    <a:pt x="435" y="2855"/>
                    <a:pt x="0" y="3158"/>
                    <a:pt x="152" y="3644"/>
                  </a:cubicBezTo>
                  <a:cubicBezTo>
                    <a:pt x="317" y="4167"/>
                    <a:pt x="1145" y="4424"/>
                    <a:pt x="1815" y="4428"/>
                  </a:cubicBezTo>
                  <a:cubicBezTo>
                    <a:pt x="2518" y="4432"/>
                    <a:pt x="3327" y="4194"/>
                    <a:pt x="3530" y="3687"/>
                  </a:cubicBezTo>
                  <a:cubicBezTo>
                    <a:pt x="3654" y="3377"/>
                    <a:pt x="3498" y="3127"/>
                    <a:pt x="3330" y="2967"/>
                  </a:cubicBezTo>
                  <a:close/>
                  <a:moveTo>
                    <a:pt x="3236" y="4267"/>
                  </a:moveTo>
                  <a:cubicBezTo>
                    <a:pt x="2479" y="4956"/>
                    <a:pt x="393" y="4883"/>
                    <a:pt x="100" y="3837"/>
                  </a:cubicBezTo>
                  <a:cubicBezTo>
                    <a:pt x="89" y="4158"/>
                    <a:pt x="149" y="4405"/>
                    <a:pt x="289" y="4567"/>
                  </a:cubicBezTo>
                  <a:cubicBezTo>
                    <a:pt x="809" y="5172"/>
                    <a:pt x="2306" y="5269"/>
                    <a:pt x="3036" y="4825"/>
                  </a:cubicBezTo>
                  <a:cubicBezTo>
                    <a:pt x="3102" y="4610"/>
                    <a:pt x="3176" y="4403"/>
                    <a:pt x="3288" y="4234"/>
                  </a:cubicBezTo>
                  <a:cubicBezTo>
                    <a:pt x="3260" y="4206"/>
                    <a:pt x="3247" y="4256"/>
                    <a:pt x="3236" y="4267"/>
                  </a:cubicBezTo>
                  <a:close/>
                  <a:moveTo>
                    <a:pt x="7676" y="4686"/>
                  </a:moveTo>
                  <a:cubicBezTo>
                    <a:pt x="7360" y="3976"/>
                    <a:pt x="6678" y="3405"/>
                    <a:pt x="5708" y="3407"/>
                  </a:cubicBezTo>
                  <a:cubicBezTo>
                    <a:pt x="5002" y="3409"/>
                    <a:pt x="4538" y="3710"/>
                    <a:pt x="4193" y="4063"/>
                  </a:cubicBezTo>
                  <a:cubicBezTo>
                    <a:pt x="3851" y="4412"/>
                    <a:pt x="3559" y="4942"/>
                    <a:pt x="3572" y="5620"/>
                  </a:cubicBezTo>
                  <a:cubicBezTo>
                    <a:pt x="3585" y="6291"/>
                    <a:pt x="3852" y="6780"/>
                    <a:pt x="4214" y="7145"/>
                  </a:cubicBezTo>
                  <a:cubicBezTo>
                    <a:pt x="4572" y="7506"/>
                    <a:pt x="5098" y="7791"/>
                    <a:pt x="5740" y="7779"/>
                  </a:cubicBezTo>
                  <a:cubicBezTo>
                    <a:pt x="6380" y="7767"/>
                    <a:pt x="6891" y="7500"/>
                    <a:pt x="7245" y="7134"/>
                  </a:cubicBezTo>
                  <a:cubicBezTo>
                    <a:pt x="7592" y="6776"/>
                    <a:pt x="7873" y="6254"/>
                    <a:pt x="7866" y="5577"/>
                  </a:cubicBezTo>
                  <a:cubicBezTo>
                    <a:pt x="7862" y="5260"/>
                    <a:pt x="7791" y="4942"/>
                    <a:pt x="7676" y="4686"/>
                  </a:cubicBezTo>
                  <a:close/>
                  <a:moveTo>
                    <a:pt x="5719" y="6286"/>
                  </a:moveTo>
                  <a:cubicBezTo>
                    <a:pt x="5246" y="6164"/>
                    <a:pt x="4746" y="6069"/>
                    <a:pt x="4267" y="5953"/>
                  </a:cubicBezTo>
                  <a:cubicBezTo>
                    <a:pt x="4280" y="5812"/>
                    <a:pt x="4304" y="5683"/>
                    <a:pt x="4330" y="5556"/>
                  </a:cubicBezTo>
                  <a:cubicBezTo>
                    <a:pt x="4751" y="5663"/>
                    <a:pt x="5186" y="5756"/>
                    <a:pt x="5603" y="5867"/>
                  </a:cubicBezTo>
                  <a:cubicBezTo>
                    <a:pt x="6042" y="5241"/>
                    <a:pt x="6475" y="4609"/>
                    <a:pt x="6908" y="3977"/>
                  </a:cubicBezTo>
                  <a:cubicBezTo>
                    <a:pt x="7035" y="4151"/>
                    <a:pt x="7136" y="4353"/>
                    <a:pt x="7255" y="4535"/>
                  </a:cubicBezTo>
                  <a:cubicBezTo>
                    <a:pt x="6754" y="5129"/>
                    <a:pt x="6248" y="5720"/>
                    <a:pt x="5719" y="6286"/>
                  </a:cubicBezTo>
                  <a:close/>
                  <a:moveTo>
                    <a:pt x="121" y="4492"/>
                  </a:moveTo>
                  <a:cubicBezTo>
                    <a:pt x="128" y="4663"/>
                    <a:pt x="104" y="4863"/>
                    <a:pt x="152" y="5008"/>
                  </a:cubicBezTo>
                  <a:cubicBezTo>
                    <a:pt x="286" y="5405"/>
                    <a:pt x="816" y="5648"/>
                    <a:pt x="1310" y="5738"/>
                  </a:cubicBezTo>
                  <a:cubicBezTo>
                    <a:pt x="1869" y="5840"/>
                    <a:pt x="2512" y="5761"/>
                    <a:pt x="2930" y="5566"/>
                  </a:cubicBezTo>
                  <a:cubicBezTo>
                    <a:pt x="2928" y="5421"/>
                    <a:pt x="2946" y="5296"/>
                    <a:pt x="2962" y="5169"/>
                  </a:cubicBezTo>
                  <a:cubicBezTo>
                    <a:pt x="2038" y="5580"/>
                    <a:pt x="359" y="5455"/>
                    <a:pt x="121" y="4492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60000">
                  <a:schemeClr val="accent6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sz="2000" b="1">
                <a:solidFill>
                  <a:schemeClr val="tx1"/>
                </a:solidFill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87C9B51-8F04-4A42-B130-C8B67FB7316E}"/>
                </a:ext>
              </a:extLst>
            </p:cNvPr>
            <p:cNvGrpSpPr/>
            <p:nvPr/>
          </p:nvGrpSpPr>
          <p:grpSpPr>
            <a:xfrm>
              <a:off x="5711975" y="2393794"/>
              <a:ext cx="3851125" cy="663964"/>
              <a:chOff x="844173" y="2422023"/>
              <a:chExt cx="3851125" cy="663964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2E90DF63-C17D-4FD5-B071-77B750692600}"/>
                  </a:ext>
                </a:extLst>
              </p:cNvPr>
              <p:cNvGrpSpPr/>
              <p:nvPr/>
            </p:nvGrpSpPr>
            <p:grpSpPr>
              <a:xfrm>
                <a:off x="1428757" y="2422023"/>
                <a:ext cx="3266541" cy="663964"/>
                <a:chOff x="6873245" y="3437950"/>
                <a:chExt cx="3266541" cy="619328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AC862A7F-9D62-4C4A-9E17-D5437ABCAAAA}"/>
                    </a:ext>
                  </a:extLst>
                </p:cNvPr>
                <p:cNvSpPr/>
                <p:nvPr/>
              </p:nvSpPr>
              <p:spPr>
                <a:xfrm flipH="1">
                  <a:off x="6873245" y="3782453"/>
                  <a:ext cx="3266541" cy="274825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提升产品智能化程度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F34E84D-9AA1-4329-9C03-771A791C2F5A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3266539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人工智能技术应用</a:t>
                  </a: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C4DB4FC5-ECF7-4F1F-9168-8217E8EB9C39}"/>
                  </a:ext>
                </a:extLst>
              </p:cNvPr>
              <p:cNvGrpSpPr/>
              <p:nvPr/>
            </p:nvGrpSpPr>
            <p:grpSpPr>
              <a:xfrm>
                <a:off x="844173" y="2422026"/>
                <a:ext cx="444222" cy="444220"/>
                <a:chOff x="4678401" y="2094096"/>
                <a:chExt cx="444222" cy="444220"/>
              </a:xfrm>
            </p:grpSpPr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E7D6CA7C-1C24-4DAE-A6DF-90298D74A346}"/>
                    </a:ext>
                  </a:extLst>
                </p:cNvPr>
                <p:cNvSpPr/>
                <p:nvPr/>
              </p:nvSpPr>
              <p:spPr>
                <a:xfrm>
                  <a:off x="4678401" y="209409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A09DC49-62EE-42AA-8C4A-D1F60B2D38BC}"/>
                    </a:ext>
                  </a:extLst>
                </p:cNvPr>
                <p:cNvSpPr/>
                <p:nvPr/>
              </p:nvSpPr>
              <p:spPr bwMode="auto">
                <a:xfrm>
                  <a:off x="4788717" y="2220630"/>
                  <a:ext cx="205561" cy="171132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F14385B-7F31-4825-A1C5-22683D8D86A9}"/>
                </a:ext>
              </a:extLst>
            </p:cNvPr>
            <p:cNvGrpSpPr/>
            <p:nvPr/>
          </p:nvGrpSpPr>
          <p:grpSpPr>
            <a:xfrm>
              <a:off x="5711975" y="3707165"/>
              <a:ext cx="3851126" cy="663964"/>
              <a:chOff x="844173" y="3314603"/>
              <a:chExt cx="3851126" cy="663964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7482971-9AC2-4C39-B606-2C75FB22DE2A}"/>
                  </a:ext>
                </a:extLst>
              </p:cNvPr>
              <p:cNvGrpSpPr/>
              <p:nvPr/>
            </p:nvGrpSpPr>
            <p:grpSpPr>
              <a:xfrm>
                <a:off x="844173" y="3314606"/>
                <a:ext cx="444222" cy="444220"/>
                <a:chOff x="5472389" y="2095128"/>
                <a:chExt cx="444222" cy="444220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83C63264-9BCE-42E7-974E-CE397D4CCF0B}"/>
                    </a:ext>
                  </a:extLst>
                </p:cNvPr>
                <p:cNvSpPr/>
                <p:nvPr/>
              </p:nvSpPr>
              <p:spPr>
                <a:xfrm>
                  <a:off x="5472389" y="2095128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4066941F-69BB-449B-A44C-1E6FB237460E}"/>
                    </a:ext>
                  </a:extLst>
                </p:cNvPr>
                <p:cNvSpPr/>
                <p:nvPr/>
              </p:nvSpPr>
              <p:spPr bwMode="auto">
                <a:xfrm>
                  <a:off x="5591720" y="2223635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C454FB0-33CC-40F8-9FA0-9120F62E3DE5}"/>
                  </a:ext>
                </a:extLst>
              </p:cNvPr>
              <p:cNvGrpSpPr/>
              <p:nvPr/>
            </p:nvGrpSpPr>
            <p:grpSpPr>
              <a:xfrm>
                <a:off x="1428757" y="3314603"/>
                <a:ext cx="3266542" cy="663964"/>
                <a:chOff x="6873245" y="3437950"/>
                <a:chExt cx="3266542" cy="619328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BC07D31C-5E9C-4F40-9B9A-F55DEDAC9F04}"/>
                    </a:ext>
                  </a:extLst>
                </p:cNvPr>
                <p:cNvSpPr/>
                <p:nvPr/>
              </p:nvSpPr>
              <p:spPr>
                <a:xfrm flipH="1">
                  <a:off x="6873245" y="3782453"/>
                  <a:ext cx="3266542" cy="274825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提供更稳定的服务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1475437-4D23-4C6C-A397-2F102DF05105}"/>
                    </a:ext>
                  </a:extLst>
                </p:cNvPr>
                <p:cNvSpPr txBox="1"/>
                <p:nvPr/>
              </p:nvSpPr>
              <p:spPr>
                <a:xfrm flipH="1">
                  <a:off x="6873246" y="3437950"/>
                  <a:ext cx="3266540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云计算平台升级</a:t>
                  </a:r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39AD136-7A0D-4743-B342-59CF1E0F0DD4}"/>
                </a:ext>
              </a:extLst>
            </p:cNvPr>
            <p:cNvGrpSpPr/>
            <p:nvPr/>
          </p:nvGrpSpPr>
          <p:grpSpPr>
            <a:xfrm>
              <a:off x="5711975" y="5020536"/>
              <a:ext cx="3749524" cy="663964"/>
              <a:chOff x="2366799" y="4413418"/>
              <a:chExt cx="3749524" cy="663964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FEEC033-FCFD-47F1-8A3C-D7981AFF93BC}"/>
                  </a:ext>
                </a:extLst>
              </p:cNvPr>
              <p:cNvGrpSpPr/>
              <p:nvPr/>
            </p:nvGrpSpPr>
            <p:grpSpPr>
              <a:xfrm>
                <a:off x="2366799" y="4413421"/>
                <a:ext cx="444222" cy="444220"/>
                <a:chOff x="7792978" y="2079217"/>
                <a:chExt cx="444222" cy="444220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C5CA1753-9570-44C7-A555-3FFA91906EC0}"/>
                    </a:ext>
                  </a:extLst>
                </p:cNvPr>
                <p:cNvSpPr/>
                <p:nvPr/>
              </p:nvSpPr>
              <p:spPr>
                <a:xfrm>
                  <a:off x="7792978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EA964A3-9D3D-40D5-8DE6-D14361CC0862}"/>
                    </a:ext>
                  </a:extLst>
                </p:cNvPr>
                <p:cNvSpPr/>
                <p:nvPr/>
              </p:nvSpPr>
              <p:spPr bwMode="auto">
                <a:xfrm>
                  <a:off x="7912309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5CC1AC33-F393-42CF-8A29-218A5F69EDD8}"/>
                  </a:ext>
                </a:extLst>
              </p:cNvPr>
              <p:cNvGrpSpPr/>
              <p:nvPr/>
            </p:nvGrpSpPr>
            <p:grpSpPr>
              <a:xfrm>
                <a:off x="2951382" y="4413418"/>
                <a:ext cx="3164941" cy="663964"/>
                <a:chOff x="8395870" y="3437950"/>
                <a:chExt cx="3164941" cy="619328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DA6D6C68-7093-40A7-8F0A-2D293FE7B955}"/>
                    </a:ext>
                  </a:extLst>
                </p:cNvPr>
                <p:cNvSpPr/>
                <p:nvPr/>
              </p:nvSpPr>
              <p:spPr>
                <a:xfrm flipH="1">
                  <a:off x="8395870" y="3782453"/>
                  <a:ext cx="3164940" cy="274825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扩大产品应用范围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E40625E-63C1-4145-B9E5-7751F2168C0A}"/>
                    </a:ext>
                  </a:extLst>
                </p:cNvPr>
                <p:cNvSpPr txBox="1"/>
                <p:nvPr/>
              </p:nvSpPr>
              <p:spPr>
                <a:xfrm flipH="1">
                  <a:off x="8395871" y="3437950"/>
                  <a:ext cx="3164940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物联网技术突破</a:t>
                  </a:r>
                </a:p>
              </p:txBody>
            </p:sp>
          </p:grp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126A96-0121-41B2-8BEF-B77D8A943651}"/>
                </a:ext>
              </a:extLst>
            </p:cNvPr>
            <p:cNvSpPr/>
            <p:nvPr/>
          </p:nvSpPr>
          <p:spPr>
            <a:xfrm>
              <a:off x="1465943" y="1214657"/>
              <a:ext cx="9260114" cy="56651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技术创新驱动产品升级</a:t>
              </a:r>
            </a:p>
          </p:txBody>
        </p:sp>
      </p:grpSp>
      <p:sp>
        <p:nvSpPr>
          <p:cNvPr id="93" name="Title 9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近期技术创新进展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81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32712DF-4F9B-10AF-AF2F-51C56A47CE59}"/>
              </a:ext>
            </a:extLst>
          </p:cNvPr>
          <p:cNvGrpSpPr/>
          <p:nvPr/>
        </p:nvGrpSpPr>
        <p:grpSpPr>
          <a:xfrm>
            <a:off x="660400" y="1191855"/>
            <a:ext cx="10858500" cy="4283147"/>
            <a:chOff x="660400" y="1191855"/>
            <a:chExt cx="10858500" cy="428314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0B2AE0-E556-40FC-9D99-881CADAB9C3F}"/>
                </a:ext>
              </a:extLst>
            </p:cNvPr>
            <p:cNvSpPr/>
            <p:nvPr/>
          </p:nvSpPr>
          <p:spPr>
            <a:xfrm>
              <a:off x="660400" y="1191855"/>
              <a:ext cx="1085850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产品研发的新进展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5D54D6-70BD-0669-8EC2-24F6FEEB12F4}"/>
                </a:ext>
              </a:extLst>
            </p:cNvPr>
            <p:cNvCxnSpPr>
              <a:cxnSpLocks/>
            </p:cNvCxnSpPr>
            <p:nvPr/>
          </p:nvCxnSpPr>
          <p:spPr>
            <a:xfrm>
              <a:off x="4558857" y="2581356"/>
              <a:ext cx="0" cy="2119085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7F2126-BD10-94E2-9BEC-94341519830B}"/>
                </a:ext>
              </a:extLst>
            </p:cNvPr>
            <p:cNvSpPr/>
            <p:nvPr/>
          </p:nvSpPr>
          <p:spPr>
            <a:xfrm>
              <a:off x="873018" y="5180178"/>
              <a:ext cx="10445964" cy="294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介绍公司最新的产品研发动态和创新技术应用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CD23C6-A71E-AF25-B695-5A9823E9EA5E}"/>
                </a:ext>
              </a:extLst>
            </p:cNvPr>
            <p:cNvGrpSpPr/>
            <p:nvPr/>
          </p:nvGrpSpPr>
          <p:grpSpPr>
            <a:xfrm>
              <a:off x="1047190" y="2697470"/>
              <a:ext cx="3323769" cy="1886857"/>
              <a:chOff x="2314125" y="2773388"/>
              <a:chExt cx="3323769" cy="1886857"/>
            </a:xfrm>
          </p:grpSpPr>
          <p:sp>
            <p:nvSpPr>
              <p:cNvPr id="22" name="Arrow: Pentagon 21">
                <a:extLst>
                  <a:ext uri="{FF2B5EF4-FFF2-40B4-BE49-F238E27FC236}">
                    <a16:creationId xmlns:a16="http://schemas.microsoft.com/office/drawing/2014/main" id="{D41A4022-A464-33EA-B038-D06AF7B7F5C1}"/>
                  </a:ext>
                </a:extLst>
              </p:cNvPr>
              <p:cNvSpPr/>
              <p:nvPr/>
            </p:nvSpPr>
            <p:spPr>
              <a:xfrm flipH="1">
                <a:off x="2314125" y="2773388"/>
                <a:ext cx="3323769" cy="1886857"/>
              </a:xfrm>
              <a:prstGeom prst="homePlate">
                <a:avLst>
                  <a:gd name="adj" fmla="val 3923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27C9FC8-C6D6-F358-9134-8536C6C8025A}"/>
                  </a:ext>
                </a:extLst>
              </p:cNvPr>
              <p:cNvGrpSpPr/>
              <p:nvPr/>
            </p:nvGrpSpPr>
            <p:grpSpPr>
              <a:xfrm>
                <a:off x="4942232" y="2905780"/>
                <a:ext cx="523220" cy="523220"/>
                <a:chOff x="4942232" y="2905780"/>
                <a:chExt cx="523220" cy="523220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58F34C23-E03B-5765-E7C6-A150A6E4BC5B}"/>
                    </a:ext>
                  </a:extLst>
                </p:cNvPr>
                <p:cNvSpPr/>
                <p:nvPr/>
              </p:nvSpPr>
              <p:spPr>
                <a:xfrm>
                  <a:off x="4942232" y="2905780"/>
                  <a:ext cx="523220" cy="52322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Arrow: Down 27">
                  <a:extLst>
                    <a:ext uri="{FF2B5EF4-FFF2-40B4-BE49-F238E27FC236}">
                      <a16:creationId xmlns:a16="http://schemas.microsoft.com/office/drawing/2014/main" id="{918FDB9D-1F2E-FA8A-3718-4DEB8C2A1D15}"/>
                    </a:ext>
                  </a:extLst>
                </p:cNvPr>
                <p:cNvSpPr/>
                <p:nvPr/>
              </p:nvSpPr>
              <p:spPr>
                <a:xfrm rot="10800000">
                  <a:off x="5100429" y="3014990"/>
                  <a:ext cx="206827" cy="304800"/>
                </a:xfrm>
                <a:prstGeom prst="down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3F9B7D1-68D0-F940-D64F-E2019F189EBB}"/>
                  </a:ext>
                </a:extLst>
              </p:cNvPr>
              <p:cNvGrpSpPr/>
              <p:nvPr/>
            </p:nvGrpSpPr>
            <p:grpSpPr>
              <a:xfrm>
                <a:off x="3128004" y="3081335"/>
                <a:ext cx="2298811" cy="883997"/>
                <a:chOff x="3128004" y="3150513"/>
                <a:chExt cx="2298811" cy="883997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93B654A-AF68-4A3B-4764-C887F92D0B4A}"/>
                    </a:ext>
                  </a:extLst>
                </p:cNvPr>
                <p:cNvSpPr/>
                <p:nvPr/>
              </p:nvSpPr>
              <p:spPr>
                <a:xfrm>
                  <a:off x="3128004" y="3150513"/>
                  <a:ext cx="1171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rgbClr val="FFFFFF"/>
                      </a:solidFill>
                    </a:rPr>
                    <a:t>新产品推出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E2478AC-C6A0-D55E-7D56-974DCB42AE65}"/>
                    </a:ext>
                  </a:extLst>
                </p:cNvPr>
                <p:cNvSpPr/>
                <p:nvPr/>
              </p:nvSpPr>
              <p:spPr>
                <a:xfrm>
                  <a:off x="3128004" y="3518087"/>
                  <a:ext cx="2298811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rgbClr val="FFFFFF"/>
                      </a:solidFill>
                    </a:rPr>
                    <a:t>提供更多功能和更好的用户体验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79B5928-1FB5-93FB-9304-8AC66DE17B43}"/>
                </a:ext>
              </a:extLst>
            </p:cNvPr>
            <p:cNvGrpSpPr/>
            <p:nvPr/>
          </p:nvGrpSpPr>
          <p:grpSpPr>
            <a:xfrm>
              <a:off x="7733956" y="2697470"/>
              <a:ext cx="3323769" cy="1886857"/>
              <a:chOff x="7733956" y="2697470"/>
              <a:chExt cx="3323769" cy="1886857"/>
            </a:xfrm>
          </p:grpSpPr>
          <p:sp>
            <p:nvSpPr>
              <p:cNvPr id="16" name="Arrow: Pentagon 15">
                <a:extLst>
                  <a:ext uri="{FF2B5EF4-FFF2-40B4-BE49-F238E27FC236}">
                    <a16:creationId xmlns:a16="http://schemas.microsoft.com/office/drawing/2014/main" id="{C3755335-6FF6-5E69-25E6-F2FC4914B229}"/>
                  </a:ext>
                </a:extLst>
              </p:cNvPr>
              <p:cNvSpPr/>
              <p:nvPr/>
            </p:nvSpPr>
            <p:spPr>
              <a:xfrm>
                <a:off x="7733956" y="2697470"/>
                <a:ext cx="3323769" cy="1886857"/>
              </a:xfrm>
              <a:prstGeom prst="homePlate">
                <a:avLst>
                  <a:gd name="adj" fmla="val 3923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A9C154A-1D8D-CFEB-BC3C-021D89C561F3}"/>
                  </a:ext>
                </a:extLst>
              </p:cNvPr>
              <p:cNvGrpSpPr/>
              <p:nvPr/>
            </p:nvGrpSpPr>
            <p:grpSpPr>
              <a:xfrm>
                <a:off x="7878541" y="2829862"/>
                <a:ext cx="2371381" cy="837953"/>
                <a:chOff x="7878541" y="2829862"/>
                <a:chExt cx="2371381" cy="837953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2770082E-D6DD-4BF4-E0D9-98BACD24C7EC}"/>
                    </a:ext>
                  </a:extLst>
                </p:cNvPr>
                <p:cNvSpPr/>
                <p:nvPr/>
              </p:nvSpPr>
              <p:spPr>
                <a:xfrm>
                  <a:off x="7878541" y="2829862"/>
                  <a:ext cx="523220" cy="52322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Arrow: Down 18">
                  <a:extLst>
                    <a:ext uri="{FF2B5EF4-FFF2-40B4-BE49-F238E27FC236}">
                      <a16:creationId xmlns:a16="http://schemas.microsoft.com/office/drawing/2014/main" id="{B51C496C-A7E3-ECCF-47C2-865CEA1D19A6}"/>
                    </a:ext>
                  </a:extLst>
                </p:cNvPr>
                <p:cNvSpPr/>
                <p:nvPr/>
              </p:nvSpPr>
              <p:spPr>
                <a:xfrm>
                  <a:off x="8036738" y="2939072"/>
                  <a:ext cx="206827" cy="304800"/>
                </a:xfrm>
                <a:prstGeom prst="down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1D89EBD-BB45-FA6C-5A1D-609A811BA181}"/>
                    </a:ext>
                  </a:extLst>
                </p:cNvPr>
                <p:cNvSpPr/>
                <p:nvPr/>
              </p:nvSpPr>
              <p:spPr>
                <a:xfrm>
                  <a:off x="9078475" y="3005417"/>
                  <a:ext cx="1171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rgbClr val="FFFFFF"/>
                      </a:solidFill>
                    </a:rPr>
                    <a:t>用户反馈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98D5EF30-9A38-CA91-87A0-46843E4C6AFF}"/>
                    </a:ext>
                  </a:extLst>
                </p:cNvPr>
                <p:cNvSpPr/>
                <p:nvPr/>
              </p:nvSpPr>
              <p:spPr>
                <a:xfrm>
                  <a:off x="7951111" y="3372991"/>
                  <a:ext cx="2298811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rgbClr val="FFFFFF"/>
                      </a:solidFill>
                    </a:rPr>
                    <a:t>根据用户需求进行产品优化</a:t>
                  </a: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EF66B73-4FF2-E676-9892-24514D8A0017}"/>
                </a:ext>
              </a:extLst>
            </p:cNvPr>
            <p:cNvGrpSpPr/>
            <p:nvPr/>
          </p:nvGrpSpPr>
          <p:grpSpPr>
            <a:xfrm>
              <a:off x="4757569" y="2697470"/>
              <a:ext cx="2589776" cy="1886857"/>
              <a:chOff x="4757569" y="2697470"/>
              <a:chExt cx="2589776" cy="188685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8EDFE66-B5EA-2714-ECC0-A44ACD8E590D}"/>
                  </a:ext>
                </a:extLst>
              </p:cNvPr>
              <p:cNvSpPr/>
              <p:nvPr/>
            </p:nvSpPr>
            <p:spPr>
              <a:xfrm>
                <a:off x="4757569" y="2697470"/>
                <a:ext cx="2589776" cy="1886857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EE80081-695B-DFD1-741B-FDF90E6E5216}"/>
                  </a:ext>
                </a:extLst>
              </p:cNvPr>
              <p:cNvGrpSpPr/>
              <p:nvPr/>
            </p:nvGrpSpPr>
            <p:grpSpPr>
              <a:xfrm>
                <a:off x="4881341" y="2829862"/>
                <a:ext cx="2371381" cy="837953"/>
                <a:chOff x="4881341" y="2829862"/>
                <a:chExt cx="2371381" cy="837953"/>
              </a:xfrm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06A575E-5100-E557-1850-DBBCE24C395F}"/>
                    </a:ext>
                  </a:extLst>
                </p:cNvPr>
                <p:cNvSpPr/>
                <p:nvPr/>
              </p:nvSpPr>
              <p:spPr>
                <a:xfrm>
                  <a:off x="4881341" y="2829862"/>
                  <a:ext cx="523220" cy="52322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Arrow: Down 12">
                  <a:extLst>
                    <a:ext uri="{FF2B5EF4-FFF2-40B4-BE49-F238E27FC236}">
                      <a16:creationId xmlns:a16="http://schemas.microsoft.com/office/drawing/2014/main" id="{38E05C78-9555-3358-0DB4-AB95E823D02B}"/>
                    </a:ext>
                  </a:extLst>
                </p:cNvPr>
                <p:cNvSpPr/>
                <p:nvPr/>
              </p:nvSpPr>
              <p:spPr>
                <a:xfrm>
                  <a:off x="5039538" y="2939072"/>
                  <a:ext cx="206827" cy="304800"/>
                </a:xfrm>
                <a:prstGeom prst="downArrow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A10A7B5-D9FB-4AE5-AE80-46E575536146}"/>
                    </a:ext>
                  </a:extLst>
                </p:cNvPr>
                <p:cNvSpPr/>
                <p:nvPr/>
              </p:nvSpPr>
              <p:spPr>
                <a:xfrm>
                  <a:off x="6081275" y="3005417"/>
                  <a:ext cx="1171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rgbClr val="FFFFFF"/>
                      </a:solidFill>
                    </a:rPr>
                    <a:t>技术改进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45064D5A-4D40-4B29-17AB-943DF6F6E45D}"/>
                    </a:ext>
                  </a:extLst>
                </p:cNvPr>
                <p:cNvSpPr/>
                <p:nvPr/>
              </p:nvSpPr>
              <p:spPr>
                <a:xfrm>
                  <a:off x="4953911" y="3372991"/>
                  <a:ext cx="2298811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rgbClr val="FFFFFF"/>
                      </a:solidFill>
                    </a:rPr>
                    <a:t>提高产品性能和稳定性</a:t>
                  </a:r>
                </a:p>
              </p:txBody>
            </p:sp>
          </p:grp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E3FFC8F-6144-111F-358B-52DECF2DEB50}"/>
                </a:ext>
              </a:extLst>
            </p:cNvPr>
            <p:cNvCxnSpPr>
              <a:cxnSpLocks/>
            </p:cNvCxnSpPr>
            <p:nvPr/>
          </p:nvCxnSpPr>
          <p:spPr>
            <a:xfrm>
              <a:off x="7530657" y="2581356"/>
              <a:ext cx="0" cy="2119085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产品研发的最新动态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834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301751" y="2114550"/>
            <a:ext cx="9119752" cy="2628900"/>
            <a:chOff x="1301751" y="2114550"/>
            <a:chExt cx="9119752" cy="26289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481AAA2-6795-43F4-A21D-48A4D323D1A4}"/>
                </a:ext>
              </a:extLst>
            </p:cNvPr>
            <p:cNvSpPr/>
            <p:nvPr/>
          </p:nvSpPr>
          <p:spPr>
            <a:xfrm>
              <a:off x="3632290" y="2114550"/>
              <a:ext cx="2628900" cy="2628900"/>
            </a:xfrm>
            <a:prstGeom prst="roundRect">
              <a:avLst/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  <a:alpha val="2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>
                <a:solidFill>
                  <a:schemeClr val="tx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9D9A50B-AB93-4998-A1F6-879E6E19B1D5}"/>
                </a:ext>
              </a:extLst>
            </p:cNvPr>
            <p:cNvSpPr/>
            <p:nvPr/>
          </p:nvSpPr>
          <p:spPr>
            <a:xfrm>
              <a:off x="1301751" y="2114550"/>
              <a:ext cx="2628900" cy="2628900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400" b="1">
                <a:solidFill>
                  <a:srgbClr val="FFFFF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8404FC-668B-46E4-B857-C5BBC550B427}"/>
                </a:ext>
              </a:extLst>
            </p:cNvPr>
            <p:cNvSpPr txBox="1"/>
            <p:nvPr/>
          </p:nvSpPr>
          <p:spPr>
            <a:xfrm>
              <a:off x="1770497" y="2927908"/>
              <a:ext cx="1691408" cy="394210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技术创新投入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9AA53B-B7CF-4A51-AA75-680AD24DD920}"/>
                </a:ext>
              </a:extLst>
            </p:cNvPr>
            <p:cNvSpPr txBox="1"/>
            <p:nvPr/>
          </p:nvSpPr>
          <p:spPr>
            <a:xfrm>
              <a:off x="1770497" y="3403651"/>
              <a:ext cx="1691408" cy="525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0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FFFFFF"/>
                  </a:solidFill>
                </a:rPr>
                <a:t>加大研发力度，创新驱动发展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E4FD9A-6F34-435F-BEEB-F1EF6A1B6F56}"/>
                </a:ext>
              </a:extLst>
            </p:cNvPr>
            <p:cNvSpPr txBox="1"/>
            <p:nvPr/>
          </p:nvSpPr>
          <p:spPr>
            <a:xfrm>
              <a:off x="4101036" y="2927908"/>
              <a:ext cx="1691408" cy="394210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/>
                <a:t>商业化创新技术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E0FC52-904B-4197-B7F2-9CD2EF975D3E}"/>
                </a:ext>
              </a:extLst>
            </p:cNvPr>
            <p:cNvSpPr txBox="1"/>
            <p:nvPr/>
          </p:nvSpPr>
          <p:spPr>
            <a:xfrm>
              <a:off x="4101036" y="3403651"/>
              <a:ext cx="1691408" cy="525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0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将创新技术应用于产品和服务中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41A13B-53DC-422C-AB2B-5979164242DE}"/>
                </a:ext>
              </a:extLst>
            </p:cNvPr>
            <p:cNvSpPr txBox="1"/>
            <p:nvPr/>
          </p:nvSpPr>
          <p:spPr>
            <a:xfrm>
              <a:off x="7162800" y="3560760"/>
              <a:ext cx="3258703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技术创新为产品和服务带来了巨大的价值，推动了公司的持续增长。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229E84-5E1D-4E03-A3ED-FCE74F328601}"/>
                </a:ext>
              </a:extLst>
            </p:cNvPr>
            <p:cNvSpPr txBox="1"/>
            <p:nvPr/>
          </p:nvSpPr>
          <p:spPr>
            <a:xfrm>
              <a:off x="7162800" y="2927908"/>
              <a:ext cx="32587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技术创新的应用效果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776AA02-5057-4985-BBD0-D211A5A3EC28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52" y="2525486"/>
              <a:ext cx="1028519" cy="0"/>
            </a:xfrm>
            <a:prstGeom prst="straightConnector1">
              <a:avLst/>
            </a:prstGeom>
            <a:noFill/>
            <a:ln>
              <a:solidFill>
                <a:schemeClr val="accent2"/>
              </a:solidFill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创新技术的应用价值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052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63328" y="2015096"/>
            <a:ext cx="10852644" cy="3327883"/>
            <a:chOff x="663328" y="2015096"/>
            <a:chExt cx="10852644" cy="332788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1EFCBCB-5CCB-43F0-8BBE-E5DBECBBCEB9}"/>
                </a:ext>
              </a:extLst>
            </p:cNvPr>
            <p:cNvGrpSpPr/>
            <p:nvPr/>
          </p:nvGrpSpPr>
          <p:grpSpPr>
            <a:xfrm>
              <a:off x="663328" y="3773577"/>
              <a:ext cx="7061533" cy="1569402"/>
              <a:chOff x="663328" y="3773577"/>
              <a:chExt cx="7061533" cy="156940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540FCE-7F8C-4D81-9FD3-1ABF5AA43B21}"/>
                  </a:ext>
                </a:extLst>
              </p:cNvPr>
              <p:cNvGrpSpPr/>
              <p:nvPr/>
            </p:nvGrpSpPr>
            <p:grpSpPr>
              <a:xfrm>
                <a:off x="663328" y="3773577"/>
                <a:ext cx="2001232" cy="1349663"/>
                <a:chOff x="845487" y="3087638"/>
                <a:chExt cx="2001232" cy="1349663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5DBE138-EF9D-4C4C-8379-4C6C06A0B025}"/>
                    </a:ext>
                  </a:extLst>
                </p:cNvPr>
                <p:cNvSpPr txBox="1"/>
                <p:nvPr/>
              </p:nvSpPr>
              <p:spPr>
                <a:xfrm>
                  <a:off x="845487" y="3668533"/>
                  <a:ext cx="197921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持续研发优质产品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CE31247-CA3D-46B0-9095-D0D3E37263A1}"/>
                    </a:ext>
                  </a:extLst>
                </p:cNvPr>
                <p:cNvSpPr txBox="1"/>
                <p:nvPr/>
              </p:nvSpPr>
              <p:spPr>
                <a:xfrm>
                  <a:off x="867506" y="3920878"/>
                  <a:ext cx="1979213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创新研发，满足市场，提升竞争力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9141138C-6B1F-4441-9A1F-7ABAE00E62D9}"/>
                    </a:ext>
                  </a:extLst>
                </p:cNvPr>
                <p:cNvSpPr/>
                <p:nvPr/>
              </p:nvSpPr>
              <p:spPr>
                <a:xfrm>
                  <a:off x="955617" y="3087638"/>
                  <a:ext cx="410200" cy="410198"/>
                </a:xfrm>
                <a:prstGeom prst="round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C62691F-7E16-4ABE-B9B7-D8537E5CE4DC}"/>
                    </a:ext>
                  </a:extLst>
                </p:cNvPr>
                <p:cNvSpPr/>
                <p:nvPr/>
              </p:nvSpPr>
              <p:spPr>
                <a:xfrm>
                  <a:off x="1071717" y="3225987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C4E6931-A47C-41D9-984A-4E58419394E4}"/>
                  </a:ext>
                </a:extLst>
              </p:cNvPr>
              <p:cNvGrpSpPr/>
              <p:nvPr/>
            </p:nvGrpSpPr>
            <p:grpSpPr>
              <a:xfrm>
                <a:off x="3193479" y="3775439"/>
                <a:ext cx="2001232" cy="1567540"/>
                <a:chOff x="3531968" y="3089500"/>
                <a:chExt cx="2001232" cy="1567540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1BA9E3F0-7C1D-4EBD-84F0-39C81F25909E}"/>
                    </a:ext>
                  </a:extLst>
                </p:cNvPr>
                <p:cNvSpPr/>
                <p:nvPr/>
              </p:nvSpPr>
              <p:spPr>
                <a:xfrm>
                  <a:off x="3653174" y="3089500"/>
                  <a:ext cx="410200" cy="410198"/>
                </a:xfrm>
                <a:prstGeom prst="round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6D2E4CFE-A646-4442-A392-48577A8EAA3E}"/>
                    </a:ext>
                  </a:extLst>
                </p:cNvPr>
                <p:cNvSpPr/>
                <p:nvPr/>
              </p:nvSpPr>
              <p:spPr>
                <a:xfrm>
                  <a:off x="3777081" y="3211948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3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7797AE-8A61-4F92-B7DD-75818C41C1D8}"/>
                    </a:ext>
                  </a:extLst>
                </p:cNvPr>
                <p:cNvSpPr txBox="1"/>
                <p:nvPr/>
              </p:nvSpPr>
              <p:spPr>
                <a:xfrm>
                  <a:off x="3531968" y="3666672"/>
                  <a:ext cx="197921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引入前沿技术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4653175-7CCB-4E38-8E66-E782419BF189}"/>
                    </a:ext>
                  </a:extLst>
                </p:cNvPr>
                <p:cNvSpPr txBox="1"/>
                <p:nvPr/>
              </p:nvSpPr>
              <p:spPr>
                <a:xfrm>
                  <a:off x="3553987" y="3919017"/>
                  <a:ext cx="1979213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积极引进前沿技术，应用于产品和服务中，提升用户体验和降低成本。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88F0C04-30CB-4C13-861B-A2440553D935}"/>
                  </a:ext>
                </a:extLst>
              </p:cNvPr>
              <p:cNvGrpSpPr/>
              <p:nvPr/>
            </p:nvGrpSpPr>
            <p:grpSpPr>
              <a:xfrm>
                <a:off x="5723629" y="3777300"/>
                <a:ext cx="2001232" cy="1563817"/>
                <a:chOff x="6214398" y="3091361"/>
                <a:chExt cx="2001232" cy="1563817"/>
              </a:xfrm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E8051927-163B-49B1-8B1A-A62D6523A6E8}"/>
                    </a:ext>
                  </a:extLst>
                </p:cNvPr>
                <p:cNvSpPr/>
                <p:nvPr/>
              </p:nvSpPr>
              <p:spPr>
                <a:xfrm>
                  <a:off x="6336497" y="3091361"/>
                  <a:ext cx="410200" cy="410198"/>
                </a:xfrm>
                <a:prstGeom prst="roundRect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C7611222-9BCA-4F97-AFEF-965C7B0019EF}"/>
                    </a:ext>
                  </a:extLst>
                </p:cNvPr>
                <p:cNvSpPr/>
                <p:nvPr/>
              </p:nvSpPr>
              <p:spPr>
                <a:xfrm>
                  <a:off x="6452597" y="3225540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BEA83C2-3EC6-49DB-9116-EEC8C2C62937}"/>
                    </a:ext>
                  </a:extLst>
                </p:cNvPr>
                <p:cNvSpPr txBox="1"/>
                <p:nvPr/>
              </p:nvSpPr>
              <p:spPr>
                <a:xfrm>
                  <a:off x="6214398" y="3664810"/>
                  <a:ext cx="197921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打造强大技术团队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9A92D0C-4392-49AA-BFFA-1657567D4872}"/>
                    </a:ext>
                  </a:extLst>
                </p:cNvPr>
                <p:cNvSpPr txBox="1"/>
                <p:nvPr/>
              </p:nvSpPr>
              <p:spPr>
                <a:xfrm>
                  <a:off x="6236417" y="3917155"/>
                  <a:ext cx="1979213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拥有高素质的技术团队，不断追求技术突破和创新，保持竞争优势。</a:t>
                  </a:r>
                </a:p>
              </p:txBody>
            </p:sp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EF1F595-A9BA-47BF-BE18-F50DB5EFE5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160" y="4059667"/>
                <a:ext cx="914400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  <a:alpha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3604050-0DE9-46FC-8C09-1594488DC5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0311" y="4045426"/>
                <a:ext cx="914400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  <a:alpha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D146EDC-BB7C-4333-981A-C1659AD0E670}"/>
                </a:ext>
              </a:extLst>
            </p:cNvPr>
            <p:cNvSpPr/>
            <p:nvPr/>
          </p:nvSpPr>
          <p:spPr>
            <a:xfrm>
              <a:off x="8142330" y="2015096"/>
              <a:ext cx="3233942" cy="3173897"/>
            </a:xfrm>
            <a:prstGeom prst="roundRect">
              <a:avLst>
                <a:gd name="adj" fmla="val 6000"/>
              </a:avLst>
            </a:prstGeom>
            <a:blipFill rotWithShape="0">
              <a:blip r:embed="rId3"/>
              <a:srcRect/>
              <a:stretch>
                <a:fillRect l="-28580" r="-2858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3CED08F-4446-462C-837F-9C9124953C3B}"/>
                </a:ext>
              </a:extLst>
            </p:cNvPr>
            <p:cNvSpPr/>
            <p:nvPr/>
          </p:nvSpPr>
          <p:spPr>
            <a:xfrm>
              <a:off x="10943950" y="4748911"/>
              <a:ext cx="572022" cy="57201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BEE07A1-7D79-487B-B551-E2F5DBF92D2C}"/>
                </a:ext>
              </a:extLst>
            </p:cNvPr>
            <p:cNvSpPr txBox="1"/>
            <p:nvPr/>
          </p:nvSpPr>
          <p:spPr>
            <a:xfrm>
              <a:off x="663328" y="2251246"/>
              <a:ext cx="33499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技术创新的核心驱动力</a:t>
              </a:r>
            </a:p>
          </p:txBody>
        </p:sp>
      </p:grpSp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技术创新的驱动力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7271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03.公司财务和市场动态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深度剖析公司的财务表现和市场动态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1771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A459F2-924A-9191-E6C0-2469BA394D2C}"/>
              </a:ext>
            </a:extLst>
          </p:cNvPr>
          <p:cNvGrpSpPr/>
          <p:nvPr/>
        </p:nvGrpSpPr>
        <p:grpSpPr>
          <a:xfrm>
            <a:off x="660400" y="1150680"/>
            <a:ext cx="10853737" cy="4123240"/>
            <a:chOff x="660400" y="1150680"/>
            <a:chExt cx="10853737" cy="412324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14BB3F-F223-2F47-EA50-EBFB56B876E7}"/>
                </a:ext>
              </a:extLst>
            </p:cNvPr>
            <p:cNvSpPr txBox="1"/>
            <p:nvPr/>
          </p:nvSpPr>
          <p:spPr>
            <a:xfrm>
              <a:off x="665163" y="1150680"/>
              <a:ext cx="108489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资本市场现状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C698B0A-9A33-8ECF-CCAB-59629F1670D2}"/>
                </a:ext>
              </a:extLst>
            </p:cNvPr>
            <p:cNvGrpSpPr/>
            <p:nvPr/>
          </p:nvGrpSpPr>
          <p:grpSpPr>
            <a:xfrm>
              <a:off x="4449958" y="2792161"/>
              <a:ext cx="2560196" cy="2481759"/>
              <a:chOff x="4449958" y="2792161"/>
              <a:chExt cx="2560196" cy="2481759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303F8AC-5649-34C5-B32C-4F7903762C4A}"/>
                  </a:ext>
                </a:extLst>
              </p:cNvPr>
              <p:cNvSpPr/>
              <p:nvPr/>
            </p:nvSpPr>
            <p:spPr bwMode="auto">
              <a:xfrm>
                <a:off x="5172056" y="2792161"/>
                <a:ext cx="1116000" cy="1116000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1200" b="1" dirty="0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F2259BA-BFC9-3E59-C4E6-C928DD19EC00}"/>
                  </a:ext>
                </a:extLst>
              </p:cNvPr>
              <p:cNvSpPr/>
              <p:nvPr/>
            </p:nvSpPr>
            <p:spPr>
              <a:xfrm>
                <a:off x="4730414" y="4325286"/>
                <a:ext cx="199928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投资者关注度提升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5119895-7705-ED26-DBA3-AA7AA9136A3E}"/>
                  </a:ext>
                </a:extLst>
              </p:cNvPr>
              <p:cNvSpPr/>
              <p:nvPr/>
            </p:nvSpPr>
            <p:spPr>
              <a:xfrm>
                <a:off x="4449958" y="4757497"/>
                <a:ext cx="2560196" cy="51642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投资者对公司的关注度不断提升，需加强沟通与透明度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FF5B3B9-DEB3-78CB-E13A-F694A8249C40}"/>
                  </a:ext>
                </a:extLst>
              </p:cNvPr>
              <p:cNvSpPr/>
              <p:nvPr/>
            </p:nvSpPr>
            <p:spPr>
              <a:xfrm>
                <a:off x="5466202" y="3119329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5221F08-204E-AED0-10B2-E265991BDD72}"/>
                </a:ext>
              </a:extLst>
            </p:cNvPr>
            <p:cNvGrpSpPr/>
            <p:nvPr/>
          </p:nvGrpSpPr>
          <p:grpSpPr>
            <a:xfrm>
              <a:off x="660400" y="2792161"/>
              <a:ext cx="2560196" cy="2260160"/>
              <a:chOff x="660400" y="2792161"/>
              <a:chExt cx="2560196" cy="226016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09E0C64-61D7-64AA-0A36-82E0C816D3E5}"/>
                  </a:ext>
                </a:extLst>
              </p:cNvPr>
              <p:cNvSpPr/>
              <p:nvPr/>
            </p:nvSpPr>
            <p:spPr bwMode="auto">
              <a:xfrm>
                <a:off x="1382498" y="2792161"/>
                <a:ext cx="1116000" cy="1116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1200" b="1" dirty="0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ACDEF6F-9D83-0CCB-14AB-E06CE421B79A}"/>
                  </a:ext>
                </a:extLst>
              </p:cNvPr>
              <p:cNvSpPr/>
              <p:nvPr/>
            </p:nvSpPr>
            <p:spPr>
              <a:xfrm>
                <a:off x="940856" y="4325286"/>
                <a:ext cx="199928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市场波动性增加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FFEAC7-1FE6-2790-15D9-5647919914C9}"/>
                  </a:ext>
                </a:extLst>
              </p:cNvPr>
              <p:cNvSpPr/>
              <p:nvPr/>
            </p:nvSpPr>
            <p:spPr>
              <a:xfrm>
                <a:off x="660400" y="4757497"/>
                <a:ext cx="2560196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市场风险的增加对公司带来的挑战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E57710C-FABD-BB94-A773-8BAE7C53201C}"/>
                  </a:ext>
                </a:extLst>
              </p:cNvPr>
              <p:cNvSpPr/>
              <p:nvPr/>
            </p:nvSpPr>
            <p:spPr>
              <a:xfrm>
                <a:off x="1676644" y="3119329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rgbClr val="FFFFFF"/>
                    </a:solidFill>
                  </a:rPr>
                  <a:t>01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32DF5BD-D701-3EA6-096D-08E3D9E20AB8}"/>
                </a:ext>
              </a:extLst>
            </p:cNvPr>
            <p:cNvGrpSpPr/>
            <p:nvPr/>
          </p:nvGrpSpPr>
          <p:grpSpPr>
            <a:xfrm>
              <a:off x="8239517" y="2792161"/>
              <a:ext cx="2560196" cy="2260160"/>
              <a:chOff x="8239517" y="2792161"/>
              <a:chExt cx="2560196" cy="2260160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5ED2798-9971-4FBF-DB08-17C6CE93ED57}"/>
                  </a:ext>
                </a:extLst>
              </p:cNvPr>
              <p:cNvSpPr/>
              <p:nvPr/>
            </p:nvSpPr>
            <p:spPr bwMode="auto">
              <a:xfrm>
                <a:off x="8961615" y="2792161"/>
                <a:ext cx="1116000" cy="1116000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1200" b="1" dirty="0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AD447BA-0A23-4989-1050-58DFF20D189F}"/>
                  </a:ext>
                </a:extLst>
              </p:cNvPr>
              <p:cNvSpPr/>
              <p:nvPr/>
            </p:nvSpPr>
            <p:spPr>
              <a:xfrm>
                <a:off x="8519973" y="4325286"/>
                <a:ext cx="199928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新兴市场潜力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9092417-77D3-A490-76F0-F1F84C8DC341}"/>
                  </a:ext>
                </a:extLst>
              </p:cNvPr>
              <p:cNvSpPr/>
              <p:nvPr/>
            </p:nvSpPr>
            <p:spPr>
              <a:xfrm>
                <a:off x="8239517" y="4757497"/>
                <a:ext cx="2560196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在新兴市场中发现更多的增长机会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181F335-E7AB-F8BE-52CF-BD3F9AD85A4D}"/>
                  </a:ext>
                </a:extLst>
              </p:cNvPr>
              <p:cNvSpPr/>
              <p:nvPr/>
            </p:nvSpPr>
            <p:spPr>
              <a:xfrm>
                <a:off x="9255761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chemeClr val="bg1"/>
                    </a:solidFill>
                  </a:rPr>
                  <a:t>03</a:t>
                </a:r>
              </a:p>
            </p:txBody>
          </p:sp>
        </p:grpSp>
      </p:grpSp>
      <p:sp>
        <p:nvSpPr>
          <p:cNvPr id="48" name="Title 4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资本市场的最新动态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5622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3335" y="0"/>
            <a:ext cx="12195335" cy="6858000"/>
            <a:chOff x="-3335" y="0"/>
            <a:chExt cx="12195335" cy="68580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254659-19CA-4952-B7D6-9D976C47510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8E7EF0">
                <a:alpha val="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D2B789F-3B6E-4608-88FB-E8117596A1D7}"/>
                </a:ext>
              </a:extLst>
            </p:cNvPr>
            <p:cNvSpPr/>
            <p:nvPr/>
          </p:nvSpPr>
          <p:spPr>
            <a:xfrm rot="533347">
              <a:off x="-3335" y="1613314"/>
              <a:ext cx="3678238" cy="3678238"/>
            </a:xfrm>
            <a:prstGeom prst="ellipse">
              <a:avLst/>
            </a:prstGeom>
            <a:gradFill>
              <a:gsLst>
                <a:gs pos="0">
                  <a:schemeClr val="accent5">
                    <a:lumMod val="20000"/>
                    <a:lumOff val="80000"/>
                    <a:alpha val="0"/>
                  </a:schemeClr>
                </a:gs>
                <a:gs pos="60000">
                  <a:schemeClr val="accent5">
                    <a:lumMod val="60000"/>
                    <a:lumOff val="40000"/>
                    <a:alpha val="32000"/>
                  </a:schemeClr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softEdge rad="533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319D73-8CB5-4311-B45B-1509E4C87676}"/>
                </a:ext>
              </a:extLst>
            </p:cNvPr>
            <p:cNvSpPr txBox="1"/>
            <p:nvPr/>
          </p:nvSpPr>
          <p:spPr>
            <a:xfrm>
              <a:off x="660401" y="2480934"/>
              <a:ext cx="10858499" cy="29482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公司在过去一年中实现了稳定的财务增长，并且未来有持续增长的预期。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68B4BD1-A834-4217-8BA0-519060F9DBF4}"/>
                </a:ext>
              </a:extLst>
            </p:cNvPr>
            <p:cNvSpPr txBox="1"/>
            <p:nvPr/>
          </p:nvSpPr>
          <p:spPr>
            <a:xfrm>
              <a:off x="660401" y="1288325"/>
              <a:ext cx="10858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财务状况良好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BDAD9E4-3534-465B-9E98-86C5B8741C6A}"/>
                </a:ext>
              </a:extLst>
            </p:cNvPr>
            <p:cNvSpPr/>
            <p:nvPr/>
          </p:nvSpPr>
          <p:spPr>
            <a:xfrm rot="7408701">
              <a:off x="10379496" y="699669"/>
              <a:ext cx="1483841" cy="148384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9000">
                  <a:schemeClr val="accent1">
                    <a:alpha val="82000"/>
                  </a:schemeClr>
                </a:gs>
                <a:gs pos="47000">
                  <a:schemeClr val="accent1">
                    <a:lumMod val="60000"/>
                    <a:lumOff val="40000"/>
                    <a:alpha val="79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57150" cap="rnd">
              <a:noFill/>
              <a:prstDash val="solid"/>
              <a:round/>
            </a:ln>
            <a:effectLst>
              <a:softEdge rad="355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9771038-D3BC-4B61-95EB-3F9F5BC010A9}"/>
                </a:ext>
              </a:extLst>
            </p:cNvPr>
            <p:cNvGrpSpPr/>
            <p:nvPr/>
          </p:nvGrpSpPr>
          <p:grpSpPr>
            <a:xfrm>
              <a:off x="660400" y="3758006"/>
              <a:ext cx="10858500" cy="2331439"/>
              <a:chOff x="660400" y="3758006"/>
              <a:chExt cx="10858500" cy="2331439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4E574882-FA2F-463D-8663-904E61E00A0F}"/>
                  </a:ext>
                </a:extLst>
              </p:cNvPr>
              <p:cNvGrpSpPr/>
              <p:nvPr/>
            </p:nvGrpSpPr>
            <p:grpSpPr>
              <a:xfrm>
                <a:off x="660400" y="5009945"/>
                <a:ext cx="10858500" cy="1079500"/>
                <a:chOff x="660400" y="5009945"/>
                <a:chExt cx="10858500" cy="1079500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B2C46198-3B06-457F-AA57-9522EA006A4E}"/>
                    </a:ext>
                  </a:extLst>
                </p:cNvPr>
                <p:cNvGrpSpPr/>
                <p:nvPr/>
              </p:nvGrpSpPr>
              <p:grpSpPr>
                <a:xfrm>
                  <a:off x="660400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4" name="Rectangle: Rounded Corners 3">
                    <a:extLst>
                      <a:ext uri="{FF2B5EF4-FFF2-40B4-BE49-F238E27FC236}">
                        <a16:creationId xmlns:a16="http://schemas.microsoft.com/office/drawing/2014/main" id="{DCD2267D-860D-4567-8173-67A6C7C477C3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D82FFDAF-7D4D-48A7-BF3B-B868A9A1FD40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60000">
                        <a:schemeClr val="accent4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4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 dirty="0">
                        <a:solidFill>
                          <a:srgbClr val="FFFFFF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FA55CF4-0295-4349-BA50-9AA4C0539579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4"/>
                        </a:solidFill>
                      </a:rPr>
                      <a:t>财务健康状况良好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DF0E6089-4902-46BD-92CE-068DFC771F11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公司财务状况稳健，资产负债表处于良好状态</a:t>
                    </a:r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E76F056-0DB1-4D93-B1F1-76F7B71DDA8D}"/>
                    </a:ext>
                  </a:extLst>
                </p:cNvPr>
                <p:cNvGrpSpPr/>
                <p:nvPr/>
              </p:nvGrpSpPr>
              <p:grpSpPr>
                <a:xfrm>
                  <a:off x="6175828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22" name="Rectangle: Rounded Corners 21">
                    <a:extLst>
                      <a:ext uri="{FF2B5EF4-FFF2-40B4-BE49-F238E27FC236}">
                        <a16:creationId xmlns:a16="http://schemas.microsoft.com/office/drawing/2014/main" id="{9AE545D8-EB63-43D7-91BF-FF41CD22FF57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E26E6B0C-1EE7-458D-906D-F1139991AD0B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6">
                          <a:lumMod val="60000"/>
                          <a:lumOff val="40000"/>
                        </a:schemeClr>
                      </a:gs>
                      <a:gs pos="60000">
                        <a:schemeClr val="accent6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6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>
                        <a:solidFill>
                          <a:srgbClr val="FFFFFF"/>
                        </a:solidFill>
                      </a:rPr>
                      <a:t>4</a:t>
                    </a:r>
                    <a:endParaRPr lang="en-GB" sz="2000" b="1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3C1702F-7356-4C5F-9C2D-806F27CAD4D6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6"/>
                        </a:solidFill>
                      </a:rPr>
                      <a:t>持续增长的预期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213CF46-466E-42E1-BB8A-97246E0E6A98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公司有信心在未来实现持续的财务增长</a:t>
                    </a:r>
                  </a:p>
                </p:txBody>
              </p:sp>
            </p:grp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81F1DD26-B391-4462-A25A-0D0C50D39E84}"/>
                  </a:ext>
                </a:extLst>
              </p:cNvPr>
              <p:cNvGrpSpPr/>
              <p:nvPr/>
            </p:nvGrpSpPr>
            <p:grpSpPr>
              <a:xfrm>
                <a:off x="660400" y="3758006"/>
                <a:ext cx="10858500" cy="1079500"/>
                <a:chOff x="660400" y="5009945"/>
                <a:chExt cx="10858500" cy="1079500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1580E36E-10AC-4C55-998F-65AFE6418CAB}"/>
                    </a:ext>
                  </a:extLst>
                </p:cNvPr>
                <p:cNvGrpSpPr/>
                <p:nvPr/>
              </p:nvGrpSpPr>
              <p:grpSpPr>
                <a:xfrm>
                  <a:off x="660400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64" name="Rectangle: Rounded Corners 63">
                    <a:extLst>
                      <a:ext uri="{FF2B5EF4-FFF2-40B4-BE49-F238E27FC236}">
                        <a16:creationId xmlns:a16="http://schemas.microsoft.com/office/drawing/2014/main" id="{4A7D2338-B135-4B08-AFDE-E06B8D6E9C42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23B21957-8A83-491B-A874-2D78DB225A0D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60000">
                        <a:schemeClr val="accent5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5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>
                        <a:solidFill>
                          <a:srgbClr val="FFFFFF"/>
                        </a:solidFill>
                      </a:rPr>
                      <a:t>1</a:t>
                    </a:r>
                    <a:endParaRPr lang="en-GB" sz="2000" b="1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84D68808-4820-4C5C-BD24-60BD2F75F1FC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5"/>
                        </a:solidFill>
                      </a:rPr>
                      <a:t>稳定的收入增长</a:t>
                    </a:r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E0E47A25-BB20-4A9C-9DFC-5633300FC701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公司收入保持稳定增长态势</a:t>
                    </a: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1FA30F9-F098-44AA-9FFA-4CBB34794C0C}"/>
                    </a:ext>
                  </a:extLst>
                </p:cNvPr>
                <p:cNvGrpSpPr/>
                <p:nvPr/>
              </p:nvGrpSpPr>
              <p:grpSpPr>
                <a:xfrm>
                  <a:off x="6175828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60" name="Rectangle: Rounded Corners 59">
                    <a:extLst>
                      <a:ext uri="{FF2B5EF4-FFF2-40B4-BE49-F238E27FC236}">
                        <a16:creationId xmlns:a16="http://schemas.microsoft.com/office/drawing/2014/main" id="{D1F501C3-450F-418E-8303-0D7551220C69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FEF0A828-DF10-4172-97F8-1481A1E0E3BC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2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 dirty="0">
                        <a:solidFill>
                          <a:srgbClr val="FFFFFF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93B903A0-0429-4912-BF26-D2297F242D90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2"/>
                        </a:solidFill>
                      </a:rPr>
                      <a:t>可观的利润增加</a:t>
                    </a: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5B5DFF2-77CE-455C-AC97-E91C3EBC16FA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公司实现了可观的利润增加</a:t>
                    </a:r>
                  </a:p>
                </p:txBody>
              </p:sp>
            </p:grpSp>
          </p:grpSp>
        </p:grpSp>
      </p:grpSp>
      <p:sp>
        <p:nvSpPr>
          <p:cNvPr id="73" name="Title 7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公司的财务表现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898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6758B62-2A27-A84B-AAFD-F872BD80414C}"/>
              </a:ext>
            </a:extLst>
          </p:cNvPr>
          <p:cNvGrpSpPr/>
          <p:nvPr/>
        </p:nvGrpSpPr>
        <p:grpSpPr>
          <a:xfrm>
            <a:off x="660400" y="1457907"/>
            <a:ext cx="10858500" cy="4242212"/>
            <a:chOff x="660400" y="1457907"/>
            <a:chExt cx="10858500" cy="4242212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4D56B7D8-F62C-A77F-1EA9-ABAEEBAF8C2B}"/>
                </a:ext>
              </a:extLst>
            </p:cNvPr>
            <p:cNvGrpSpPr/>
            <p:nvPr/>
          </p:nvGrpSpPr>
          <p:grpSpPr>
            <a:xfrm>
              <a:off x="660400" y="1457907"/>
              <a:ext cx="3507161" cy="4242212"/>
              <a:chOff x="670197" y="1452722"/>
              <a:chExt cx="3507161" cy="4242212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C68507FF-3ACF-8D1A-512F-5B3B59B58A3D}"/>
                  </a:ext>
                </a:extLst>
              </p:cNvPr>
              <p:cNvGrpSpPr/>
              <p:nvPr/>
            </p:nvGrpSpPr>
            <p:grpSpPr>
              <a:xfrm>
                <a:off x="670197" y="1452722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D0234FAD-20DD-31C1-E819-BFD6048019C9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8000">
                      <a:schemeClr val="accent1"/>
                    </a:gs>
                  </a:gsLst>
                  <a:lin ang="2700000" scaled="1"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01</a:t>
                  </a:r>
                  <a:endParaRPr lang="zh-CN" altLang="en-US" sz="2000" b="1" dirty="0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7EE1B33D-CE9D-E300-F614-D7418C549406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收入增长</a:t>
                  </a:r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0A53FCCC-EB80-77C4-ECFF-BA1BE7CC9589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年度收入实现持续增长</a:t>
                  </a: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32D5F67B-27CA-27AA-C78F-327A8BCADC67}"/>
                  </a:ext>
                </a:extLst>
              </p:cNvPr>
              <p:cNvGrpSpPr/>
              <p:nvPr/>
            </p:nvGrpSpPr>
            <p:grpSpPr>
              <a:xfrm>
                <a:off x="670197" y="4935799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3E31DC5F-CBE8-B4C8-9237-EFACCD1B4907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69000">
                      <a:schemeClr val="accent5"/>
                    </a:gs>
                  </a:gsLst>
                  <a:lin ang="2700000" scaled="1"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03</a:t>
                  </a:r>
                  <a:endParaRPr lang="zh-CN" altLang="en-US" sz="2000" b="1" dirty="0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7EE0D45A-2506-DEF3-33E5-275EC5600D68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预测准确</a:t>
                  </a: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7FD7B1CE-DFA1-C749-C180-5051C7705188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财务预测准确，为未来发展提供依据</a:t>
                  </a:r>
                </a:p>
              </p:txBody>
            </p:sp>
          </p:grp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67138357-E876-2DD2-FB7C-FF1E8C5861CF}"/>
                </a:ext>
              </a:extLst>
            </p:cNvPr>
            <p:cNvGrpSpPr/>
            <p:nvPr/>
          </p:nvGrpSpPr>
          <p:grpSpPr>
            <a:xfrm>
              <a:off x="8011739" y="1457907"/>
              <a:ext cx="3507161" cy="4242212"/>
              <a:chOff x="8436967" y="1452722"/>
              <a:chExt cx="3507161" cy="4242212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1FA121F9-9BD1-4DE7-E543-F80CF5F2AA85}"/>
                  </a:ext>
                </a:extLst>
              </p:cNvPr>
              <p:cNvGrpSpPr/>
              <p:nvPr/>
            </p:nvGrpSpPr>
            <p:grpSpPr>
              <a:xfrm flipH="1">
                <a:off x="8436967" y="1452722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54" name="Rectangle: Rounded Corners 153">
                  <a:extLst>
                    <a:ext uri="{FF2B5EF4-FFF2-40B4-BE49-F238E27FC236}">
                      <a16:creationId xmlns:a16="http://schemas.microsoft.com/office/drawing/2014/main" id="{E329FFE0-02C4-0E11-98DE-C51A3DDA687A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8000">
                      <a:schemeClr val="accent4"/>
                    </a:gs>
                  </a:gsLst>
                  <a:lin ang="2700000" scaled="1"/>
                  <a:tileRect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02</a:t>
                  </a:r>
                  <a:endParaRPr lang="zh-CN" altLang="en-US" sz="2000" b="1" dirty="0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92FE23C4-B626-9181-95D7-C6E9F5087D65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利润稳定</a:t>
                  </a:r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E16170D1-F290-C4F8-7AD6-9110A14F4E21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公司利润保持稳定增长</a:t>
                  </a: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0C6BA37E-A20C-3567-731A-700C06FA4753}"/>
                  </a:ext>
                </a:extLst>
              </p:cNvPr>
              <p:cNvGrpSpPr/>
              <p:nvPr/>
            </p:nvGrpSpPr>
            <p:grpSpPr>
              <a:xfrm flipH="1">
                <a:off x="8436967" y="4935799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40D350F5-FD66-B008-E35D-8EDE6E1133C8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9000">
                      <a:schemeClr val="accent6"/>
                    </a:gs>
                  </a:gsLst>
                  <a:lin ang="2700000" scaled="1"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04</a:t>
                  </a:r>
                  <a:endParaRPr lang="zh-CN" altLang="en-US" sz="2000" b="1" dirty="0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A427A9C3-17B0-9E9C-656E-9BF66EB9599F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财务健康</a:t>
                  </a:r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20932E18-E6CD-1907-ED27-A9BEE0FB48D8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公司财务状况良好，实现持续增长</a:t>
                  </a:r>
                </a:p>
              </p:txBody>
            </p:sp>
          </p:grp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341C44A8-999B-28BC-7039-48E49CD67832}"/>
                </a:ext>
              </a:extLst>
            </p:cNvPr>
            <p:cNvGrpSpPr/>
            <p:nvPr/>
          </p:nvGrpSpPr>
          <p:grpSpPr>
            <a:xfrm>
              <a:off x="4742720" y="2023568"/>
              <a:ext cx="2693860" cy="3217264"/>
              <a:chOff x="4619676" y="1679225"/>
              <a:chExt cx="3439593" cy="4107889"/>
            </a:xfrm>
          </p:grpSpPr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A3FF0141-F50C-ACA1-D7B0-FB1486B53AA0}"/>
                  </a:ext>
                </a:extLst>
              </p:cNvPr>
              <p:cNvSpPr/>
              <p:nvPr/>
            </p:nvSpPr>
            <p:spPr>
              <a:xfrm>
                <a:off x="4710336" y="3449861"/>
                <a:ext cx="1880334" cy="1480234"/>
              </a:xfrm>
              <a:custGeom>
                <a:avLst/>
                <a:gdLst>
                  <a:gd name="connsiteX0" fmla="*/ 1549061 w 1549061"/>
                  <a:gd name="connsiteY0" fmla="*/ 0 h 1219450"/>
                  <a:gd name="connsiteX1" fmla="*/ 1549061 w 1549061"/>
                  <a:gd name="connsiteY1" fmla="*/ 324016 h 1219450"/>
                  <a:gd name="connsiteX2" fmla="*/ 0 w 1549061"/>
                  <a:gd name="connsiteY2" fmla="*/ 1219451 h 1219450"/>
                  <a:gd name="connsiteX3" fmla="*/ 0 w 1549061"/>
                  <a:gd name="connsiteY3" fmla="*/ 895434 h 1219450"/>
                  <a:gd name="connsiteX4" fmla="*/ 1549061 w 1549061"/>
                  <a:gd name="connsiteY4" fmla="*/ 0 h 1219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9061" h="1219450">
                    <a:moveTo>
                      <a:pt x="1549061" y="0"/>
                    </a:moveTo>
                    <a:lnTo>
                      <a:pt x="1549061" y="324016"/>
                    </a:lnTo>
                    <a:lnTo>
                      <a:pt x="0" y="1219451"/>
                    </a:lnTo>
                    <a:lnTo>
                      <a:pt x="0" y="895434"/>
                    </a:lnTo>
                    <a:lnTo>
                      <a:pt x="1549061" y="0"/>
                    </a:lnTo>
                    <a:close/>
                  </a:path>
                </a:pathLst>
              </a:custGeom>
              <a:solidFill>
                <a:srgbClr val="9877E5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F8272532-6AB2-7FAF-240F-6EE92CF98D06}"/>
                  </a:ext>
                </a:extLst>
              </p:cNvPr>
              <p:cNvSpPr/>
              <p:nvPr/>
            </p:nvSpPr>
            <p:spPr>
              <a:xfrm>
                <a:off x="4619676" y="3421857"/>
                <a:ext cx="1974072" cy="1146724"/>
              </a:xfrm>
              <a:custGeom>
                <a:avLst/>
                <a:gdLst>
                  <a:gd name="connsiteX0" fmla="*/ 1625958 w 1626285"/>
                  <a:gd name="connsiteY0" fmla="*/ 47026 h 944697"/>
                  <a:gd name="connsiteX1" fmla="*/ 81248 w 1626285"/>
                  <a:gd name="connsiteY1" fmla="*/ 944637 h 944697"/>
                  <a:gd name="connsiteX2" fmla="*/ 8520 w 1626285"/>
                  <a:gd name="connsiteY2" fmla="*/ 902677 h 944697"/>
                  <a:gd name="connsiteX3" fmla="*/ 377 w 1626285"/>
                  <a:gd name="connsiteY3" fmla="*/ 886112 h 944697"/>
                  <a:gd name="connsiteX4" fmla="*/ 8520 w 1626285"/>
                  <a:gd name="connsiteY4" fmla="*/ 877968 h 944697"/>
                  <a:gd name="connsiteX5" fmla="*/ 1510494 w 1626285"/>
                  <a:gd name="connsiteY5" fmla="*/ 5067 h 944697"/>
                  <a:gd name="connsiteX6" fmla="*/ 1553385 w 1626285"/>
                  <a:gd name="connsiteY6" fmla="*/ 5067 h 94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6285" h="944697">
                    <a:moveTo>
                      <a:pt x="1625958" y="47026"/>
                    </a:moveTo>
                    <a:lnTo>
                      <a:pt x="81248" y="944637"/>
                    </a:lnTo>
                    <a:lnTo>
                      <a:pt x="8520" y="902677"/>
                    </a:lnTo>
                    <a:cubicBezTo>
                      <a:pt x="1698" y="900346"/>
                      <a:pt x="-1955" y="892934"/>
                      <a:pt x="377" y="886112"/>
                    </a:cubicBezTo>
                    <a:cubicBezTo>
                      <a:pt x="1682" y="882273"/>
                      <a:pt x="4697" y="879274"/>
                      <a:pt x="8520" y="877968"/>
                    </a:cubicBezTo>
                    <a:lnTo>
                      <a:pt x="1510494" y="5067"/>
                    </a:lnTo>
                    <a:cubicBezTo>
                      <a:pt x="1523967" y="-1770"/>
                      <a:pt x="1539912" y="-1770"/>
                      <a:pt x="1553385" y="5067"/>
                    </a:cubicBezTo>
                    <a:close/>
                  </a:path>
                </a:pathLst>
              </a:custGeom>
              <a:solidFill>
                <a:srgbClr val="C7A6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A2803586-4B88-68E9-A493-ECE5161128C7}"/>
                  </a:ext>
                </a:extLst>
              </p:cNvPr>
              <p:cNvSpPr/>
              <p:nvPr/>
            </p:nvSpPr>
            <p:spPr>
              <a:xfrm>
                <a:off x="6165166" y="4627892"/>
                <a:ext cx="1894103" cy="1159222"/>
              </a:xfrm>
              <a:custGeom>
                <a:avLst/>
                <a:gdLst>
                  <a:gd name="connsiteX0" fmla="*/ 1544694 w 1560405"/>
                  <a:gd name="connsiteY0" fmla="*/ 20919 h 954993"/>
                  <a:gd name="connsiteX1" fmla="*/ 73023 w 1560405"/>
                  <a:gd name="connsiteY1" fmla="*/ 875637 h 954993"/>
                  <a:gd name="connsiteX2" fmla="*/ -327 w 1560405"/>
                  <a:gd name="connsiteY2" fmla="*/ 875637 h 954993"/>
                  <a:gd name="connsiteX3" fmla="*/ -327 w 1560405"/>
                  <a:gd name="connsiteY3" fmla="*/ 875637 h 954993"/>
                  <a:gd name="connsiteX4" fmla="*/ -327 w 1560405"/>
                  <a:gd name="connsiteY4" fmla="*/ 946191 h 954993"/>
                  <a:gd name="connsiteX5" fmla="*/ 73023 w 1560405"/>
                  <a:gd name="connsiteY5" fmla="*/ 946191 h 954993"/>
                  <a:gd name="connsiteX6" fmla="*/ 1544538 w 1560405"/>
                  <a:gd name="connsiteY6" fmla="*/ 91472 h 954993"/>
                  <a:gd name="connsiteX7" fmla="*/ 1560079 w 1560405"/>
                  <a:gd name="connsiteY7" fmla="*/ 70337 h 954993"/>
                  <a:gd name="connsiteX8" fmla="*/ 1560079 w 1560405"/>
                  <a:gd name="connsiteY8" fmla="*/ -61 h 954993"/>
                  <a:gd name="connsiteX9" fmla="*/ 1544694 w 1560405"/>
                  <a:gd name="connsiteY9" fmla="*/ 20919 h 954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0405" h="954993">
                    <a:moveTo>
                      <a:pt x="1544694" y="20919"/>
                    </a:moveTo>
                    <a:lnTo>
                      <a:pt x="73023" y="875637"/>
                    </a:lnTo>
                    <a:cubicBezTo>
                      <a:pt x="49993" y="887448"/>
                      <a:pt x="22704" y="887448"/>
                      <a:pt x="-327" y="875637"/>
                    </a:cubicBezTo>
                    <a:lnTo>
                      <a:pt x="-327" y="875637"/>
                    </a:lnTo>
                    <a:lnTo>
                      <a:pt x="-327" y="946191"/>
                    </a:lnTo>
                    <a:cubicBezTo>
                      <a:pt x="22735" y="957846"/>
                      <a:pt x="49962" y="957846"/>
                      <a:pt x="73023" y="946191"/>
                    </a:cubicBezTo>
                    <a:lnTo>
                      <a:pt x="1544538" y="91472"/>
                    </a:lnTo>
                    <a:cubicBezTo>
                      <a:pt x="1553164" y="87757"/>
                      <a:pt x="1559100" y="79676"/>
                      <a:pt x="1560079" y="70337"/>
                    </a:cubicBezTo>
                    <a:lnTo>
                      <a:pt x="1560079" y="-61"/>
                    </a:lnTo>
                    <a:cubicBezTo>
                      <a:pt x="1559116" y="9201"/>
                      <a:pt x="1553226" y="17220"/>
                      <a:pt x="1544694" y="20919"/>
                    </a:cubicBezTo>
                    <a:close/>
                  </a:path>
                </a:pathLst>
              </a:custGeom>
              <a:solidFill>
                <a:srgbClr val="C19E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68256050-AC2F-976A-9021-B08184F2B45E}"/>
                  </a:ext>
                </a:extLst>
              </p:cNvPr>
              <p:cNvSpPr/>
              <p:nvPr/>
            </p:nvSpPr>
            <p:spPr>
              <a:xfrm>
                <a:off x="4717754" y="3771979"/>
                <a:ext cx="3341067" cy="1935415"/>
              </a:xfrm>
              <a:custGeom>
                <a:avLst/>
                <a:gdLst>
                  <a:gd name="connsiteX0" fmla="*/ 2736793 w 2752446"/>
                  <a:gd name="connsiteY0" fmla="*/ 688221 h 1594438"/>
                  <a:gd name="connsiteX1" fmla="*/ 2736793 w 2752446"/>
                  <a:gd name="connsiteY1" fmla="*/ 730801 h 1594438"/>
                  <a:gd name="connsiteX2" fmla="*/ 1265123 w 2752446"/>
                  <a:gd name="connsiteY2" fmla="*/ 1585520 h 1594438"/>
                  <a:gd name="connsiteX3" fmla="*/ 1191773 w 2752446"/>
                  <a:gd name="connsiteY3" fmla="*/ 1585520 h 1594438"/>
                  <a:gd name="connsiteX4" fmla="*/ -327 w 2752446"/>
                  <a:gd name="connsiteY4" fmla="*/ 897238 h 1594438"/>
                  <a:gd name="connsiteX5" fmla="*/ 1544383 w 2752446"/>
                  <a:gd name="connsiteY5" fmla="*/ -61 h 1594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52446" h="1594438">
                    <a:moveTo>
                      <a:pt x="2736793" y="688221"/>
                    </a:moveTo>
                    <a:cubicBezTo>
                      <a:pt x="2757151" y="699876"/>
                      <a:pt x="2757306" y="719301"/>
                      <a:pt x="2736793" y="730801"/>
                    </a:cubicBezTo>
                    <a:lnTo>
                      <a:pt x="1265123" y="1585520"/>
                    </a:lnTo>
                    <a:cubicBezTo>
                      <a:pt x="1242092" y="1597331"/>
                      <a:pt x="1214803" y="1597331"/>
                      <a:pt x="1191773" y="1585520"/>
                    </a:cubicBezTo>
                    <a:lnTo>
                      <a:pt x="-327" y="897238"/>
                    </a:lnTo>
                    <a:lnTo>
                      <a:pt x="1544383" y="-61"/>
                    </a:lnTo>
                    <a:close/>
                  </a:path>
                </a:pathLst>
              </a:custGeom>
              <a:solidFill>
                <a:srgbClr val="9877E5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62C1B75F-A3E1-042A-A2FD-AD52492A0082}"/>
                  </a:ext>
                </a:extLst>
              </p:cNvPr>
              <p:cNvGrpSpPr/>
              <p:nvPr/>
            </p:nvGrpSpPr>
            <p:grpSpPr>
              <a:xfrm>
                <a:off x="4766988" y="3748642"/>
                <a:ext cx="3195322" cy="1937490"/>
                <a:chOff x="4787036" y="3555955"/>
                <a:chExt cx="2632378" cy="1596148"/>
              </a:xfrm>
            </p:grpSpPr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EE8AD5F8-08BB-56E8-72F7-58DA79C1D3F5}"/>
                    </a:ext>
                  </a:extLst>
                </p:cNvPr>
                <p:cNvSpPr/>
                <p:nvPr/>
              </p:nvSpPr>
              <p:spPr>
                <a:xfrm>
                  <a:off x="4787036" y="4213623"/>
                  <a:ext cx="1182309" cy="938481"/>
                </a:xfrm>
                <a:custGeom>
                  <a:avLst/>
                  <a:gdLst>
                    <a:gd name="connsiteX0" fmla="*/ 1182309 w 1182309"/>
                    <a:gd name="connsiteY0" fmla="*/ 691856 h 938481"/>
                    <a:gd name="connsiteX1" fmla="*/ 1182309 w 1182309"/>
                    <a:gd name="connsiteY1" fmla="*/ 938481 h 938481"/>
                    <a:gd name="connsiteX2" fmla="*/ 0 w 1182309"/>
                    <a:gd name="connsiteY2" fmla="*/ 246625 h 938481"/>
                    <a:gd name="connsiteX3" fmla="*/ 0 w 1182309"/>
                    <a:gd name="connsiteY3" fmla="*/ 0 h 938481"/>
                    <a:gd name="connsiteX4" fmla="*/ 1182309 w 1182309"/>
                    <a:gd name="connsiteY4" fmla="*/ 691856 h 938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2309" h="938481">
                      <a:moveTo>
                        <a:pt x="1182309" y="691856"/>
                      </a:moveTo>
                      <a:lnTo>
                        <a:pt x="1182309" y="938481"/>
                      </a:lnTo>
                      <a:lnTo>
                        <a:pt x="0" y="246625"/>
                      </a:lnTo>
                      <a:lnTo>
                        <a:pt x="0" y="0"/>
                      </a:lnTo>
                      <a:lnTo>
                        <a:pt x="1182309" y="6918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A5DA3B31-A979-0E95-4542-29E4A7F20589}"/>
                    </a:ext>
                  </a:extLst>
                </p:cNvPr>
                <p:cNvSpPr/>
                <p:nvPr/>
              </p:nvSpPr>
              <p:spPr>
                <a:xfrm>
                  <a:off x="5969345" y="4091631"/>
                  <a:ext cx="1450069" cy="1060473"/>
                </a:xfrm>
                <a:custGeom>
                  <a:avLst/>
                  <a:gdLst>
                    <a:gd name="connsiteX0" fmla="*/ 1450069 w 1450069"/>
                    <a:gd name="connsiteY0" fmla="*/ 0 h 1060473"/>
                    <a:gd name="connsiteX1" fmla="*/ 1450069 w 1450069"/>
                    <a:gd name="connsiteY1" fmla="*/ 221450 h 1060473"/>
                    <a:gd name="connsiteX2" fmla="*/ 0 w 1450069"/>
                    <a:gd name="connsiteY2" fmla="*/ 1060473 h 1060473"/>
                    <a:gd name="connsiteX3" fmla="*/ 0 w 1450069"/>
                    <a:gd name="connsiteY3" fmla="*/ 813848 h 1060473"/>
                    <a:gd name="connsiteX4" fmla="*/ 1450069 w 1450069"/>
                    <a:gd name="connsiteY4" fmla="*/ 0 h 1060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0069" h="1060473">
                      <a:moveTo>
                        <a:pt x="1450069" y="0"/>
                      </a:moveTo>
                      <a:lnTo>
                        <a:pt x="1450069" y="221450"/>
                      </a:lnTo>
                      <a:lnTo>
                        <a:pt x="0" y="1060473"/>
                      </a:lnTo>
                      <a:lnTo>
                        <a:pt x="0" y="813848"/>
                      </a:lnTo>
                      <a:lnTo>
                        <a:pt x="145006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6D88A37A-A857-1C6F-6D50-0C4041DF6CC9}"/>
                    </a:ext>
                  </a:extLst>
                </p:cNvPr>
                <p:cNvSpPr/>
                <p:nvPr/>
              </p:nvSpPr>
              <p:spPr>
                <a:xfrm>
                  <a:off x="4821225" y="3555955"/>
                  <a:ext cx="2339442" cy="1337712"/>
                </a:xfrm>
                <a:custGeom>
                  <a:avLst/>
                  <a:gdLst>
                    <a:gd name="connsiteX0" fmla="*/ 1136154 w 2339442"/>
                    <a:gd name="connsiteY0" fmla="*/ 1337713 h 1337712"/>
                    <a:gd name="connsiteX1" fmla="*/ 0 w 2339442"/>
                    <a:gd name="connsiteY1" fmla="*/ 668079 h 1337712"/>
                    <a:gd name="connsiteX2" fmla="*/ 1169100 w 2339442"/>
                    <a:gd name="connsiteY2" fmla="*/ 0 h 1337712"/>
                    <a:gd name="connsiteX3" fmla="*/ 2339443 w 2339442"/>
                    <a:gd name="connsiteY3" fmla="*/ 671809 h 1337712"/>
                    <a:gd name="connsiteX4" fmla="*/ 1136154 w 2339442"/>
                    <a:gd name="connsiteY4" fmla="*/ 1337713 h 1337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39442" h="1337712">
                      <a:moveTo>
                        <a:pt x="1136154" y="1337713"/>
                      </a:moveTo>
                      <a:lnTo>
                        <a:pt x="0" y="668079"/>
                      </a:lnTo>
                      <a:lnTo>
                        <a:pt x="1169100" y="0"/>
                      </a:lnTo>
                      <a:lnTo>
                        <a:pt x="2339443" y="671809"/>
                      </a:lnTo>
                      <a:lnTo>
                        <a:pt x="1136154" y="1337713"/>
                      </a:lnTo>
                      <a:close/>
                    </a:path>
                  </a:pathLst>
                </a:custGeom>
                <a:solidFill>
                  <a:srgbClr val="7B7C7D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06AD0912-F8D1-4ADA-49C2-07F5256FBBFB}"/>
                  </a:ext>
                </a:extLst>
              </p:cNvPr>
              <p:cNvSpPr/>
              <p:nvPr/>
            </p:nvSpPr>
            <p:spPr>
              <a:xfrm>
                <a:off x="4629849" y="4500116"/>
                <a:ext cx="1535694" cy="1282732"/>
              </a:xfrm>
              <a:custGeom>
                <a:avLst/>
                <a:gdLst>
                  <a:gd name="connsiteX0" fmla="*/ 72402 w 1265139"/>
                  <a:gd name="connsiteY0" fmla="*/ 132032 h 1056743"/>
                  <a:gd name="connsiteX1" fmla="*/ 83979 w 1265139"/>
                  <a:gd name="connsiteY1" fmla="*/ 120921 h 1056743"/>
                  <a:gd name="connsiteX2" fmla="*/ 89341 w 1265139"/>
                  <a:gd name="connsiteY2" fmla="*/ 122397 h 1056743"/>
                  <a:gd name="connsiteX3" fmla="*/ 1264501 w 1265139"/>
                  <a:gd name="connsiteY3" fmla="*/ 800888 h 1056743"/>
                  <a:gd name="connsiteX4" fmla="*/ 1264501 w 1265139"/>
                  <a:gd name="connsiteY4" fmla="*/ 730335 h 1056743"/>
                  <a:gd name="connsiteX5" fmla="*/ -327 w 1265139"/>
                  <a:gd name="connsiteY5" fmla="*/ -61 h 1056743"/>
                  <a:gd name="connsiteX6" fmla="*/ -327 w 1265139"/>
                  <a:gd name="connsiteY6" fmla="*/ 326286 h 1056743"/>
                  <a:gd name="connsiteX7" fmla="*/ 1264812 w 1265139"/>
                  <a:gd name="connsiteY7" fmla="*/ 1056683 h 1056743"/>
                  <a:gd name="connsiteX8" fmla="*/ 1264812 w 1265139"/>
                  <a:gd name="connsiteY8" fmla="*/ 986129 h 1056743"/>
                  <a:gd name="connsiteX9" fmla="*/ 82192 w 1265139"/>
                  <a:gd name="connsiteY9" fmla="*/ 303597 h 1056743"/>
                  <a:gd name="connsiteX10" fmla="*/ 72713 w 1265139"/>
                  <a:gd name="connsiteY10" fmla="*/ 288057 h 10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5139" h="1056743">
                    <a:moveTo>
                      <a:pt x="72402" y="132032"/>
                    </a:moveTo>
                    <a:cubicBezTo>
                      <a:pt x="72526" y="125769"/>
                      <a:pt x="77717" y="120796"/>
                      <a:pt x="83979" y="120921"/>
                    </a:cubicBezTo>
                    <a:cubicBezTo>
                      <a:pt x="85860" y="120967"/>
                      <a:pt x="87709" y="121465"/>
                      <a:pt x="89341" y="122397"/>
                    </a:cubicBezTo>
                    <a:lnTo>
                      <a:pt x="1264501" y="800888"/>
                    </a:lnTo>
                    <a:lnTo>
                      <a:pt x="1264501" y="730335"/>
                    </a:lnTo>
                    <a:lnTo>
                      <a:pt x="-327" y="-61"/>
                    </a:lnTo>
                    <a:lnTo>
                      <a:pt x="-327" y="326286"/>
                    </a:lnTo>
                    <a:lnTo>
                      <a:pt x="1264812" y="1056683"/>
                    </a:lnTo>
                    <a:lnTo>
                      <a:pt x="1264812" y="986129"/>
                    </a:lnTo>
                    <a:lnTo>
                      <a:pt x="82192" y="303597"/>
                    </a:lnTo>
                    <a:cubicBezTo>
                      <a:pt x="76629" y="300334"/>
                      <a:pt x="73070" y="294491"/>
                      <a:pt x="72713" y="288057"/>
                    </a:cubicBezTo>
                    <a:close/>
                  </a:path>
                </a:pathLst>
              </a:custGeom>
              <a:solidFill>
                <a:srgbClr val="C19E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D82F2458-3915-A1D7-67A8-C40C2E725C55}"/>
                  </a:ext>
                </a:extLst>
              </p:cNvPr>
              <p:cNvSpPr/>
              <p:nvPr/>
            </p:nvSpPr>
            <p:spPr>
              <a:xfrm>
                <a:off x="6159385" y="4319908"/>
                <a:ext cx="1893727" cy="1159268"/>
              </a:xfrm>
              <a:custGeom>
                <a:avLst/>
                <a:gdLst>
                  <a:gd name="connsiteX0" fmla="*/ 1544694 w 1560095"/>
                  <a:gd name="connsiteY0" fmla="*/ 21229 h 955031"/>
                  <a:gd name="connsiteX1" fmla="*/ 73023 w 1560095"/>
                  <a:gd name="connsiteY1" fmla="*/ 875948 h 955031"/>
                  <a:gd name="connsiteX2" fmla="*/ 73023 w 1560095"/>
                  <a:gd name="connsiteY2" fmla="*/ 875948 h 955031"/>
                  <a:gd name="connsiteX3" fmla="*/ 73023 w 1560095"/>
                  <a:gd name="connsiteY3" fmla="*/ 875948 h 955031"/>
                  <a:gd name="connsiteX4" fmla="*/ -327 w 1560095"/>
                  <a:gd name="connsiteY4" fmla="*/ 875948 h 955031"/>
                  <a:gd name="connsiteX5" fmla="*/ -327 w 1560095"/>
                  <a:gd name="connsiteY5" fmla="*/ 946346 h 955031"/>
                  <a:gd name="connsiteX6" fmla="*/ 72713 w 1560095"/>
                  <a:gd name="connsiteY6" fmla="*/ 946346 h 955031"/>
                  <a:gd name="connsiteX7" fmla="*/ 72713 w 1560095"/>
                  <a:gd name="connsiteY7" fmla="*/ 946346 h 955031"/>
                  <a:gd name="connsiteX8" fmla="*/ 1544228 w 1560095"/>
                  <a:gd name="connsiteY8" fmla="*/ 91627 h 955031"/>
                  <a:gd name="connsiteX9" fmla="*/ 1559768 w 1560095"/>
                  <a:gd name="connsiteY9" fmla="*/ 70492 h 955031"/>
                  <a:gd name="connsiteX10" fmla="*/ 1559768 w 1560095"/>
                  <a:gd name="connsiteY10" fmla="*/ -61 h 955031"/>
                  <a:gd name="connsiteX11" fmla="*/ 1544694 w 1560095"/>
                  <a:gd name="connsiteY11" fmla="*/ 21229 h 955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60095" h="955031">
                    <a:moveTo>
                      <a:pt x="1544694" y="21229"/>
                    </a:moveTo>
                    <a:lnTo>
                      <a:pt x="73023" y="875948"/>
                    </a:lnTo>
                    <a:lnTo>
                      <a:pt x="73023" y="875948"/>
                    </a:lnTo>
                    <a:lnTo>
                      <a:pt x="73023" y="875948"/>
                    </a:lnTo>
                    <a:cubicBezTo>
                      <a:pt x="49962" y="887604"/>
                      <a:pt x="22735" y="887604"/>
                      <a:pt x="-327" y="875948"/>
                    </a:cubicBezTo>
                    <a:lnTo>
                      <a:pt x="-327" y="946346"/>
                    </a:lnTo>
                    <a:cubicBezTo>
                      <a:pt x="22657" y="957846"/>
                      <a:pt x="49729" y="957846"/>
                      <a:pt x="72713" y="946346"/>
                    </a:cubicBezTo>
                    <a:lnTo>
                      <a:pt x="72713" y="946346"/>
                    </a:lnTo>
                    <a:lnTo>
                      <a:pt x="1544228" y="91627"/>
                    </a:lnTo>
                    <a:cubicBezTo>
                      <a:pt x="1552853" y="87913"/>
                      <a:pt x="1558789" y="79832"/>
                      <a:pt x="1559768" y="70492"/>
                    </a:cubicBezTo>
                    <a:lnTo>
                      <a:pt x="1559768" y="-61"/>
                    </a:lnTo>
                    <a:cubicBezTo>
                      <a:pt x="1559038" y="9263"/>
                      <a:pt x="1553241" y="17437"/>
                      <a:pt x="1544694" y="21229"/>
                    </a:cubicBezTo>
                    <a:close/>
                  </a:path>
                </a:pathLst>
              </a:custGeom>
              <a:solidFill>
                <a:srgbClr val="C19E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97C35E7-1188-1056-20D0-63EC05E85629}"/>
                  </a:ext>
                </a:extLst>
              </p:cNvPr>
              <p:cNvSpPr/>
              <p:nvPr/>
            </p:nvSpPr>
            <p:spPr>
              <a:xfrm>
                <a:off x="4717942" y="3473232"/>
                <a:ext cx="3340926" cy="1935227"/>
              </a:xfrm>
              <a:custGeom>
                <a:avLst/>
                <a:gdLst>
                  <a:gd name="connsiteX0" fmla="*/ 2736793 w 2752330"/>
                  <a:gd name="connsiteY0" fmla="*/ 688221 h 1594283"/>
                  <a:gd name="connsiteX1" fmla="*/ 2736793 w 2752330"/>
                  <a:gd name="connsiteY1" fmla="*/ 730646 h 1594283"/>
                  <a:gd name="connsiteX2" fmla="*/ 1265278 w 2752330"/>
                  <a:gd name="connsiteY2" fmla="*/ 1585365 h 1594283"/>
                  <a:gd name="connsiteX3" fmla="*/ 1191928 w 2752330"/>
                  <a:gd name="connsiteY3" fmla="*/ 1585365 h 1594283"/>
                  <a:gd name="connsiteX4" fmla="*/ -327 w 2752330"/>
                  <a:gd name="connsiteY4" fmla="*/ 897083 h 1594283"/>
                  <a:gd name="connsiteX5" fmla="*/ 1544228 w 2752330"/>
                  <a:gd name="connsiteY5" fmla="*/ -61 h 1594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52330" h="1594283">
                    <a:moveTo>
                      <a:pt x="2736793" y="688221"/>
                    </a:moveTo>
                    <a:cubicBezTo>
                      <a:pt x="2756996" y="699876"/>
                      <a:pt x="2757151" y="719302"/>
                      <a:pt x="2736793" y="730646"/>
                    </a:cubicBezTo>
                    <a:lnTo>
                      <a:pt x="1265278" y="1585365"/>
                    </a:lnTo>
                    <a:cubicBezTo>
                      <a:pt x="1242248" y="1597175"/>
                      <a:pt x="1214959" y="1597175"/>
                      <a:pt x="1191928" y="1585365"/>
                    </a:cubicBezTo>
                    <a:lnTo>
                      <a:pt x="-327" y="897083"/>
                    </a:lnTo>
                    <a:lnTo>
                      <a:pt x="1544228" y="-61"/>
                    </a:lnTo>
                    <a:close/>
                  </a:path>
                </a:pathLst>
              </a:custGeom>
              <a:solidFill>
                <a:srgbClr val="C7A6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35455CC5-00CE-CB5B-450A-55AECF1BA98E}"/>
                  </a:ext>
                </a:extLst>
              </p:cNvPr>
              <p:cNvSpPr/>
              <p:nvPr/>
            </p:nvSpPr>
            <p:spPr>
              <a:xfrm>
                <a:off x="4780334" y="3718649"/>
                <a:ext cx="3027507" cy="1469789"/>
              </a:xfrm>
              <a:custGeom>
                <a:avLst/>
                <a:gdLst>
                  <a:gd name="connsiteX0" fmla="*/ 7637 w 2494128"/>
                  <a:gd name="connsiteY0" fmla="*/ 554107 h 1210845"/>
                  <a:gd name="connsiteX1" fmla="*/ 15267 w 2494128"/>
                  <a:gd name="connsiteY1" fmla="*/ 609183 h 1210845"/>
                  <a:gd name="connsiteX2" fmla="*/ 19137 w 2494128"/>
                  <a:gd name="connsiteY2" fmla="*/ 611762 h 1210845"/>
                  <a:gd name="connsiteX3" fmla="*/ 1037806 w 2494128"/>
                  <a:gd name="connsiteY3" fmla="*/ 1200586 h 1210845"/>
                  <a:gd name="connsiteX4" fmla="*/ 1114109 w 2494128"/>
                  <a:gd name="connsiteY4" fmla="*/ 1200586 h 1210845"/>
                  <a:gd name="connsiteX5" fmla="*/ 2481659 w 2494128"/>
                  <a:gd name="connsiteY5" fmla="*/ 406474 h 1210845"/>
                  <a:gd name="connsiteX6" fmla="*/ 2490750 w 2494128"/>
                  <a:gd name="connsiteY6" fmla="*/ 374104 h 1210845"/>
                  <a:gd name="connsiteX7" fmla="*/ 2480727 w 2494128"/>
                  <a:gd name="connsiteY7" fmla="*/ 364515 h 1210845"/>
                  <a:gd name="connsiteX8" fmla="*/ 1839222 w 2494128"/>
                  <a:gd name="connsiteY8" fmla="*/ -61 h 1210845"/>
                  <a:gd name="connsiteX9" fmla="*/ 27684 w 2494128"/>
                  <a:gd name="connsiteY9" fmla="*/ 527223 h 1210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94128" h="1210845">
                    <a:moveTo>
                      <a:pt x="7637" y="554107"/>
                    </a:moveTo>
                    <a:cubicBezTo>
                      <a:pt x="-5463" y="571420"/>
                      <a:pt x="-2045" y="596082"/>
                      <a:pt x="15267" y="609183"/>
                    </a:cubicBezTo>
                    <a:cubicBezTo>
                      <a:pt x="16511" y="610115"/>
                      <a:pt x="17801" y="610985"/>
                      <a:pt x="19137" y="611762"/>
                    </a:cubicBezTo>
                    <a:lnTo>
                      <a:pt x="1037806" y="1200586"/>
                    </a:lnTo>
                    <a:cubicBezTo>
                      <a:pt x="1061427" y="1214184"/>
                      <a:pt x="1090488" y="1214184"/>
                      <a:pt x="1114109" y="1200586"/>
                    </a:cubicBezTo>
                    <a:lnTo>
                      <a:pt x="2481659" y="406474"/>
                    </a:lnTo>
                    <a:cubicBezTo>
                      <a:pt x="2493113" y="400041"/>
                      <a:pt x="2497184" y="385557"/>
                      <a:pt x="2490750" y="374104"/>
                    </a:cubicBezTo>
                    <a:cubicBezTo>
                      <a:pt x="2488435" y="369986"/>
                      <a:pt x="2484938" y="366644"/>
                      <a:pt x="2480727" y="364515"/>
                    </a:cubicBezTo>
                    <a:lnTo>
                      <a:pt x="1839222" y="-61"/>
                    </a:lnTo>
                    <a:lnTo>
                      <a:pt x="27684" y="527223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80358773-9962-EE1B-99EC-517E5D2035F1}"/>
                  </a:ext>
                </a:extLst>
              </p:cNvPr>
              <p:cNvSpPr/>
              <p:nvPr/>
            </p:nvSpPr>
            <p:spPr>
              <a:xfrm>
                <a:off x="4786229" y="2971647"/>
                <a:ext cx="1624918" cy="1423265"/>
              </a:xfrm>
              <a:custGeom>
                <a:avLst/>
                <a:gdLst>
                  <a:gd name="connsiteX0" fmla="*/ 1338645 w 1338644"/>
                  <a:gd name="connsiteY0" fmla="*/ 0 h 1172518"/>
                  <a:gd name="connsiteX1" fmla="*/ 1338645 w 1338644"/>
                  <a:gd name="connsiteY1" fmla="*/ 280037 h 1172518"/>
                  <a:gd name="connsiteX2" fmla="*/ 0 w 1338644"/>
                  <a:gd name="connsiteY2" fmla="*/ 1172519 h 1172518"/>
                  <a:gd name="connsiteX3" fmla="*/ 0 w 1338644"/>
                  <a:gd name="connsiteY3" fmla="*/ 773754 h 1172518"/>
                  <a:gd name="connsiteX4" fmla="*/ 1338645 w 1338644"/>
                  <a:gd name="connsiteY4" fmla="*/ 0 h 117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8644" h="1172518">
                    <a:moveTo>
                      <a:pt x="1338645" y="0"/>
                    </a:moveTo>
                    <a:lnTo>
                      <a:pt x="1338645" y="280037"/>
                    </a:lnTo>
                    <a:lnTo>
                      <a:pt x="0" y="1172519"/>
                    </a:lnTo>
                    <a:lnTo>
                      <a:pt x="0" y="773754"/>
                    </a:lnTo>
                    <a:lnTo>
                      <a:pt x="1338645" y="0"/>
                    </a:lnTo>
                    <a:close/>
                  </a:path>
                </a:pathLst>
              </a:custGeom>
              <a:solidFill>
                <a:srgbClr val="F6A72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E9D4E901-834C-6CFF-42A3-524E45F9C24D}"/>
                  </a:ext>
                </a:extLst>
              </p:cNvPr>
              <p:cNvSpPr/>
              <p:nvPr/>
            </p:nvSpPr>
            <p:spPr>
              <a:xfrm>
                <a:off x="4713790" y="2923781"/>
                <a:ext cx="1705065" cy="990943"/>
              </a:xfrm>
              <a:custGeom>
                <a:avLst/>
                <a:gdLst>
                  <a:gd name="connsiteX0" fmla="*/ 1404345 w 1404671"/>
                  <a:gd name="connsiteY0" fmla="*/ 40526 h 816361"/>
                  <a:gd name="connsiteX1" fmla="*/ 69585 w 1404671"/>
                  <a:gd name="connsiteY1" fmla="*/ 816300 h 816361"/>
                  <a:gd name="connsiteX2" fmla="*/ 7424 w 1404671"/>
                  <a:gd name="connsiteY2" fmla="*/ 780091 h 816361"/>
                  <a:gd name="connsiteX3" fmla="*/ 7424 w 1404671"/>
                  <a:gd name="connsiteY3" fmla="*/ 758646 h 816361"/>
                  <a:gd name="connsiteX4" fmla="*/ 1305353 w 1404671"/>
                  <a:gd name="connsiteY4" fmla="*/ 4473 h 816361"/>
                  <a:gd name="connsiteX5" fmla="*/ 1342339 w 1404671"/>
                  <a:gd name="connsiteY5" fmla="*/ 4473 h 816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4671" h="816361">
                    <a:moveTo>
                      <a:pt x="1404345" y="40526"/>
                    </a:moveTo>
                    <a:lnTo>
                      <a:pt x="69585" y="816300"/>
                    </a:lnTo>
                    <a:lnTo>
                      <a:pt x="7424" y="780091"/>
                    </a:lnTo>
                    <a:cubicBezTo>
                      <a:pt x="-2833" y="774186"/>
                      <a:pt x="-2988" y="764551"/>
                      <a:pt x="7424" y="758646"/>
                    </a:cubicBezTo>
                    <a:lnTo>
                      <a:pt x="1305353" y="4473"/>
                    </a:lnTo>
                    <a:cubicBezTo>
                      <a:pt x="1316946" y="-1572"/>
                      <a:pt x="1330746" y="-1572"/>
                      <a:pt x="1342339" y="4473"/>
                    </a:cubicBezTo>
                    <a:close/>
                  </a:path>
                </a:pathLst>
              </a:custGeom>
              <a:solidFill>
                <a:srgbClr val="F8D55D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EA345552-399D-6040-577A-2EDA8987B4B3}"/>
                  </a:ext>
                </a:extLst>
              </p:cNvPr>
              <p:cNvSpPr/>
              <p:nvPr/>
            </p:nvSpPr>
            <p:spPr>
              <a:xfrm>
                <a:off x="6041043" y="4122252"/>
                <a:ext cx="1636425" cy="1002181"/>
              </a:xfrm>
              <a:custGeom>
                <a:avLst/>
                <a:gdLst>
                  <a:gd name="connsiteX0" fmla="*/ 1334588 w 1348124"/>
                  <a:gd name="connsiteY0" fmla="*/ 18121 h 825619"/>
                  <a:gd name="connsiteX1" fmla="*/ 63077 w 1348124"/>
                  <a:gd name="connsiteY1" fmla="*/ 757065 h 825619"/>
                  <a:gd name="connsiteX2" fmla="*/ -327 w 1348124"/>
                  <a:gd name="connsiteY2" fmla="*/ 757065 h 825619"/>
                  <a:gd name="connsiteX3" fmla="*/ -327 w 1348124"/>
                  <a:gd name="connsiteY3" fmla="*/ 757065 h 825619"/>
                  <a:gd name="connsiteX4" fmla="*/ -327 w 1348124"/>
                  <a:gd name="connsiteY4" fmla="*/ 817983 h 825619"/>
                  <a:gd name="connsiteX5" fmla="*/ 62922 w 1348124"/>
                  <a:gd name="connsiteY5" fmla="*/ 817983 h 825619"/>
                  <a:gd name="connsiteX6" fmla="*/ 1334588 w 1348124"/>
                  <a:gd name="connsiteY6" fmla="*/ 79040 h 825619"/>
                  <a:gd name="connsiteX7" fmla="*/ 1347798 w 1348124"/>
                  <a:gd name="connsiteY7" fmla="*/ 60702 h 825619"/>
                  <a:gd name="connsiteX8" fmla="*/ 1347798 w 1348124"/>
                  <a:gd name="connsiteY8" fmla="*/ -61 h 825619"/>
                  <a:gd name="connsiteX9" fmla="*/ 1334588 w 1348124"/>
                  <a:gd name="connsiteY9" fmla="*/ 18121 h 825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48124" h="825619">
                    <a:moveTo>
                      <a:pt x="1334588" y="18121"/>
                    </a:moveTo>
                    <a:lnTo>
                      <a:pt x="63077" y="757065"/>
                    </a:lnTo>
                    <a:cubicBezTo>
                      <a:pt x="43171" y="767228"/>
                      <a:pt x="19580" y="767228"/>
                      <a:pt x="-327" y="757065"/>
                    </a:cubicBezTo>
                    <a:lnTo>
                      <a:pt x="-327" y="757065"/>
                    </a:lnTo>
                    <a:lnTo>
                      <a:pt x="-327" y="817983"/>
                    </a:lnTo>
                    <a:cubicBezTo>
                      <a:pt x="19549" y="828084"/>
                      <a:pt x="43046" y="828084"/>
                      <a:pt x="62922" y="817983"/>
                    </a:cubicBezTo>
                    <a:lnTo>
                      <a:pt x="1334588" y="79040"/>
                    </a:lnTo>
                    <a:cubicBezTo>
                      <a:pt x="1341954" y="75729"/>
                      <a:pt x="1347005" y="68736"/>
                      <a:pt x="1347798" y="60702"/>
                    </a:cubicBezTo>
                    <a:lnTo>
                      <a:pt x="1347798" y="-61"/>
                    </a:lnTo>
                    <a:cubicBezTo>
                      <a:pt x="1347036" y="7958"/>
                      <a:pt x="1341986" y="14920"/>
                      <a:pt x="1334588" y="18121"/>
                    </a:cubicBezTo>
                    <a:close/>
                  </a:path>
                </a:pathLst>
              </a:custGeom>
              <a:solidFill>
                <a:srgbClr val="F9C16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C974D32C-4EFE-AA0B-86A0-57A2D7666E17}"/>
                  </a:ext>
                </a:extLst>
              </p:cNvPr>
              <p:cNvSpPr/>
              <p:nvPr/>
            </p:nvSpPr>
            <p:spPr>
              <a:xfrm>
                <a:off x="4790379" y="3237436"/>
                <a:ext cx="2886674" cy="1816905"/>
              </a:xfrm>
              <a:custGeom>
                <a:avLst/>
                <a:gdLst>
                  <a:gd name="connsiteX0" fmla="*/ 2364758 w 2378107"/>
                  <a:gd name="connsiteY0" fmla="*/ 713552 h 1496807"/>
                  <a:gd name="connsiteX1" fmla="*/ 2376692 w 2378107"/>
                  <a:gd name="connsiteY1" fmla="*/ 738292 h 1496807"/>
                  <a:gd name="connsiteX2" fmla="*/ 2364758 w 2378107"/>
                  <a:gd name="connsiteY2" fmla="*/ 750227 h 1496807"/>
                  <a:gd name="connsiteX3" fmla="*/ 1093247 w 2378107"/>
                  <a:gd name="connsiteY3" fmla="*/ 1489170 h 1496807"/>
                  <a:gd name="connsiteX4" fmla="*/ 1029842 w 2378107"/>
                  <a:gd name="connsiteY4" fmla="*/ 1489170 h 1496807"/>
                  <a:gd name="connsiteX5" fmla="*/ -327 w 2378107"/>
                  <a:gd name="connsiteY5" fmla="*/ 894441 h 1496807"/>
                  <a:gd name="connsiteX6" fmla="*/ 1334433 w 2378107"/>
                  <a:gd name="connsiteY6" fmla="*/ -61 h 149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78107" h="1496807">
                    <a:moveTo>
                      <a:pt x="2364758" y="713552"/>
                    </a:moveTo>
                    <a:cubicBezTo>
                      <a:pt x="2374890" y="717095"/>
                      <a:pt x="2380220" y="728175"/>
                      <a:pt x="2376692" y="738292"/>
                    </a:cubicBezTo>
                    <a:cubicBezTo>
                      <a:pt x="2374735" y="743886"/>
                      <a:pt x="2370336" y="748269"/>
                      <a:pt x="2364758" y="750227"/>
                    </a:cubicBezTo>
                    <a:lnTo>
                      <a:pt x="1093247" y="1489170"/>
                    </a:lnTo>
                    <a:cubicBezTo>
                      <a:pt x="1073324" y="1499271"/>
                      <a:pt x="1049765" y="1499271"/>
                      <a:pt x="1029842" y="1489170"/>
                    </a:cubicBezTo>
                    <a:lnTo>
                      <a:pt x="-327" y="894441"/>
                    </a:lnTo>
                    <a:lnTo>
                      <a:pt x="1334433" y="-61"/>
                    </a:lnTo>
                    <a:close/>
                  </a:path>
                </a:pathLst>
              </a:custGeom>
              <a:solidFill>
                <a:srgbClr val="F6A72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C370C120-87C4-96FA-8DC8-D5B54D028895}"/>
                  </a:ext>
                </a:extLst>
              </p:cNvPr>
              <p:cNvGrpSpPr/>
              <p:nvPr/>
            </p:nvGrpSpPr>
            <p:grpSpPr>
              <a:xfrm>
                <a:off x="4832823" y="3207255"/>
                <a:ext cx="2761079" cy="1818460"/>
                <a:chOff x="4841272" y="3109948"/>
                <a:chExt cx="2274639" cy="1498088"/>
              </a:xfrm>
            </p:grpSpPr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D521ADD7-8B4F-E691-825B-0872949E8CFB}"/>
                    </a:ext>
                  </a:extLst>
                </p:cNvPr>
                <p:cNvSpPr/>
                <p:nvPr/>
              </p:nvSpPr>
              <p:spPr>
                <a:xfrm>
                  <a:off x="4841272" y="3678258"/>
                  <a:ext cx="1021621" cy="929778"/>
                </a:xfrm>
                <a:custGeom>
                  <a:avLst/>
                  <a:gdLst>
                    <a:gd name="connsiteX0" fmla="*/ 1021622 w 1021621"/>
                    <a:gd name="connsiteY0" fmla="*/ 597837 h 929778"/>
                    <a:gd name="connsiteX1" fmla="*/ 1021622 w 1021621"/>
                    <a:gd name="connsiteY1" fmla="*/ 929779 h 929778"/>
                    <a:gd name="connsiteX2" fmla="*/ 0 w 1021621"/>
                    <a:gd name="connsiteY2" fmla="*/ 331942 h 929778"/>
                    <a:gd name="connsiteX3" fmla="*/ 0 w 1021621"/>
                    <a:gd name="connsiteY3" fmla="*/ 0 h 929778"/>
                    <a:gd name="connsiteX4" fmla="*/ 1021622 w 1021621"/>
                    <a:gd name="connsiteY4" fmla="*/ 597837 h 929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21621" h="929778">
                      <a:moveTo>
                        <a:pt x="1021622" y="597837"/>
                      </a:moveTo>
                      <a:lnTo>
                        <a:pt x="1021622" y="929779"/>
                      </a:lnTo>
                      <a:lnTo>
                        <a:pt x="0" y="331942"/>
                      </a:lnTo>
                      <a:lnTo>
                        <a:pt x="0" y="0"/>
                      </a:lnTo>
                      <a:lnTo>
                        <a:pt x="1021622" y="59783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1A0CAD94-6439-C56E-7052-F8CAA4526920}"/>
                    </a:ext>
                  </a:extLst>
                </p:cNvPr>
                <p:cNvSpPr/>
                <p:nvPr/>
              </p:nvSpPr>
              <p:spPr>
                <a:xfrm>
                  <a:off x="5862894" y="3572894"/>
                  <a:ext cx="1253017" cy="1035142"/>
                </a:xfrm>
                <a:custGeom>
                  <a:avLst/>
                  <a:gdLst>
                    <a:gd name="connsiteX0" fmla="*/ 1253018 w 1253017"/>
                    <a:gd name="connsiteY0" fmla="*/ 0 h 1035142"/>
                    <a:gd name="connsiteX1" fmla="*/ 1253018 w 1253017"/>
                    <a:gd name="connsiteY1" fmla="*/ 310030 h 1035142"/>
                    <a:gd name="connsiteX2" fmla="*/ 0 w 1253017"/>
                    <a:gd name="connsiteY2" fmla="*/ 1035142 h 1035142"/>
                    <a:gd name="connsiteX3" fmla="*/ 0 w 1253017"/>
                    <a:gd name="connsiteY3" fmla="*/ 703201 h 1035142"/>
                    <a:gd name="connsiteX4" fmla="*/ 1253018 w 1253017"/>
                    <a:gd name="connsiteY4" fmla="*/ 0 h 1035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3017" h="1035142">
                      <a:moveTo>
                        <a:pt x="1253018" y="0"/>
                      </a:moveTo>
                      <a:lnTo>
                        <a:pt x="1253018" y="310030"/>
                      </a:lnTo>
                      <a:lnTo>
                        <a:pt x="0" y="1035142"/>
                      </a:lnTo>
                      <a:lnTo>
                        <a:pt x="0" y="703201"/>
                      </a:lnTo>
                      <a:lnTo>
                        <a:pt x="125301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246F62F8-0587-0A16-679A-5502CF963BEB}"/>
                    </a:ext>
                  </a:extLst>
                </p:cNvPr>
                <p:cNvSpPr/>
                <p:nvPr/>
              </p:nvSpPr>
              <p:spPr>
                <a:xfrm>
                  <a:off x="4870799" y="3109948"/>
                  <a:ext cx="2021487" cy="1156045"/>
                </a:xfrm>
                <a:custGeom>
                  <a:avLst/>
                  <a:gdLst>
                    <a:gd name="connsiteX0" fmla="*/ 981683 w 2021487"/>
                    <a:gd name="connsiteY0" fmla="*/ 1156046 h 1156045"/>
                    <a:gd name="connsiteX1" fmla="*/ 0 w 2021487"/>
                    <a:gd name="connsiteY1" fmla="*/ 577324 h 1156045"/>
                    <a:gd name="connsiteX2" fmla="*/ 1010278 w 2021487"/>
                    <a:gd name="connsiteY2" fmla="*/ 0 h 1156045"/>
                    <a:gd name="connsiteX3" fmla="*/ 2021488 w 2021487"/>
                    <a:gd name="connsiteY3" fmla="*/ 580432 h 1156045"/>
                    <a:gd name="connsiteX4" fmla="*/ 981683 w 2021487"/>
                    <a:gd name="connsiteY4" fmla="*/ 1156046 h 1156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21487" h="1156045">
                      <a:moveTo>
                        <a:pt x="981683" y="1156046"/>
                      </a:moveTo>
                      <a:lnTo>
                        <a:pt x="0" y="577324"/>
                      </a:lnTo>
                      <a:lnTo>
                        <a:pt x="1010278" y="0"/>
                      </a:lnTo>
                      <a:lnTo>
                        <a:pt x="2021488" y="580432"/>
                      </a:lnTo>
                      <a:lnTo>
                        <a:pt x="981683" y="1156046"/>
                      </a:lnTo>
                      <a:close/>
                    </a:path>
                  </a:pathLst>
                </a:custGeom>
                <a:solidFill>
                  <a:srgbClr val="7B7C7D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5B225B3E-63A2-E8CB-658F-F7A1F5FB7B1B}"/>
                  </a:ext>
                </a:extLst>
              </p:cNvPr>
              <p:cNvSpPr/>
              <p:nvPr/>
            </p:nvSpPr>
            <p:spPr>
              <a:xfrm>
                <a:off x="4718213" y="3867107"/>
                <a:ext cx="1327060" cy="1252927"/>
              </a:xfrm>
              <a:custGeom>
                <a:avLst/>
                <a:gdLst>
                  <a:gd name="connsiteX0" fmla="*/ 62456 w 1093262"/>
                  <a:gd name="connsiteY0" fmla="*/ 113850 h 1032189"/>
                  <a:gd name="connsiteX1" fmla="*/ 72215 w 1093262"/>
                  <a:gd name="connsiteY1" fmla="*/ 104028 h 1032189"/>
                  <a:gd name="connsiteX2" fmla="*/ 77064 w 1093262"/>
                  <a:gd name="connsiteY2" fmla="*/ 105302 h 1032189"/>
                  <a:gd name="connsiteX3" fmla="*/ 1092470 w 1093262"/>
                  <a:gd name="connsiteY3" fmla="*/ 691640 h 1032189"/>
                  <a:gd name="connsiteX4" fmla="*/ 1092470 w 1093262"/>
                  <a:gd name="connsiteY4" fmla="*/ 630721 h 1032189"/>
                  <a:gd name="connsiteX5" fmla="*/ -327 w 1093262"/>
                  <a:gd name="connsiteY5" fmla="*/ -61 h 1032189"/>
                  <a:gd name="connsiteX6" fmla="*/ -327 w 1093262"/>
                  <a:gd name="connsiteY6" fmla="*/ 401191 h 1032189"/>
                  <a:gd name="connsiteX7" fmla="*/ 1092936 w 1093262"/>
                  <a:gd name="connsiteY7" fmla="*/ 1032129 h 1032189"/>
                  <a:gd name="connsiteX8" fmla="*/ 1092936 w 1093262"/>
                  <a:gd name="connsiteY8" fmla="*/ 971210 h 1032189"/>
                  <a:gd name="connsiteX9" fmla="*/ 70848 w 1093262"/>
                  <a:gd name="connsiteY9" fmla="*/ 380677 h 1032189"/>
                  <a:gd name="connsiteX10" fmla="*/ 62767 w 1093262"/>
                  <a:gd name="connsiteY10" fmla="*/ 366691 h 1032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93262" h="1032189">
                    <a:moveTo>
                      <a:pt x="62456" y="113850"/>
                    </a:moveTo>
                    <a:cubicBezTo>
                      <a:pt x="62441" y="108442"/>
                      <a:pt x="66823" y="104044"/>
                      <a:pt x="72215" y="104028"/>
                    </a:cubicBezTo>
                    <a:cubicBezTo>
                      <a:pt x="73925" y="104028"/>
                      <a:pt x="75587" y="104463"/>
                      <a:pt x="77064" y="105302"/>
                    </a:cubicBezTo>
                    <a:lnTo>
                      <a:pt x="1092470" y="691640"/>
                    </a:lnTo>
                    <a:lnTo>
                      <a:pt x="1092470" y="630721"/>
                    </a:lnTo>
                    <a:lnTo>
                      <a:pt x="-327" y="-61"/>
                    </a:lnTo>
                    <a:lnTo>
                      <a:pt x="-327" y="401191"/>
                    </a:lnTo>
                    <a:lnTo>
                      <a:pt x="1092936" y="1032129"/>
                    </a:lnTo>
                    <a:lnTo>
                      <a:pt x="1092936" y="971210"/>
                    </a:lnTo>
                    <a:lnTo>
                      <a:pt x="70848" y="380677"/>
                    </a:lnTo>
                    <a:cubicBezTo>
                      <a:pt x="65750" y="377896"/>
                      <a:pt x="62642" y="372503"/>
                      <a:pt x="62767" y="366691"/>
                    </a:cubicBezTo>
                    <a:close/>
                  </a:path>
                </a:pathLst>
              </a:custGeom>
              <a:solidFill>
                <a:srgbClr val="F9C16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C0680DA5-9181-596A-144F-E445B4003F1B}"/>
                  </a:ext>
                </a:extLst>
              </p:cNvPr>
              <p:cNvSpPr/>
              <p:nvPr/>
            </p:nvSpPr>
            <p:spPr>
              <a:xfrm>
                <a:off x="6041043" y="3714499"/>
                <a:ext cx="1636236" cy="1000727"/>
              </a:xfrm>
              <a:custGeom>
                <a:avLst/>
                <a:gdLst>
                  <a:gd name="connsiteX0" fmla="*/ 1334588 w 1347968"/>
                  <a:gd name="connsiteY0" fmla="*/ 16878 h 824421"/>
                  <a:gd name="connsiteX1" fmla="*/ 63077 w 1347968"/>
                  <a:gd name="connsiteY1" fmla="*/ 755821 h 824421"/>
                  <a:gd name="connsiteX2" fmla="*/ 63077 w 1347968"/>
                  <a:gd name="connsiteY2" fmla="*/ 755821 h 824421"/>
                  <a:gd name="connsiteX3" fmla="*/ 63077 w 1347968"/>
                  <a:gd name="connsiteY3" fmla="*/ 755821 h 824421"/>
                  <a:gd name="connsiteX4" fmla="*/ -327 w 1347968"/>
                  <a:gd name="connsiteY4" fmla="*/ 755821 h 824421"/>
                  <a:gd name="connsiteX5" fmla="*/ -327 w 1347968"/>
                  <a:gd name="connsiteY5" fmla="*/ 816739 h 824421"/>
                  <a:gd name="connsiteX6" fmla="*/ 30754 w 1347968"/>
                  <a:gd name="connsiteY6" fmla="*/ 824354 h 824421"/>
                  <a:gd name="connsiteX7" fmla="*/ 61834 w 1347968"/>
                  <a:gd name="connsiteY7" fmla="*/ 816895 h 824421"/>
                  <a:gd name="connsiteX8" fmla="*/ 61834 w 1347968"/>
                  <a:gd name="connsiteY8" fmla="*/ 816895 h 824421"/>
                  <a:gd name="connsiteX9" fmla="*/ 1334433 w 1347968"/>
                  <a:gd name="connsiteY9" fmla="*/ 79039 h 824421"/>
                  <a:gd name="connsiteX10" fmla="*/ 1347642 w 1347968"/>
                  <a:gd name="connsiteY10" fmla="*/ 60857 h 824421"/>
                  <a:gd name="connsiteX11" fmla="*/ 1347642 w 1347968"/>
                  <a:gd name="connsiteY11" fmla="*/ -61 h 824421"/>
                  <a:gd name="connsiteX12" fmla="*/ 1334588 w 1347968"/>
                  <a:gd name="connsiteY12" fmla="*/ 16878 h 82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47968" h="824421">
                    <a:moveTo>
                      <a:pt x="1334588" y="16878"/>
                    </a:moveTo>
                    <a:lnTo>
                      <a:pt x="63077" y="755821"/>
                    </a:lnTo>
                    <a:lnTo>
                      <a:pt x="63077" y="755821"/>
                    </a:lnTo>
                    <a:lnTo>
                      <a:pt x="63077" y="755821"/>
                    </a:lnTo>
                    <a:cubicBezTo>
                      <a:pt x="43155" y="765922"/>
                      <a:pt x="19596" y="765922"/>
                      <a:pt x="-327" y="755821"/>
                    </a:cubicBezTo>
                    <a:lnTo>
                      <a:pt x="-327" y="816739"/>
                    </a:lnTo>
                    <a:cubicBezTo>
                      <a:pt x="9246" y="821806"/>
                      <a:pt x="19922" y="824416"/>
                      <a:pt x="30754" y="824354"/>
                    </a:cubicBezTo>
                    <a:cubicBezTo>
                      <a:pt x="41570" y="824510"/>
                      <a:pt x="52262" y="821945"/>
                      <a:pt x="61834" y="816895"/>
                    </a:cubicBezTo>
                    <a:lnTo>
                      <a:pt x="61834" y="816895"/>
                    </a:lnTo>
                    <a:lnTo>
                      <a:pt x="1334433" y="79039"/>
                    </a:lnTo>
                    <a:cubicBezTo>
                      <a:pt x="1341752" y="75760"/>
                      <a:pt x="1346788" y="68845"/>
                      <a:pt x="1347642" y="60857"/>
                    </a:cubicBezTo>
                    <a:lnTo>
                      <a:pt x="1347642" y="-61"/>
                    </a:lnTo>
                    <a:cubicBezTo>
                      <a:pt x="1346508" y="7460"/>
                      <a:pt x="1341566" y="13863"/>
                      <a:pt x="1334588" y="16878"/>
                    </a:cubicBezTo>
                    <a:close/>
                  </a:path>
                </a:pathLst>
              </a:custGeom>
              <a:solidFill>
                <a:srgbClr val="F9C16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4253E22-DD59-937B-3E37-097E5892DBC9}"/>
                  </a:ext>
                </a:extLst>
              </p:cNvPr>
              <p:cNvSpPr/>
              <p:nvPr/>
            </p:nvSpPr>
            <p:spPr>
              <a:xfrm>
                <a:off x="4794045" y="2969194"/>
                <a:ext cx="2886862" cy="1672785"/>
              </a:xfrm>
              <a:custGeom>
                <a:avLst/>
                <a:gdLst>
                  <a:gd name="connsiteX0" fmla="*/ 2364913 w 2378262"/>
                  <a:gd name="connsiteY0" fmla="*/ 594823 h 1378078"/>
                  <a:gd name="connsiteX1" fmla="*/ 2376848 w 2378262"/>
                  <a:gd name="connsiteY1" fmla="*/ 619564 h 1378078"/>
                  <a:gd name="connsiteX2" fmla="*/ 2364913 w 2378262"/>
                  <a:gd name="connsiteY2" fmla="*/ 631499 h 1378078"/>
                  <a:gd name="connsiteX3" fmla="*/ 1093247 w 2378262"/>
                  <a:gd name="connsiteY3" fmla="*/ 1370442 h 1378078"/>
                  <a:gd name="connsiteX4" fmla="*/ 1029842 w 2378262"/>
                  <a:gd name="connsiteY4" fmla="*/ 1370442 h 1378078"/>
                  <a:gd name="connsiteX5" fmla="*/ -327 w 2378262"/>
                  <a:gd name="connsiteY5" fmla="*/ 775713 h 1378078"/>
                  <a:gd name="connsiteX6" fmla="*/ 1334433 w 2378262"/>
                  <a:gd name="connsiteY6" fmla="*/ -61 h 1378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78262" h="1378078">
                    <a:moveTo>
                      <a:pt x="2364913" y="594823"/>
                    </a:moveTo>
                    <a:cubicBezTo>
                      <a:pt x="2375045" y="598367"/>
                      <a:pt x="2380376" y="609447"/>
                      <a:pt x="2376848" y="619564"/>
                    </a:cubicBezTo>
                    <a:cubicBezTo>
                      <a:pt x="2374890" y="625158"/>
                      <a:pt x="2370492" y="629541"/>
                      <a:pt x="2364913" y="631499"/>
                    </a:cubicBezTo>
                    <a:lnTo>
                      <a:pt x="1093247" y="1370442"/>
                    </a:lnTo>
                    <a:cubicBezTo>
                      <a:pt x="1073324" y="1380543"/>
                      <a:pt x="1049765" y="1380543"/>
                      <a:pt x="1029842" y="1370442"/>
                    </a:cubicBezTo>
                    <a:lnTo>
                      <a:pt x="-327" y="775713"/>
                    </a:lnTo>
                    <a:lnTo>
                      <a:pt x="1334433" y="-61"/>
                    </a:lnTo>
                    <a:close/>
                  </a:path>
                </a:pathLst>
              </a:custGeom>
              <a:solidFill>
                <a:srgbClr val="F8D55D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3E864884-78EF-7D62-E2D6-8A0370315CC9}"/>
                  </a:ext>
                </a:extLst>
              </p:cNvPr>
              <p:cNvSpPr/>
              <p:nvPr/>
            </p:nvSpPr>
            <p:spPr>
              <a:xfrm>
                <a:off x="5479848" y="3345148"/>
                <a:ext cx="1471368" cy="874143"/>
              </a:xfrm>
              <a:custGeom>
                <a:avLst/>
                <a:gdLst>
                  <a:gd name="connsiteX0" fmla="*/ 1211820 w 1212146"/>
                  <a:gd name="connsiteY0" fmla="*/ 360009 h 720139"/>
                  <a:gd name="connsiteX1" fmla="*/ 605746 w 1212146"/>
                  <a:gd name="connsiteY1" fmla="*/ 720078 h 720139"/>
                  <a:gd name="connsiteX2" fmla="*/ -327 w 1212146"/>
                  <a:gd name="connsiteY2" fmla="*/ 360009 h 720139"/>
                  <a:gd name="connsiteX3" fmla="*/ 605746 w 1212146"/>
                  <a:gd name="connsiteY3" fmla="*/ -61 h 720139"/>
                  <a:gd name="connsiteX4" fmla="*/ 1211820 w 1212146"/>
                  <a:gd name="connsiteY4" fmla="*/ 360009 h 720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146" h="720139">
                    <a:moveTo>
                      <a:pt x="1211820" y="360009"/>
                    </a:moveTo>
                    <a:cubicBezTo>
                      <a:pt x="1211820" y="558770"/>
                      <a:pt x="940796" y="720078"/>
                      <a:pt x="605746" y="720078"/>
                    </a:cubicBezTo>
                    <a:cubicBezTo>
                      <a:pt x="270697" y="720078"/>
                      <a:pt x="-327" y="558770"/>
                      <a:pt x="-327" y="360009"/>
                    </a:cubicBezTo>
                    <a:cubicBezTo>
                      <a:pt x="-327" y="161248"/>
                      <a:pt x="270697" y="-61"/>
                      <a:pt x="605746" y="-61"/>
                    </a:cubicBezTo>
                    <a:cubicBezTo>
                      <a:pt x="940796" y="-61"/>
                      <a:pt x="1211820" y="161248"/>
                      <a:pt x="1211820" y="360009"/>
                    </a:cubicBezTo>
                    <a:close/>
                  </a:path>
                </a:pathLst>
              </a:custGeom>
              <a:solidFill>
                <a:srgbClr val="DDB00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D6644276-158C-3981-973C-CAE5BECE9007}"/>
                  </a:ext>
                </a:extLst>
              </p:cNvPr>
              <p:cNvSpPr/>
              <p:nvPr/>
            </p:nvSpPr>
            <p:spPr>
              <a:xfrm>
                <a:off x="5959219" y="1679880"/>
                <a:ext cx="527591" cy="350951"/>
              </a:xfrm>
              <a:custGeom>
                <a:avLst/>
                <a:gdLst>
                  <a:gd name="connsiteX0" fmla="*/ 433678 w 434641"/>
                  <a:gd name="connsiteY0" fmla="*/ 154548 h 289121"/>
                  <a:gd name="connsiteX1" fmla="*/ 128310 w 434641"/>
                  <a:gd name="connsiteY1" fmla="*/ 12043 h 289121"/>
                  <a:gd name="connsiteX2" fmla="*/ 49676 w 434641"/>
                  <a:gd name="connsiteY2" fmla="*/ 237689 h 289121"/>
                  <a:gd name="connsiteX3" fmla="*/ 426995 w 434641"/>
                  <a:gd name="connsiteY3" fmla="*/ 182987 h 289121"/>
                  <a:gd name="connsiteX4" fmla="*/ 433522 w 434641"/>
                  <a:gd name="connsiteY4" fmla="*/ 155170 h 289121"/>
                  <a:gd name="connsiteX5" fmla="*/ 433678 w 434641"/>
                  <a:gd name="connsiteY5" fmla="*/ 154548 h 289121"/>
                  <a:gd name="connsiteX6" fmla="*/ 337328 w 434641"/>
                  <a:gd name="connsiteY6" fmla="*/ 252608 h 289121"/>
                  <a:gd name="connsiteX7" fmla="*/ 93189 w 434641"/>
                  <a:gd name="connsiteY7" fmla="*/ 250122 h 289121"/>
                  <a:gd name="connsiteX8" fmla="*/ 96608 w 434641"/>
                  <a:gd name="connsiteY8" fmla="*/ 108860 h 289121"/>
                  <a:gd name="connsiteX9" fmla="*/ 340746 w 434641"/>
                  <a:gd name="connsiteY9" fmla="*/ 111346 h 289121"/>
                  <a:gd name="connsiteX10" fmla="*/ 337328 w 434641"/>
                  <a:gd name="connsiteY10" fmla="*/ 253074 h 289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34641" h="289121">
                    <a:moveTo>
                      <a:pt x="433678" y="154548"/>
                    </a:moveTo>
                    <a:cubicBezTo>
                      <a:pt x="446576" y="32712"/>
                      <a:pt x="260869" y="-27584"/>
                      <a:pt x="128310" y="12043"/>
                    </a:cubicBezTo>
                    <a:cubicBezTo>
                      <a:pt x="-11553" y="51205"/>
                      <a:pt x="-36728" y="169001"/>
                      <a:pt x="49676" y="237689"/>
                    </a:cubicBezTo>
                    <a:cubicBezTo>
                      <a:pt x="161722" y="327668"/>
                      <a:pt x="388300" y="293168"/>
                      <a:pt x="426995" y="182987"/>
                    </a:cubicBezTo>
                    <a:cubicBezTo>
                      <a:pt x="430228" y="173997"/>
                      <a:pt x="432419" y="164662"/>
                      <a:pt x="433522" y="155170"/>
                    </a:cubicBezTo>
                    <a:cubicBezTo>
                      <a:pt x="433522" y="155170"/>
                      <a:pt x="433678" y="155325"/>
                      <a:pt x="433678" y="154548"/>
                    </a:cubicBezTo>
                    <a:close/>
                    <a:moveTo>
                      <a:pt x="337328" y="252608"/>
                    </a:moveTo>
                    <a:cubicBezTo>
                      <a:pt x="268950" y="290993"/>
                      <a:pt x="159701" y="289905"/>
                      <a:pt x="93189" y="250122"/>
                    </a:cubicBezTo>
                    <a:cubicBezTo>
                      <a:pt x="26676" y="210338"/>
                      <a:pt x="28230" y="147244"/>
                      <a:pt x="96608" y="108860"/>
                    </a:cubicBezTo>
                    <a:cubicBezTo>
                      <a:pt x="164985" y="70475"/>
                      <a:pt x="274234" y="71563"/>
                      <a:pt x="340746" y="111346"/>
                    </a:cubicBezTo>
                    <a:cubicBezTo>
                      <a:pt x="407259" y="151130"/>
                      <a:pt x="405705" y="214690"/>
                      <a:pt x="337328" y="253074"/>
                    </a:cubicBezTo>
                    <a:close/>
                  </a:path>
                </a:pathLst>
              </a:custGeom>
              <a:solidFill>
                <a:srgbClr val="A9F3FF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F136D120-6F01-FDAD-FDA7-A3C7DCF7E0D4}"/>
                  </a:ext>
                </a:extLst>
              </p:cNvPr>
              <p:cNvSpPr/>
              <p:nvPr/>
            </p:nvSpPr>
            <p:spPr>
              <a:xfrm>
                <a:off x="6084428" y="1899622"/>
                <a:ext cx="275788" cy="552416"/>
              </a:xfrm>
              <a:custGeom>
                <a:avLst/>
                <a:gdLst>
                  <a:gd name="connsiteX0" fmla="*/ 192529 w 227200"/>
                  <a:gd name="connsiteY0" fmla="*/ 47337 h 455093"/>
                  <a:gd name="connsiteX1" fmla="*/ 32774 w 227200"/>
                  <a:gd name="connsiteY1" fmla="*/ 45628 h 455093"/>
                  <a:gd name="connsiteX2" fmla="*/ 761 w 227200"/>
                  <a:gd name="connsiteY2" fmla="*/ -61 h 455093"/>
                  <a:gd name="connsiteX3" fmla="*/ -327 w 227200"/>
                  <a:gd name="connsiteY3" fmla="*/ 388448 h 455093"/>
                  <a:gd name="connsiteX4" fmla="*/ 31686 w 227200"/>
                  <a:gd name="connsiteY4" fmla="*/ 435069 h 455093"/>
                  <a:gd name="connsiteX5" fmla="*/ 191441 w 227200"/>
                  <a:gd name="connsiteY5" fmla="*/ 436623 h 455093"/>
                  <a:gd name="connsiteX6" fmla="*/ 225785 w 227200"/>
                  <a:gd name="connsiteY6" fmla="*/ 390002 h 455093"/>
                  <a:gd name="connsiteX7" fmla="*/ 226873 w 227200"/>
                  <a:gd name="connsiteY7" fmla="*/ 1493 h 455093"/>
                  <a:gd name="connsiteX8" fmla="*/ 192529 w 227200"/>
                  <a:gd name="connsiteY8" fmla="*/ 47337 h 455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200" h="455093">
                    <a:moveTo>
                      <a:pt x="192529" y="47337"/>
                    </a:moveTo>
                    <a:cubicBezTo>
                      <a:pt x="142070" y="72376"/>
                      <a:pt x="82674" y="71740"/>
                      <a:pt x="32774" y="45628"/>
                    </a:cubicBezTo>
                    <a:cubicBezTo>
                      <a:pt x="14685" y="37236"/>
                      <a:pt x="2471" y="19804"/>
                      <a:pt x="761" y="-61"/>
                    </a:cubicBezTo>
                    <a:lnTo>
                      <a:pt x="-327" y="388448"/>
                    </a:lnTo>
                    <a:cubicBezTo>
                      <a:pt x="1165" y="408624"/>
                      <a:pt x="13396" y="426444"/>
                      <a:pt x="31686" y="435069"/>
                    </a:cubicBezTo>
                    <a:cubicBezTo>
                      <a:pt x="81617" y="461130"/>
                      <a:pt x="141012" y="461705"/>
                      <a:pt x="191441" y="436623"/>
                    </a:cubicBezTo>
                    <a:cubicBezTo>
                      <a:pt x="210540" y="428511"/>
                      <a:pt x="223703" y="410642"/>
                      <a:pt x="225785" y="390002"/>
                    </a:cubicBezTo>
                    <a:lnTo>
                      <a:pt x="226873" y="1493"/>
                    </a:lnTo>
                    <a:cubicBezTo>
                      <a:pt x="224449" y="21820"/>
                      <a:pt x="211364" y="39304"/>
                      <a:pt x="192529" y="47337"/>
                    </a:cubicBezTo>
                    <a:close/>
                  </a:path>
                </a:pathLst>
              </a:custGeom>
              <a:solidFill>
                <a:srgbClr val="D4F5F9">
                  <a:alpha val="62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D3576F7-CC27-BA52-B586-16FCC277BB97}"/>
                  </a:ext>
                </a:extLst>
              </p:cNvPr>
              <p:cNvGrpSpPr/>
              <p:nvPr/>
            </p:nvGrpSpPr>
            <p:grpSpPr>
              <a:xfrm>
                <a:off x="6013644" y="1690545"/>
                <a:ext cx="419051" cy="242790"/>
                <a:chOff x="5814059" y="1860449"/>
                <a:chExt cx="345224" cy="200016"/>
              </a:xfrm>
            </p:grpSpPr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289AD53F-72F7-4E25-B3FD-19E801E73A24}"/>
                    </a:ext>
                  </a:extLst>
                </p:cNvPr>
                <p:cNvSpPr/>
                <p:nvPr/>
              </p:nvSpPr>
              <p:spPr>
                <a:xfrm>
                  <a:off x="5814059" y="1860449"/>
                  <a:ext cx="345224" cy="200016"/>
                </a:xfrm>
                <a:custGeom>
                  <a:avLst/>
                  <a:gdLst>
                    <a:gd name="connsiteX0" fmla="*/ 292646 w 345224"/>
                    <a:gd name="connsiteY0" fmla="*/ 171871 h 200016"/>
                    <a:gd name="connsiteX1" fmla="*/ 48508 w 345224"/>
                    <a:gd name="connsiteY1" fmla="*/ 169384 h 200016"/>
                    <a:gd name="connsiteX2" fmla="*/ 51926 w 345224"/>
                    <a:gd name="connsiteY2" fmla="*/ 27967 h 200016"/>
                    <a:gd name="connsiteX3" fmla="*/ 296065 w 345224"/>
                    <a:gd name="connsiteY3" fmla="*/ 30454 h 200016"/>
                    <a:gd name="connsiteX4" fmla="*/ 292646 w 345224"/>
                    <a:gd name="connsiteY4" fmla="*/ 171871 h 200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5224" h="200016">
                      <a:moveTo>
                        <a:pt x="292646" y="171871"/>
                      </a:moveTo>
                      <a:cubicBezTo>
                        <a:pt x="224269" y="210255"/>
                        <a:pt x="115020" y="209168"/>
                        <a:pt x="48508" y="169384"/>
                      </a:cubicBezTo>
                      <a:cubicBezTo>
                        <a:pt x="-18005" y="129601"/>
                        <a:pt x="-16296" y="66352"/>
                        <a:pt x="51926" y="27967"/>
                      </a:cubicBezTo>
                      <a:cubicBezTo>
                        <a:pt x="120148" y="-10417"/>
                        <a:pt x="229708" y="-9174"/>
                        <a:pt x="296065" y="30454"/>
                      </a:cubicBezTo>
                      <a:cubicBezTo>
                        <a:pt x="362423" y="70081"/>
                        <a:pt x="361024" y="133486"/>
                        <a:pt x="292646" y="171871"/>
                      </a:cubicBezTo>
                      <a:close/>
                    </a:path>
                  </a:pathLst>
                </a:custGeom>
                <a:solidFill>
                  <a:srgbClr val="D4F5F9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AD054CB8-6F13-A88F-34F9-1D037BC9DB10}"/>
                    </a:ext>
                  </a:extLst>
                </p:cNvPr>
                <p:cNvSpPr/>
                <p:nvPr/>
              </p:nvSpPr>
              <p:spPr>
                <a:xfrm>
                  <a:off x="5814059" y="1860449"/>
                  <a:ext cx="345224" cy="200016"/>
                </a:xfrm>
                <a:custGeom>
                  <a:avLst/>
                  <a:gdLst>
                    <a:gd name="connsiteX0" fmla="*/ 292646 w 345224"/>
                    <a:gd name="connsiteY0" fmla="*/ 171871 h 200016"/>
                    <a:gd name="connsiteX1" fmla="*/ 48508 w 345224"/>
                    <a:gd name="connsiteY1" fmla="*/ 169384 h 200016"/>
                    <a:gd name="connsiteX2" fmla="*/ 51926 w 345224"/>
                    <a:gd name="connsiteY2" fmla="*/ 27967 h 200016"/>
                    <a:gd name="connsiteX3" fmla="*/ 296065 w 345224"/>
                    <a:gd name="connsiteY3" fmla="*/ 30454 h 200016"/>
                    <a:gd name="connsiteX4" fmla="*/ 292646 w 345224"/>
                    <a:gd name="connsiteY4" fmla="*/ 171871 h 200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5224" h="200016">
                      <a:moveTo>
                        <a:pt x="292646" y="171871"/>
                      </a:moveTo>
                      <a:cubicBezTo>
                        <a:pt x="224269" y="210255"/>
                        <a:pt x="115020" y="209168"/>
                        <a:pt x="48508" y="169384"/>
                      </a:cubicBezTo>
                      <a:cubicBezTo>
                        <a:pt x="-18005" y="129601"/>
                        <a:pt x="-16296" y="66352"/>
                        <a:pt x="51926" y="27967"/>
                      </a:cubicBezTo>
                      <a:cubicBezTo>
                        <a:pt x="120148" y="-10417"/>
                        <a:pt x="229708" y="-9174"/>
                        <a:pt x="296065" y="30454"/>
                      </a:cubicBezTo>
                      <a:cubicBezTo>
                        <a:pt x="362423" y="70081"/>
                        <a:pt x="361024" y="133486"/>
                        <a:pt x="292646" y="171871"/>
                      </a:cubicBezTo>
                      <a:close/>
                    </a:path>
                  </a:pathLst>
                </a:custGeom>
                <a:solidFill>
                  <a:srgbClr val="DBE7F3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A5F101F-A43B-2E89-5B82-8DD845FD300A}"/>
                  </a:ext>
                </a:extLst>
              </p:cNvPr>
              <p:cNvSpPr/>
              <p:nvPr/>
            </p:nvSpPr>
            <p:spPr>
              <a:xfrm>
                <a:off x="5958806" y="1679225"/>
                <a:ext cx="527656" cy="352656"/>
              </a:xfrm>
              <a:custGeom>
                <a:avLst/>
                <a:gdLst>
                  <a:gd name="connsiteX0" fmla="*/ 414903 w 434695"/>
                  <a:gd name="connsiteY0" fmla="*/ 84225 h 290526"/>
                  <a:gd name="connsiteX1" fmla="*/ 414903 w 434695"/>
                  <a:gd name="connsiteY1" fmla="*/ 84225 h 290526"/>
                  <a:gd name="connsiteX2" fmla="*/ 413660 w 434695"/>
                  <a:gd name="connsiteY2" fmla="*/ 82515 h 290526"/>
                  <a:gd name="connsiteX3" fmla="*/ 3084 w 434695"/>
                  <a:gd name="connsiteY3" fmla="*/ 122143 h 290526"/>
                  <a:gd name="connsiteX4" fmla="*/ 2308 w 434695"/>
                  <a:gd name="connsiteY4" fmla="*/ 125562 h 290526"/>
                  <a:gd name="connsiteX5" fmla="*/ 388951 w 434695"/>
                  <a:gd name="connsiteY5" fmla="*/ 236054 h 290526"/>
                  <a:gd name="connsiteX6" fmla="*/ 389728 w 434695"/>
                  <a:gd name="connsiteY6" fmla="*/ 236054 h 290526"/>
                  <a:gd name="connsiteX7" fmla="*/ 420032 w 434695"/>
                  <a:gd name="connsiteY7" fmla="*/ 200311 h 290526"/>
                  <a:gd name="connsiteX8" fmla="*/ 414903 w 434695"/>
                  <a:gd name="connsiteY8" fmla="*/ 84225 h 290526"/>
                  <a:gd name="connsiteX9" fmla="*/ 337202 w 434695"/>
                  <a:gd name="connsiteY9" fmla="*/ 181196 h 290526"/>
                  <a:gd name="connsiteX10" fmla="*/ 93063 w 434695"/>
                  <a:gd name="connsiteY10" fmla="*/ 178710 h 290526"/>
                  <a:gd name="connsiteX11" fmla="*/ 96482 w 434695"/>
                  <a:gd name="connsiteY11" fmla="*/ 37293 h 290526"/>
                  <a:gd name="connsiteX12" fmla="*/ 340621 w 434695"/>
                  <a:gd name="connsiteY12" fmla="*/ 39779 h 290526"/>
                  <a:gd name="connsiteX13" fmla="*/ 337823 w 434695"/>
                  <a:gd name="connsiteY13" fmla="*/ 181196 h 29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4695" h="290526">
                    <a:moveTo>
                      <a:pt x="414903" y="84225"/>
                    </a:moveTo>
                    <a:lnTo>
                      <a:pt x="414903" y="84225"/>
                    </a:lnTo>
                    <a:cubicBezTo>
                      <a:pt x="414546" y="83619"/>
                      <a:pt x="414127" y="83047"/>
                      <a:pt x="413660" y="82515"/>
                    </a:cubicBezTo>
                    <a:cubicBezTo>
                      <a:pt x="326634" y="-43672"/>
                      <a:pt x="36963" y="-21139"/>
                      <a:pt x="3084" y="122143"/>
                    </a:cubicBezTo>
                    <a:cubicBezTo>
                      <a:pt x="2758" y="123265"/>
                      <a:pt x="2494" y="124407"/>
                      <a:pt x="2308" y="125562"/>
                    </a:cubicBezTo>
                    <a:cubicBezTo>
                      <a:pt x="-31104" y="280965"/>
                      <a:pt x="261986" y="345147"/>
                      <a:pt x="388951" y="236054"/>
                    </a:cubicBezTo>
                    <a:lnTo>
                      <a:pt x="389728" y="236054"/>
                    </a:lnTo>
                    <a:cubicBezTo>
                      <a:pt x="401834" y="225991"/>
                      <a:pt x="412091" y="213896"/>
                      <a:pt x="420032" y="200311"/>
                    </a:cubicBezTo>
                    <a:cubicBezTo>
                      <a:pt x="440856" y="163867"/>
                      <a:pt x="438867" y="118690"/>
                      <a:pt x="414903" y="84225"/>
                    </a:cubicBezTo>
                    <a:close/>
                    <a:moveTo>
                      <a:pt x="337202" y="181196"/>
                    </a:moveTo>
                    <a:cubicBezTo>
                      <a:pt x="268824" y="219581"/>
                      <a:pt x="159576" y="218493"/>
                      <a:pt x="93063" y="178710"/>
                    </a:cubicBezTo>
                    <a:cubicBezTo>
                      <a:pt x="26550" y="138927"/>
                      <a:pt x="28260" y="75677"/>
                      <a:pt x="96482" y="37293"/>
                    </a:cubicBezTo>
                    <a:cubicBezTo>
                      <a:pt x="164704" y="-1092"/>
                      <a:pt x="274263" y="151"/>
                      <a:pt x="340621" y="39779"/>
                    </a:cubicBezTo>
                    <a:cubicBezTo>
                      <a:pt x="406978" y="79407"/>
                      <a:pt x="406201" y="142812"/>
                      <a:pt x="337823" y="181196"/>
                    </a:cubicBezTo>
                    <a:close/>
                  </a:path>
                </a:pathLst>
              </a:custGeom>
              <a:solidFill>
                <a:srgbClr val="D0DFF0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0E4181A8-8BC0-B7E5-B7A7-D1E520B6D47F}"/>
                  </a:ext>
                </a:extLst>
              </p:cNvPr>
              <p:cNvSpPr/>
              <p:nvPr/>
            </p:nvSpPr>
            <p:spPr>
              <a:xfrm>
                <a:off x="5449159" y="2348200"/>
                <a:ext cx="1536321" cy="1799951"/>
              </a:xfrm>
              <a:custGeom>
                <a:avLst/>
                <a:gdLst>
                  <a:gd name="connsiteX0" fmla="*/ 1224824 w 1265656"/>
                  <a:gd name="connsiteY0" fmla="*/ 893819 h 1482840"/>
                  <a:gd name="connsiteX1" fmla="*/ 1224824 w 1265656"/>
                  <a:gd name="connsiteY1" fmla="*/ 893819 h 1482840"/>
                  <a:gd name="connsiteX2" fmla="*/ 768094 w 1265656"/>
                  <a:gd name="connsiteY2" fmla="*/ 45317 h 1482840"/>
                  <a:gd name="connsiteX3" fmla="*/ 744162 w 1265656"/>
                  <a:gd name="connsiteY3" fmla="*/ 560 h 1482840"/>
                  <a:gd name="connsiteX4" fmla="*/ 714946 w 1265656"/>
                  <a:gd name="connsiteY4" fmla="*/ 67073 h 1482840"/>
                  <a:gd name="connsiteX5" fmla="*/ 555191 w 1265656"/>
                  <a:gd name="connsiteY5" fmla="*/ 65519 h 1482840"/>
                  <a:gd name="connsiteX6" fmla="*/ 528462 w 1265656"/>
                  <a:gd name="connsiteY6" fmla="*/ -61 h 1482840"/>
                  <a:gd name="connsiteX7" fmla="*/ 42671 w 1265656"/>
                  <a:gd name="connsiteY7" fmla="*/ 890556 h 1482840"/>
                  <a:gd name="connsiteX8" fmla="*/ 715101 w 1265656"/>
                  <a:gd name="connsiteY8" fmla="*/ 1478913 h 1482840"/>
                  <a:gd name="connsiteX9" fmla="*/ 1224824 w 1265656"/>
                  <a:gd name="connsiteY9" fmla="*/ 893819 h 1482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65656" h="1482840">
                    <a:moveTo>
                      <a:pt x="1224824" y="893819"/>
                    </a:moveTo>
                    <a:lnTo>
                      <a:pt x="1224824" y="893819"/>
                    </a:lnTo>
                    <a:lnTo>
                      <a:pt x="768094" y="45317"/>
                    </a:lnTo>
                    <a:lnTo>
                      <a:pt x="744162" y="560"/>
                    </a:lnTo>
                    <a:cubicBezTo>
                      <a:pt x="756439" y="23405"/>
                      <a:pt x="746493" y="49357"/>
                      <a:pt x="714946" y="67073"/>
                    </a:cubicBezTo>
                    <a:cubicBezTo>
                      <a:pt x="664517" y="92155"/>
                      <a:pt x="605122" y="91580"/>
                      <a:pt x="555191" y="65519"/>
                    </a:cubicBezTo>
                    <a:cubicBezTo>
                      <a:pt x="525198" y="47492"/>
                      <a:pt x="516340" y="22162"/>
                      <a:pt x="528462" y="-61"/>
                    </a:cubicBezTo>
                    <a:lnTo>
                      <a:pt x="42671" y="890556"/>
                    </a:lnTo>
                    <a:cubicBezTo>
                      <a:pt x="-124699" y="1192971"/>
                      <a:pt x="216878" y="1522271"/>
                      <a:pt x="715101" y="1478913"/>
                    </a:cubicBezTo>
                    <a:cubicBezTo>
                      <a:pt x="1068022" y="1449853"/>
                      <a:pt x="1378985" y="1211930"/>
                      <a:pt x="1224824" y="893819"/>
                    </a:cubicBezTo>
                    <a:close/>
                  </a:path>
                </a:pathLst>
              </a:custGeom>
              <a:solidFill>
                <a:srgbClr val="D4F5F9">
                  <a:alpha val="62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30855D7A-3579-C835-CFC7-D089BAE6FF69}"/>
                  </a:ext>
                </a:extLst>
              </p:cNvPr>
              <p:cNvSpPr/>
              <p:nvPr/>
            </p:nvSpPr>
            <p:spPr>
              <a:xfrm>
                <a:off x="5552100" y="2896709"/>
                <a:ext cx="1331212" cy="1176879"/>
              </a:xfrm>
              <a:custGeom>
                <a:avLst/>
                <a:gdLst>
                  <a:gd name="connsiteX0" fmla="*/ 1061230 w 1096682"/>
                  <a:gd name="connsiteY0" fmla="*/ 458574 h 969539"/>
                  <a:gd name="connsiteX1" fmla="*/ 1061230 w 1096682"/>
                  <a:gd name="connsiteY1" fmla="*/ 458574 h 969539"/>
                  <a:gd name="connsiteX2" fmla="*/ 890287 w 1096682"/>
                  <a:gd name="connsiteY2" fmla="*/ 125078 h 969539"/>
                  <a:gd name="connsiteX3" fmla="*/ 220498 w 1096682"/>
                  <a:gd name="connsiteY3" fmla="*/ 114355 h 969539"/>
                  <a:gd name="connsiteX4" fmla="*/ 36966 w 1096682"/>
                  <a:gd name="connsiteY4" fmla="*/ 456243 h 969539"/>
                  <a:gd name="connsiteX5" fmla="*/ 619574 w 1096682"/>
                  <a:gd name="connsiteY5" fmla="*/ 966122 h 969539"/>
                  <a:gd name="connsiteX6" fmla="*/ 1061230 w 1096682"/>
                  <a:gd name="connsiteY6" fmla="*/ 458574 h 969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6682" h="969539">
                    <a:moveTo>
                      <a:pt x="1061230" y="458574"/>
                    </a:moveTo>
                    <a:lnTo>
                      <a:pt x="1061230" y="458574"/>
                    </a:lnTo>
                    <a:cubicBezTo>
                      <a:pt x="1013055" y="369217"/>
                      <a:pt x="938306" y="214591"/>
                      <a:pt x="890287" y="125078"/>
                    </a:cubicBezTo>
                    <a:cubicBezTo>
                      <a:pt x="806524" y="-30325"/>
                      <a:pt x="309699" y="-48974"/>
                      <a:pt x="220498" y="114355"/>
                    </a:cubicBezTo>
                    <a:cubicBezTo>
                      <a:pt x="169370" y="207597"/>
                      <a:pt x="88094" y="361913"/>
                      <a:pt x="36966" y="456243"/>
                    </a:cubicBezTo>
                    <a:cubicBezTo>
                      <a:pt x="-108180" y="718408"/>
                      <a:pt x="188019" y="1003729"/>
                      <a:pt x="619574" y="966122"/>
                    </a:cubicBezTo>
                    <a:cubicBezTo>
                      <a:pt x="925407" y="940635"/>
                      <a:pt x="1194877" y="734415"/>
                      <a:pt x="1061230" y="458574"/>
                    </a:cubicBezTo>
                    <a:close/>
                  </a:path>
                </a:pathLst>
              </a:custGeom>
              <a:solidFill>
                <a:srgbClr val="42D0B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E2A941FD-A463-DA04-98EF-47743D321934}"/>
                  </a:ext>
                </a:extLst>
              </p:cNvPr>
              <p:cNvSpPr/>
              <p:nvPr/>
            </p:nvSpPr>
            <p:spPr>
              <a:xfrm>
                <a:off x="5803171" y="2879026"/>
                <a:ext cx="840188" cy="434997"/>
              </a:xfrm>
              <a:custGeom>
                <a:avLst/>
                <a:gdLst>
                  <a:gd name="connsiteX0" fmla="*/ 691840 w 692166"/>
                  <a:gd name="connsiteY0" fmla="*/ 179119 h 358360"/>
                  <a:gd name="connsiteX1" fmla="*/ 345756 w 692166"/>
                  <a:gd name="connsiteY1" fmla="*/ 358299 h 358360"/>
                  <a:gd name="connsiteX2" fmla="*/ -327 w 692166"/>
                  <a:gd name="connsiteY2" fmla="*/ 179119 h 358360"/>
                  <a:gd name="connsiteX3" fmla="*/ 345756 w 692166"/>
                  <a:gd name="connsiteY3" fmla="*/ -61 h 358360"/>
                  <a:gd name="connsiteX4" fmla="*/ 691840 w 692166"/>
                  <a:gd name="connsiteY4" fmla="*/ 179119 h 358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2166" h="358360">
                    <a:moveTo>
                      <a:pt x="691840" y="179119"/>
                    </a:moveTo>
                    <a:cubicBezTo>
                      <a:pt x="691840" y="278111"/>
                      <a:pt x="536436" y="358299"/>
                      <a:pt x="345756" y="358299"/>
                    </a:cubicBezTo>
                    <a:cubicBezTo>
                      <a:pt x="155076" y="358299"/>
                      <a:pt x="-327" y="278111"/>
                      <a:pt x="-327" y="179119"/>
                    </a:cubicBezTo>
                    <a:cubicBezTo>
                      <a:pt x="-327" y="80127"/>
                      <a:pt x="155076" y="-61"/>
                      <a:pt x="345756" y="-61"/>
                    </a:cubicBezTo>
                    <a:cubicBezTo>
                      <a:pt x="536436" y="-61"/>
                      <a:pt x="691840" y="80127"/>
                      <a:pt x="691840" y="179119"/>
                    </a:cubicBezTo>
                    <a:close/>
                  </a:path>
                </a:pathLst>
              </a:custGeom>
              <a:solidFill>
                <a:srgbClr val="6BEDD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9E2D721-6711-7E59-9FDD-BCE9B7B939C7}"/>
                  </a:ext>
                </a:extLst>
              </p:cNvPr>
              <p:cNvSpPr/>
              <p:nvPr/>
            </p:nvSpPr>
            <p:spPr>
              <a:xfrm>
                <a:off x="5843672" y="2949301"/>
                <a:ext cx="459576" cy="318493"/>
              </a:xfrm>
              <a:custGeom>
                <a:avLst/>
                <a:gdLst>
                  <a:gd name="connsiteX0" fmla="*/ 124975 w 378609"/>
                  <a:gd name="connsiteY0" fmla="*/ 1720 h 262382"/>
                  <a:gd name="connsiteX1" fmla="*/ 222413 w 378609"/>
                  <a:gd name="connsiteY1" fmla="*/ 51604 h 262382"/>
                  <a:gd name="connsiteX2" fmla="*/ 160252 w 378609"/>
                  <a:gd name="connsiteY2" fmla="*/ 111745 h 262382"/>
                  <a:gd name="connsiteX3" fmla="*/ 158232 w 378609"/>
                  <a:gd name="connsiteY3" fmla="*/ 206230 h 262382"/>
                  <a:gd name="connsiteX4" fmla="*/ 378283 w 378609"/>
                  <a:gd name="connsiteY4" fmla="*/ 260311 h 262382"/>
                  <a:gd name="connsiteX5" fmla="*/ 114097 w 378609"/>
                  <a:gd name="connsiteY5" fmla="*/ 237156 h 262382"/>
                  <a:gd name="connsiteX6" fmla="*/ -125 w 378609"/>
                  <a:gd name="connsiteY6" fmla="*/ 121225 h 262382"/>
                  <a:gd name="connsiteX7" fmla="*/ 124975 w 378609"/>
                  <a:gd name="connsiteY7" fmla="*/ 1720 h 262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8609" h="262382">
                    <a:moveTo>
                      <a:pt x="124975" y="1720"/>
                    </a:moveTo>
                    <a:cubicBezTo>
                      <a:pt x="202677" y="-6983"/>
                      <a:pt x="216974" y="17260"/>
                      <a:pt x="222413" y="51604"/>
                    </a:cubicBezTo>
                    <a:cubicBezTo>
                      <a:pt x="228474" y="88590"/>
                      <a:pt x="193353" y="104286"/>
                      <a:pt x="160252" y="111745"/>
                    </a:cubicBezTo>
                    <a:cubicBezTo>
                      <a:pt x="127151" y="119205"/>
                      <a:pt x="112543" y="179346"/>
                      <a:pt x="158232" y="206230"/>
                    </a:cubicBezTo>
                    <a:cubicBezTo>
                      <a:pt x="203920" y="233115"/>
                      <a:pt x="378283" y="260311"/>
                      <a:pt x="378283" y="260311"/>
                    </a:cubicBezTo>
                    <a:cubicBezTo>
                      <a:pt x="378283" y="260311"/>
                      <a:pt x="205319" y="272432"/>
                      <a:pt x="114097" y="237156"/>
                    </a:cubicBezTo>
                    <a:cubicBezTo>
                      <a:pt x="36395" y="207163"/>
                      <a:pt x="4072" y="170799"/>
                      <a:pt x="-125" y="121225"/>
                    </a:cubicBezTo>
                    <a:cubicBezTo>
                      <a:pt x="-4320" y="71651"/>
                      <a:pt x="57375" y="9179"/>
                      <a:pt x="124975" y="1720"/>
                    </a:cubicBezTo>
                    <a:close/>
                  </a:path>
                </a:pathLst>
              </a:custGeom>
              <a:solidFill>
                <a:srgbClr val="FFFFFF">
                  <a:alpha val="33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35" name="Title 23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财务透明，数据真实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003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AF16B62-FC88-2B0D-0E1A-E39DE6B4287F}"/>
              </a:ext>
            </a:extLst>
          </p:cNvPr>
          <p:cNvGrpSpPr/>
          <p:nvPr/>
        </p:nvGrpSpPr>
        <p:grpSpPr>
          <a:xfrm>
            <a:off x="-1" y="875413"/>
            <a:ext cx="10066632" cy="4423557"/>
            <a:chOff x="-1" y="875413"/>
            <a:chExt cx="10066632" cy="442355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1651A5D-505B-3135-AE91-08D29931645A}"/>
                </a:ext>
              </a:extLst>
            </p:cNvPr>
            <p:cNvGrpSpPr/>
            <p:nvPr/>
          </p:nvGrpSpPr>
          <p:grpSpPr>
            <a:xfrm>
              <a:off x="2125370" y="2736546"/>
              <a:ext cx="2111657" cy="2562424"/>
              <a:chOff x="2126439" y="2627341"/>
              <a:chExt cx="2111657" cy="2562424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C1B6332-71F6-1583-1038-89EAD72F436D}"/>
                  </a:ext>
                </a:extLst>
              </p:cNvPr>
              <p:cNvSpPr/>
              <p:nvPr/>
            </p:nvSpPr>
            <p:spPr>
              <a:xfrm>
                <a:off x="2281781" y="2807341"/>
                <a:ext cx="1956315" cy="2382424"/>
              </a:xfrm>
              <a:prstGeom prst="roundRect">
                <a:avLst>
                  <a:gd name="adj" fmla="val 928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19920DC5-8587-4F68-678A-A8C8A6137B07}"/>
                  </a:ext>
                </a:extLst>
              </p:cNvPr>
              <p:cNvSpPr/>
              <p:nvPr/>
            </p:nvSpPr>
            <p:spPr>
              <a:xfrm>
                <a:off x="2126439" y="2627341"/>
                <a:ext cx="360001" cy="360000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20000"/>
                  </a:lnSpc>
                </a:pP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D31980-6549-B1B1-C235-5842A7CAE404}"/>
                  </a:ext>
                </a:extLst>
              </p:cNvPr>
              <p:cNvSpPr txBox="1"/>
              <p:nvPr/>
            </p:nvSpPr>
            <p:spPr>
              <a:xfrm>
                <a:off x="2398323" y="3452195"/>
                <a:ext cx="1723230" cy="400110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收入增长稳定</a:t>
                </a:r>
                <a:endParaRPr lang="zh-CN" altLang="en-US" sz="2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BE33D9E-1302-E328-3B07-CA6BEE0374FC}"/>
                  </a:ext>
                </a:extLst>
              </p:cNvPr>
              <p:cNvSpPr/>
              <p:nvPr/>
            </p:nvSpPr>
            <p:spPr>
              <a:xfrm>
                <a:off x="2398323" y="3995766"/>
                <a:ext cx="1723230" cy="60584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ctr" anchorCtr="0" forceAA="0" compatLnSpc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年度收入增长率达到20%。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C27E2FA-0720-9B1A-3451-DEB169A0EA6A}"/>
                </a:ext>
              </a:extLst>
            </p:cNvPr>
            <p:cNvGrpSpPr/>
            <p:nvPr/>
          </p:nvGrpSpPr>
          <p:grpSpPr>
            <a:xfrm>
              <a:off x="5040172" y="2736546"/>
              <a:ext cx="2111657" cy="2562424"/>
              <a:chOff x="5041241" y="2627341"/>
              <a:chExt cx="2111657" cy="256242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0D93ECA-9A2C-CF71-6593-6C58FB36011B}"/>
                  </a:ext>
                </a:extLst>
              </p:cNvPr>
              <p:cNvSpPr/>
              <p:nvPr/>
            </p:nvSpPr>
            <p:spPr>
              <a:xfrm>
                <a:off x="5196583" y="2807341"/>
                <a:ext cx="1956315" cy="2382424"/>
              </a:xfrm>
              <a:prstGeom prst="roundRect">
                <a:avLst>
                  <a:gd name="adj" fmla="val 9280"/>
                </a:avLst>
              </a:prstGeom>
              <a:solidFill>
                <a:schemeClr val="accent6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CFBFA84-D395-6186-5BD4-7486B98367C8}"/>
                  </a:ext>
                </a:extLst>
              </p:cNvPr>
              <p:cNvSpPr/>
              <p:nvPr/>
            </p:nvSpPr>
            <p:spPr>
              <a:xfrm>
                <a:off x="5041241" y="2627341"/>
                <a:ext cx="360001" cy="360000"/>
              </a:xfrm>
              <a:prstGeom prst="roundRect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20000"/>
                  </a:lnSpc>
                </a:pP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2CF5A7-CAD2-8880-68BA-CB4178DBCB08}"/>
                  </a:ext>
                </a:extLst>
              </p:cNvPr>
              <p:cNvSpPr txBox="1"/>
              <p:nvPr/>
            </p:nvSpPr>
            <p:spPr>
              <a:xfrm>
                <a:off x="5313125" y="3452195"/>
                <a:ext cx="1723230" cy="400110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gradFill>
                      <a:gsLst>
                        <a:gs pos="0">
                          <a:schemeClr val="accent6">
                            <a:lumMod val="60000"/>
                            <a:lumOff val="40000"/>
                          </a:schemeClr>
                        </a:gs>
                        <a:gs pos="60000">
                          <a:schemeClr val="accent6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6">
                          <a:alpha val="20000"/>
                        </a:schemeClr>
                      </a:outerShdw>
                    </a:effectLst>
                  </a:rPr>
                  <a:t>利润持续提升</a:t>
                </a:r>
                <a:endParaRPr lang="zh-CN" altLang="en-US" sz="2000" b="1" dirty="0">
                  <a:gradFill>
                    <a:gsLst>
                      <a:gs pos="0">
                        <a:schemeClr val="accent6">
                          <a:lumMod val="60000"/>
                          <a:lumOff val="40000"/>
                        </a:schemeClr>
                      </a:gs>
                      <a:gs pos="60000">
                        <a:schemeClr val="accent6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6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E639BCE-391E-FC45-EE7E-3F39D38B30F0}"/>
                  </a:ext>
                </a:extLst>
              </p:cNvPr>
              <p:cNvSpPr/>
              <p:nvPr/>
            </p:nvSpPr>
            <p:spPr>
              <a:xfrm>
                <a:off x="5313125" y="3995766"/>
                <a:ext cx="1723230" cy="60584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ctr" anchorCtr="0" forceAA="0" compatLnSpc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年度利润增长率超过预期。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D71F03-A00D-11D5-94D4-EB3837ACB4E1}"/>
                </a:ext>
              </a:extLst>
            </p:cNvPr>
            <p:cNvGrpSpPr/>
            <p:nvPr/>
          </p:nvGrpSpPr>
          <p:grpSpPr>
            <a:xfrm>
              <a:off x="7954974" y="2736546"/>
              <a:ext cx="2111657" cy="2562424"/>
              <a:chOff x="7956043" y="2627341"/>
              <a:chExt cx="2111657" cy="2562424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2531A8C-3929-0066-15B2-62EEC268F3C8}"/>
                  </a:ext>
                </a:extLst>
              </p:cNvPr>
              <p:cNvSpPr/>
              <p:nvPr/>
            </p:nvSpPr>
            <p:spPr>
              <a:xfrm>
                <a:off x="8111385" y="2807341"/>
                <a:ext cx="1956315" cy="2382424"/>
              </a:xfrm>
              <a:prstGeom prst="roundRect">
                <a:avLst>
                  <a:gd name="adj" fmla="val 9280"/>
                </a:avLst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565B1090-6963-8712-83C7-B37B444FA30A}"/>
                  </a:ext>
                </a:extLst>
              </p:cNvPr>
              <p:cNvSpPr/>
              <p:nvPr/>
            </p:nvSpPr>
            <p:spPr>
              <a:xfrm>
                <a:off x="7956043" y="2627341"/>
                <a:ext cx="360001" cy="360000"/>
              </a:xfrm>
              <a:prstGeom prst="round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20000"/>
                  </a:lnSpc>
                </a:pP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FA8735-51E4-B73A-E0DC-40DD98A5C453}"/>
                  </a:ext>
                </a:extLst>
              </p:cNvPr>
              <p:cNvSpPr txBox="1"/>
              <p:nvPr/>
            </p:nvSpPr>
            <p:spPr>
              <a:xfrm>
                <a:off x="8227927" y="3452195"/>
                <a:ext cx="1723230" cy="400110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rPr>
                  <a:t>财务数据可靠</a:t>
                </a:r>
                <a:endParaRPr lang="zh-CN" altLang="en-US" sz="2000" b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3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2A70B3-EA20-B37C-196C-9D1E04F7FD1B}"/>
                  </a:ext>
                </a:extLst>
              </p:cNvPr>
              <p:cNvSpPr/>
              <p:nvPr/>
            </p:nvSpPr>
            <p:spPr>
              <a:xfrm>
                <a:off x="8227927" y="3995766"/>
                <a:ext cx="1723230" cy="60584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ctr" anchorCtr="0" forceAA="0" compatLnSpc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财务报表符合审计要求，数据准确可信。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A5A856-1556-6061-0E47-5050FD2FBD12}"/>
                </a:ext>
              </a:extLst>
            </p:cNvPr>
            <p:cNvGrpSpPr/>
            <p:nvPr/>
          </p:nvGrpSpPr>
          <p:grpSpPr>
            <a:xfrm>
              <a:off x="-1" y="875413"/>
              <a:ext cx="5744206" cy="782356"/>
              <a:chOff x="-1" y="875413"/>
              <a:chExt cx="5744206" cy="782356"/>
            </a:xfrm>
          </p:grpSpPr>
          <p:sp>
            <p:nvSpPr>
              <p:cNvPr id="8" name="Rectangle: Top Corners Rounded 7">
                <a:extLst>
                  <a:ext uri="{FF2B5EF4-FFF2-40B4-BE49-F238E27FC236}">
                    <a16:creationId xmlns:a16="http://schemas.microsoft.com/office/drawing/2014/main" id="{3E1783FE-E159-CA83-32AC-471359361B97}"/>
                  </a:ext>
                </a:extLst>
              </p:cNvPr>
              <p:cNvSpPr/>
              <p:nvPr/>
            </p:nvSpPr>
            <p:spPr>
              <a:xfrm rot="5400000">
                <a:off x="837505" y="580747"/>
                <a:ext cx="239516" cy="1914528"/>
              </a:xfrm>
              <a:prstGeom prst="round2SameRect">
                <a:avLst>
                  <a:gd name="adj1" fmla="val 30271"/>
                  <a:gd name="adj2" fmla="val 0"/>
                </a:avLst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6FF2E404-EF90-8415-EB96-461B59C8F4D9}"/>
                  </a:ext>
                </a:extLst>
              </p:cNvPr>
              <p:cNvSpPr/>
              <p:nvPr/>
            </p:nvSpPr>
            <p:spPr>
              <a:xfrm>
                <a:off x="5039031" y="1391902"/>
                <a:ext cx="661682" cy="16313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389B52B-BA7B-5137-F7E3-23E6270740A3}"/>
                  </a:ext>
                </a:extLst>
              </p:cNvPr>
              <p:cNvSpPr/>
              <p:nvPr/>
            </p:nvSpPr>
            <p:spPr>
              <a:xfrm>
                <a:off x="655392" y="875413"/>
                <a:ext cx="5088813" cy="744229"/>
              </a:xfrm>
              <a:prstGeom prst="rect">
                <a:avLst/>
              </a:prstGeom>
            </p:spPr>
            <p:txBody>
              <a:bodyPr wrap="square" anchor="b" anchorCtr="0">
                <a:no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公司财务状况</a:t>
                </a:r>
                <a:endParaRPr lang="en-US" altLang="zh-CN" sz="3600" b="1" dirty="0"/>
              </a:p>
            </p:txBody>
          </p:sp>
        </p:grp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公司财务健康状况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205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AAC9612-B4DA-08CA-CB0A-734D7EFE170D}"/>
              </a:ext>
            </a:extLst>
          </p:cNvPr>
          <p:cNvGrpSpPr/>
          <p:nvPr/>
        </p:nvGrpSpPr>
        <p:grpSpPr>
          <a:xfrm>
            <a:off x="660399" y="1028700"/>
            <a:ext cx="10858501" cy="4647852"/>
            <a:chOff x="660399" y="1028700"/>
            <a:chExt cx="10858501" cy="464785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353CAB9-9DA5-6A5D-8AF6-FA04283DB0D1}"/>
                </a:ext>
              </a:extLst>
            </p:cNvPr>
            <p:cNvGrpSpPr/>
            <p:nvPr/>
          </p:nvGrpSpPr>
          <p:grpSpPr>
            <a:xfrm>
              <a:off x="660400" y="3813174"/>
              <a:ext cx="10800420" cy="1863378"/>
              <a:chOff x="660400" y="3813174"/>
              <a:chExt cx="10800420" cy="1863378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193B839-11C0-10E1-2E09-0BEC4CFF9657}"/>
                  </a:ext>
                </a:extLst>
              </p:cNvPr>
              <p:cNvGrpSpPr/>
              <p:nvPr/>
            </p:nvGrpSpPr>
            <p:grpSpPr>
              <a:xfrm>
                <a:off x="660400" y="3813175"/>
                <a:ext cx="3333162" cy="1641779"/>
                <a:chOff x="660400" y="3708400"/>
                <a:chExt cx="3333162" cy="1641779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56E3883D-60EF-BA9F-8AF3-24EE67A05D10}"/>
                    </a:ext>
                  </a:extLst>
                </p:cNvPr>
                <p:cNvSpPr/>
                <p:nvPr/>
              </p:nvSpPr>
              <p:spPr>
                <a:xfrm>
                  <a:off x="660400" y="3708400"/>
                  <a:ext cx="1468800" cy="1468840"/>
                </a:xfrm>
                <a:prstGeom prst="ellipse">
                  <a:avLst/>
                </a:prstGeom>
                <a:blipFill rotWithShape="0">
                  <a:blip r:embed="rId3"/>
                  <a:srcRect/>
                  <a:stretch>
                    <a:fillRect l="-25119" r="-25119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BBBD00A-C7DE-61F9-1DAB-7994A5D1CCB8}"/>
                    </a:ext>
                  </a:extLst>
                </p:cNvPr>
                <p:cNvSpPr/>
                <p:nvPr/>
              </p:nvSpPr>
              <p:spPr>
                <a:xfrm>
                  <a:off x="2524761" y="4028553"/>
                  <a:ext cx="146880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稳定的市场地位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E9A361B-181E-7F17-58E2-0BDABB2A7383}"/>
                    </a:ext>
                  </a:extLst>
                </p:cNvPr>
                <p:cNvSpPr/>
                <p:nvPr/>
              </p:nvSpPr>
              <p:spPr>
                <a:xfrm>
                  <a:off x="2524761" y="4612156"/>
                  <a:ext cx="1468801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在市场上，我们一直保持着领先的地位。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EB867B9-2ACD-1C87-BE6C-EB5475B1BD4E}"/>
                    </a:ext>
                  </a:extLst>
                </p:cNvPr>
                <p:cNvSpPr txBox="1"/>
                <p:nvPr/>
              </p:nvSpPr>
              <p:spPr>
                <a:xfrm>
                  <a:off x="1857761" y="4172819"/>
                  <a:ext cx="540000" cy="54000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01</a:t>
                  </a:r>
                  <a:endParaRPr lang="zh-CN" altLang="en-US" dirty="0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202D0037-B2AA-C93D-9FC7-5A272796A3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7761" y="4442820"/>
                  <a:ext cx="159580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761F155-EB85-576E-C9DA-C672716ED188}"/>
                  </a:ext>
                </a:extLst>
              </p:cNvPr>
              <p:cNvGrpSpPr/>
              <p:nvPr/>
            </p:nvGrpSpPr>
            <p:grpSpPr>
              <a:xfrm>
                <a:off x="4394029" y="3813174"/>
                <a:ext cx="3333162" cy="1863378"/>
                <a:chOff x="4394029" y="3708399"/>
                <a:chExt cx="3333162" cy="186337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8839B981-6D2C-AE72-1FEC-B3314D618184}"/>
                    </a:ext>
                  </a:extLst>
                </p:cNvPr>
                <p:cNvSpPr/>
                <p:nvPr/>
              </p:nvSpPr>
              <p:spPr>
                <a:xfrm>
                  <a:off x="4394029" y="3708399"/>
                  <a:ext cx="1468800" cy="1468840"/>
                </a:xfrm>
                <a:prstGeom prst="ellipse">
                  <a:avLst/>
                </a:prstGeom>
                <a:blipFill rotWithShape="0">
                  <a:blip r:embed="rId4"/>
                  <a:srcRect/>
                  <a:stretch>
                    <a:fillRect l="-25119" r="-25119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AA1FF6D-9957-CA47-085A-2FF11353A939}"/>
                    </a:ext>
                  </a:extLst>
                </p:cNvPr>
                <p:cNvSpPr/>
                <p:nvPr/>
              </p:nvSpPr>
              <p:spPr>
                <a:xfrm>
                  <a:off x="6258390" y="4028552"/>
                  <a:ext cx="146880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多元化的产品线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28F7BD-0D40-B7A6-3158-7FF1045830A9}"/>
                    </a:ext>
                  </a:extLst>
                </p:cNvPr>
                <p:cNvSpPr/>
                <p:nvPr/>
              </p:nvSpPr>
              <p:spPr>
                <a:xfrm>
                  <a:off x="6258390" y="4612155"/>
                  <a:ext cx="1468801" cy="95962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我们的产品线覆盖多个细分市场，为未来增长提供了强大动力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76EA659-58D0-2F2B-5D99-205087329EBF}"/>
                    </a:ext>
                  </a:extLst>
                </p:cNvPr>
                <p:cNvSpPr txBox="1"/>
                <p:nvPr/>
              </p:nvSpPr>
              <p:spPr>
                <a:xfrm>
                  <a:off x="5591390" y="4172818"/>
                  <a:ext cx="540000" cy="54000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02</a:t>
                  </a:r>
                  <a:endParaRPr lang="zh-CN" altLang="en-US" dirty="0"/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A34FBB5-7E67-A44F-61CB-18F0FFB2FF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31390" y="4442819"/>
                  <a:ext cx="159580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80671DA-74AA-D93A-98D6-FD8A9C132AAF}"/>
                  </a:ext>
                </a:extLst>
              </p:cNvPr>
              <p:cNvGrpSpPr/>
              <p:nvPr/>
            </p:nvGrpSpPr>
            <p:grpSpPr>
              <a:xfrm>
                <a:off x="8127658" y="3813174"/>
                <a:ext cx="3333162" cy="1641779"/>
                <a:chOff x="8127658" y="3708399"/>
                <a:chExt cx="3333162" cy="1641779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83B8D5CE-6865-5C6E-C6E8-82B8D89D997E}"/>
                    </a:ext>
                  </a:extLst>
                </p:cNvPr>
                <p:cNvSpPr/>
                <p:nvPr/>
              </p:nvSpPr>
              <p:spPr>
                <a:xfrm>
                  <a:off x="8127658" y="3708399"/>
                  <a:ext cx="1468800" cy="1468840"/>
                </a:xfrm>
                <a:prstGeom prst="ellipse">
                  <a:avLst/>
                </a:prstGeom>
                <a:blipFill rotWithShape="0">
                  <a:blip r:embed="rId5"/>
                  <a:srcRect/>
                  <a:stretch>
                    <a:fillRect l="-24910" r="-2491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24FBE7C-EBA4-8F28-91DA-A1F8C8E6FD53}"/>
                    </a:ext>
                  </a:extLst>
                </p:cNvPr>
                <p:cNvSpPr/>
                <p:nvPr/>
              </p:nvSpPr>
              <p:spPr>
                <a:xfrm>
                  <a:off x="9992019" y="4028552"/>
                  <a:ext cx="146880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持续创新和研发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9997973-5A76-0290-869F-480D41336D4B}"/>
                    </a:ext>
                  </a:extLst>
                </p:cNvPr>
                <p:cNvSpPr/>
                <p:nvPr/>
              </p:nvSpPr>
              <p:spPr>
                <a:xfrm>
                  <a:off x="9992019" y="4612155"/>
                  <a:ext cx="1468801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我们将持续投入研发，不断推出新产品和技术创新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BA9F0D4-F5D3-7290-7942-A5E7A7AD89C1}"/>
                    </a:ext>
                  </a:extLst>
                </p:cNvPr>
                <p:cNvSpPr txBox="1"/>
                <p:nvPr/>
              </p:nvSpPr>
              <p:spPr>
                <a:xfrm>
                  <a:off x="9325019" y="4172818"/>
                  <a:ext cx="540000" cy="540000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50000">
                      <a:schemeClr val="accent3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03</a:t>
                  </a:r>
                  <a:endParaRPr lang="zh-CN" altLang="en-US" dirty="0"/>
                </a:p>
              </p:txBody>
            </p: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C0DADBD-0F12-25A7-52CE-614FEC9DB3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65019" y="4442819"/>
                  <a:ext cx="159580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17B125E-CC2B-E45B-2495-2AC26AACBE32}"/>
                </a:ext>
              </a:extLst>
            </p:cNvPr>
            <p:cNvSpPr/>
            <p:nvPr/>
          </p:nvSpPr>
          <p:spPr>
            <a:xfrm>
              <a:off x="660399" y="1028700"/>
              <a:ext cx="10858501" cy="640677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未来增长预测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3FF36DF-A12C-D16B-A1DA-D905EE6D3FEA}"/>
                </a:ext>
              </a:extLst>
            </p:cNvPr>
            <p:cNvSpPr/>
            <p:nvPr/>
          </p:nvSpPr>
          <p:spPr>
            <a:xfrm>
              <a:off x="3991166" y="1764244"/>
              <a:ext cx="4164241" cy="420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公司预计在未来实现持续增长，为投资者带来更大的回报。</a:t>
              </a:r>
            </a:p>
          </p:txBody>
        </p:sp>
      </p:grpSp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预计未来持续增长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6133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04.邀请投资者支持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邀请投资者支持公司的未来发展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1060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60400" y="1168970"/>
            <a:ext cx="10867209" cy="4390233"/>
            <a:chOff x="660400" y="1168970"/>
            <a:chExt cx="10867209" cy="439023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4DE8A9-93A3-4FCC-82B5-0CF78045966D}"/>
                </a:ext>
              </a:extLst>
            </p:cNvPr>
            <p:cNvSpPr txBox="1"/>
            <p:nvPr/>
          </p:nvSpPr>
          <p:spPr>
            <a:xfrm>
              <a:off x="660400" y="1168970"/>
              <a:ext cx="108585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投资者参与公司发展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4A1DB3-1E9E-4FAF-9E7E-7D4E7E656E8D}"/>
                </a:ext>
              </a:extLst>
            </p:cNvPr>
            <p:cNvSpPr txBox="1"/>
            <p:nvPr/>
          </p:nvSpPr>
          <p:spPr>
            <a:xfrm>
              <a:off x="669109" y="1755201"/>
              <a:ext cx="10858500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/>
                <a:t>展示公司的中长期发展计划，鼓励投资者积极参与公司的发展，共同分享公司的成功。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097943-5C5C-469E-898A-21B837347967}"/>
                </a:ext>
              </a:extLst>
            </p:cNvPr>
            <p:cNvSpPr/>
            <p:nvPr/>
          </p:nvSpPr>
          <p:spPr>
            <a:xfrm>
              <a:off x="923636" y="2347773"/>
              <a:ext cx="10344728" cy="1856254"/>
            </a:xfrm>
            <a:prstGeom prst="roundRect">
              <a:avLst>
                <a:gd name="adj" fmla="val 0"/>
              </a:avLst>
            </a:prstGeom>
            <a:blipFill rotWithShape="0">
              <a:blip r:embed="rId3"/>
              <a:srcRect/>
              <a:stretch>
                <a:fillRect t="-136830" b="-136830"/>
              </a:stretch>
            </a:blipFill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F707A98-9CD0-4A34-A4E2-19249535FB7E}"/>
                </a:ext>
              </a:extLst>
            </p:cNvPr>
            <p:cNvGrpSpPr/>
            <p:nvPr/>
          </p:nvGrpSpPr>
          <p:grpSpPr>
            <a:xfrm>
              <a:off x="923636" y="4510891"/>
              <a:ext cx="2655587" cy="835754"/>
              <a:chOff x="923636" y="4510891"/>
              <a:chExt cx="2655587" cy="835754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7755DC-41D5-458B-9095-6CCA5A741147}"/>
                  </a:ext>
                </a:extLst>
              </p:cNvPr>
              <p:cNvSpPr txBox="1"/>
              <p:nvPr/>
            </p:nvSpPr>
            <p:spPr>
              <a:xfrm>
                <a:off x="1529742" y="4510891"/>
                <a:ext cx="2049481" cy="307777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/>
                  <a:t>投资者决策参与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9C1B08-3524-4BEB-B7CD-04F7084BDC0C}"/>
                  </a:ext>
                </a:extLst>
              </p:cNvPr>
              <p:cNvSpPr txBox="1"/>
              <p:nvPr/>
            </p:nvSpPr>
            <p:spPr>
              <a:xfrm>
                <a:off x="1529742" y="4821180"/>
                <a:ext cx="2049481" cy="52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投资者可参与战略决策，共同推动公司向前发展。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983178C-1A86-4613-9297-5820C5E02498}"/>
                  </a:ext>
                </a:extLst>
              </p:cNvPr>
              <p:cNvGrpSpPr/>
              <p:nvPr/>
            </p:nvGrpSpPr>
            <p:grpSpPr>
              <a:xfrm>
                <a:off x="923636" y="4584047"/>
                <a:ext cx="410200" cy="410198"/>
                <a:chOff x="3526795" y="4024421"/>
                <a:chExt cx="410200" cy="410198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5972B26A-47A1-4812-9360-544D00E06BCE}"/>
                    </a:ext>
                  </a:extLst>
                </p:cNvPr>
                <p:cNvSpPr/>
                <p:nvPr/>
              </p:nvSpPr>
              <p:spPr>
                <a:xfrm>
                  <a:off x="3526795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8A22E301-65CF-493A-8113-031055E29BFC}"/>
                    </a:ext>
                  </a:extLst>
                </p:cNvPr>
                <p:cNvSpPr/>
                <p:nvPr/>
              </p:nvSpPr>
              <p:spPr>
                <a:xfrm>
                  <a:off x="3642895" y="4162770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1FEF06B-C13C-4FB6-8035-0165CC62890E}"/>
                </a:ext>
              </a:extLst>
            </p:cNvPr>
            <p:cNvSpPr txBox="1"/>
            <p:nvPr/>
          </p:nvSpPr>
          <p:spPr>
            <a:xfrm>
              <a:off x="5374313" y="4510891"/>
              <a:ext cx="2049481" cy="307777"/>
            </a:xfrm>
            <a:prstGeom prst="rect">
              <a:avLst/>
            </a:prstGeom>
            <a:noFill/>
          </p:spPr>
          <p:txBody>
            <a:bodyPr wrap="non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共享公司成长红利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9343E83-1A17-4689-8C43-51AC7FA946B8}"/>
                </a:ext>
              </a:extLst>
            </p:cNvPr>
            <p:cNvSpPr txBox="1"/>
            <p:nvPr/>
          </p:nvSpPr>
          <p:spPr>
            <a:xfrm>
              <a:off x="5374313" y="4821180"/>
              <a:ext cx="2049481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投资者将分享公司持续增长的红利，获得稳定可观的投资回报。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DC1DC54-DE31-4C96-A5A9-78DEF20B7897}"/>
                </a:ext>
              </a:extLst>
            </p:cNvPr>
            <p:cNvSpPr txBox="1"/>
            <p:nvPr/>
          </p:nvSpPr>
          <p:spPr>
            <a:xfrm>
              <a:off x="9218883" y="4510891"/>
              <a:ext cx="2049481" cy="307777"/>
            </a:xfrm>
            <a:prstGeom prst="rect">
              <a:avLst/>
            </a:prstGeom>
            <a:noFill/>
          </p:spPr>
          <p:txBody>
            <a:bodyPr wrap="non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长期合作伙伴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EBAB1BA-CFA3-42A2-A1A8-C6247397AFC2}"/>
                </a:ext>
              </a:extLst>
            </p:cNvPr>
            <p:cNvSpPr txBox="1"/>
            <p:nvPr/>
          </p:nvSpPr>
          <p:spPr>
            <a:xfrm>
              <a:off x="9218883" y="4821180"/>
              <a:ext cx="2049481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邀请投资者与公司建立长期的合作伙伴关系，共同开拓市场，共赢未来。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C6C1F13-B66B-40E5-A2C3-96CDA207652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68207" y="4584047"/>
              <a:ext cx="410200" cy="410198"/>
              <a:chOff x="4471992" y="4024421"/>
              <a:chExt cx="410200" cy="410198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67ADF15-4604-447A-8536-3771AF9353CC}"/>
                  </a:ext>
                </a:extLst>
              </p:cNvPr>
              <p:cNvSpPr/>
              <p:nvPr/>
            </p:nvSpPr>
            <p:spPr>
              <a:xfrm>
                <a:off x="4471992" y="4024421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2A6F5020-986E-4EEB-84A8-4BB5FCF1DECC}"/>
                  </a:ext>
                </a:extLst>
              </p:cNvPr>
              <p:cNvSpPr/>
              <p:nvPr/>
            </p:nvSpPr>
            <p:spPr>
              <a:xfrm>
                <a:off x="4595899" y="4146869"/>
                <a:ext cx="162386" cy="17800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7E4ED76-8BC2-4529-9217-FEEA93CBA799}"/>
                </a:ext>
              </a:extLst>
            </p:cNvPr>
            <p:cNvGrpSpPr>
              <a:grpSpLocks/>
            </p:cNvGrpSpPr>
            <p:nvPr/>
          </p:nvGrpSpPr>
          <p:grpSpPr>
            <a:xfrm>
              <a:off x="8612777" y="4584047"/>
              <a:ext cx="410200" cy="410198"/>
              <a:chOff x="5417189" y="4024421"/>
              <a:chExt cx="410200" cy="410198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B038E73-F81B-446F-9B01-92AE01D740B9}"/>
                  </a:ext>
                </a:extLst>
              </p:cNvPr>
              <p:cNvSpPr/>
              <p:nvPr/>
            </p:nvSpPr>
            <p:spPr>
              <a:xfrm>
                <a:off x="5417189" y="4024421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78C202CA-3A8D-4875-88C8-9FB4D367EF54}"/>
                  </a:ext>
                </a:extLst>
              </p:cNvPr>
              <p:cNvSpPr/>
              <p:nvPr/>
            </p:nvSpPr>
            <p:spPr>
              <a:xfrm>
                <a:off x="5533289" y="4158600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84" name="Title 83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邀请投资者的发展支持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1099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872677" y="1214657"/>
            <a:ext cx="9953710" cy="4428686"/>
            <a:chOff x="872677" y="1214657"/>
            <a:chExt cx="9953710" cy="4428686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5352691-0342-4843-8385-459CFEBC372C}"/>
                </a:ext>
              </a:extLst>
            </p:cNvPr>
            <p:cNvSpPr/>
            <p:nvPr/>
          </p:nvSpPr>
          <p:spPr>
            <a:xfrm>
              <a:off x="4532474" y="2857566"/>
              <a:ext cx="2637590" cy="2610369"/>
            </a:xfrm>
            <a:custGeom>
              <a:avLst/>
              <a:gdLst>
                <a:gd name="T0" fmla="*/ 2709 w 7873"/>
                <a:gd name="T1" fmla="*/ 1592 h 7791"/>
                <a:gd name="T2" fmla="*/ 5329 w 7873"/>
                <a:gd name="T3" fmla="*/ 1624 h 7791"/>
                <a:gd name="T4" fmla="*/ 5782 w 7873"/>
                <a:gd name="T5" fmla="*/ 969 h 7791"/>
                <a:gd name="T6" fmla="*/ 5477 w 7873"/>
                <a:gd name="T7" fmla="*/ 432 h 7791"/>
                <a:gd name="T8" fmla="*/ 4004 w 7873"/>
                <a:gd name="T9" fmla="*/ 13 h 7791"/>
                <a:gd name="T10" fmla="*/ 2709 w 7873"/>
                <a:gd name="T11" fmla="*/ 368 h 7791"/>
                <a:gd name="T12" fmla="*/ 2352 w 7873"/>
                <a:gd name="T13" fmla="*/ 840 h 7791"/>
                <a:gd name="T14" fmla="*/ 2709 w 7873"/>
                <a:gd name="T15" fmla="*/ 1592 h 7791"/>
                <a:gd name="T16" fmla="*/ 2699 w 7873"/>
                <a:gd name="T17" fmla="*/ 2258 h 7791"/>
                <a:gd name="T18" fmla="*/ 3046 w 7873"/>
                <a:gd name="T19" fmla="*/ 2376 h 7791"/>
                <a:gd name="T20" fmla="*/ 3351 w 7873"/>
                <a:gd name="T21" fmla="*/ 2537 h 7791"/>
                <a:gd name="T22" fmla="*/ 4656 w 7873"/>
                <a:gd name="T23" fmla="*/ 2570 h 7791"/>
                <a:gd name="T24" fmla="*/ 5624 w 7873"/>
                <a:gd name="T25" fmla="*/ 2076 h 7791"/>
                <a:gd name="T26" fmla="*/ 5782 w 7873"/>
                <a:gd name="T27" fmla="*/ 1335 h 7791"/>
                <a:gd name="T28" fmla="*/ 5698 w 7873"/>
                <a:gd name="T29" fmla="*/ 1592 h 7791"/>
                <a:gd name="T30" fmla="*/ 2331 w 7873"/>
                <a:gd name="T31" fmla="*/ 1335 h 7791"/>
                <a:gd name="T32" fmla="*/ 2699 w 7873"/>
                <a:gd name="T33" fmla="*/ 2258 h 7791"/>
                <a:gd name="T34" fmla="*/ 3730 w 7873"/>
                <a:gd name="T35" fmla="*/ 2903 h 7791"/>
                <a:gd name="T36" fmla="*/ 3888 w 7873"/>
                <a:gd name="T37" fmla="*/ 3300 h 7791"/>
                <a:gd name="T38" fmla="*/ 4414 w 7873"/>
                <a:gd name="T39" fmla="*/ 3128 h 7791"/>
                <a:gd name="T40" fmla="*/ 5519 w 7873"/>
                <a:gd name="T41" fmla="*/ 2849 h 7791"/>
                <a:gd name="T42" fmla="*/ 5782 w 7873"/>
                <a:gd name="T43" fmla="*/ 2011 h 7791"/>
                <a:gd name="T44" fmla="*/ 5761 w 7873"/>
                <a:gd name="T45" fmla="*/ 2140 h 7791"/>
                <a:gd name="T46" fmla="*/ 3730 w 7873"/>
                <a:gd name="T47" fmla="*/ 2903 h 7791"/>
                <a:gd name="T48" fmla="*/ 3330 w 7873"/>
                <a:gd name="T49" fmla="*/ 2967 h 7791"/>
                <a:gd name="T50" fmla="*/ 1752 w 7873"/>
                <a:gd name="T51" fmla="*/ 2494 h 7791"/>
                <a:gd name="T52" fmla="*/ 742 w 7873"/>
                <a:gd name="T53" fmla="*/ 2709 h 7791"/>
                <a:gd name="T54" fmla="*/ 152 w 7873"/>
                <a:gd name="T55" fmla="*/ 3644 h 7791"/>
                <a:gd name="T56" fmla="*/ 1815 w 7873"/>
                <a:gd name="T57" fmla="*/ 4428 h 7791"/>
                <a:gd name="T58" fmla="*/ 3530 w 7873"/>
                <a:gd name="T59" fmla="*/ 3687 h 7791"/>
                <a:gd name="T60" fmla="*/ 3330 w 7873"/>
                <a:gd name="T61" fmla="*/ 2967 h 7791"/>
                <a:gd name="T62" fmla="*/ 3236 w 7873"/>
                <a:gd name="T63" fmla="*/ 4267 h 7791"/>
                <a:gd name="T64" fmla="*/ 100 w 7873"/>
                <a:gd name="T65" fmla="*/ 3837 h 7791"/>
                <a:gd name="T66" fmla="*/ 289 w 7873"/>
                <a:gd name="T67" fmla="*/ 4567 h 7791"/>
                <a:gd name="T68" fmla="*/ 3036 w 7873"/>
                <a:gd name="T69" fmla="*/ 4825 h 7791"/>
                <a:gd name="T70" fmla="*/ 3288 w 7873"/>
                <a:gd name="T71" fmla="*/ 4234 h 7791"/>
                <a:gd name="T72" fmla="*/ 3236 w 7873"/>
                <a:gd name="T73" fmla="*/ 4267 h 7791"/>
                <a:gd name="T74" fmla="*/ 7676 w 7873"/>
                <a:gd name="T75" fmla="*/ 4686 h 7791"/>
                <a:gd name="T76" fmla="*/ 5708 w 7873"/>
                <a:gd name="T77" fmla="*/ 3407 h 7791"/>
                <a:gd name="T78" fmla="*/ 4193 w 7873"/>
                <a:gd name="T79" fmla="*/ 4063 h 7791"/>
                <a:gd name="T80" fmla="*/ 3572 w 7873"/>
                <a:gd name="T81" fmla="*/ 5620 h 7791"/>
                <a:gd name="T82" fmla="*/ 4214 w 7873"/>
                <a:gd name="T83" fmla="*/ 7145 h 7791"/>
                <a:gd name="T84" fmla="*/ 5740 w 7873"/>
                <a:gd name="T85" fmla="*/ 7779 h 7791"/>
                <a:gd name="T86" fmla="*/ 7245 w 7873"/>
                <a:gd name="T87" fmla="*/ 7134 h 7791"/>
                <a:gd name="T88" fmla="*/ 7866 w 7873"/>
                <a:gd name="T89" fmla="*/ 5577 h 7791"/>
                <a:gd name="T90" fmla="*/ 7676 w 7873"/>
                <a:gd name="T91" fmla="*/ 4686 h 7791"/>
                <a:gd name="T92" fmla="*/ 5719 w 7873"/>
                <a:gd name="T93" fmla="*/ 6286 h 7791"/>
                <a:gd name="T94" fmla="*/ 4267 w 7873"/>
                <a:gd name="T95" fmla="*/ 5953 h 7791"/>
                <a:gd name="T96" fmla="*/ 4330 w 7873"/>
                <a:gd name="T97" fmla="*/ 5556 h 7791"/>
                <a:gd name="T98" fmla="*/ 5603 w 7873"/>
                <a:gd name="T99" fmla="*/ 5867 h 7791"/>
                <a:gd name="T100" fmla="*/ 6908 w 7873"/>
                <a:gd name="T101" fmla="*/ 3977 h 7791"/>
                <a:gd name="T102" fmla="*/ 7255 w 7873"/>
                <a:gd name="T103" fmla="*/ 4535 h 7791"/>
                <a:gd name="T104" fmla="*/ 5719 w 7873"/>
                <a:gd name="T105" fmla="*/ 6286 h 7791"/>
                <a:gd name="T106" fmla="*/ 121 w 7873"/>
                <a:gd name="T107" fmla="*/ 4492 h 7791"/>
                <a:gd name="T108" fmla="*/ 152 w 7873"/>
                <a:gd name="T109" fmla="*/ 5008 h 7791"/>
                <a:gd name="T110" fmla="*/ 1310 w 7873"/>
                <a:gd name="T111" fmla="*/ 5738 h 7791"/>
                <a:gd name="T112" fmla="*/ 2930 w 7873"/>
                <a:gd name="T113" fmla="*/ 5566 h 7791"/>
                <a:gd name="T114" fmla="*/ 2962 w 7873"/>
                <a:gd name="T115" fmla="*/ 5169 h 7791"/>
                <a:gd name="T116" fmla="*/ 121 w 7873"/>
                <a:gd name="T117" fmla="*/ 4492 h 7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73" h="7791">
                  <a:moveTo>
                    <a:pt x="2709" y="1592"/>
                  </a:moveTo>
                  <a:cubicBezTo>
                    <a:pt x="3377" y="2060"/>
                    <a:pt x="4681" y="2036"/>
                    <a:pt x="5329" y="1624"/>
                  </a:cubicBezTo>
                  <a:cubicBezTo>
                    <a:pt x="5545" y="1487"/>
                    <a:pt x="5785" y="1286"/>
                    <a:pt x="5782" y="969"/>
                  </a:cubicBezTo>
                  <a:cubicBezTo>
                    <a:pt x="5780" y="712"/>
                    <a:pt x="5610" y="541"/>
                    <a:pt x="5477" y="432"/>
                  </a:cubicBezTo>
                  <a:cubicBezTo>
                    <a:pt x="5134" y="153"/>
                    <a:pt x="4575" y="0"/>
                    <a:pt x="4004" y="13"/>
                  </a:cubicBezTo>
                  <a:cubicBezTo>
                    <a:pt x="3452" y="27"/>
                    <a:pt x="3028" y="142"/>
                    <a:pt x="2709" y="368"/>
                  </a:cubicBezTo>
                  <a:cubicBezTo>
                    <a:pt x="2579" y="460"/>
                    <a:pt x="2397" y="651"/>
                    <a:pt x="2352" y="840"/>
                  </a:cubicBezTo>
                  <a:cubicBezTo>
                    <a:pt x="2268" y="1188"/>
                    <a:pt x="2508" y="1452"/>
                    <a:pt x="2709" y="1592"/>
                  </a:cubicBezTo>
                  <a:close/>
                  <a:moveTo>
                    <a:pt x="2699" y="2258"/>
                  </a:moveTo>
                  <a:cubicBezTo>
                    <a:pt x="2797" y="2310"/>
                    <a:pt x="2931" y="2327"/>
                    <a:pt x="3046" y="2376"/>
                  </a:cubicBezTo>
                  <a:cubicBezTo>
                    <a:pt x="3149" y="2421"/>
                    <a:pt x="3244" y="2499"/>
                    <a:pt x="3351" y="2537"/>
                  </a:cubicBezTo>
                  <a:cubicBezTo>
                    <a:pt x="3702" y="2664"/>
                    <a:pt x="4247" y="2653"/>
                    <a:pt x="4656" y="2570"/>
                  </a:cubicBezTo>
                  <a:cubicBezTo>
                    <a:pt x="5060" y="2487"/>
                    <a:pt x="5429" y="2312"/>
                    <a:pt x="5624" y="2076"/>
                  </a:cubicBezTo>
                  <a:cubicBezTo>
                    <a:pt x="5764" y="1906"/>
                    <a:pt x="5830" y="1635"/>
                    <a:pt x="5782" y="1335"/>
                  </a:cubicBezTo>
                  <a:cubicBezTo>
                    <a:pt x="5772" y="1424"/>
                    <a:pt x="5742" y="1519"/>
                    <a:pt x="5698" y="1592"/>
                  </a:cubicBezTo>
                  <a:cubicBezTo>
                    <a:pt x="5156" y="2500"/>
                    <a:pt x="2595" y="2483"/>
                    <a:pt x="2331" y="1335"/>
                  </a:cubicBezTo>
                  <a:cubicBezTo>
                    <a:pt x="2289" y="1782"/>
                    <a:pt x="2428" y="2114"/>
                    <a:pt x="2699" y="2258"/>
                  </a:cubicBezTo>
                  <a:close/>
                  <a:moveTo>
                    <a:pt x="3730" y="2903"/>
                  </a:moveTo>
                  <a:cubicBezTo>
                    <a:pt x="3794" y="3024"/>
                    <a:pt x="3869" y="3133"/>
                    <a:pt x="3888" y="3300"/>
                  </a:cubicBezTo>
                  <a:cubicBezTo>
                    <a:pt x="4160" y="3343"/>
                    <a:pt x="4254" y="3211"/>
                    <a:pt x="4414" y="3128"/>
                  </a:cubicBezTo>
                  <a:cubicBezTo>
                    <a:pt x="4739" y="2959"/>
                    <a:pt x="5059" y="2880"/>
                    <a:pt x="5519" y="2849"/>
                  </a:cubicBezTo>
                  <a:cubicBezTo>
                    <a:pt x="5727" y="2700"/>
                    <a:pt x="5840" y="2396"/>
                    <a:pt x="5782" y="2011"/>
                  </a:cubicBezTo>
                  <a:cubicBezTo>
                    <a:pt x="5775" y="2060"/>
                    <a:pt x="5774" y="2105"/>
                    <a:pt x="5761" y="2140"/>
                  </a:cubicBezTo>
                  <a:cubicBezTo>
                    <a:pt x="5540" y="2743"/>
                    <a:pt x="4538" y="2972"/>
                    <a:pt x="3730" y="2903"/>
                  </a:cubicBezTo>
                  <a:close/>
                  <a:moveTo>
                    <a:pt x="3330" y="2967"/>
                  </a:moveTo>
                  <a:cubicBezTo>
                    <a:pt x="2977" y="2629"/>
                    <a:pt x="2385" y="2464"/>
                    <a:pt x="1752" y="2494"/>
                  </a:cubicBezTo>
                  <a:cubicBezTo>
                    <a:pt x="1329" y="2515"/>
                    <a:pt x="1030" y="2573"/>
                    <a:pt x="742" y="2709"/>
                  </a:cubicBezTo>
                  <a:cubicBezTo>
                    <a:pt x="435" y="2855"/>
                    <a:pt x="0" y="3158"/>
                    <a:pt x="152" y="3644"/>
                  </a:cubicBezTo>
                  <a:cubicBezTo>
                    <a:pt x="317" y="4167"/>
                    <a:pt x="1145" y="4424"/>
                    <a:pt x="1815" y="4428"/>
                  </a:cubicBezTo>
                  <a:cubicBezTo>
                    <a:pt x="2518" y="4432"/>
                    <a:pt x="3327" y="4194"/>
                    <a:pt x="3530" y="3687"/>
                  </a:cubicBezTo>
                  <a:cubicBezTo>
                    <a:pt x="3654" y="3377"/>
                    <a:pt x="3498" y="3127"/>
                    <a:pt x="3330" y="2967"/>
                  </a:cubicBezTo>
                  <a:close/>
                  <a:moveTo>
                    <a:pt x="3236" y="4267"/>
                  </a:moveTo>
                  <a:cubicBezTo>
                    <a:pt x="2479" y="4956"/>
                    <a:pt x="393" y="4883"/>
                    <a:pt x="100" y="3837"/>
                  </a:cubicBezTo>
                  <a:cubicBezTo>
                    <a:pt x="89" y="4158"/>
                    <a:pt x="149" y="4405"/>
                    <a:pt x="289" y="4567"/>
                  </a:cubicBezTo>
                  <a:cubicBezTo>
                    <a:pt x="809" y="5172"/>
                    <a:pt x="2306" y="5269"/>
                    <a:pt x="3036" y="4825"/>
                  </a:cubicBezTo>
                  <a:cubicBezTo>
                    <a:pt x="3102" y="4610"/>
                    <a:pt x="3176" y="4403"/>
                    <a:pt x="3288" y="4234"/>
                  </a:cubicBezTo>
                  <a:cubicBezTo>
                    <a:pt x="3260" y="4206"/>
                    <a:pt x="3247" y="4256"/>
                    <a:pt x="3236" y="4267"/>
                  </a:cubicBezTo>
                  <a:close/>
                  <a:moveTo>
                    <a:pt x="7676" y="4686"/>
                  </a:moveTo>
                  <a:cubicBezTo>
                    <a:pt x="7360" y="3976"/>
                    <a:pt x="6678" y="3405"/>
                    <a:pt x="5708" y="3407"/>
                  </a:cubicBezTo>
                  <a:cubicBezTo>
                    <a:pt x="5002" y="3409"/>
                    <a:pt x="4538" y="3710"/>
                    <a:pt x="4193" y="4063"/>
                  </a:cubicBezTo>
                  <a:cubicBezTo>
                    <a:pt x="3851" y="4412"/>
                    <a:pt x="3559" y="4942"/>
                    <a:pt x="3572" y="5620"/>
                  </a:cubicBezTo>
                  <a:cubicBezTo>
                    <a:pt x="3585" y="6291"/>
                    <a:pt x="3852" y="6780"/>
                    <a:pt x="4214" y="7145"/>
                  </a:cubicBezTo>
                  <a:cubicBezTo>
                    <a:pt x="4572" y="7506"/>
                    <a:pt x="5098" y="7791"/>
                    <a:pt x="5740" y="7779"/>
                  </a:cubicBezTo>
                  <a:cubicBezTo>
                    <a:pt x="6380" y="7767"/>
                    <a:pt x="6891" y="7500"/>
                    <a:pt x="7245" y="7134"/>
                  </a:cubicBezTo>
                  <a:cubicBezTo>
                    <a:pt x="7592" y="6776"/>
                    <a:pt x="7873" y="6254"/>
                    <a:pt x="7866" y="5577"/>
                  </a:cubicBezTo>
                  <a:cubicBezTo>
                    <a:pt x="7862" y="5260"/>
                    <a:pt x="7791" y="4942"/>
                    <a:pt x="7676" y="4686"/>
                  </a:cubicBezTo>
                  <a:close/>
                  <a:moveTo>
                    <a:pt x="5719" y="6286"/>
                  </a:moveTo>
                  <a:cubicBezTo>
                    <a:pt x="5246" y="6164"/>
                    <a:pt x="4746" y="6069"/>
                    <a:pt x="4267" y="5953"/>
                  </a:cubicBezTo>
                  <a:cubicBezTo>
                    <a:pt x="4280" y="5812"/>
                    <a:pt x="4304" y="5683"/>
                    <a:pt x="4330" y="5556"/>
                  </a:cubicBezTo>
                  <a:cubicBezTo>
                    <a:pt x="4751" y="5663"/>
                    <a:pt x="5186" y="5756"/>
                    <a:pt x="5603" y="5867"/>
                  </a:cubicBezTo>
                  <a:cubicBezTo>
                    <a:pt x="6042" y="5241"/>
                    <a:pt x="6475" y="4609"/>
                    <a:pt x="6908" y="3977"/>
                  </a:cubicBezTo>
                  <a:cubicBezTo>
                    <a:pt x="7035" y="4151"/>
                    <a:pt x="7136" y="4353"/>
                    <a:pt x="7255" y="4535"/>
                  </a:cubicBezTo>
                  <a:cubicBezTo>
                    <a:pt x="6754" y="5129"/>
                    <a:pt x="6248" y="5720"/>
                    <a:pt x="5719" y="6286"/>
                  </a:cubicBezTo>
                  <a:close/>
                  <a:moveTo>
                    <a:pt x="121" y="4492"/>
                  </a:moveTo>
                  <a:cubicBezTo>
                    <a:pt x="128" y="4663"/>
                    <a:pt x="104" y="4863"/>
                    <a:pt x="152" y="5008"/>
                  </a:cubicBezTo>
                  <a:cubicBezTo>
                    <a:pt x="286" y="5405"/>
                    <a:pt x="816" y="5648"/>
                    <a:pt x="1310" y="5738"/>
                  </a:cubicBezTo>
                  <a:cubicBezTo>
                    <a:pt x="1869" y="5840"/>
                    <a:pt x="2512" y="5761"/>
                    <a:pt x="2930" y="5566"/>
                  </a:cubicBezTo>
                  <a:cubicBezTo>
                    <a:pt x="2928" y="5421"/>
                    <a:pt x="2946" y="5296"/>
                    <a:pt x="2962" y="5169"/>
                  </a:cubicBezTo>
                  <a:cubicBezTo>
                    <a:pt x="2038" y="5580"/>
                    <a:pt x="359" y="5455"/>
                    <a:pt x="121" y="4492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60000">
                  <a:schemeClr val="accent6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sz="2000" b="1">
                <a:solidFill>
                  <a:schemeClr val="tx1"/>
                </a:solidFill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87C9B51-8F04-4A42-B130-C8B67FB7316E}"/>
                </a:ext>
              </a:extLst>
            </p:cNvPr>
            <p:cNvGrpSpPr/>
            <p:nvPr/>
          </p:nvGrpSpPr>
          <p:grpSpPr>
            <a:xfrm>
              <a:off x="7983855" y="2635454"/>
              <a:ext cx="2842532" cy="664156"/>
              <a:chOff x="844173" y="2422024"/>
              <a:chExt cx="2842532" cy="664156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2E90DF63-C17D-4FD5-B071-77B750692600}"/>
                  </a:ext>
                </a:extLst>
              </p:cNvPr>
              <p:cNvGrpSpPr/>
              <p:nvPr/>
            </p:nvGrpSpPr>
            <p:grpSpPr>
              <a:xfrm>
                <a:off x="1428758" y="2422024"/>
                <a:ext cx="2257947" cy="664156"/>
                <a:chOff x="6873246" y="3437950"/>
                <a:chExt cx="2257947" cy="619507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AC862A7F-9D62-4C4A-9E17-D5437ABCAAAA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增加研发资金，推动产品创新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F34E84D-9AA1-4329-9C03-771A791C2F5A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加强研发投入</a:t>
                  </a: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C4DB4FC5-ECF7-4F1F-9168-8217E8EB9C39}"/>
                  </a:ext>
                </a:extLst>
              </p:cNvPr>
              <p:cNvGrpSpPr/>
              <p:nvPr/>
            </p:nvGrpSpPr>
            <p:grpSpPr>
              <a:xfrm>
                <a:off x="844173" y="2422026"/>
                <a:ext cx="444222" cy="444220"/>
                <a:chOff x="4678401" y="2094096"/>
                <a:chExt cx="444222" cy="444220"/>
              </a:xfrm>
            </p:grpSpPr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E7D6CA7C-1C24-4DAE-A6DF-90298D74A346}"/>
                    </a:ext>
                  </a:extLst>
                </p:cNvPr>
                <p:cNvSpPr/>
                <p:nvPr/>
              </p:nvSpPr>
              <p:spPr>
                <a:xfrm>
                  <a:off x="4678401" y="209409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A09DC49-62EE-42AA-8C4A-D1F60B2D38BC}"/>
                    </a:ext>
                  </a:extLst>
                </p:cNvPr>
                <p:cNvSpPr/>
                <p:nvPr/>
              </p:nvSpPr>
              <p:spPr bwMode="auto">
                <a:xfrm>
                  <a:off x="4788717" y="2220630"/>
                  <a:ext cx="205561" cy="171132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F14385B-7F31-4825-A1C5-22683D8D86A9}"/>
                </a:ext>
              </a:extLst>
            </p:cNvPr>
            <p:cNvGrpSpPr/>
            <p:nvPr/>
          </p:nvGrpSpPr>
          <p:grpSpPr>
            <a:xfrm>
              <a:off x="7983855" y="4748546"/>
              <a:ext cx="2842532" cy="894797"/>
              <a:chOff x="844173" y="3314603"/>
              <a:chExt cx="2842532" cy="894797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7482971-9AC2-4C39-B606-2C75FB22DE2A}"/>
                  </a:ext>
                </a:extLst>
              </p:cNvPr>
              <p:cNvGrpSpPr/>
              <p:nvPr/>
            </p:nvGrpSpPr>
            <p:grpSpPr>
              <a:xfrm>
                <a:off x="844173" y="3314606"/>
                <a:ext cx="444222" cy="444220"/>
                <a:chOff x="5472389" y="2095128"/>
                <a:chExt cx="444222" cy="444220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83C63264-9BCE-42E7-974E-CE397D4CCF0B}"/>
                    </a:ext>
                  </a:extLst>
                </p:cNvPr>
                <p:cNvSpPr/>
                <p:nvPr/>
              </p:nvSpPr>
              <p:spPr>
                <a:xfrm>
                  <a:off x="5472389" y="2095128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4066941F-69BB-449B-A44C-1E6FB237460E}"/>
                    </a:ext>
                  </a:extLst>
                </p:cNvPr>
                <p:cNvSpPr/>
                <p:nvPr/>
              </p:nvSpPr>
              <p:spPr bwMode="auto">
                <a:xfrm>
                  <a:off x="5591720" y="2223635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C454FB0-33CC-40F8-9FA0-9120F62E3DE5}"/>
                  </a:ext>
                </a:extLst>
              </p:cNvPr>
              <p:cNvGrpSpPr/>
              <p:nvPr/>
            </p:nvGrpSpPr>
            <p:grpSpPr>
              <a:xfrm>
                <a:off x="1428758" y="3314603"/>
                <a:ext cx="2257947" cy="894797"/>
                <a:chOff x="6873246" y="3437950"/>
                <a:chExt cx="2257947" cy="834643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BC07D31C-5E9C-4F40-9B9A-F55DEDAC9F04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490140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建立战略合作伙伴关系，共同发展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1475437-4D23-4C6C-A397-2F102DF05105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加强合作伙伴关系</a:t>
                  </a:r>
                </a:p>
              </p:txBody>
            </p:sp>
          </p:grp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D969229-E916-4224-B360-8F14B0E8864C}"/>
                </a:ext>
              </a:extLst>
            </p:cNvPr>
            <p:cNvGrpSpPr/>
            <p:nvPr/>
          </p:nvGrpSpPr>
          <p:grpSpPr>
            <a:xfrm>
              <a:off x="872677" y="2635453"/>
              <a:ext cx="2603486" cy="894797"/>
              <a:chOff x="2682676" y="4413418"/>
              <a:chExt cx="2603486" cy="894797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9A720012-207D-4CA0-8EE7-5ECFF8B448AE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E47D3709-A986-4A45-9A96-C6B64928BCD9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442A5976-B13F-4316-8CCA-EE81E1C5128A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B79BF63C-89E7-4B5E-B67B-314792116533}"/>
                  </a:ext>
                </a:extLst>
              </p:cNvPr>
              <p:cNvGrpSpPr/>
              <p:nvPr/>
            </p:nvGrpSpPr>
            <p:grpSpPr>
              <a:xfrm>
                <a:off x="2682676" y="4413418"/>
                <a:ext cx="1954395" cy="894797"/>
                <a:chOff x="8127164" y="3437950"/>
                <a:chExt cx="1954395" cy="834643"/>
              </a:xfrm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A87EF02B-E7E3-494D-96A5-0E5A005BFE38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490140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加强海外业务，开拓新市场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2C714B7B-C146-47F9-980B-726B5F59A9A5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拓展国际市场</a:t>
                  </a:r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39AD136-7A0D-4743-B342-59CF1E0F0DD4}"/>
                </a:ext>
              </a:extLst>
            </p:cNvPr>
            <p:cNvGrpSpPr/>
            <p:nvPr/>
          </p:nvGrpSpPr>
          <p:grpSpPr>
            <a:xfrm>
              <a:off x="872677" y="4748546"/>
              <a:ext cx="2603486" cy="894797"/>
              <a:chOff x="2682676" y="4413418"/>
              <a:chExt cx="2603486" cy="89479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FEEC033-FCFD-47F1-8A3C-D7981AFF93BC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C5CA1753-9570-44C7-A555-3FFA91906EC0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EA964A3-9D3D-40D5-8DE6-D14361CC0862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5CC1AC33-F393-42CF-8A29-218A5F69EDD8}"/>
                  </a:ext>
                </a:extLst>
              </p:cNvPr>
              <p:cNvGrpSpPr/>
              <p:nvPr/>
            </p:nvGrpSpPr>
            <p:grpSpPr>
              <a:xfrm>
                <a:off x="2682676" y="4413418"/>
                <a:ext cx="1954395" cy="894797"/>
                <a:chOff x="8127164" y="3437950"/>
                <a:chExt cx="1954395" cy="834643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DA6D6C68-7093-40A7-8F0A-2D293FE7B955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490140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优化产品和服务，满足客户需求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E40625E-63C1-4145-B9E5-7751F2168C0A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提升客户体验</a:t>
                  </a:r>
                </a:p>
              </p:txBody>
            </p:sp>
          </p:grp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126A96-0121-41B2-8BEF-B77D8A943651}"/>
                </a:ext>
              </a:extLst>
            </p:cNvPr>
            <p:cNvSpPr/>
            <p:nvPr/>
          </p:nvSpPr>
          <p:spPr>
            <a:xfrm>
              <a:off x="1465943" y="1214657"/>
              <a:ext cx="9260114" cy="56651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公司中长期发展计划</a:t>
              </a:r>
            </a:p>
          </p:txBody>
        </p:sp>
      </p:grpSp>
      <p:sp>
        <p:nvSpPr>
          <p:cNvPr id="93" name="Title 9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分享公司的发展计划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8834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914785" y="1338573"/>
            <a:ext cx="10604115" cy="4792042"/>
            <a:chOff x="914785" y="1338573"/>
            <a:chExt cx="10604115" cy="479204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146D1FA-79D0-4029-870E-16CE59ED6954}"/>
                </a:ext>
              </a:extLst>
            </p:cNvPr>
            <p:cNvSpPr/>
            <p:nvPr/>
          </p:nvSpPr>
          <p:spPr>
            <a:xfrm>
              <a:off x="5543869" y="2325929"/>
              <a:ext cx="3469387" cy="3467782"/>
            </a:xfrm>
            <a:prstGeom prst="roundRect">
              <a:avLst>
                <a:gd name="adj" fmla="val 7022"/>
              </a:avLst>
            </a:prstGeom>
            <a:blipFill rotWithShape="0">
              <a:blip r:embed="rId3"/>
              <a:srcRect/>
              <a:stretch>
                <a:fillRect l="-86990" r="-8699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BFFE572-EFD1-4DF1-8482-D87A5704F231}"/>
                </a:ext>
              </a:extLst>
            </p:cNvPr>
            <p:cNvSpPr/>
            <p:nvPr/>
          </p:nvSpPr>
          <p:spPr>
            <a:xfrm>
              <a:off x="9154623" y="1653723"/>
              <a:ext cx="1946191" cy="1945290"/>
            </a:xfrm>
            <a:prstGeom prst="roundRect">
              <a:avLst>
                <a:gd name="adj" fmla="val 7022"/>
              </a:avLst>
            </a:prstGeom>
            <a:blipFill rotWithShape="0">
              <a:blip r:embed="rId4"/>
              <a:srcRect/>
              <a:stretch>
                <a:fillRect l="-37340" r="-3734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62C02E2-99DB-488D-96B9-109679F7DDD7}"/>
                </a:ext>
              </a:extLst>
            </p:cNvPr>
            <p:cNvSpPr/>
            <p:nvPr/>
          </p:nvSpPr>
          <p:spPr>
            <a:xfrm>
              <a:off x="9154623" y="3767433"/>
              <a:ext cx="2364277" cy="2363182"/>
            </a:xfrm>
            <a:prstGeom prst="roundRect">
              <a:avLst>
                <a:gd name="adj" fmla="val 7022"/>
              </a:avLst>
            </a:prstGeom>
            <a:blipFill rotWithShape="0">
              <a:blip r:embed="rId5"/>
              <a:srcRect/>
              <a:stretch>
                <a:fillRect l="-25119" r="-25119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AB09892-55BF-44C4-841D-5770201D3772}"/>
                </a:ext>
              </a:extLst>
            </p:cNvPr>
            <p:cNvGrpSpPr/>
            <p:nvPr/>
          </p:nvGrpSpPr>
          <p:grpSpPr>
            <a:xfrm>
              <a:off x="914785" y="5136408"/>
              <a:ext cx="3838543" cy="705906"/>
              <a:chOff x="788068" y="3924911"/>
              <a:chExt cx="3838543" cy="705906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A0D66B-5BCA-4556-A8CA-8F24DE36C968}"/>
                  </a:ext>
                </a:extLst>
              </p:cNvPr>
              <p:cNvSpPr txBox="1"/>
              <p:nvPr/>
            </p:nvSpPr>
            <p:spPr>
              <a:xfrm>
                <a:off x="1384430" y="4032633"/>
                <a:ext cx="32421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多元化投资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DD93D84-3817-4CCC-B4A2-9D87A9E3982E}"/>
                  </a:ext>
                </a:extLst>
              </p:cNvPr>
              <p:cNvSpPr/>
              <p:nvPr/>
            </p:nvSpPr>
            <p:spPr>
              <a:xfrm flipH="1">
                <a:off x="1384429" y="4335993"/>
                <a:ext cx="3242181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提供多样化的投资项目选择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E5470E-143C-490B-8829-40484E875B69}"/>
                  </a:ext>
                </a:extLst>
              </p:cNvPr>
              <p:cNvSpPr txBox="1"/>
              <p:nvPr/>
            </p:nvSpPr>
            <p:spPr>
              <a:xfrm>
                <a:off x="788068" y="3924911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03</a:t>
                </a:r>
                <a:endParaRPr lang="zh-CN" altLang="en-US" sz="3200" b="1" i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682E951-3FEA-4DDE-9B8F-4EFB952A1717}"/>
                </a:ext>
              </a:extLst>
            </p:cNvPr>
            <p:cNvGrpSpPr/>
            <p:nvPr/>
          </p:nvGrpSpPr>
          <p:grpSpPr>
            <a:xfrm>
              <a:off x="914785" y="3086864"/>
              <a:ext cx="3804544" cy="705906"/>
              <a:chOff x="783209" y="1377896"/>
              <a:chExt cx="3804544" cy="70590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9313C7-67A8-43B7-82FC-3EAD34B6DE8E}"/>
                  </a:ext>
                </a:extLst>
              </p:cNvPr>
              <p:cNvSpPr txBox="1"/>
              <p:nvPr/>
            </p:nvSpPr>
            <p:spPr>
              <a:xfrm>
                <a:off x="1345572" y="1485618"/>
                <a:ext cx="32421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新市场拓展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0C3298-36AB-4473-9136-6C8B7B1E7B77}"/>
                  </a:ext>
                </a:extLst>
              </p:cNvPr>
              <p:cNvSpPr/>
              <p:nvPr/>
            </p:nvSpPr>
            <p:spPr>
              <a:xfrm flipH="1">
                <a:off x="1345571" y="1788978"/>
                <a:ext cx="3242181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我们正在寻找新的商业增长点和机会。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C99F8C-C6B7-4C13-BA2F-C8E864E5542B}"/>
                  </a:ext>
                </a:extLst>
              </p:cNvPr>
              <p:cNvSpPr txBox="1"/>
              <p:nvPr/>
            </p:nvSpPr>
            <p:spPr>
              <a:xfrm>
                <a:off x="783209" y="1377896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rPr>
                  <a:t>01</a:t>
                </a:r>
                <a:endParaRPr lang="zh-CN" altLang="en-US" sz="3200" b="1" i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3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931B3B9-8623-4133-9731-7AAB6C430F76}"/>
                </a:ext>
              </a:extLst>
            </p:cNvPr>
            <p:cNvGrpSpPr/>
            <p:nvPr/>
          </p:nvGrpSpPr>
          <p:grpSpPr>
            <a:xfrm>
              <a:off x="914785" y="4109946"/>
              <a:ext cx="3804544" cy="709286"/>
              <a:chOff x="783209" y="2916036"/>
              <a:chExt cx="3804544" cy="70928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DC395D-A72E-4382-AB94-9621E59A0215}"/>
                  </a:ext>
                </a:extLst>
              </p:cNvPr>
              <p:cNvSpPr txBox="1"/>
              <p:nvPr/>
            </p:nvSpPr>
            <p:spPr>
              <a:xfrm>
                <a:off x="1345572" y="3027138"/>
                <a:ext cx="32421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技术创新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6532031-A540-4505-AFA9-5868A79F5723}"/>
                  </a:ext>
                </a:extLst>
              </p:cNvPr>
              <p:cNvSpPr/>
              <p:nvPr/>
            </p:nvSpPr>
            <p:spPr>
              <a:xfrm flipH="1">
                <a:off x="1345571" y="3330498"/>
                <a:ext cx="3242181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不断研发新产品，提升竞争力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72C2F6-2A7B-4355-B178-56DB35BEC5CC}"/>
                  </a:ext>
                </a:extLst>
              </p:cNvPr>
              <p:cNvSpPr txBox="1"/>
              <p:nvPr/>
            </p:nvSpPr>
            <p:spPr>
              <a:xfrm>
                <a:off x="783209" y="2916036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4">
                            <a:lumMod val="60000"/>
                            <a:lumOff val="40000"/>
                          </a:schemeClr>
                        </a:gs>
                        <a:gs pos="60000">
                          <a:schemeClr val="accent4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4">
                          <a:alpha val="20000"/>
                        </a:schemeClr>
                      </a:outerShdw>
                    </a:effectLst>
                  </a:rPr>
                  <a:t>02</a:t>
                </a:r>
                <a:endParaRPr lang="zh-CN" altLang="en-US" sz="3200" b="1" i="1" dirty="0"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60000">
                        <a:schemeClr val="accent4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4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9C0B03-52F2-495A-84F1-FD5D17ADCCAD}"/>
                </a:ext>
              </a:extLst>
            </p:cNvPr>
            <p:cNvSpPr txBox="1"/>
            <p:nvPr/>
          </p:nvSpPr>
          <p:spPr>
            <a:xfrm>
              <a:off x="914786" y="1338573"/>
              <a:ext cx="39765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公司发展方向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EF4CD6-B9D6-4A38-8881-FB1E12D20AFB}"/>
                </a:ext>
              </a:extLst>
            </p:cNvPr>
            <p:cNvSpPr/>
            <p:nvPr/>
          </p:nvSpPr>
          <p:spPr>
            <a:xfrm flipH="1">
              <a:off x="914785" y="1891704"/>
              <a:ext cx="3976529" cy="523220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lang="zh-CN" altLang="en-US" sz="1200" dirty="0"/>
                <a:t>我们将致力于拓展新市场，加强技术创新，并提供更多投资机会。</a:t>
              </a:r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介绍公司的投资机会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7156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05.公司治理和风险管理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强调公司治理和风险管理的重要性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0833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872198" y="1300580"/>
            <a:ext cx="10470454" cy="3480441"/>
            <a:chOff x="872198" y="1300580"/>
            <a:chExt cx="10470454" cy="348044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2A07337-CB03-4A52-B5C9-1A70C46D00E5}"/>
                </a:ext>
              </a:extLst>
            </p:cNvPr>
            <p:cNvSpPr/>
            <p:nvPr/>
          </p:nvSpPr>
          <p:spPr>
            <a:xfrm>
              <a:off x="1055078" y="1300580"/>
              <a:ext cx="5245914" cy="461665"/>
            </a:xfrm>
            <a:prstGeom prst="rect">
              <a:avLst/>
            </a:prstGeom>
            <a:ln>
              <a:noFill/>
            </a:ln>
          </p:spPr>
          <p:txBody>
            <a:bodyPr wrap="square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强化公司治理体系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4B23D20-A31C-4A46-8FE1-4C04E10C94EA}"/>
                </a:ext>
              </a:extLst>
            </p:cNvPr>
            <p:cNvGrpSpPr/>
            <p:nvPr/>
          </p:nvGrpSpPr>
          <p:grpSpPr>
            <a:xfrm>
              <a:off x="872198" y="3078140"/>
              <a:ext cx="3348110" cy="1702881"/>
              <a:chOff x="872198" y="3078140"/>
              <a:chExt cx="3348110" cy="1702881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A9E02CF-2F66-49A9-BE12-7441FBAD6AA4}"/>
                  </a:ext>
                </a:extLst>
              </p:cNvPr>
              <p:cNvSpPr/>
              <p:nvPr/>
            </p:nvSpPr>
            <p:spPr>
              <a:xfrm>
                <a:off x="872198" y="3261710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3609568-9E32-49DE-8CCC-4230BC154107}"/>
                  </a:ext>
                </a:extLst>
              </p:cNvPr>
              <p:cNvGrpSpPr/>
              <p:nvPr/>
            </p:nvGrpSpPr>
            <p:grpSpPr>
              <a:xfrm>
                <a:off x="1439335" y="3078140"/>
                <a:ext cx="468104" cy="468102"/>
                <a:chOff x="3526795" y="2235779"/>
                <a:chExt cx="410200" cy="410198"/>
              </a:xfrm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A1E3CB0-50FA-4FAA-8B30-038A01B529B6}"/>
                    </a:ext>
                  </a:extLst>
                </p:cNvPr>
                <p:cNvSpPr/>
                <p:nvPr/>
              </p:nvSpPr>
              <p:spPr>
                <a:xfrm>
                  <a:off x="3526795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D6DD3A0A-ADCB-4378-9E09-4668A50BDEAC}"/>
                    </a:ext>
                  </a:extLst>
                </p:cNvPr>
                <p:cNvSpPr/>
                <p:nvPr/>
              </p:nvSpPr>
              <p:spPr>
                <a:xfrm>
                  <a:off x="3642895" y="2374128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8C0CA768-4D7B-40A0-97B6-861E88134FFA}"/>
                  </a:ext>
                </a:extLst>
              </p:cNvPr>
              <p:cNvGrpSpPr/>
              <p:nvPr/>
            </p:nvGrpSpPr>
            <p:grpSpPr>
              <a:xfrm>
                <a:off x="2011661" y="3514095"/>
                <a:ext cx="1817487" cy="822633"/>
                <a:chOff x="1713496" y="2587855"/>
                <a:chExt cx="1817487" cy="822633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0F3FDE-C54A-471E-9D59-4F6397924E63}"/>
                    </a:ext>
                  </a:extLst>
                </p:cNvPr>
                <p:cNvSpPr txBox="1"/>
                <p:nvPr/>
              </p:nvSpPr>
              <p:spPr>
                <a:xfrm>
                  <a:off x="1713496" y="2587855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规范决策流程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B0D4ADC-DEA5-4B53-9746-40497E49C6EF}"/>
                    </a:ext>
                  </a:extLst>
                </p:cNvPr>
                <p:cNvSpPr txBox="1"/>
                <p:nvPr/>
              </p:nvSpPr>
              <p:spPr>
                <a:xfrm>
                  <a:off x="1713497" y="2894065"/>
                  <a:ext cx="1817486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确保决策科学合理，减少风险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8DF4BE7-EF51-4B44-9ED9-D203A887DF11}"/>
                </a:ext>
              </a:extLst>
            </p:cNvPr>
            <p:cNvGrpSpPr/>
            <p:nvPr/>
          </p:nvGrpSpPr>
          <p:grpSpPr>
            <a:xfrm>
              <a:off x="4433370" y="3078140"/>
              <a:ext cx="3348110" cy="1702881"/>
              <a:chOff x="4433370" y="3078140"/>
              <a:chExt cx="3348110" cy="1702881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3D49132-3E82-4D9F-B2C1-B62687D5F540}"/>
                  </a:ext>
                </a:extLst>
              </p:cNvPr>
              <p:cNvSpPr/>
              <p:nvPr/>
            </p:nvSpPr>
            <p:spPr>
              <a:xfrm>
                <a:off x="4433370" y="3261710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9541747-86E2-4E61-91EC-2DBB70FCEA37}"/>
                  </a:ext>
                </a:extLst>
              </p:cNvPr>
              <p:cNvGrpSpPr/>
              <p:nvPr/>
            </p:nvGrpSpPr>
            <p:grpSpPr>
              <a:xfrm>
                <a:off x="5025305" y="3078140"/>
                <a:ext cx="468104" cy="468102"/>
                <a:chOff x="4471992" y="2235779"/>
                <a:chExt cx="410200" cy="410198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66FBF85-AC11-433B-9923-B72F880B5B08}"/>
                    </a:ext>
                  </a:extLst>
                </p:cNvPr>
                <p:cNvSpPr/>
                <p:nvPr/>
              </p:nvSpPr>
              <p:spPr>
                <a:xfrm>
                  <a:off x="4471992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33FBB0CC-B1FE-443B-92B0-446D487D7493}"/>
                    </a:ext>
                  </a:extLst>
                </p:cNvPr>
                <p:cNvSpPr/>
                <p:nvPr/>
              </p:nvSpPr>
              <p:spPr>
                <a:xfrm>
                  <a:off x="4595899" y="2358227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23505648-5FE0-4CC1-9353-09AD4A93C12A}"/>
                  </a:ext>
                </a:extLst>
              </p:cNvPr>
              <p:cNvGrpSpPr/>
              <p:nvPr/>
            </p:nvGrpSpPr>
            <p:grpSpPr>
              <a:xfrm>
                <a:off x="5643231" y="3514095"/>
                <a:ext cx="1817487" cy="822633"/>
                <a:chOff x="5345066" y="2650728"/>
                <a:chExt cx="1817487" cy="822633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CF440B-3ABE-493E-BC93-5B9CE138B64E}"/>
                    </a:ext>
                  </a:extLst>
                </p:cNvPr>
                <p:cNvSpPr txBox="1"/>
                <p:nvPr/>
              </p:nvSpPr>
              <p:spPr>
                <a:xfrm>
                  <a:off x="5345066" y="2650728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加强内部控制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2D99C10-5542-473B-B89C-8AE514502E01}"/>
                    </a:ext>
                  </a:extLst>
                </p:cNvPr>
                <p:cNvSpPr txBox="1"/>
                <p:nvPr/>
              </p:nvSpPr>
              <p:spPr>
                <a:xfrm>
                  <a:off x="5345067" y="2956938"/>
                  <a:ext cx="1817486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保护公司资产和利益的安全</a:t>
                  </a:r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F7059CA-DBD2-41BB-A982-7B556C241149}"/>
                </a:ext>
              </a:extLst>
            </p:cNvPr>
            <p:cNvGrpSpPr/>
            <p:nvPr/>
          </p:nvGrpSpPr>
          <p:grpSpPr>
            <a:xfrm>
              <a:off x="7994542" y="3078140"/>
              <a:ext cx="3348110" cy="1702881"/>
              <a:chOff x="7994542" y="3078140"/>
              <a:chExt cx="3348110" cy="1702881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F3CDB50F-A675-4B26-B18F-5C064D303346}"/>
                  </a:ext>
                </a:extLst>
              </p:cNvPr>
              <p:cNvSpPr/>
              <p:nvPr/>
            </p:nvSpPr>
            <p:spPr>
              <a:xfrm>
                <a:off x="7994542" y="3261710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B5BA95F-2D69-426A-B826-4D0A986F0D22}"/>
                  </a:ext>
                </a:extLst>
              </p:cNvPr>
              <p:cNvGrpSpPr/>
              <p:nvPr/>
            </p:nvGrpSpPr>
            <p:grpSpPr>
              <a:xfrm>
                <a:off x="8589230" y="3078140"/>
                <a:ext cx="468104" cy="468102"/>
                <a:chOff x="5417189" y="2235779"/>
                <a:chExt cx="410200" cy="410198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3086ECFC-1893-4E78-8095-D69006A21A33}"/>
                    </a:ext>
                  </a:extLst>
                </p:cNvPr>
                <p:cNvSpPr/>
                <p:nvPr/>
              </p:nvSpPr>
              <p:spPr>
                <a:xfrm>
                  <a:off x="5417189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EE879720-C59B-4805-8518-0B8677F86760}"/>
                    </a:ext>
                  </a:extLst>
                </p:cNvPr>
                <p:cNvSpPr/>
                <p:nvPr/>
              </p:nvSpPr>
              <p:spPr>
                <a:xfrm>
                  <a:off x="5533289" y="2369958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7802A0B-FE8E-4912-A1FB-4EE433BD3C32}"/>
                  </a:ext>
                </a:extLst>
              </p:cNvPr>
              <p:cNvGrpSpPr/>
              <p:nvPr/>
            </p:nvGrpSpPr>
            <p:grpSpPr>
              <a:xfrm>
                <a:off x="9207157" y="3514095"/>
                <a:ext cx="1817487" cy="822633"/>
                <a:chOff x="8908992" y="2650728"/>
                <a:chExt cx="1817487" cy="822633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B033F5-D5C4-4EFA-9F88-4B7C6F6413CB}"/>
                    </a:ext>
                  </a:extLst>
                </p:cNvPr>
                <p:cNvSpPr txBox="1"/>
                <p:nvPr/>
              </p:nvSpPr>
              <p:spPr>
                <a:xfrm>
                  <a:off x="8908992" y="2650728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提高信息披露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8934C73-3346-4EA1-A97F-3091F29862FD}"/>
                    </a:ext>
                  </a:extLst>
                </p:cNvPr>
                <p:cNvSpPr txBox="1"/>
                <p:nvPr/>
              </p:nvSpPr>
              <p:spPr>
                <a:xfrm>
                  <a:off x="8908993" y="2956938"/>
                  <a:ext cx="1817486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增强投资者信心和透明度</a:t>
                  </a:r>
                </a:p>
              </p:txBody>
            </p:sp>
          </p:grp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FD8A7F-165E-4F38-B766-372DB089AABB}"/>
                </a:ext>
              </a:extLst>
            </p:cNvPr>
            <p:cNvSpPr txBox="1"/>
            <p:nvPr/>
          </p:nvSpPr>
          <p:spPr>
            <a:xfrm>
              <a:off x="1055078" y="1810575"/>
              <a:ext cx="5245914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</a:rPr>
                <a:t>建立完善的公司治理体系，提升公司运营效率和透明度。</a:t>
              </a:r>
            </a:p>
          </p:txBody>
        </p:sp>
      </p:grpSp>
      <p:sp>
        <p:nvSpPr>
          <p:cNvPr id="51" name="Title 5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公司治理的重要性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4458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529291"/>
            <a:ext cx="11359243" cy="4009411"/>
            <a:chOff x="0" y="1529291"/>
            <a:chExt cx="11359243" cy="400941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A6563E5-9150-43FC-9A44-557F6EB5051F}"/>
                </a:ext>
              </a:extLst>
            </p:cNvPr>
            <p:cNvSpPr/>
            <p:nvPr/>
          </p:nvSpPr>
          <p:spPr>
            <a:xfrm>
              <a:off x="0" y="1529291"/>
              <a:ext cx="3164114" cy="4009411"/>
            </a:xfrm>
            <a:custGeom>
              <a:avLst/>
              <a:gdLst>
                <a:gd name="connsiteX0" fmla="*/ 1220133 w 3329836"/>
                <a:gd name="connsiteY0" fmla="*/ 0 h 4219406"/>
                <a:gd name="connsiteX1" fmla="*/ 3329836 w 3329836"/>
                <a:gd name="connsiteY1" fmla="*/ 2109703 h 4219406"/>
                <a:gd name="connsiteX2" fmla="*/ 1220133 w 3329836"/>
                <a:gd name="connsiteY2" fmla="*/ 4219406 h 4219406"/>
                <a:gd name="connsiteX3" fmla="*/ 40578 w 3329836"/>
                <a:gd name="connsiteY3" fmla="*/ 3859102 h 4219406"/>
                <a:gd name="connsiteX4" fmla="*/ 0 w 3329836"/>
                <a:gd name="connsiteY4" fmla="*/ 3828759 h 4219406"/>
                <a:gd name="connsiteX5" fmla="*/ 0 w 3329836"/>
                <a:gd name="connsiteY5" fmla="*/ 390648 h 4219406"/>
                <a:gd name="connsiteX6" fmla="*/ 40578 w 3329836"/>
                <a:gd name="connsiteY6" fmla="*/ 360304 h 4219406"/>
                <a:gd name="connsiteX7" fmla="*/ 1220133 w 3329836"/>
                <a:gd name="connsiteY7" fmla="*/ 0 h 4219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9836" h="4219406">
                  <a:moveTo>
                    <a:pt x="1220133" y="0"/>
                  </a:moveTo>
                  <a:cubicBezTo>
                    <a:pt x="2385290" y="0"/>
                    <a:pt x="3329836" y="944546"/>
                    <a:pt x="3329836" y="2109703"/>
                  </a:cubicBezTo>
                  <a:cubicBezTo>
                    <a:pt x="3329836" y="3274860"/>
                    <a:pt x="2385290" y="4219406"/>
                    <a:pt x="1220133" y="4219406"/>
                  </a:cubicBezTo>
                  <a:cubicBezTo>
                    <a:pt x="783199" y="4219406"/>
                    <a:pt x="377289" y="4086579"/>
                    <a:pt x="40578" y="3859102"/>
                  </a:cubicBezTo>
                  <a:lnTo>
                    <a:pt x="0" y="3828759"/>
                  </a:lnTo>
                  <a:lnTo>
                    <a:pt x="0" y="390648"/>
                  </a:lnTo>
                  <a:lnTo>
                    <a:pt x="40578" y="360304"/>
                  </a:lnTo>
                  <a:cubicBezTo>
                    <a:pt x="377289" y="132827"/>
                    <a:pt x="783199" y="0"/>
                    <a:pt x="1220133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>
                <a:fillRect l="-44940" r="-4494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A6B230B-1133-4305-AE0A-5C79A1CF619D}"/>
                </a:ext>
              </a:extLst>
            </p:cNvPr>
            <p:cNvGrpSpPr/>
            <p:nvPr/>
          </p:nvGrpSpPr>
          <p:grpSpPr>
            <a:xfrm>
              <a:off x="3879191" y="1788831"/>
              <a:ext cx="7480052" cy="3519985"/>
              <a:chOff x="4038848" y="1788831"/>
              <a:chExt cx="7480052" cy="3519985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F989B83-7276-48DC-847E-7167FC065BB4}"/>
                  </a:ext>
                </a:extLst>
              </p:cNvPr>
              <p:cNvSpPr/>
              <p:nvPr/>
            </p:nvSpPr>
            <p:spPr>
              <a:xfrm>
                <a:off x="4038848" y="3118675"/>
                <a:ext cx="1027050" cy="102705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9525" cap="rnd">
                <a:noFill/>
                <a:prstDash val="lgDash"/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>
                  <a:gradFill>
                    <a:gsLst>
                      <a:gs pos="60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111D412-AC83-498A-BF55-8AE1BD58DBB4}"/>
                  </a:ext>
                </a:extLst>
              </p:cNvPr>
              <p:cNvSpPr/>
              <p:nvPr/>
            </p:nvSpPr>
            <p:spPr>
              <a:xfrm>
                <a:off x="6738504" y="3118675"/>
                <a:ext cx="1027050" cy="102705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9525" cap="rnd">
                <a:noFill/>
                <a:prstDash val="lgDash"/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85B34D9-82CE-43FE-A21F-BF3141DFA7F7}"/>
                  </a:ext>
                </a:extLst>
              </p:cNvPr>
              <p:cNvSpPr/>
              <p:nvPr/>
            </p:nvSpPr>
            <p:spPr>
              <a:xfrm>
                <a:off x="9438161" y="3118675"/>
                <a:ext cx="1027050" cy="102705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9525" cap="rnd">
                <a:noFill/>
                <a:prstDash val="lgDash"/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9ACB8CC-0EC6-4C9F-A707-A714E1900C1F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065898" y="3632200"/>
                <a:ext cx="1672606" cy="0"/>
              </a:xfrm>
              <a:prstGeom prst="line">
                <a:avLst/>
              </a:prstGeom>
              <a:ln w="19050">
                <a:solidFill>
                  <a:schemeClr val="tx1">
                    <a:lumMod val="95000"/>
                    <a:lumOff val="5000"/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96FEAB7-DA7F-441E-AECF-AB6104887191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765554" y="3632200"/>
                <a:ext cx="1672607" cy="0"/>
              </a:xfrm>
              <a:prstGeom prst="line">
                <a:avLst/>
              </a:prstGeom>
              <a:ln w="19050">
                <a:solidFill>
                  <a:schemeClr val="tx1">
                    <a:lumMod val="95000"/>
                    <a:lumOff val="5000"/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D81673-058C-442A-A16A-239C9A393853}"/>
                  </a:ext>
                </a:extLst>
              </p:cNvPr>
              <p:cNvSpPr txBox="1"/>
              <p:nvPr/>
            </p:nvSpPr>
            <p:spPr>
              <a:xfrm>
                <a:off x="4232413" y="3339812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01</a:t>
                </a:r>
                <a:endParaRPr lang="zh-CN" altLang="en-US" sz="3200" b="1" i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B2E386-431E-4BE5-8EEA-5A8E7151B4CC}"/>
                  </a:ext>
                </a:extLst>
              </p:cNvPr>
              <p:cNvSpPr txBox="1"/>
              <p:nvPr/>
            </p:nvSpPr>
            <p:spPr>
              <a:xfrm>
                <a:off x="6932069" y="3339812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2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r>
                  <a:rPr lang="en-US" altLang="zh-CN" dirty="0"/>
                  <a:t>02</a:t>
                </a:r>
                <a:endParaRPr lang="zh-CN" alt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02FA7B-2A12-4B1A-BDCE-B66B984499EE}"/>
                  </a:ext>
                </a:extLst>
              </p:cNvPr>
              <p:cNvSpPr txBox="1"/>
              <p:nvPr/>
            </p:nvSpPr>
            <p:spPr>
              <a:xfrm>
                <a:off x="9631726" y="3339811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r>
                  <a:rPr lang="en-US" altLang="zh-CN" dirty="0"/>
                  <a:t>03</a:t>
                </a:r>
                <a:endParaRPr lang="zh-CN" altLang="en-US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5CB4D05-0687-4B6C-B1A1-59225146A54A}"/>
                  </a:ext>
                </a:extLst>
              </p:cNvPr>
              <p:cNvGrpSpPr/>
              <p:nvPr/>
            </p:nvGrpSpPr>
            <p:grpSpPr>
              <a:xfrm>
                <a:off x="4038848" y="4366862"/>
                <a:ext cx="2138385" cy="720355"/>
                <a:chOff x="3885673" y="4163662"/>
                <a:chExt cx="1905527" cy="72035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B314262-3543-4F49-A344-19A94D0A0159}"/>
                    </a:ext>
                  </a:extLst>
                </p:cNvPr>
                <p:cNvSpPr txBox="1"/>
                <p:nvPr/>
              </p:nvSpPr>
              <p:spPr>
                <a:xfrm>
                  <a:off x="3885673" y="4589193"/>
                  <a:ext cx="1905527" cy="2948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识别和评估潜在风险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2D891DA-0C22-4CEE-8A4F-929A4013CEB5}"/>
                    </a:ext>
                  </a:extLst>
                </p:cNvPr>
                <p:cNvSpPr txBox="1"/>
                <p:nvPr/>
              </p:nvSpPr>
              <p:spPr>
                <a:xfrm>
                  <a:off x="3885673" y="4163662"/>
                  <a:ext cx="1905527" cy="400110"/>
                </a:xfrm>
                <a:prstGeom prst="rect">
                  <a:avLst/>
                </a:prstGeom>
                <a:noFill/>
              </p:spPr>
              <p:txBody>
                <a:bodyPr wrap="none" anchor="b">
                  <a:normAutofit/>
                </a:bodyPr>
                <a:lstStyle>
                  <a:defPPr>
                    <a:defRPr lang="zh-CN"/>
                  </a:defPPr>
                  <a:lvl1pPr marR="0" lvl="0" indent="0" defTabSz="913765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kumimoji="0" sz="2000" b="1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zh-CN" altLang="en-US" sz="1600" dirty="0"/>
                    <a:t>风险评估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9EFA46-BA6E-4A5D-8AA6-811E07B49104}"/>
                  </a:ext>
                </a:extLst>
              </p:cNvPr>
              <p:cNvGrpSpPr/>
              <p:nvPr/>
            </p:nvGrpSpPr>
            <p:grpSpPr>
              <a:xfrm>
                <a:off x="9380515" y="4366862"/>
                <a:ext cx="2138385" cy="941954"/>
                <a:chOff x="3885673" y="4163662"/>
                <a:chExt cx="1905527" cy="941954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5B61802-ABF2-4CEC-8432-5D8CAFBBDFFA}"/>
                    </a:ext>
                  </a:extLst>
                </p:cNvPr>
                <p:cNvSpPr txBox="1"/>
                <p:nvPr/>
              </p:nvSpPr>
              <p:spPr>
                <a:xfrm>
                  <a:off x="3885673" y="4589193"/>
                  <a:ext cx="1905527" cy="5164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持续监控和调整风险管理计划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64EE1C4-3FDC-4238-BA20-0B666ECC51A6}"/>
                    </a:ext>
                  </a:extLst>
                </p:cNvPr>
                <p:cNvSpPr txBox="1"/>
                <p:nvPr/>
              </p:nvSpPr>
              <p:spPr>
                <a:xfrm>
                  <a:off x="3885673" y="4163662"/>
                  <a:ext cx="1905527" cy="400110"/>
                </a:xfrm>
                <a:prstGeom prst="rect">
                  <a:avLst/>
                </a:prstGeom>
                <a:noFill/>
              </p:spPr>
              <p:txBody>
                <a:bodyPr wrap="none" anchor="b">
                  <a:normAutofit/>
                </a:bodyPr>
                <a:lstStyle>
                  <a:defPPr>
                    <a:defRPr lang="zh-CN"/>
                  </a:defPPr>
                  <a:lvl1pPr marR="0" lvl="0" indent="0" defTabSz="913765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kumimoji="0" sz="2000" b="1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zh-CN" altLang="en-US" sz="1600" dirty="0"/>
                    <a:t>监控和调整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71A9A78-4EC2-4BE2-9CF5-63B656C5210E}"/>
                  </a:ext>
                </a:extLst>
              </p:cNvPr>
              <p:cNvGrpSpPr/>
              <p:nvPr/>
            </p:nvGrpSpPr>
            <p:grpSpPr>
              <a:xfrm>
                <a:off x="6738504" y="1788831"/>
                <a:ext cx="2158753" cy="720355"/>
                <a:chOff x="3885673" y="4163662"/>
                <a:chExt cx="1905527" cy="720355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57EFE4A-4061-41FB-8F2D-8787848D2B76}"/>
                    </a:ext>
                  </a:extLst>
                </p:cNvPr>
                <p:cNvSpPr txBox="1"/>
                <p:nvPr/>
              </p:nvSpPr>
              <p:spPr>
                <a:xfrm>
                  <a:off x="3885673" y="4589193"/>
                  <a:ext cx="1905527" cy="2948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制定明确的风险管理策略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F19A79E-CEB4-499A-96A8-5996209A1BAD}"/>
                    </a:ext>
                  </a:extLst>
                </p:cNvPr>
                <p:cNvSpPr txBox="1"/>
                <p:nvPr/>
              </p:nvSpPr>
              <p:spPr>
                <a:xfrm>
                  <a:off x="3885673" y="4163662"/>
                  <a:ext cx="1905527" cy="400110"/>
                </a:xfrm>
                <a:prstGeom prst="rect">
                  <a:avLst/>
                </a:prstGeom>
                <a:noFill/>
              </p:spPr>
              <p:txBody>
                <a:bodyPr wrap="none" anchor="b">
                  <a:normAutofit/>
                </a:bodyPr>
                <a:lstStyle>
                  <a:defPPr>
                    <a:defRPr lang="zh-CN"/>
                  </a:defPPr>
                  <a:lvl1pPr marR="0" lvl="0" indent="0" defTabSz="913765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kumimoji="0" sz="2000" b="1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zh-CN" altLang="en-US" sz="1600" dirty="0"/>
                    <a:t>风险管理计划</a:t>
                  </a:r>
                </a:p>
              </p:txBody>
            </p:sp>
          </p:grpSp>
        </p:grp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风险管理策略重要性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3010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40288" y="1773716"/>
            <a:ext cx="10803748" cy="3437263"/>
            <a:chOff x="640288" y="1773716"/>
            <a:chExt cx="10803748" cy="34372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6398085-A137-43CB-A5DD-155C39B88D8C}"/>
                </a:ext>
              </a:extLst>
            </p:cNvPr>
            <p:cNvGrpSpPr/>
            <p:nvPr/>
          </p:nvGrpSpPr>
          <p:grpSpPr>
            <a:xfrm>
              <a:off x="5920752" y="1773716"/>
              <a:ext cx="2489812" cy="1399142"/>
              <a:chOff x="4796009" y="1784733"/>
              <a:chExt cx="2489812" cy="1399142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CB99E3C-0A40-43F4-B3B1-8835E7E46761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A080C6-22FC-49A9-97E3-E17356AFFE28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内部控制规范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656C28-76FD-4444-B1F0-68945D781855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确保公司运营合规性和透明度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3767E06-FD61-4D34-A12F-0C766E78D3A9}"/>
                </a:ext>
              </a:extLst>
            </p:cNvPr>
            <p:cNvSpPr/>
            <p:nvPr/>
          </p:nvSpPr>
          <p:spPr>
            <a:xfrm>
              <a:off x="5699236" y="2247441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01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9E50B42-C398-4549-9319-4211757202EE}"/>
                </a:ext>
              </a:extLst>
            </p:cNvPr>
            <p:cNvGrpSpPr/>
            <p:nvPr/>
          </p:nvGrpSpPr>
          <p:grpSpPr>
            <a:xfrm>
              <a:off x="8954224" y="1773716"/>
              <a:ext cx="2489812" cy="1399142"/>
              <a:chOff x="4796009" y="1784733"/>
              <a:chExt cx="2489812" cy="13991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7D13B9F-C30F-4AD6-BD1C-FF585FC7E782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BE3432-59E1-4352-8DC3-B9DB038F3C16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独立董事监督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CF05D8-1BAA-4B2E-9EAD-23D8DF36BF28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保证公司决策的公正性和独立性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EE04FDE-4642-49A8-BAD4-FDF2B19F53FC}"/>
                </a:ext>
              </a:extLst>
            </p:cNvPr>
            <p:cNvSpPr/>
            <p:nvPr/>
          </p:nvSpPr>
          <p:spPr>
            <a:xfrm>
              <a:off x="8732708" y="2247441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64E8A81-8458-46B9-9DF0-55E62B07D566}"/>
                </a:ext>
              </a:extLst>
            </p:cNvPr>
            <p:cNvGrpSpPr/>
            <p:nvPr/>
          </p:nvGrpSpPr>
          <p:grpSpPr>
            <a:xfrm>
              <a:off x="5920752" y="3811837"/>
              <a:ext cx="2489812" cy="1399142"/>
              <a:chOff x="4796009" y="1784733"/>
              <a:chExt cx="2489812" cy="1399142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BF09779-B467-4ADA-9E21-253BFE9E2696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BD1F7-905C-4C32-BF25-2FECABF234AE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高效风险管理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64A0FD-0A2A-421D-BC05-958511886A62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有效应对潜在风险和挑战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55C366A-6684-4788-B0EB-E2C8C56B7FF6}"/>
                </a:ext>
              </a:extLst>
            </p:cNvPr>
            <p:cNvSpPr/>
            <p:nvPr/>
          </p:nvSpPr>
          <p:spPr>
            <a:xfrm>
              <a:off x="5699236" y="4285562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0166176-9484-4B1B-923D-C2F48BBCF516}"/>
                </a:ext>
              </a:extLst>
            </p:cNvPr>
            <p:cNvGrpSpPr/>
            <p:nvPr/>
          </p:nvGrpSpPr>
          <p:grpSpPr>
            <a:xfrm>
              <a:off x="8954224" y="3811837"/>
              <a:ext cx="2489812" cy="1399142"/>
              <a:chOff x="4796009" y="1784733"/>
              <a:chExt cx="2489812" cy="1399142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F786A01D-7B7E-4AB6-8570-6ED48B7F925D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6E525E-8FE3-4D2D-99F1-7FA9DD219892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透明的信息披露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1E1B78-AEDB-41BF-BDFA-941416895453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及时向投资者提供准确、全面的信息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572C740-F8CA-4717-A2CC-6431A7D75AE0}"/>
                </a:ext>
              </a:extLst>
            </p:cNvPr>
            <p:cNvSpPr/>
            <p:nvPr/>
          </p:nvSpPr>
          <p:spPr>
            <a:xfrm>
              <a:off x="8732708" y="4285562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60000">
                  <a:schemeClr val="accent4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5E7D8A1-2F42-436B-8521-CE3F3965F227}"/>
                </a:ext>
              </a:extLst>
            </p:cNvPr>
            <p:cNvGrpSpPr/>
            <p:nvPr/>
          </p:nvGrpSpPr>
          <p:grpSpPr>
            <a:xfrm>
              <a:off x="640288" y="2473119"/>
              <a:ext cx="4130015" cy="1477345"/>
              <a:chOff x="640288" y="2473119"/>
              <a:chExt cx="4130015" cy="147734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3D923D-578D-407D-98B7-8CCAF94CF58B}"/>
                  </a:ext>
                </a:extLst>
              </p:cNvPr>
              <p:cNvSpPr txBox="1"/>
              <p:nvPr/>
            </p:nvSpPr>
            <p:spPr>
              <a:xfrm>
                <a:off x="640288" y="3655640"/>
                <a:ext cx="4130015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通过健全的公司治理体系来保证投资者的信心。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455E96C-2DD5-46FC-B200-86DE6C08B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278" y="3525398"/>
                <a:ext cx="219519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93DA8C-5279-43A7-A156-9F0FE9EF3A07}"/>
                  </a:ext>
                </a:extLst>
              </p:cNvPr>
              <p:cNvSpPr txBox="1"/>
              <p:nvPr/>
            </p:nvSpPr>
            <p:spPr>
              <a:xfrm>
                <a:off x="658813" y="2473119"/>
                <a:ext cx="2616736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建立健全的公司治理体系</a:t>
                </a:r>
              </a:p>
            </p:txBody>
          </p:sp>
        </p:grpSp>
      </p:grp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优秀治理与投资信心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0947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none">
            <a:normAutofit/>
          </a:bodyPr>
          <a:lstStyle/>
          <a:p>
            <a:pPr lvl="0"/>
            <a:r>
              <a:rPr lang="en-US" dirty="0"/>
              <a:t>www.officeplus.cn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98970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New_Batches_1230_Outline/20231230/images_object_15001_16000/53810758-fa53-4d53-9a77-aadeddaef201-4.source.default.zh-Hans.jpg"/>
  <p:tag name="OFFICEPLUS.THEME" val="New_Batches_1230_Outline/20231230/images_object_15001_16000/53810758-fa53-4d53-9a77-aadeddaef201-4.source.default.zh-Hans-3.pptx"/>
  <p:tag name="OFFICEPLUS.OUTLINE" val="821581"/>
  <p:tag name="OFFICEPLUS.OUTLINEEXTERNAL" val="25c3d306-2e80-c794-5737-fa23a8a6ba7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03a12446-4040-4dad-8d54-bb681f1089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7bbc12ee-40ec-489f-ab8c-4fa55cf2bf59"/>
  <p:tag name="OFFICEPLUS.TEMPLATE" val="96b9ae34-36f7-4b48-95be-77dbdbcf38eb.ppt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e529f402-906e-4773-ac18-b304cc3005de.pptx"/>
  <p:tag name="OFFICEPLUS.TAG" val="2beb2bf3-40ba-4876-8eff-8450af69fbd8"/>
  <p:tag name="OFFICEPLUS.OUTLINECONTENT" val="233166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3fcc3dd-28b3-4a13-9ab5-e3b91439dbb0.pptx"/>
  <p:tag name="OFFICEPLUS.TAG" val="2beb2bf3-40ba-4876-8eff-8450af69fbd8"/>
  <p:tag name="OFFICEPLUS.OUTLINECONTENT" val="2331660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174d289e-07e8-4dab-a7fe-b0f43b071e1f.pptx"/>
  <p:tag name="OFFICEPLUS.TAG" val="2beb2bf3-40ba-4876-8eff-8450af69fbd8"/>
  <p:tag name="OFFICEPLUS.OUTLINECONTENT" val="2331660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bbb392aa-77cb-48b2-87f7-6f883c187b0c.pptx"/>
  <p:tag name="OFFICEPLUS.TAG" val="2beb2bf3-40ba-4876-8eff-8450af69fbd8"/>
  <p:tag name="OFFICEPLUS.OUTLINECONTENT" val="233166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ea6522c-622c-4349-bf98-37dfc83fad92.pptx"/>
  <p:tag name="OFFICEPLUS.TAG" val="2beb2bf3-40ba-4876-8eff-8450af69fbd8"/>
  <p:tag name="OFFICEPLUS.OUTLINECONTENT" val="2331661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70471a2-5752-4055-9bfb-220941fcb7ff.pptx"/>
  <p:tag name="OFFICEPLUS.TAG" val="2beb2bf3-40ba-4876-8eff-8450af69fbd8"/>
  <p:tag name="OFFICEPLUS.OUTLINECONTENT" val="2331661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49ff58e0-387e-4c70-9838-f2ed39e13191.pptx"/>
  <p:tag name="OFFICEPLUS.TAG" val="2beb2bf3-40ba-4876-8eff-8450af69fbd8"/>
  <p:tag name="OFFICEPLUS.OUTLINECONTENT" val="2331661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a182371b-bf3a-4c49-8b4f-7588ca0b0655.pptx"/>
  <p:tag name="OFFICEPLUS.TAG" val="2beb2bf3-40ba-4876-8eff-8450af69fbd8"/>
  <p:tag name="OFFICEPLUS.OUTLINECONTENT" val="233166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6d19cd5-d6c9-428c-84e1-5828ed4d0ffe.pptx"/>
  <p:tag name="OFFICEPLUS.TAG" val="2beb2bf3-40ba-4876-8eff-8450af69fbd8"/>
  <p:tag name="OFFICEPLUS.OUTLINECONTENT" val="2331662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4012c257-db67-4977-82a0-3287eaa62b9c.pptx"/>
  <p:tag name="OFFICEPLUS.TAG" val="2beb2bf3-40ba-4876-8eff-8450af69fbd8"/>
  <p:tag name="OFFICEPLUS.OUTLINECONTENT" val="233166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cf4ba2e-9c77-4338-bf5c-83ebdf301f41.pptx"/>
  <p:tag name="OFFICEPLUS.TAG" val="2beb2bf3-40ba-4876-8eff-8450af69fbd8"/>
  <p:tag name="OFFICEPLUS.OUTLINECONTENT" val="2331662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63e43fd7-456f-4c49-82c0-6d20333923bc.pptx"/>
  <p:tag name="OFFICEPLUS.TAG" val="2beb2bf3-40ba-4876-8eff-8450af69fbd8"/>
  <p:tag name="OFFICEPLUS.OUTLINECONTENT" val="2331662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2660bc8-9928-44c0-854b-916d04e394d1.pptx"/>
  <p:tag name="OFFICEPLUS.TAG" val="2beb2bf3-40ba-4876-8eff-8450af69fbd8"/>
  <p:tag name="OFFICEPLUS.OUTLINECONTENT" val="233166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1617a2c-61a3-4fc8-a072-eb42478320ac.pptx"/>
  <p:tag name="OFFICEPLUS.TAG" val="2beb2bf3-40ba-4876-8eff-8450af69fbd8"/>
  <p:tag name="OFFICEPLUS.OUTLINECONTENT" val="2331663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ed2b665-2921-4663-a8e3-366ab84316ed.pptx"/>
  <p:tag name="OFFICEPLUS.TAG" val="2beb2bf3-40ba-4876-8eff-8450af69fbd8"/>
  <p:tag name="OFFICEPLUS.OUTLINECONTENT" val="2331663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1363978-e7be-4b4a-81ed-b6b44a9b5b47.pptx"/>
  <p:tag name="OFFICEPLUS.TAG" val="2beb2bf3-40ba-4876-8eff-8450af69fbd8"/>
  <p:tag name="OFFICEPLUS.OUTLINECONTENT" val="2331663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a185f06-d028-4e42-8ae6-201525c2215f.pptx"/>
  <p:tag name="OFFICEPLUS.TAG" val="2beb2bf3-40ba-4876-8eff-8450af69fbd8"/>
  <p:tag name="OFFICEPLUS.OUTLINECONTENT" val="2331663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97a5fd2-2211-4333-a328-8cfffe92fe75.pptx"/>
  <p:tag name="OFFICEPLUS.TAG" val="2beb2bf3-40ba-4876-8eff-8450af69fbd8"/>
  <p:tag name="OFFICEPLUS.OUTLINECONTENT" val="233166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a00b43d2-4a5c-4572-acaa-8f0962384cd4.pptx"/>
  <p:tag name="OFFICEPLUS.TAG" val="2beb2bf3-40ba-4876-8eff-8450af69fbd8"/>
  <p:tag name="OFFICEPLUS.OUTLINECONTENT" val="2331663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537a6114-4cee-41e2-95b0-a1075394d118.pptx"/>
  <p:tag name="OFFICEPLUS.TAG" val="2beb2bf3-40ba-4876-8eff-8450af69fbd8"/>
  <p:tag name="OFFICEPLUS.OUTLINECONTENT" val="2331664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e69c5ac3-dafd-4b9a-bbf1-d26a1016f816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FA2"/>
      </a:accent1>
      <a:accent2>
        <a:srgbClr val="19ABF2"/>
      </a:accent2>
      <a:accent3>
        <a:srgbClr val="003A6E"/>
      </a:accent3>
      <a:accent4>
        <a:srgbClr val="42CAFF"/>
      </a:accent4>
      <a:accent5>
        <a:srgbClr val="008BD5"/>
      </a:accent5>
      <a:accent6>
        <a:srgbClr val="73D7F5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1269</Words>
  <Application>Microsoft Office PowerPoint</Application>
  <PresentationFormat>Widescreen</PresentationFormat>
  <Paragraphs>246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等线</vt:lpstr>
      <vt:lpstr>Arial</vt:lpstr>
      <vt:lpstr>Designed by OfficePLUS</vt:lpstr>
      <vt:lpstr>创新驱动的 市场领先</vt:lpstr>
      <vt:lpstr>PowerPoint Presentation</vt:lpstr>
      <vt:lpstr>01.公司市场竞争分析</vt:lpstr>
      <vt:lpstr>市场洞察，位置定位</vt:lpstr>
      <vt:lpstr>公司市场表现分析</vt:lpstr>
      <vt:lpstr>市场份额的变化</vt:lpstr>
      <vt:lpstr>战略之道，效果显著</vt:lpstr>
      <vt:lpstr>稳固地位的证明</vt:lpstr>
      <vt:lpstr>02.技术创新和产品研发</vt:lpstr>
      <vt:lpstr>近期技术创新进展</vt:lpstr>
      <vt:lpstr>产品研发的最新动态</vt:lpstr>
      <vt:lpstr>创新技术的应用价值</vt:lpstr>
      <vt:lpstr>技术创新的驱动力</vt:lpstr>
      <vt:lpstr>03.公司财务和市场动态</vt:lpstr>
      <vt:lpstr>资本市场的最新动态</vt:lpstr>
      <vt:lpstr>公司的财务表现</vt:lpstr>
      <vt:lpstr>财务透明，数据真实</vt:lpstr>
      <vt:lpstr>公司财务健康状况</vt:lpstr>
      <vt:lpstr>预计未来持续增长</vt:lpstr>
      <vt:lpstr>04.邀请投资者支持</vt:lpstr>
      <vt:lpstr>邀请投资者的发展支持</vt:lpstr>
      <vt:lpstr>分享公司的发展计划</vt:lpstr>
      <vt:lpstr>介绍公司的投资机会</vt:lpstr>
      <vt:lpstr>05.公司治理和风险管理</vt:lpstr>
      <vt:lpstr>公司治理的重要性</vt:lpstr>
      <vt:lpstr>风险管理策略重要性</vt:lpstr>
      <vt:lpstr>优秀治理与投资信心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admini</cp:lastModifiedBy>
  <cp:revision>2</cp:revision>
  <dcterms:created xsi:type="dcterms:W3CDTF">2023-07-20T03:04:31Z</dcterms:created>
  <dcterms:modified xsi:type="dcterms:W3CDTF">2024-02-06T11:11:46Z</dcterms:modified>
</cp:coreProperties>
</file>