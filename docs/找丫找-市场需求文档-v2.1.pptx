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CC2F2B3F-8264-D412-982A-E50E20EB6983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146541E-3E29-D945-12E3-544F5E4C2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EDBAF58-5BD4-868C-BF66-75DDCA1A22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BD10C9-13AC-1462-A143-AD71C982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13FC9A-D8F3-5135-99FF-99DF0A355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3833873-DE9B-D5C1-4042-63DCB1537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75AA3-ABAA-D981-AB71-F279C2AA1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49EE902-4260-AAA1-A424-6607CC1F7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86378C5-9761-0719-4296-E81E1505F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81521" y="2405994"/>
            <a:ext cx="6085255" cy="15836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81521" y="4110044"/>
            <a:ext cx="6085255" cy="57985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817099" y="5857100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1106812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328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gradFill>
          <a:gsLst>
            <a:gs pos="0">
              <a:schemeClr val="accent1">
                <a:lumMod val="75000"/>
              </a:schemeClr>
            </a:gs>
            <a:gs pos="100000">
              <a:schemeClr val="accent1">
                <a:alpha val="9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55CB3D-0A38-207B-6E8D-39B71B0D17C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551EF1-1798-40CF-9662-42B8B3CB6AA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BE4D23-1D3B-F555-3A18-F2B9FABC4E1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561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 hasCustomPrompt="1"/>
          </p:nvPr>
        </p:nvSpPr>
        <p:spPr>
          <a:xfrm>
            <a:off x="3745077" y="1500188"/>
            <a:ext cx="7773823" cy="463391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1" name="Group 10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Freeform: Shape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1499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FA76AE-6115-2021-BBD3-70953EB547A9}"/>
              </a:ext>
            </a:extLst>
          </p:cNvPr>
          <p:cNvGrpSpPr/>
          <p:nvPr/>
        </p:nvGrpSpPr>
        <p:grpSpPr>
          <a:xfrm flipH="1">
            <a:off x="0" y="0"/>
            <a:ext cx="12192000" cy="5769710"/>
            <a:chOff x="0" y="0"/>
            <a:chExt cx="12192000" cy="576971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15B95FE-48D1-E5F3-023D-3A370C0E4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FB9F766-62E7-A965-E417-0E62A8288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3AD399-1EFF-F80D-8909-B4A733C22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D70192-A0C0-DDC9-4D8A-F57EDE240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ED6A1A-B00A-0C1B-ACD8-750293AE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1DD74E-CE1E-E08B-5F80-F2A0D99FF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898622-08AC-8004-A540-528AA0538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1514046-D06F-258A-4B3E-3185A2D9E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697281" y="2267120"/>
            <a:ext cx="5422900" cy="162860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5697281" y="3907579"/>
            <a:ext cx="5422900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04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200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7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36E3E0B-485B-3190-5AB9-5BB597DC2E21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8B228B-7C2A-A7F3-9DA2-A67FDE0B2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15CCE5-4B8F-9AF4-D358-10F0B3331B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352E5E-BC70-5121-6678-265820E13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B5DF65-AA15-C082-EF2C-FB15838F4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C29BAFF-21E9-5CB7-FE2D-AE2C78CB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3E5867-B0F5-5C0E-299E-E1A1E4018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EE6BD04-02D8-0F08-CC56-638769F40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25D452-7C88-5C8C-0492-B67023DAF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2096352"/>
            <a:ext cx="5435600" cy="210624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2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0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5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2764329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lang="zh-CN" altLang="en-US" sz="5000" b="0" dirty="0"/>
              <a:t>找丫找 APP</a:t>
            </a:r>
            <a:br>
              <a:rPr lang="en-US" altLang="zh-CN" dirty="0"/>
            </a:br>
            <a:r>
              <a:rPr lang="zh-CN" altLang="en-US" sz="6400" b="1" dirty="0">
                <a:solidFill>
                  <a:schemeClr val="accent2">
                    <a:lumMod val="75000"/>
                  </a:schemeClr>
                </a:solidFill>
              </a:rPr>
              <a:t/>
            </a:r>
            <a:endParaRPr lang="zh-CN" alt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市场需求文档（MRD）v2.1 评审版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2026-08-19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506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807B63F-A408-E5AC-10B5-FEA514B87530}"/>
              </a:ext>
            </a:extLst>
          </p:cNvPr>
          <p:cNvGrpSpPr/>
          <p:nvPr/>
        </p:nvGrpSpPr>
        <p:grpSpPr>
          <a:xfrm>
            <a:off x="660400" y="1161068"/>
            <a:ext cx="11229340" cy="4973032"/>
            <a:chOff x="660400" y="1161068"/>
            <a:chExt cx="11229340" cy="49730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4298EAC-A15D-0BFE-379A-ECFC37E3B945}"/>
                </a:ext>
              </a:extLst>
            </p:cNvPr>
            <p:cNvGrpSpPr/>
            <p:nvPr/>
          </p:nvGrpSpPr>
          <p:grpSpPr>
            <a:xfrm>
              <a:off x="660400" y="1161068"/>
              <a:ext cx="2352567" cy="830997"/>
              <a:chOff x="660400" y="1161068"/>
              <a:chExt cx="2352567" cy="83099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6F5A8C-1E0D-58D7-2F17-AB74D96911DB}"/>
                  </a:ext>
                </a:extLst>
              </p:cNvPr>
              <p:cNvSpPr txBox="1"/>
              <p:nvPr/>
            </p:nvSpPr>
            <p:spPr>
              <a:xfrm>
                <a:off x="660400" y="1161068"/>
                <a:ext cx="2352567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kumimoji="1" lang="en-US" altLang="zh-CN" sz="4800">
                    <a:solidFill>
                      <a:schemeClr val="tx1"/>
                    </a:solidFill>
                  </a:rPr>
                  <a:t>Agenda</a:t>
                </a:r>
                <a:endParaRPr lang="en-US" altLang="zh-CN" sz="4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19AA941-B654-A0CE-2BBE-7E8084FEAAEE}"/>
                </a:ext>
              </a:extLst>
            </p:cNvPr>
            <p:cNvGrpSpPr/>
            <p:nvPr/>
          </p:nvGrpSpPr>
          <p:grpSpPr>
            <a:xfrm>
              <a:off x="660400" y="2793474"/>
              <a:ext cx="11229340" cy="3340626"/>
              <a:chOff x="660400" y="2793474"/>
              <a:chExt cx="11229340" cy="334062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B4EBF0D-8D05-32FD-14BD-E8A7F2F0526B}"/>
                  </a:ext>
                </a:extLst>
              </p:cNvPr>
              <p:cNvGrpSpPr/>
              <p:nvPr/>
            </p:nvGrpSpPr>
            <p:grpSpPr>
              <a:xfrm>
                <a:off x="660400" y="2793474"/>
                <a:ext cx="1955366" cy="3340626"/>
                <a:chOff x="660402" y="2793474"/>
                <a:chExt cx="1927565" cy="334062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5D68FBCA-6492-D6B6-AC7C-D82EC9A9FAF0}"/>
                    </a:ext>
                  </a:extLst>
                </p:cNvPr>
                <p:cNvGrpSpPr/>
                <p:nvPr/>
              </p:nvGrpSpPr>
              <p:grpSpPr>
                <a:xfrm>
                  <a:off x="787790" y="2793474"/>
                  <a:ext cx="1800177" cy="1760230"/>
                  <a:chOff x="1483526" y="2464225"/>
                  <a:chExt cx="1800177" cy="1760230"/>
                </a:xfrm>
              </p:grpSpPr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B0B2E9A-75D2-A7EE-B68F-1EC0C12F34AF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01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A7F2B4D-5AC9-FF45-EE90-C3A739ECA18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8001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市场概况与竞争格局</a:t>
                    </a:r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62102C6-54FA-8579-5DB1-BF52724098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同城撮合市场分层与差异化定位</a:t>
                    </a:r>
                  </a:p>
                </p:txBody>
              </p:sp>
            </p:grp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A403CB07-7E72-4557-C107-0CC25C6331B9}"/>
                    </a:ext>
                  </a:extLst>
                </p:cNvPr>
                <p:cNvSpPr/>
                <p:nvPr/>
              </p:nvSpPr>
              <p:spPr>
                <a:xfrm>
                  <a:off x="66040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3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7FB13EC-E279-1E89-207A-228419F77EE8}"/>
                  </a:ext>
                </a:extLst>
              </p:cNvPr>
              <p:cNvGrpSpPr/>
              <p:nvPr/>
            </p:nvGrpSpPr>
            <p:grpSpPr>
              <a:xfrm>
                <a:off x="3056823" y="2793474"/>
                <a:ext cx="2031325" cy="3340626"/>
                <a:chOff x="3819201" y="2793474"/>
                <a:chExt cx="2002443" cy="334062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DD2F2F41-D1F1-2FC5-186B-F668231D413C}"/>
                    </a:ext>
                  </a:extLst>
                </p:cNvPr>
                <p:cNvGrpSpPr/>
                <p:nvPr/>
              </p:nvGrpSpPr>
              <p:grpSpPr>
                <a:xfrm>
                  <a:off x="3819201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6F6C921-E804-9108-D96C-31F037F28B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accent1"/>
                        </a:solidFill>
                      </a:rPr>
                      <a:t>02</a:t>
                    </a:r>
                    <a:endParaRPr kumimoji="1" lang="zh-CN" altLang="en-US" sz="5400" b="1" dirty="0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606BED3-33CE-E6D8-EB2E-DFBBB9E17726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目标用户与画像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565FCF42-20EA-01CC-1F35-C502B48AC9C1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四层用户分层与三目标使用倾向</a:t>
                    </a:r>
                  </a:p>
                </p:txBody>
              </p:sp>
            </p:grp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7A6D4306-A0E9-F500-1D26-C5DAF5594261}"/>
                    </a:ext>
                  </a:extLst>
                </p:cNvPr>
                <p:cNvSpPr/>
                <p:nvPr/>
              </p:nvSpPr>
              <p:spPr>
                <a:xfrm>
                  <a:off x="3819201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4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A813C49-8BFA-798F-1CCB-45ECEC8F77ED}"/>
                  </a:ext>
                </a:extLst>
              </p:cNvPr>
              <p:cNvGrpSpPr/>
              <p:nvPr/>
            </p:nvGrpSpPr>
            <p:grpSpPr>
              <a:xfrm>
                <a:off x="5324020" y="2793474"/>
                <a:ext cx="2031325" cy="3340626"/>
                <a:chOff x="6850612" y="2793474"/>
                <a:chExt cx="2002443" cy="3340626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CC92C7A-824A-0B9E-FF6E-09E0272A4372}"/>
                    </a:ext>
                  </a:extLst>
                </p:cNvPr>
                <p:cNvGrpSpPr/>
                <p:nvPr/>
              </p:nvGrpSpPr>
              <p:grpSpPr>
                <a:xfrm>
                  <a:off x="6850612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C69A125-3B4F-9AA0-7486-76D7FFC057C1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>
                        <a:solidFill>
                          <a:schemeClr val="tx2"/>
                        </a:solidFill>
                      </a:rPr>
                      <a:t>03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FEF611C-3363-0F6F-B2A6-485F963A5A5E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用户场景与需求优先级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B9D190DE-1365-DF0D-B469-BE1AD3183710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十大核心场景与 P0 需求清单</a:t>
                    </a:r>
                  </a:p>
                </p:txBody>
              </p:sp>
            </p:grp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0AF69C03-C9B1-0E04-A4B0-41FC0AAFD512}"/>
                    </a:ext>
                  </a:extLst>
                </p:cNvPr>
                <p:cNvSpPr/>
                <p:nvPr/>
              </p:nvSpPr>
              <p:spPr>
                <a:xfrm>
                  <a:off x="685061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5"/>
                  <a:srcRect/>
                  <a:stretch>
                    <a:fillRect l="-10620" r="-1062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F735ACD-0735-9A79-47DB-E8FFD80068C1}"/>
                  </a:ext>
                </a:extLst>
              </p:cNvPr>
              <p:cNvGrpSpPr/>
              <p:nvPr/>
            </p:nvGrpSpPr>
            <p:grpSpPr>
              <a:xfrm>
                <a:off x="7591218" y="2793474"/>
                <a:ext cx="1659262" cy="3340626"/>
                <a:chOff x="9882023" y="2793474"/>
                <a:chExt cx="1635670" cy="3340626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56969F8-7D9F-0C64-45EC-C67E1217B773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1635670" cy="1760230"/>
                  <a:chOff x="1483526" y="2464225"/>
                  <a:chExt cx="1635670" cy="1760230"/>
                </a:xfrm>
              </p:grpSpPr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ABA32B6-43E7-8ED1-CB81-7E9C757C0E6A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04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97E91C60-6C18-5081-E25E-2B710047CFBA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59791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Go-to-Market 策略</a:t>
                    </a: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9A6721F-B845-5E8C-06CF-3705C0DBB4C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单城试点与三批 GTM 节奏</a:t>
                    </a:r>
                  </a:p>
                </p:txBody>
              </p:sp>
            </p:grp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F9FD1DF8-CF45-A292-1401-A7EB6CB3DD98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6"/>
                  <a:srcRect/>
                  <a:stretch>
                    <a:fillRect l="-14560" r="-14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3B7B159-3A65-6492-67FE-5E0FB29BD48B}"/>
                  </a:ext>
                </a:extLst>
              </p:cNvPr>
              <p:cNvGrpSpPr/>
              <p:nvPr/>
            </p:nvGrpSpPr>
            <p:grpSpPr>
              <a:xfrm>
                <a:off x="9858415" y="2793474"/>
                <a:ext cx="2031325" cy="3340626"/>
                <a:chOff x="9882023" y="2793474"/>
                <a:chExt cx="2002443" cy="334062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D61515C-AA17-BFC8-6CF4-1372747A31BD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F2376F5-F5C9-971B-1995-A1EEA118016E}"/>
                      </a:ext>
                    </a:extLst>
                  </p:cNvPr>
                  <p:cNvSpPr txBox="1"/>
                  <p:nvPr/>
                </p:nvSpPr>
                <p:spPr>
                  <a:xfrm>
                    <a:off x="1497091" y="2464225"/>
                    <a:ext cx="940542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05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7308457-B51B-5DDC-A82E-5C027D3538A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成功指标与关键假设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30B58147-78D2-EDD8-A6C3-FFE3B1AE8C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三乘积北极星与九条待验证假设</a:t>
                    </a:r>
                  </a:p>
                </p:txBody>
              </p:sp>
            </p:grp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DEA5324-B1E0-A300-3A6F-1D703B26FC1C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7"/>
                  <a:srcRect/>
                  <a:stretch>
                    <a:fillRect l="-10450" r="-1045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5642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01.市场概况与竞争格局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同城撮合市场分层与差异化定位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78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60401" y="1130300"/>
            <a:ext cx="10858500" cy="5003800"/>
            <a:chOff x="660401" y="1130300"/>
            <a:chExt cx="10858500" cy="5003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8426DE8-AD43-40B6-B005-E32FF1D4F442}"/>
                </a:ext>
              </a:extLst>
            </p:cNvPr>
            <p:cNvSpPr/>
            <p:nvPr/>
          </p:nvSpPr>
          <p:spPr>
            <a:xfrm>
              <a:off x="660401" y="1130300"/>
              <a:ext cx="10858500" cy="2181098"/>
            </a:xfrm>
            <a:prstGeom prst="rect">
              <a:avLst/>
            </a:prstGeom>
            <a:blipFill rotWithShape="0">
              <a:blip r:embed="rId3"/>
              <a:srcRect/>
              <a:stretch>
                <a:fillRect t="-116410" b="-11641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8AB4B8-FD18-4525-9D7F-94D6039E3286}"/>
                </a:ext>
              </a:extLst>
            </p:cNvPr>
            <p:cNvSpPr/>
            <p:nvPr/>
          </p:nvSpPr>
          <p:spPr>
            <a:xfrm>
              <a:off x="5376393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D127F5-1D63-4C39-BB5F-C117A063D7D2}"/>
                </a:ext>
              </a:extLst>
            </p:cNvPr>
            <p:cNvSpPr/>
            <p:nvPr/>
          </p:nvSpPr>
          <p:spPr>
            <a:xfrm>
              <a:off x="8656168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3F797F-5095-4BC0-8101-6DD4168B6D44}"/>
                </a:ext>
              </a:extLst>
            </p:cNvPr>
            <p:cNvGrpSpPr/>
            <p:nvPr/>
          </p:nvGrpSpPr>
          <p:grpSpPr>
            <a:xfrm>
              <a:off x="6602659" y="3967271"/>
              <a:ext cx="410200" cy="410198"/>
              <a:chOff x="6631945" y="3938696"/>
              <a:chExt cx="410200" cy="41019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ECC1A-87CB-4686-88CA-427E350228F3}"/>
                  </a:ext>
                </a:extLst>
              </p:cNvPr>
              <p:cNvSpPr/>
              <p:nvPr/>
            </p:nvSpPr>
            <p:spPr>
              <a:xfrm>
                <a:off x="6631945" y="3938696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4776E5C-C59F-47D7-8565-ABDABCC4AA60}"/>
                  </a:ext>
                </a:extLst>
              </p:cNvPr>
              <p:cNvSpPr/>
              <p:nvPr/>
            </p:nvSpPr>
            <p:spPr>
              <a:xfrm>
                <a:off x="6748045" y="4077045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922460-72F2-4650-9ABE-22B50D31180E}"/>
                </a:ext>
              </a:extLst>
            </p:cNvPr>
            <p:cNvSpPr txBox="1"/>
            <p:nvPr/>
          </p:nvSpPr>
          <p:spPr>
            <a:xfrm>
              <a:off x="669926" y="3708400"/>
              <a:ext cx="42465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市场分层与本品位置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B03CE8-72A6-4D93-8A63-839EA4939878}"/>
                </a:ext>
              </a:extLst>
            </p:cNvPr>
            <p:cNvSpPr txBox="1"/>
            <p:nvPr/>
          </p:nvSpPr>
          <p:spPr>
            <a:xfrm>
              <a:off x="5604993" y="4921872"/>
              <a:ext cx="2405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近场双向撮合是空白层级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8FF016-C487-421D-8925-7C3C146000CA}"/>
                </a:ext>
              </a:extLst>
            </p:cNvPr>
            <p:cNvSpPr txBox="1"/>
            <p:nvPr/>
          </p:nvSpPr>
          <p:spPr>
            <a:xfrm>
              <a:off x="8884768" y="4921872"/>
              <a:ext cx="2405532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5km 双向轻信任无竞品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8DAE72-427F-415F-94E1-CBBFAF8FF75C}"/>
                </a:ext>
              </a:extLst>
            </p:cNvPr>
            <p:cNvSpPr txBox="1"/>
            <p:nvPr/>
          </p:nvSpPr>
          <p:spPr>
            <a:xfrm>
              <a:off x="5604993" y="4481537"/>
              <a:ext cx="2405532" cy="338554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五层市场格局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665F3A-DDA3-4388-8B05-95B3C0B569EE}"/>
                </a:ext>
              </a:extLst>
            </p:cNvPr>
            <p:cNvSpPr txBox="1"/>
            <p:nvPr/>
          </p:nvSpPr>
          <p:spPr>
            <a:xfrm>
              <a:off x="8884768" y="4481537"/>
              <a:ext cx="2405532" cy="338554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本品所处层级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C927D-C279-4A79-B8E2-0D985171EF50}"/>
                </a:ext>
              </a:extLst>
            </p:cNvPr>
            <p:cNvSpPr txBox="1"/>
            <p:nvPr/>
          </p:nvSpPr>
          <p:spPr>
            <a:xfrm>
              <a:off x="669926" y="5268121"/>
              <a:ext cx="4246502" cy="294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四层已被占据，仅近场双向空缺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1165C86-CE62-4EF8-9ED9-61E1DE1ECE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882434" y="3967271"/>
              <a:ext cx="410200" cy="410198"/>
              <a:chOff x="5417189" y="4024421"/>
              <a:chExt cx="410200" cy="41019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1DE647F-DE77-4FB8-BE8C-E1BFB087B010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ABB8375-45D0-4D03-A63A-E91DF1701CBC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市场分层与本品位置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36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0" y="1583092"/>
            <a:ext cx="12192000" cy="4531391"/>
            <a:chOff x="0" y="1583092"/>
            <a:chExt cx="12192000" cy="45313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C277DE7-3631-41E8-9211-9A1D642A548F}"/>
                </a:ext>
              </a:extLst>
            </p:cNvPr>
            <p:cNvSpPr/>
            <p:nvPr/>
          </p:nvSpPr>
          <p:spPr>
            <a:xfrm>
              <a:off x="0" y="3968685"/>
              <a:ext cx="12192000" cy="214579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AB35-AF6A-4625-A484-82F1742BEAB6}"/>
                </a:ext>
              </a:extLst>
            </p:cNvPr>
            <p:cNvGrpSpPr/>
            <p:nvPr/>
          </p:nvGrpSpPr>
          <p:grpSpPr>
            <a:xfrm>
              <a:off x="1028987" y="1583092"/>
              <a:ext cx="2826576" cy="3830249"/>
              <a:chOff x="4120979" y="1130299"/>
              <a:chExt cx="3950043" cy="535264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9F2666B-CCE9-4ABC-A505-94785692A625}"/>
                  </a:ext>
                </a:extLst>
              </p:cNvPr>
              <p:cNvGrpSpPr/>
              <p:nvPr/>
            </p:nvGrpSpPr>
            <p:grpSpPr>
              <a:xfrm>
                <a:off x="4120979" y="1130299"/>
                <a:ext cx="3950043" cy="5352641"/>
                <a:chOff x="4120979" y="1130299"/>
                <a:chExt cx="3950043" cy="535264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38288998-4301-48CA-8C68-1A750F0B1152}"/>
                    </a:ext>
                  </a:extLst>
                </p:cNvPr>
                <p:cNvSpPr/>
                <p:nvPr/>
              </p:nvSpPr>
              <p:spPr>
                <a:xfrm>
                  <a:off x="4803793" y="1130299"/>
                  <a:ext cx="2578696" cy="5245938"/>
                </a:xfrm>
                <a:custGeom>
                  <a:avLst/>
                  <a:gdLst>
                    <a:gd name="connsiteX0" fmla="*/ 420624 w 2578696"/>
                    <a:gd name="connsiteY0" fmla="*/ 0 h 5245938"/>
                    <a:gd name="connsiteX1" fmla="*/ 2158325 w 2578696"/>
                    <a:gd name="connsiteY1" fmla="*/ 0 h 5245938"/>
                    <a:gd name="connsiteX2" fmla="*/ 2392416 w 2578696"/>
                    <a:gd name="connsiteY2" fmla="*/ 45748 h 5245938"/>
                    <a:gd name="connsiteX3" fmla="*/ 2532982 w 2578696"/>
                    <a:gd name="connsiteY3" fmla="*/ 186314 h 5245938"/>
                    <a:gd name="connsiteX4" fmla="*/ 2578730 w 2578696"/>
                    <a:gd name="connsiteY4" fmla="*/ 420406 h 5245938"/>
                    <a:gd name="connsiteX5" fmla="*/ 2578730 w 2578696"/>
                    <a:gd name="connsiteY5" fmla="*/ 4825533 h 5245938"/>
                    <a:gd name="connsiteX6" fmla="*/ 2532982 w 2578696"/>
                    <a:gd name="connsiteY6" fmla="*/ 5059625 h 5245938"/>
                    <a:gd name="connsiteX7" fmla="*/ 2392416 w 2578696"/>
                    <a:gd name="connsiteY7" fmla="*/ 5200190 h 5245938"/>
                    <a:gd name="connsiteX8" fmla="*/ 2158325 w 2578696"/>
                    <a:gd name="connsiteY8" fmla="*/ 5245939 h 5245938"/>
                    <a:gd name="connsiteX9" fmla="*/ 420624 w 2578696"/>
                    <a:gd name="connsiteY9" fmla="*/ 5245939 h 5245938"/>
                    <a:gd name="connsiteX10" fmla="*/ 186532 w 2578696"/>
                    <a:gd name="connsiteY10" fmla="*/ 5200190 h 5245938"/>
                    <a:gd name="connsiteX11" fmla="*/ 45967 w 2578696"/>
                    <a:gd name="connsiteY11" fmla="*/ 5059625 h 5245938"/>
                    <a:gd name="connsiteX12" fmla="*/ 34 w 2578696"/>
                    <a:gd name="connsiteY12" fmla="*/ 4825717 h 5245938"/>
                    <a:gd name="connsiteX13" fmla="*/ 34 w 2578696"/>
                    <a:gd name="connsiteY13" fmla="*/ 420590 h 5245938"/>
                    <a:gd name="connsiteX14" fmla="*/ 45782 w 2578696"/>
                    <a:gd name="connsiteY14" fmla="*/ 186498 h 5245938"/>
                    <a:gd name="connsiteX15" fmla="*/ 186348 w 2578696"/>
                    <a:gd name="connsiteY15" fmla="*/ 45933 h 5245938"/>
                    <a:gd name="connsiteX16" fmla="*/ 420624 w 2578696"/>
                    <a:gd name="connsiteY16" fmla="*/ 0 h 524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8696" h="5245938">
                      <a:moveTo>
                        <a:pt x="420624" y="0"/>
                      </a:moveTo>
                      <a:lnTo>
                        <a:pt x="2158325" y="0"/>
                      </a:lnTo>
                      <a:cubicBezTo>
                        <a:pt x="2267900" y="0"/>
                        <a:pt x="2328774" y="11806"/>
                        <a:pt x="2392416" y="45748"/>
                      </a:cubicBezTo>
                      <a:cubicBezTo>
                        <a:pt x="2452738" y="78031"/>
                        <a:pt x="2500884" y="126177"/>
                        <a:pt x="2532982" y="186314"/>
                      </a:cubicBezTo>
                      <a:cubicBezTo>
                        <a:pt x="2566924" y="249956"/>
                        <a:pt x="2578730" y="310831"/>
                        <a:pt x="2578730" y="420406"/>
                      </a:cubicBezTo>
                      <a:lnTo>
                        <a:pt x="2578730" y="4825533"/>
                      </a:lnTo>
                      <a:cubicBezTo>
                        <a:pt x="2578730" y="4935108"/>
                        <a:pt x="2566924" y="4995983"/>
                        <a:pt x="2532982" y="5059625"/>
                      </a:cubicBezTo>
                      <a:cubicBezTo>
                        <a:pt x="2500700" y="5119946"/>
                        <a:pt x="2452553" y="5168093"/>
                        <a:pt x="2392416" y="5200190"/>
                      </a:cubicBezTo>
                      <a:cubicBezTo>
                        <a:pt x="2328774" y="5234132"/>
                        <a:pt x="2267900" y="5245939"/>
                        <a:pt x="2158325" y="5245939"/>
                      </a:cubicBezTo>
                      <a:lnTo>
                        <a:pt x="420624" y="5245939"/>
                      </a:lnTo>
                      <a:cubicBezTo>
                        <a:pt x="311049" y="5245939"/>
                        <a:pt x="250174" y="5234132"/>
                        <a:pt x="186532" y="5200190"/>
                      </a:cubicBezTo>
                      <a:cubicBezTo>
                        <a:pt x="126211" y="5167908"/>
                        <a:pt x="78065" y="5119761"/>
                        <a:pt x="45967" y="5059625"/>
                      </a:cubicBezTo>
                      <a:cubicBezTo>
                        <a:pt x="11840" y="4996351"/>
                        <a:pt x="34" y="4935292"/>
                        <a:pt x="34" y="4825717"/>
                      </a:cubicBezTo>
                      <a:lnTo>
                        <a:pt x="34" y="420590"/>
                      </a:lnTo>
                      <a:cubicBezTo>
                        <a:pt x="34" y="311015"/>
                        <a:pt x="11840" y="250140"/>
                        <a:pt x="45782" y="186498"/>
                      </a:cubicBezTo>
                      <a:cubicBezTo>
                        <a:pt x="78065" y="126177"/>
                        <a:pt x="126211" y="78031"/>
                        <a:pt x="186348" y="45933"/>
                      </a:cubicBezTo>
                      <a:cubicBezTo>
                        <a:pt x="249990" y="11806"/>
                        <a:pt x="311049" y="0"/>
                        <a:pt x="4206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/>
                    </a:gs>
                    <a:gs pos="41000">
                      <a:schemeClr val="tx1"/>
                    </a:gs>
                    <a:gs pos="6000">
                      <a:schemeClr val="tx1">
                        <a:lumMod val="75000"/>
                        <a:lumOff val="25000"/>
                      </a:schemeClr>
                    </a:gs>
                    <a:gs pos="1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239F1240-6819-4DD1-9AF9-FEC0E83FB441}"/>
                    </a:ext>
                  </a:extLst>
                </p:cNvPr>
                <p:cNvGrpSpPr/>
                <p:nvPr/>
              </p:nvGrpSpPr>
              <p:grpSpPr>
                <a:xfrm>
                  <a:off x="4822240" y="1145056"/>
                  <a:ext cx="2549181" cy="5216423"/>
                  <a:chOff x="4822240" y="1145056"/>
                  <a:chExt cx="2549181" cy="5216423"/>
                </a:xfrm>
              </p:grpSpPr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9294B42E-12D6-494E-A7AB-429620ED6653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C9C6C8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66B7300A-B281-45B5-B014-08654F9A0185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3A50FC0-97F3-4317-A745-3BDCFCBB811C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AF6A61B2-5C32-4C90-A19F-F453C839D558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B31E2AB3-B07C-45B1-8061-DF8F08EEA297}"/>
                    </a:ext>
                  </a:extLst>
                </p:cNvPr>
                <p:cNvGrpSpPr/>
                <p:nvPr/>
              </p:nvGrpSpPr>
              <p:grpSpPr>
                <a:xfrm>
                  <a:off x="4853599" y="1159814"/>
                  <a:ext cx="2479082" cy="5187092"/>
                  <a:chOff x="4853599" y="1159814"/>
                  <a:chExt cx="2479082" cy="5187092"/>
                </a:xfrm>
                <a:solidFill>
                  <a:srgbClr val="FFFFFF"/>
                </a:solidFill>
              </p:grpSpPr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1219D33E-9056-431D-8570-FAB5BFCD0D77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191CB009-6901-42B7-8C7C-8E0F322256CE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97B397F7-3CA5-41ED-9151-84B9132AD272}"/>
                    </a:ext>
                  </a:extLst>
                </p:cNvPr>
                <p:cNvSpPr/>
                <p:nvPr/>
              </p:nvSpPr>
              <p:spPr>
                <a:xfrm>
                  <a:off x="4843454" y="1171804"/>
                  <a:ext cx="2506937" cy="5163295"/>
                </a:xfrm>
                <a:custGeom>
                  <a:avLst/>
                  <a:gdLst>
                    <a:gd name="connsiteX0" fmla="*/ 2127887 w 2506937"/>
                    <a:gd name="connsiteY0" fmla="*/ 0 h 5163295"/>
                    <a:gd name="connsiteX1" fmla="*/ 2342425 w 2506937"/>
                    <a:gd name="connsiteY1" fmla="*/ 40952 h 5163295"/>
                    <a:gd name="connsiteX2" fmla="*/ 2466020 w 2506937"/>
                    <a:gd name="connsiteY2" fmla="*/ 164547 h 5163295"/>
                    <a:gd name="connsiteX3" fmla="*/ 2506972 w 2506937"/>
                    <a:gd name="connsiteY3" fmla="*/ 379084 h 5163295"/>
                    <a:gd name="connsiteX4" fmla="*/ 2506972 w 2506937"/>
                    <a:gd name="connsiteY4" fmla="*/ 379084 h 5163295"/>
                    <a:gd name="connsiteX5" fmla="*/ 2506972 w 2506937"/>
                    <a:gd name="connsiteY5" fmla="*/ 4784212 h 5163295"/>
                    <a:gd name="connsiteX6" fmla="*/ 2466020 w 2506937"/>
                    <a:gd name="connsiteY6" fmla="*/ 4998750 h 5163295"/>
                    <a:gd name="connsiteX7" fmla="*/ 2342425 w 2506937"/>
                    <a:gd name="connsiteY7" fmla="*/ 5122344 h 5163295"/>
                    <a:gd name="connsiteX8" fmla="*/ 2127887 w 2506937"/>
                    <a:gd name="connsiteY8" fmla="*/ 5163296 h 5163295"/>
                    <a:gd name="connsiteX9" fmla="*/ 2127887 w 2506937"/>
                    <a:gd name="connsiteY9" fmla="*/ 5163296 h 5163295"/>
                    <a:gd name="connsiteX10" fmla="*/ 379118 w 2506937"/>
                    <a:gd name="connsiteY10" fmla="*/ 5163296 h 5163295"/>
                    <a:gd name="connsiteX11" fmla="*/ 164581 w 2506937"/>
                    <a:gd name="connsiteY11" fmla="*/ 5122344 h 5163295"/>
                    <a:gd name="connsiteX12" fmla="*/ 40986 w 2506937"/>
                    <a:gd name="connsiteY12" fmla="*/ 4998750 h 5163295"/>
                    <a:gd name="connsiteX13" fmla="*/ 34 w 2506937"/>
                    <a:gd name="connsiteY13" fmla="*/ 4784212 h 5163295"/>
                    <a:gd name="connsiteX14" fmla="*/ 34 w 2506937"/>
                    <a:gd name="connsiteY14" fmla="*/ 4784212 h 5163295"/>
                    <a:gd name="connsiteX15" fmla="*/ 34 w 2506937"/>
                    <a:gd name="connsiteY15" fmla="*/ 379084 h 5163295"/>
                    <a:gd name="connsiteX16" fmla="*/ 40986 w 2506937"/>
                    <a:gd name="connsiteY16" fmla="*/ 164547 h 5163295"/>
                    <a:gd name="connsiteX17" fmla="*/ 164581 w 2506937"/>
                    <a:gd name="connsiteY17" fmla="*/ 40952 h 5163295"/>
                    <a:gd name="connsiteX18" fmla="*/ 379118 w 2506937"/>
                    <a:gd name="connsiteY18" fmla="*/ 0 h 5163295"/>
                    <a:gd name="connsiteX19" fmla="*/ 379118 w 2506937"/>
                    <a:gd name="connsiteY19" fmla="*/ 0 h 5163295"/>
                    <a:gd name="connsiteX20" fmla="*/ 2127887 w 2506937"/>
                    <a:gd name="connsiteY20" fmla="*/ 0 h 5163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506937" h="5163295">
                      <a:moveTo>
                        <a:pt x="2127887" y="0"/>
                      </a:moveTo>
                      <a:cubicBezTo>
                        <a:pt x="2230821" y="0"/>
                        <a:pt x="2285424" y="10515"/>
                        <a:pt x="2342425" y="40952"/>
                      </a:cubicBezTo>
                      <a:cubicBezTo>
                        <a:pt x="2395368" y="69360"/>
                        <a:pt x="2437611" y="111604"/>
                        <a:pt x="2466020" y="164547"/>
                      </a:cubicBezTo>
                      <a:cubicBezTo>
                        <a:pt x="2496457" y="221548"/>
                        <a:pt x="2506972" y="276151"/>
                        <a:pt x="2506972" y="379084"/>
                      </a:cubicBezTo>
                      <a:lnTo>
                        <a:pt x="2506972" y="379084"/>
                      </a:lnTo>
                      <a:lnTo>
                        <a:pt x="2506972" y="4784212"/>
                      </a:lnTo>
                      <a:cubicBezTo>
                        <a:pt x="2506972" y="4887146"/>
                        <a:pt x="2496457" y="4941748"/>
                        <a:pt x="2466020" y="4998750"/>
                      </a:cubicBezTo>
                      <a:cubicBezTo>
                        <a:pt x="2437611" y="5051692"/>
                        <a:pt x="2395368" y="5093936"/>
                        <a:pt x="2342425" y="5122344"/>
                      </a:cubicBezTo>
                      <a:cubicBezTo>
                        <a:pt x="2285424" y="5152782"/>
                        <a:pt x="2230821" y="5163296"/>
                        <a:pt x="2127887" y="5163296"/>
                      </a:cubicBezTo>
                      <a:lnTo>
                        <a:pt x="2127887" y="5163296"/>
                      </a:lnTo>
                      <a:lnTo>
                        <a:pt x="379118" y="5163296"/>
                      </a:lnTo>
                      <a:cubicBezTo>
                        <a:pt x="276185" y="5163296"/>
                        <a:pt x="221582" y="5152782"/>
                        <a:pt x="164581" y="5122344"/>
                      </a:cubicBezTo>
                      <a:cubicBezTo>
                        <a:pt x="111638" y="5093936"/>
                        <a:pt x="69394" y="5051692"/>
                        <a:pt x="40986" y="4998750"/>
                      </a:cubicBezTo>
                      <a:cubicBezTo>
                        <a:pt x="10549" y="4941748"/>
                        <a:pt x="34" y="4887146"/>
                        <a:pt x="34" y="4784212"/>
                      </a:cubicBezTo>
                      <a:lnTo>
                        <a:pt x="34" y="4784212"/>
                      </a:lnTo>
                      <a:lnTo>
                        <a:pt x="34" y="379084"/>
                      </a:lnTo>
                      <a:cubicBezTo>
                        <a:pt x="34" y="276151"/>
                        <a:pt x="10549" y="221548"/>
                        <a:pt x="40986" y="164547"/>
                      </a:cubicBezTo>
                      <a:cubicBezTo>
                        <a:pt x="69394" y="111604"/>
                        <a:pt x="111638" y="69360"/>
                        <a:pt x="164581" y="40952"/>
                      </a:cubicBezTo>
                      <a:cubicBezTo>
                        <a:pt x="221582" y="10515"/>
                        <a:pt x="276185" y="0"/>
                        <a:pt x="379118" y="0"/>
                      </a:cubicBezTo>
                      <a:lnTo>
                        <a:pt x="379118" y="0"/>
                      </a:lnTo>
                      <a:lnTo>
                        <a:pt x="2127887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552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1859BED-3F40-4106-A28C-7F4AE01C4AA1}"/>
                    </a:ext>
                  </a:extLst>
                </p:cNvPr>
                <p:cNvGrpSpPr/>
                <p:nvPr/>
              </p:nvGrpSpPr>
              <p:grpSpPr>
                <a:xfrm>
                  <a:off x="4868357" y="1196707"/>
                  <a:ext cx="2457130" cy="5113489"/>
                  <a:chOff x="4868357" y="1196707"/>
                  <a:chExt cx="2457130" cy="5113489"/>
                </a:xfrm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444AE064-B410-41DB-9E33-82AB01D00AF6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0CB2BF9A-8EF9-4B20-8FD4-D6044D1291C0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302B9EF-006D-4B8C-9818-34EB0BA66540}"/>
                    </a:ext>
                  </a:extLst>
                </p:cNvPr>
                <p:cNvSpPr/>
                <p:nvPr/>
              </p:nvSpPr>
              <p:spPr>
                <a:xfrm>
                  <a:off x="4907095" y="1229912"/>
                  <a:ext cx="2379838" cy="5047449"/>
                </a:xfrm>
                <a:custGeom>
                  <a:avLst/>
                  <a:gdLst>
                    <a:gd name="connsiteX0" fmla="*/ 321011 w 2379838"/>
                    <a:gd name="connsiteY0" fmla="*/ 0 h 5047449"/>
                    <a:gd name="connsiteX1" fmla="*/ 2058711 w 2379838"/>
                    <a:gd name="connsiteY1" fmla="*/ 0 h 5047449"/>
                    <a:gd name="connsiteX2" fmla="*/ 2245948 w 2379838"/>
                    <a:gd name="connsiteY2" fmla="*/ 34127 h 5047449"/>
                    <a:gd name="connsiteX3" fmla="*/ 2345746 w 2379838"/>
                    <a:gd name="connsiteY3" fmla="*/ 133925 h 5047449"/>
                    <a:gd name="connsiteX4" fmla="*/ 2379872 w 2379838"/>
                    <a:gd name="connsiteY4" fmla="*/ 321161 h 5047449"/>
                    <a:gd name="connsiteX5" fmla="*/ 2379872 w 2379838"/>
                    <a:gd name="connsiteY5" fmla="*/ 4726289 h 5047449"/>
                    <a:gd name="connsiteX6" fmla="*/ 2345746 w 2379838"/>
                    <a:gd name="connsiteY6" fmla="*/ 4913525 h 5047449"/>
                    <a:gd name="connsiteX7" fmla="*/ 2245948 w 2379838"/>
                    <a:gd name="connsiteY7" fmla="*/ 5013323 h 5047449"/>
                    <a:gd name="connsiteX8" fmla="*/ 2058711 w 2379838"/>
                    <a:gd name="connsiteY8" fmla="*/ 5047449 h 5047449"/>
                    <a:gd name="connsiteX9" fmla="*/ 321011 w 2379838"/>
                    <a:gd name="connsiteY9" fmla="*/ 5047449 h 5047449"/>
                    <a:gd name="connsiteX10" fmla="*/ 133774 w 2379838"/>
                    <a:gd name="connsiteY10" fmla="*/ 5013323 h 5047449"/>
                    <a:gd name="connsiteX11" fmla="*/ 33976 w 2379838"/>
                    <a:gd name="connsiteY11" fmla="*/ 4913525 h 5047449"/>
                    <a:gd name="connsiteX12" fmla="*/ 34 w 2379838"/>
                    <a:gd name="connsiteY12" fmla="*/ 4726104 h 5047449"/>
                    <a:gd name="connsiteX13" fmla="*/ 34 w 2379838"/>
                    <a:gd name="connsiteY13" fmla="*/ 320977 h 5047449"/>
                    <a:gd name="connsiteX14" fmla="*/ 34161 w 2379838"/>
                    <a:gd name="connsiteY14" fmla="*/ 133740 h 5047449"/>
                    <a:gd name="connsiteX15" fmla="*/ 133959 w 2379838"/>
                    <a:gd name="connsiteY15" fmla="*/ 33942 h 5047449"/>
                    <a:gd name="connsiteX16" fmla="*/ 321011 w 2379838"/>
                    <a:gd name="connsiteY16" fmla="*/ 0 h 5047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379838" h="5047449">
                      <a:moveTo>
                        <a:pt x="321011" y="0"/>
                      </a:moveTo>
                      <a:lnTo>
                        <a:pt x="2058711" y="0"/>
                      </a:lnTo>
                      <a:cubicBezTo>
                        <a:pt x="2153160" y="0"/>
                        <a:pt x="2198539" y="8855"/>
                        <a:pt x="2245948" y="34127"/>
                      </a:cubicBezTo>
                      <a:cubicBezTo>
                        <a:pt x="2288744" y="57001"/>
                        <a:pt x="2322687" y="90943"/>
                        <a:pt x="2345746" y="133925"/>
                      </a:cubicBezTo>
                      <a:cubicBezTo>
                        <a:pt x="2371018" y="181149"/>
                        <a:pt x="2379872" y="226713"/>
                        <a:pt x="2379872" y="321161"/>
                      </a:cubicBezTo>
                      <a:lnTo>
                        <a:pt x="2379872" y="4726289"/>
                      </a:lnTo>
                      <a:cubicBezTo>
                        <a:pt x="2379872" y="4820737"/>
                        <a:pt x="2371018" y="4866116"/>
                        <a:pt x="2345746" y="4913525"/>
                      </a:cubicBezTo>
                      <a:cubicBezTo>
                        <a:pt x="2322871" y="4956322"/>
                        <a:pt x="2288929" y="4990264"/>
                        <a:pt x="2245948" y="5013323"/>
                      </a:cubicBezTo>
                      <a:cubicBezTo>
                        <a:pt x="2198724" y="5038595"/>
                        <a:pt x="2153160" y="5047449"/>
                        <a:pt x="2058711" y="5047449"/>
                      </a:cubicBezTo>
                      <a:lnTo>
                        <a:pt x="321011" y="5047449"/>
                      </a:lnTo>
                      <a:cubicBezTo>
                        <a:pt x="226562" y="5047449"/>
                        <a:pt x="181183" y="5038595"/>
                        <a:pt x="133774" y="5013323"/>
                      </a:cubicBezTo>
                      <a:cubicBezTo>
                        <a:pt x="90977" y="4990449"/>
                        <a:pt x="57035" y="4956506"/>
                        <a:pt x="33976" y="4913525"/>
                      </a:cubicBezTo>
                      <a:cubicBezTo>
                        <a:pt x="8889" y="4865932"/>
                        <a:pt x="34" y="4820552"/>
                        <a:pt x="34" y="4726104"/>
                      </a:cubicBezTo>
                      <a:lnTo>
                        <a:pt x="34" y="320977"/>
                      </a:lnTo>
                      <a:cubicBezTo>
                        <a:pt x="34" y="226528"/>
                        <a:pt x="8889" y="181149"/>
                        <a:pt x="34161" y="133740"/>
                      </a:cubicBezTo>
                      <a:cubicBezTo>
                        <a:pt x="57035" y="90943"/>
                        <a:pt x="90977" y="57001"/>
                        <a:pt x="133959" y="33942"/>
                      </a:cubicBezTo>
                      <a:cubicBezTo>
                        <a:pt x="181183" y="8855"/>
                        <a:pt x="226562" y="0"/>
                        <a:pt x="32101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1B0C6FF-A53E-437E-B6B7-01698E44989F}"/>
                    </a:ext>
                  </a:extLst>
                </p:cNvPr>
                <p:cNvGrpSpPr/>
                <p:nvPr/>
              </p:nvGrpSpPr>
              <p:grpSpPr>
                <a:xfrm>
                  <a:off x="4868357" y="1235423"/>
                  <a:ext cx="2457112" cy="5037740"/>
                  <a:chOff x="4868357" y="1235423"/>
                  <a:chExt cx="2457112" cy="5037740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EB373836-53BB-489A-9001-932BFCAA5E9B}"/>
                      </a:ext>
                    </a:extLst>
                  </p:cNvPr>
                  <p:cNvGrpSpPr/>
                  <p:nvPr/>
                </p:nvGrpSpPr>
                <p:grpSpPr>
                  <a:xfrm>
                    <a:off x="4868357" y="1235423"/>
                    <a:ext cx="152368" cy="5037740"/>
                    <a:chOff x="4868357" y="1235423"/>
                    <a:chExt cx="152368" cy="5037740"/>
                  </a:xfrm>
                </p:grpSpPr>
                <p:sp>
                  <p:nvSpPr>
                    <p:cNvPr id="51" name="Freeform: Shape 50">
                      <a:extLst>
                        <a:ext uri="{FF2B5EF4-FFF2-40B4-BE49-F238E27FC236}">
                          <a16:creationId xmlns:a16="http://schemas.microsoft.com/office/drawing/2014/main" id="{38BE6067-A8A7-43B6-BE07-B07B80BBFC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5F5AEBCA-3553-42F3-B06D-E8C17B1273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D21AF649-0BB9-42B8-9ED3-5ED44223BCB6}"/>
                      </a:ext>
                    </a:extLst>
                  </p:cNvPr>
                  <p:cNvGrpSpPr/>
                  <p:nvPr/>
                </p:nvGrpSpPr>
                <p:grpSpPr>
                  <a:xfrm>
                    <a:off x="7173100" y="1235423"/>
                    <a:ext cx="152368" cy="5037740"/>
                    <a:chOff x="7173100" y="1235423"/>
                    <a:chExt cx="152368" cy="5037740"/>
                  </a:xfrm>
                </p:grpSpPr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C820AF13-2446-42E6-A8C4-A536E5A3E26C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DBF9508-0A9B-4777-B7A1-BBF782C1763A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C3D30095-754F-43B1-BC36-B327C11C0A8A}"/>
                    </a:ext>
                  </a:extLst>
                </p:cNvPr>
                <p:cNvGrpSpPr/>
                <p:nvPr/>
              </p:nvGrpSpPr>
              <p:grpSpPr>
                <a:xfrm>
                  <a:off x="4803793" y="1130299"/>
                  <a:ext cx="2578880" cy="5246307"/>
                  <a:chOff x="4803793" y="1130299"/>
                  <a:chExt cx="2578880" cy="5246307"/>
                </a:xfrm>
                <a:solidFill>
                  <a:srgbClr val="000000"/>
                </a:solidFill>
              </p:grpSpPr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310D1C87-C9AA-4DD8-A9C2-C5A089A47D55}"/>
                      </a:ext>
                    </a:extLst>
                  </p:cNvPr>
                  <p:cNvSpPr/>
                  <p:nvPr/>
                </p:nvSpPr>
                <p:spPr>
                  <a:xfrm>
                    <a:off x="4803793" y="1593316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810DC8B8-3795-4C52-B29E-45076FD7C237}"/>
                      </a:ext>
                    </a:extLst>
                  </p:cNvPr>
                  <p:cNvSpPr/>
                  <p:nvPr/>
                </p:nvSpPr>
                <p:spPr>
                  <a:xfrm>
                    <a:off x="7347624" y="1593316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2B87D70C-BA1B-4E64-8BA4-8B73086DFB36}"/>
                      </a:ext>
                    </a:extLst>
                  </p:cNvPr>
                  <p:cNvSpPr/>
                  <p:nvPr/>
                </p:nvSpPr>
                <p:spPr>
                  <a:xfrm>
                    <a:off x="4803793" y="5882228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7486550-DAB4-4854-8503-8C5FBA94A05A}"/>
                      </a:ext>
                    </a:extLst>
                  </p:cNvPr>
                  <p:cNvSpPr/>
                  <p:nvPr/>
                </p:nvSpPr>
                <p:spPr>
                  <a:xfrm>
                    <a:off x="7347624" y="5882228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90EF2014-83EE-49CD-8567-34A868ADDFA4}"/>
                      </a:ext>
                    </a:extLst>
                  </p:cNvPr>
                  <p:cNvSpPr/>
                  <p:nvPr/>
                </p:nvSpPr>
                <p:spPr>
                  <a:xfrm>
                    <a:off x="6895674" y="1130299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DDF5F5C5-EF9C-4891-A1DD-EC3AB649E1F4}"/>
                      </a:ext>
                    </a:extLst>
                  </p:cNvPr>
                  <p:cNvSpPr/>
                  <p:nvPr/>
                </p:nvSpPr>
                <p:spPr>
                  <a:xfrm>
                    <a:off x="5266811" y="6334178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2FF515A-EE44-4C28-ABAF-BD4E92E0D9CD}"/>
                    </a:ext>
                  </a:extLst>
                </p:cNvPr>
                <p:cNvGrpSpPr/>
                <p:nvPr/>
              </p:nvGrpSpPr>
              <p:grpSpPr>
                <a:xfrm>
                  <a:off x="4792725" y="1779630"/>
                  <a:ext cx="20373" cy="184469"/>
                  <a:chOff x="4792725" y="1779630"/>
                  <a:chExt cx="20373" cy="184469"/>
                </a:xfrm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A2C738F3-FC83-43C5-A382-ED8C51A91155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D191CDC3-65A9-4EA5-BC7F-F44F1EA85F9A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2158E5C-48D5-476A-A339-29B3883E324C}"/>
                    </a:ext>
                  </a:extLst>
                </p:cNvPr>
                <p:cNvGrpSpPr/>
                <p:nvPr/>
              </p:nvGrpSpPr>
              <p:grpSpPr>
                <a:xfrm>
                  <a:off x="4792909" y="2117209"/>
                  <a:ext cx="20189" cy="350491"/>
                  <a:chOff x="4792909" y="2117209"/>
                  <a:chExt cx="20189" cy="350491"/>
                </a:xfrm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AD025533-B1FA-42A2-98F6-F30B4A38D090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69F78498-EA59-4C73-B07E-657DBFB19624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221A097-D18D-4695-9B54-7507A486F47B}"/>
                    </a:ext>
                  </a:extLst>
                </p:cNvPr>
                <p:cNvGrpSpPr/>
                <p:nvPr/>
              </p:nvGrpSpPr>
              <p:grpSpPr>
                <a:xfrm>
                  <a:off x="4792909" y="2554402"/>
                  <a:ext cx="20189" cy="350491"/>
                  <a:chOff x="4792909" y="2554402"/>
                  <a:chExt cx="20189" cy="350491"/>
                </a:xfrm>
              </p:grpSpPr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E0ADC672-E9D0-46C9-9E00-02585C9CF66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20F6A225-E20C-47CE-A97B-4D4F46BBC50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C988A09-19BF-4E21-9EE4-601FB67FAD79}"/>
                    </a:ext>
                  </a:extLst>
                </p:cNvPr>
                <p:cNvSpPr/>
                <p:nvPr/>
              </p:nvSpPr>
              <p:spPr>
                <a:xfrm rot="10800000" flipV="1">
                  <a:off x="7378902" y="2231580"/>
                  <a:ext cx="20189" cy="557097"/>
                </a:xfrm>
                <a:custGeom>
                  <a:avLst/>
                  <a:gdLst>
                    <a:gd name="connsiteX0" fmla="*/ 12700 w 20189"/>
                    <a:gd name="connsiteY0" fmla="*/ 352 h 557097"/>
                    <a:gd name="connsiteX1" fmla="*/ 894 w 20189"/>
                    <a:gd name="connsiteY1" fmla="*/ 7731 h 557097"/>
                    <a:gd name="connsiteX2" fmla="*/ -28 w 20189"/>
                    <a:gd name="connsiteY2" fmla="*/ 11605 h 557097"/>
                    <a:gd name="connsiteX3" fmla="*/ -28 w 20189"/>
                    <a:gd name="connsiteY3" fmla="*/ 542138 h 557097"/>
                    <a:gd name="connsiteX4" fmla="*/ 894 w 20189"/>
                    <a:gd name="connsiteY4" fmla="*/ 547672 h 557097"/>
                    <a:gd name="connsiteX5" fmla="*/ 12700 w 20189"/>
                    <a:gd name="connsiteY5" fmla="*/ 557449 h 557097"/>
                    <a:gd name="connsiteX6" fmla="*/ 20079 w 20189"/>
                    <a:gd name="connsiteY6" fmla="*/ 557449 h 557097"/>
                    <a:gd name="connsiteX7" fmla="*/ 20079 w 20189"/>
                    <a:gd name="connsiteY7" fmla="*/ 352 h 557097"/>
                    <a:gd name="connsiteX8" fmla="*/ 12700 w 20189"/>
                    <a:gd name="connsiteY8" fmla="*/ 352 h 557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557097">
                      <a:moveTo>
                        <a:pt x="12700" y="352"/>
                      </a:moveTo>
                      <a:cubicBezTo>
                        <a:pt x="8457" y="1459"/>
                        <a:pt x="3477" y="4041"/>
                        <a:pt x="894" y="7731"/>
                      </a:cubicBezTo>
                      <a:cubicBezTo>
                        <a:pt x="341" y="8469"/>
                        <a:pt x="-28" y="10867"/>
                        <a:pt x="-28" y="11605"/>
                      </a:cubicBezTo>
                      <a:cubicBezTo>
                        <a:pt x="-28" y="47023"/>
                        <a:pt x="-28" y="361727"/>
                        <a:pt x="-28" y="542138"/>
                      </a:cubicBezTo>
                      <a:cubicBezTo>
                        <a:pt x="-28" y="542876"/>
                        <a:pt x="525" y="546750"/>
                        <a:pt x="894" y="547672"/>
                      </a:cubicBezTo>
                      <a:cubicBezTo>
                        <a:pt x="3108" y="553022"/>
                        <a:pt x="6797" y="554313"/>
                        <a:pt x="12700" y="557449"/>
                      </a:cubicBezTo>
                      <a:lnTo>
                        <a:pt x="20079" y="557449"/>
                      </a:lnTo>
                      <a:cubicBezTo>
                        <a:pt x="20079" y="547672"/>
                        <a:pt x="20263" y="9760"/>
                        <a:pt x="20079" y="352"/>
                      </a:cubicBezTo>
                      <a:lnTo>
                        <a:pt x="12700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DB272E3-A3C5-45C8-AD05-CDF4E19985F9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1D1C1C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03D3315-0D92-44CF-8DA0-C01C8926E5D8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A67949D-5DC0-4298-8F52-F85C5EF4D4B4}"/>
                    </a:ext>
                  </a:extLst>
                </p:cNvPr>
                <p:cNvSpPr/>
                <p:nvPr/>
              </p:nvSpPr>
              <p:spPr>
                <a:xfrm>
                  <a:off x="5953036" y="1318457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3429A65D-8A2B-44F0-9820-7C406D3759E9}"/>
                    </a:ext>
                  </a:extLst>
                </p:cNvPr>
                <p:cNvSpPr/>
                <p:nvPr/>
              </p:nvSpPr>
              <p:spPr>
                <a:xfrm>
                  <a:off x="5959493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1871 w 274859"/>
                    <a:gd name="connsiteY10" fmla="*/ 98 h 44272"/>
                    <a:gd name="connsiteX11" fmla="*/ 21871 w 274859"/>
                    <a:gd name="connsiteY11" fmla="*/ 44371 h 44272"/>
                    <a:gd name="connsiteX12" fmla="*/ 18551 w 274859"/>
                    <a:gd name="connsiteY12" fmla="*/ 44371 h 44272"/>
                    <a:gd name="connsiteX13" fmla="*/ 18551 w 274859"/>
                    <a:gd name="connsiteY13" fmla="*/ 98 h 44272"/>
                    <a:gd name="connsiteX14" fmla="*/ 21871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7842 w 274859"/>
                    <a:gd name="connsiteY30" fmla="*/ 98 h 44272"/>
                    <a:gd name="connsiteX31" fmla="*/ 57842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7842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572 w 274859"/>
                    <a:gd name="connsiteY62" fmla="*/ 44371 h 44272"/>
                    <a:gd name="connsiteX63" fmla="*/ 108572 w 274859"/>
                    <a:gd name="connsiteY63" fmla="*/ 98 h 44272"/>
                    <a:gd name="connsiteX64" fmla="*/ 111892 w 274859"/>
                    <a:gd name="connsiteY64" fmla="*/ 98 h 44272"/>
                    <a:gd name="connsiteX65" fmla="*/ 121669 w 274859"/>
                    <a:gd name="connsiteY65" fmla="*/ 98 h 44272"/>
                    <a:gd name="connsiteX66" fmla="*/ 121669 w 274859"/>
                    <a:gd name="connsiteY66" fmla="*/ 44371 h 44272"/>
                    <a:gd name="connsiteX67" fmla="*/ 118348 w 274859"/>
                    <a:gd name="connsiteY67" fmla="*/ 44371 h 44272"/>
                    <a:gd name="connsiteX68" fmla="*/ 118348 w 274859"/>
                    <a:gd name="connsiteY68" fmla="*/ 98 h 44272"/>
                    <a:gd name="connsiteX69" fmla="*/ 121669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640 w 274859"/>
                    <a:gd name="connsiteY85" fmla="*/ 98 h 44272"/>
                    <a:gd name="connsiteX86" fmla="*/ 157640 w 274859"/>
                    <a:gd name="connsiteY86" fmla="*/ 44371 h 44272"/>
                    <a:gd name="connsiteX87" fmla="*/ 154320 w 274859"/>
                    <a:gd name="connsiteY87" fmla="*/ 44371 h 44272"/>
                    <a:gd name="connsiteX88" fmla="*/ 154320 w 274859"/>
                    <a:gd name="connsiteY88" fmla="*/ 98 h 44272"/>
                    <a:gd name="connsiteX89" fmla="*/ 157640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467 w 274859"/>
                    <a:gd name="connsiteY120" fmla="*/ 98 h 44272"/>
                    <a:gd name="connsiteX121" fmla="*/ 221467 w 274859"/>
                    <a:gd name="connsiteY121" fmla="*/ 44371 h 44272"/>
                    <a:gd name="connsiteX122" fmla="*/ 218146 w 274859"/>
                    <a:gd name="connsiteY122" fmla="*/ 44371 h 44272"/>
                    <a:gd name="connsiteX123" fmla="*/ 218146 w 274859"/>
                    <a:gd name="connsiteY123" fmla="*/ 98 h 44272"/>
                    <a:gd name="connsiteX124" fmla="*/ 221467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438 w 274859"/>
                    <a:gd name="connsiteY140" fmla="*/ 98 h 44272"/>
                    <a:gd name="connsiteX141" fmla="*/ 257438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438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1871" y="98"/>
                      </a:moveTo>
                      <a:lnTo>
                        <a:pt x="21871" y="44371"/>
                      </a:lnTo>
                      <a:lnTo>
                        <a:pt x="18551" y="44371"/>
                      </a:lnTo>
                      <a:lnTo>
                        <a:pt x="18551" y="98"/>
                      </a:lnTo>
                      <a:lnTo>
                        <a:pt x="21871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7842" y="98"/>
                      </a:moveTo>
                      <a:lnTo>
                        <a:pt x="57842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7842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572" y="44371"/>
                      </a:lnTo>
                      <a:lnTo>
                        <a:pt x="108572" y="98"/>
                      </a:lnTo>
                      <a:lnTo>
                        <a:pt x="111892" y="98"/>
                      </a:lnTo>
                      <a:close/>
                      <a:moveTo>
                        <a:pt x="121669" y="98"/>
                      </a:moveTo>
                      <a:lnTo>
                        <a:pt x="121669" y="44371"/>
                      </a:lnTo>
                      <a:lnTo>
                        <a:pt x="118348" y="44371"/>
                      </a:lnTo>
                      <a:lnTo>
                        <a:pt x="118348" y="98"/>
                      </a:lnTo>
                      <a:lnTo>
                        <a:pt x="121669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640" y="98"/>
                      </a:moveTo>
                      <a:lnTo>
                        <a:pt x="157640" y="44371"/>
                      </a:lnTo>
                      <a:lnTo>
                        <a:pt x="154320" y="44371"/>
                      </a:lnTo>
                      <a:lnTo>
                        <a:pt x="154320" y="98"/>
                      </a:lnTo>
                      <a:lnTo>
                        <a:pt x="157640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467" y="98"/>
                      </a:moveTo>
                      <a:lnTo>
                        <a:pt x="221467" y="44371"/>
                      </a:lnTo>
                      <a:lnTo>
                        <a:pt x="218146" y="44371"/>
                      </a:lnTo>
                      <a:lnTo>
                        <a:pt x="218146" y="98"/>
                      </a:lnTo>
                      <a:lnTo>
                        <a:pt x="221467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438" y="98"/>
                      </a:moveTo>
                      <a:lnTo>
                        <a:pt x="257438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438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3DAC1102-615E-4B63-AF57-54A37A07F022}"/>
                    </a:ext>
                  </a:extLst>
                </p:cNvPr>
                <p:cNvSpPr/>
                <p:nvPr/>
              </p:nvSpPr>
              <p:spPr>
                <a:xfrm>
                  <a:off x="5951929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2055 w 274859"/>
                    <a:gd name="connsiteY10" fmla="*/ 98 h 44272"/>
                    <a:gd name="connsiteX11" fmla="*/ 22055 w 274859"/>
                    <a:gd name="connsiteY11" fmla="*/ 44371 h 44272"/>
                    <a:gd name="connsiteX12" fmla="*/ 18735 w 274859"/>
                    <a:gd name="connsiteY12" fmla="*/ 44371 h 44272"/>
                    <a:gd name="connsiteX13" fmla="*/ 18735 w 274859"/>
                    <a:gd name="connsiteY13" fmla="*/ 98 h 44272"/>
                    <a:gd name="connsiteX14" fmla="*/ 22055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8027 w 274859"/>
                    <a:gd name="connsiteY30" fmla="*/ 98 h 44272"/>
                    <a:gd name="connsiteX31" fmla="*/ 58027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8027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756 w 274859"/>
                    <a:gd name="connsiteY62" fmla="*/ 44371 h 44272"/>
                    <a:gd name="connsiteX63" fmla="*/ 108756 w 274859"/>
                    <a:gd name="connsiteY63" fmla="*/ 98 h 44272"/>
                    <a:gd name="connsiteX64" fmla="*/ 111892 w 274859"/>
                    <a:gd name="connsiteY64" fmla="*/ 98 h 44272"/>
                    <a:gd name="connsiteX65" fmla="*/ 121853 w 274859"/>
                    <a:gd name="connsiteY65" fmla="*/ 98 h 44272"/>
                    <a:gd name="connsiteX66" fmla="*/ 121853 w 274859"/>
                    <a:gd name="connsiteY66" fmla="*/ 44371 h 44272"/>
                    <a:gd name="connsiteX67" fmla="*/ 118533 w 274859"/>
                    <a:gd name="connsiteY67" fmla="*/ 44371 h 44272"/>
                    <a:gd name="connsiteX68" fmla="*/ 118533 w 274859"/>
                    <a:gd name="connsiteY68" fmla="*/ 98 h 44272"/>
                    <a:gd name="connsiteX69" fmla="*/ 121853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825 w 274859"/>
                    <a:gd name="connsiteY85" fmla="*/ 98 h 44272"/>
                    <a:gd name="connsiteX86" fmla="*/ 157825 w 274859"/>
                    <a:gd name="connsiteY86" fmla="*/ 44371 h 44272"/>
                    <a:gd name="connsiteX87" fmla="*/ 154504 w 274859"/>
                    <a:gd name="connsiteY87" fmla="*/ 44371 h 44272"/>
                    <a:gd name="connsiteX88" fmla="*/ 154504 w 274859"/>
                    <a:gd name="connsiteY88" fmla="*/ 98 h 44272"/>
                    <a:gd name="connsiteX89" fmla="*/ 157825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651 w 274859"/>
                    <a:gd name="connsiteY120" fmla="*/ 98 h 44272"/>
                    <a:gd name="connsiteX121" fmla="*/ 221651 w 274859"/>
                    <a:gd name="connsiteY121" fmla="*/ 44371 h 44272"/>
                    <a:gd name="connsiteX122" fmla="*/ 218331 w 274859"/>
                    <a:gd name="connsiteY122" fmla="*/ 44371 h 44272"/>
                    <a:gd name="connsiteX123" fmla="*/ 218331 w 274859"/>
                    <a:gd name="connsiteY123" fmla="*/ 98 h 44272"/>
                    <a:gd name="connsiteX124" fmla="*/ 221651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623 w 274859"/>
                    <a:gd name="connsiteY140" fmla="*/ 98 h 44272"/>
                    <a:gd name="connsiteX141" fmla="*/ 257623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623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2055" y="98"/>
                      </a:moveTo>
                      <a:lnTo>
                        <a:pt x="22055" y="44371"/>
                      </a:lnTo>
                      <a:lnTo>
                        <a:pt x="18735" y="44371"/>
                      </a:lnTo>
                      <a:lnTo>
                        <a:pt x="18735" y="98"/>
                      </a:lnTo>
                      <a:lnTo>
                        <a:pt x="22055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8027" y="98"/>
                      </a:moveTo>
                      <a:lnTo>
                        <a:pt x="58027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8027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756" y="44371"/>
                      </a:lnTo>
                      <a:lnTo>
                        <a:pt x="108756" y="98"/>
                      </a:lnTo>
                      <a:lnTo>
                        <a:pt x="111892" y="98"/>
                      </a:lnTo>
                      <a:close/>
                      <a:moveTo>
                        <a:pt x="121853" y="98"/>
                      </a:moveTo>
                      <a:lnTo>
                        <a:pt x="121853" y="44371"/>
                      </a:lnTo>
                      <a:lnTo>
                        <a:pt x="118533" y="44371"/>
                      </a:lnTo>
                      <a:lnTo>
                        <a:pt x="118533" y="98"/>
                      </a:lnTo>
                      <a:lnTo>
                        <a:pt x="121853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825" y="98"/>
                      </a:moveTo>
                      <a:lnTo>
                        <a:pt x="157825" y="44371"/>
                      </a:lnTo>
                      <a:lnTo>
                        <a:pt x="154504" y="44371"/>
                      </a:lnTo>
                      <a:lnTo>
                        <a:pt x="154504" y="98"/>
                      </a:lnTo>
                      <a:lnTo>
                        <a:pt x="157825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651" y="98"/>
                      </a:moveTo>
                      <a:lnTo>
                        <a:pt x="221651" y="44371"/>
                      </a:lnTo>
                      <a:lnTo>
                        <a:pt x="218331" y="44371"/>
                      </a:lnTo>
                      <a:lnTo>
                        <a:pt x="218331" y="98"/>
                      </a:lnTo>
                      <a:lnTo>
                        <a:pt x="221651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623" y="98"/>
                      </a:moveTo>
                      <a:lnTo>
                        <a:pt x="257623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623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82951AA-886B-4B29-9713-9B409D460B5F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000000">
                    <a:alpha val="4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49AC77B-EB99-4872-BB40-2946948D7539}"/>
                    </a:ext>
                  </a:extLst>
                </p:cNvPr>
                <p:cNvGrpSpPr/>
                <p:nvPr/>
              </p:nvGrpSpPr>
              <p:grpSpPr>
                <a:xfrm>
                  <a:off x="6312751" y="1290787"/>
                  <a:ext cx="77477" cy="77477"/>
                  <a:chOff x="6312751" y="1290787"/>
                  <a:chExt cx="77477" cy="77477"/>
                </a:xfrm>
              </p:grpSpPr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B56532BA-25E0-45A2-95DC-1C735DCE1F0A}"/>
                      </a:ext>
                    </a:extLst>
                  </p:cNvPr>
                  <p:cNvSpPr/>
                  <p:nvPr/>
                </p:nvSpPr>
                <p:spPr>
                  <a:xfrm>
                    <a:off x="6312751" y="1290787"/>
                    <a:ext cx="77477" cy="77477"/>
                  </a:xfrm>
                  <a:custGeom>
                    <a:avLst/>
                    <a:gdLst>
                      <a:gd name="connsiteX0" fmla="*/ 78329 w 77477"/>
                      <a:gd name="connsiteY0" fmla="*/ 38826 h 77477"/>
                      <a:gd name="connsiteX1" fmla="*/ 39591 w 77477"/>
                      <a:gd name="connsiteY1" fmla="*/ 77564 h 77477"/>
                      <a:gd name="connsiteX2" fmla="*/ 852 w 77477"/>
                      <a:gd name="connsiteY2" fmla="*/ 38826 h 77477"/>
                      <a:gd name="connsiteX3" fmla="*/ 39591 w 77477"/>
                      <a:gd name="connsiteY3" fmla="*/ 87 h 77477"/>
                      <a:gd name="connsiteX4" fmla="*/ 78329 w 77477"/>
                      <a:gd name="connsiteY4" fmla="*/ 38826 h 774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7477" h="77477">
                        <a:moveTo>
                          <a:pt x="78329" y="38826"/>
                        </a:moveTo>
                        <a:cubicBezTo>
                          <a:pt x="78329" y="60220"/>
                          <a:pt x="60985" y="77564"/>
                          <a:pt x="39591" y="77564"/>
                        </a:cubicBezTo>
                        <a:cubicBezTo>
                          <a:pt x="18196" y="77564"/>
                          <a:pt x="852" y="60220"/>
                          <a:pt x="852" y="38826"/>
                        </a:cubicBezTo>
                        <a:cubicBezTo>
                          <a:pt x="852" y="17431"/>
                          <a:pt x="18196" y="87"/>
                          <a:pt x="39591" y="87"/>
                        </a:cubicBezTo>
                        <a:cubicBezTo>
                          <a:pt x="60985" y="87"/>
                          <a:pt x="78329" y="17431"/>
                          <a:pt x="78329" y="38826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36D35815-BE71-4B48-B691-89DFBFF24EC3}"/>
                      </a:ext>
                    </a:extLst>
                  </p:cNvPr>
                  <p:cNvGrpSpPr/>
                  <p:nvPr/>
                </p:nvGrpSpPr>
                <p:grpSpPr>
                  <a:xfrm>
                    <a:off x="6331198" y="1309234"/>
                    <a:ext cx="40583" cy="40583"/>
                    <a:chOff x="6331198" y="1309234"/>
                    <a:chExt cx="40583" cy="40583"/>
                  </a:xfrm>
                </p:grpSpPr>
                <p:sp>
                  <p:nvSpPr>
                    <p:cNvPr id="33" name="Freeform: Shape 32">
                      <a:extLst>
                        <a:ext uri="{FF2B5EF4-FFF2-40B4-BE49-F238E27FC236}">
                          <a16:creationId xmlns:a16="http://schemas.microsoft.com/office/drawing/2014/main" id="{3C7A0E03-7DF9-49B0-9F48-A7CD6D1F7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id="{F8D1BA74-A441-444F-8BA7-9438F7AEB8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2A4893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923F97CF-00A4-4EEC-BE01-317AB947095D}"/>
                      </a:ext>
                    </a:extLst>
                  </p:cNvPr>
                  <p:cNvSpPr/>
                  <p:nvPr/>
                </p:nvSpPr>
                <p:spPr>
                  <a:xfrm>
                    <a:off x="6328425" y="1309261"/>
                    <a:ext cx="13877" cy="33223"/>
                  </a:xfrm>
                  <a:custGeom>
                    <a:avLst/>
                    <a:gdLst>
                      <a:gd name="connsiteX0" fmla="*/ 10266 w 13877"/>
                      <a:gd name="connsiteY0" fmla="*/ 14079 h 33223"/>
                      <a:gd name="connsiteX1" fmla="*/ 13402 w 13877"/>
                      <a:gd name="connsiteY1" fmla="*/ 428 h 33223"/>
                      <a:gd name="connsiteX2" fmla="*/ 3072 w 13877"/>
                      <a:gd name="connsiteY2" fmla="*/ 13157 h 33223"/>
                      <a:gd name="connsiteX3" fmla="*/ 7499 w 13877"/>
                      <a:gd name="connsiteY3" fmla="*/ 33264 h 33223"/>
                      <a:gd name="connsiteX4" fmla="*/ 10266 w 13877"/>
                      <a:gd name="connsiteY4" fmla="*/ 14079 h 33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877" h="33223">
                        <a:moveTo>
                          <a:pt x="10266" y="14079"/>
                        </a:moveTo>
                        <a:cubicBezTo>
                          <a:pt x="12111" y="6885"/>
                          <a:pt x="17092" y="1351"/>
                          <a:pt x="13402" y="428"/>
                        </a:cubicBezTo>
                        <a:cubicBezTo>
                          <a:pt x="9713" y="-494"/>
                          <a:pt x="8606" y="-494"/>
                          <a:pt x="3072" y="13157"/>
                        </a:cubicBezTo>
                        <a:cubicBezTo>
                          <a:pt x="-2462" y="26807"/>
                          <a:pt x="3626" y="32342"/>
                          <a:pt x="7499" y="33264"/>
                        </a:cubicBezTo>
                        <a:cubicBezTo>
                          <a:pt x="11373" y="34186"/>
                          <a:pt x="8422" y="21273"/>
                          <a:pt x="10266" y="14079"/>
                        </a:cubicBezTo>
                        <a:close/>
                      </a:path>
                    </a:pathLst>
                  </a:custGeom>
                  <a:solidFill>
                    <a:srgbClr val="3E89CC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4FDFFFE8-7AF1-45DA-9F9D-CCD9B1D1CF82}"/>
                      </a:ext>
                    </a:extLst>
                  </p:cNvPr>
                  <p:cNvSpPr/>
                  <p:nvPr/>
                </p:nvSpPr>
                <p:spPr>
                  <a:xfrm>
                    <a:off x="6355179" y="1309234"/>
                    <a:ext cx="23981" cy="31359"/>
                  </a:xfrm>
                  <a:custGeom>
                    <a:avLst/>
                    <a:gdLst>
                      <a:gd name="connsiteX0" fmla="*/ 24833 w 23981"/>
                      <a:gd name="connsiteY0" fmla="*/ 15767 h 31359"/>
                      <a:gd name="connsiteX1" fmla="*/ 12843 w 23981"/>
                      <a:gd name="connsiteY1" fmla="*/ 31447 h 31359"/>
                      <a:gd name="connsiteX2" fmla="*/ 852 w 23981"/>
                      <a:gd name="connsiteY2" fmla="*/ 15767 h 31359"/>
                      <a:gd name="connsiteX3" fmla="*/ 12843 w 23981"/>
                      <a:gd name="connsiteY3" fmla="*/ 87 h 31359"/>
                      <a:gd name="connsiteX4" fmla="*/ 24833 w 23981"/>
                      <a:gd name="connsiteY4" fmla="*/ 15767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81" h="31359">
                        <a:moveTo>
                          <a:pt x="24833" y="15767"/>
                        </a:moveTo>
                        <a:cubicBezTo>
                          <a:pt x="24833" y="24427"/>
                          <a:pt x="19465" y="31447"/>
                          <a:pt x="12843" y="31447"/>
                        </a:cubicBezTo>
                        <a:cubicBezTo>
                          <a:pt x="6220" y="31447"/>
                          <a:pt x="852" y="24427"/>
                          <a:pt x="852" y="15767"/>
                        </a:cubicBezTo>
                        <a:cubicBezTo>
                          <a:pt x="852" y="7107"/>
                          <a:pt x="6220" y="87"/>
                          <a:pt x="12843" y="87"/>
                        </a:cubicBezTo>
                        <a:cubicBezTo>
                          <a:pt x="19465" y="87"/>
                          <a:pt x="24833" y="7107"/>
                          <a:pt x="24833" y="15767"/>
                        </a:cubicBezTo>
                        <a:close/>
                      </a:path>
                    </a:pathLst>
                  </a:custGeom>
                  <a:solidFill>
                    <a:srgbClr val="1C5894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F1376EBA-7068-4ED3-B0DC-AC1C698FB128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6337479" y="1334149"/>
                    <a:ext cx="36156" cy="23612"/>
                  </a:xfrm>
                  <a:custGeom>
                    <a:avLst/>
                    <a:gdLst>
                      <a:gd name="connsiteX0" fmla="*/ 37009 w 36156"/>
                      <a:gd name="connsiteY0" fmla="*/ 11893 h 23612"/>
                      <a:gd name="connsiteX1" fmla="*/ 18930 w 36156"/>
                      <a:gd name="connsiteY1" fmla="*/ 23700 h 23612"/>
                      <a:gd name="connsiteX2" fmla="*/ 852 w 36156"/>
                      <a:gd name="connsiteY2" fmla="*/ 11893 h 23612"/>
                      <a:gd name="connsiteX3" fmla="*/ 18930 w 36156"/>
                      <a:gd name="connsiteY3" fmla="*/ 87 h 23612"/>
                      <a:gd name="connsiteX4" fmla="*/ 37009 w 36156"/>
                      <a:gd name="connsiteY4" fmla="*/ 11893 h 236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156" h="23612">
                        <a:moveTo>
                          <a:pt x="37009" y="11893"/>
                        </a:moveTo>
                        <a:cubicBezTo>
                          <a:pt x="37009" y="18414"/>
                          <a:pt x="28915" y="23700"/>
                          <a:pt x="18930" y="23700"/>
                        </a:cubicBezTo>
                        <a:cubicBezTo>
                          <a:pt x="8946" y="23700"/>
                          <a:pt x="852" y="18414"/>
                          <a:pt x="852" y="11893"/>
                        </a:cubicBezTo>
                        <a:cubicBezTo>
                          <a:pt x="852" y="5373"/>
                          <a:pt x="8946" y="87"/>
                          <a:pt x="18930" y="87"/>
                        </a:cubicBezTo>
                        <a:cubicBezTo>
                          <a:pt x="28915" y="87"/>
                          <a:pt x="37009" y="5373"/>
                          <a:pt x="37009" y="11893"/>
                        </a:cubicBezTo>
                        <a:close/>
                      </a:path>
                    </a:pathLst>
                  </a:custGeom>
                  <a:solidFill>
                    <a:srgbClr val="0A152B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617E552-B0D8-44A3-9D6C-1C4D98853C53}"/>
                    </a:ext>
                  </a:extLst>
                </p:cNvPr>
                <p:cNvSpPr/>
                <p:nvPr/>
              </p:nvSpPr>
              <p:spPr>
                <a:xfrm>
                  <a:off x="4120979" y="6276559"/>
                  <a:ext cx="3950043" cy="206381"/>
                </a:xfrm>
                <a:prstGeom prst="ellipse">
                  <a:avLst/>
                </a:prstGeom>
                <a:solidFill>
                  <a:schemeClr val="tx1">
                    <a:lumMod val="90000"/>
                    <a:lumOff val="10000"/>
                    <a:alpha val="50000"/>
                  </a:schemeClr>
                </a:solidFill>
                <a:ln>
                  <a:noFill/>
                </a:ln>
                <a:effectLst>
                  <a:softEdge rad="762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81F87F7F-8BB2-40FD-B319-6E82FA584A35}"/>
                  </a:ext>
                </a:extLst>
              </p:cNvPr>
              <p:cNvSpPr/>
              <p:nvPr/>
            </p:nvSpPr>
            <p:spPr>
              <a:xfrm>
                <a:off x="4951553" y="1274185"/>
                <a:ext cx="2290370" cy="4958166"/>
              </a:xfrm>
              <a:custGeom>
                <a:avLst/>
                <a:gdLst>
                  <a:gd name="connsiteX0" fmla="*/ 531201 w 2290370"/>
                  <a:gd name="connsiteY0" fmla="*/ 78 h 4958166"/>
                  <a:gd name="connsiteX1" fmla="*/ 564406 w 2290370"/>
                  <a:gd name="connsiteY1" fmla="*/ 33282 h 4958166"/>
                  <a:gd name="connsiteX2" fmla="*/ 580639 w 2290370"/>
                  <a:gd name="connsiteY2" fmla="*/ 107439 h 4958166"/>
                  <a:gd name="connsiteX3" fmla="*/ 626572 w 2290370"/>
                  <a:gd name="connsiteY3" fmla="*/ 153372 h 4958166"/>
                  <a:gd name="connsiteX4" fmla="*/ 711981 w 2290370"/>
                  <a:gd name="connsiteY4" fmla="*/ 169605 h 4958166"/>
                  <a:gd name="connsiteX5" fmla="*/ 711981 w 2290370"/>
                  <a:gd name="connsiteY5" fmla="*/ 169605 h 4958166"/>
                  <a:gd name="connsiteX6" fmla="*/ 1578618 w 2290370"/>
                  <a:gd name="connsiteY6" fmla="*/ 169605 h 4958166"/>
                  <a:gd name="connsiteX7" fmla="*/ 1664027 w 2290370"/>
                  <a:gd name="connsiteY7" fmla="*/ 153372 h 4958166"/>
                  <a:gd name="connsiteX8" fmla="*/ 1709960 w 2290370"/>
                  <a:gd name="connsiteY8" fmla="*/ 107439 h 4958166"/>
                  <a:gd name="connsiteX9" fmla="*/ 1726193 w 2290370"/>
                  <a:gd name="connsiteY9" fmla="*/ 33282 h 4958166"/>
                  <a:gd name="connsiteX10" fmla="*/ 1759398 w 2290370"/>
                  <a:gd name="connsiteY10" fmla="*/ 78 h 4958166"/>
                  <a:gd name="connsiteX11" fmla="*/ 1759398 w 2290370"/>
                  <a:gd name="connsiteY11" fmla="*/ 78 h 4958166"/>
                  <a:gd name="connsiteX12" fmla="*/ 2013965 w 2290370"/>
                  <a:gd name="connsiteY12" fmla="*/ 78 h 4958166"/>
                  <a:gd name="connsiteX13" fmla="*/ 2180172 w 2290370"/>
                  <a:gd name="connsiteY13" fmla="*/ 28855 h 4958166"/>
                  <a:gd name="connsiteX14" fmla="*/ 2261708 w 2290370"/>
                  <a:gd name="connsiteY14" fmla="*/ 110391 h 4958166"/>
                  <a:gd name="connsiteX15" fmla="*/ 2290485 w 2290370"/>
                  <a:gd name="connsiteY15" fmla="*/ 276597 h 4958166"/>
                  <a:gd name="connsiteX16" fmla="*/ 2290485 w 2290370"/>
                  <a:gd name="connsiteY16" fmla="*/ 4681725 h 4958166"/>
                  <a:gd name="connsiteX17" fmla="*/ 2261708 w 2290370"/>
                  <a:gd name="connsiteY17" fmla="*/ 4847932 h 4958166"/>
                  <a:gd name="connsiteX18" fmla="*/ 2180172 w 2290370"/>
                  <a:gd name="connsiteY18" fmla="*/ 4929467 h 4958166"/>
                  <a:gd name="connsiteX19" fmla="*/ 2013965 w 2290370"/>
                  <a:gd name="connsiteY19" fmla="*/ 4958244 h 4958166"/>
                  <a:gd name="connsiteX20" fmla="*/ 276633 w 2290370"/>
                  <a:gd name="connsiteY20" fmla="*/ 4958244 h 4958166"/>
                  <a:gd name="connsiteX21" fmla="*/ 110427 w 2290370"/>
                  <a:gd name="connsiteY21" fmla="*/ 4929467 h 4958166"/>
                  <a:gd name="connsiteX22" fmla="*/ 28891 w 2290370"/>
                  <a:gd name="connsiteY22" fmla="*/ 4847932 h 4958166"/>
                  <a:gd name="connsiteX23" fmla="*/ 114 w 2290370"/>
                  <a:gd name="connsiteY23" fmla="*/ 4681725 h 4958166"/>
                  <a:gd name="connsiteX24" fmla="*/ 114 w 2290370"/>
                  <a:gd name="connsiteY24" fmla="*/ 276782 h 4958166"/>
                  <a:gd name="connsiteX25" fmla="*/ 28891 w 2290370"/>
                  <a:gd name="connsiteY25" fmla="*/ 110575 h 4958166"/>
                  <a:gd name="connsiteX26" fmla="*/ 110427 w 2290370"/>
                  <a:gd name="connsiteY26" fmla="*/ 29040 h 4958166"/>
                  <a:gd name="connsiteX27" fmla="*/ 276633 w 2290370"/>
                  <a:gd name="connsiteY27" fmla="*/ 78 h 4958166"/>
                  <a:gd name="connsiteX28" fmla="*/ 531201 w 2290370"/>
                  <a:gd name="connsiteY28" fmla="*/ 78 h 495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290370" h="4958166">
                    <a:moveTo>
                      <a:pt x="531201" y="78"/>
                    </a:moveTo>
                    <a:cubicBezTo>
                      <a:pt x="549464" y="78"/>
                      <a:pt x="563852" y="15020"/>
                      <a:pt x="564406" y="33282"/>
                    </a:cubicBezTo>
                    <a:cubicBezTo>
                      <a:pt x="565328" y="69992"/>
                      <a:pt x="571046" y="89361"/>
                      <a:pt x="580639" y="107439"/>
                    </a:cubicBezTo>
                    <a:cubicBezTo>
                      <a:pt x="591338" y="127362"/>
                      <a:pt x="606834" y="142857"/>
                      <a:pt x="626572" y="153372"/>
                    </a:cubicBezTo>
                    <a:cubicBezTo>
                      <a:pt x="646494" y="164071"/>
                      <a:pt x="667708" y="169605"/>
                      <a:pt x="711981" y="169605"/>
                    </a:cubicBezTo>
                    <a:lnTo>
                      <a:pt x="711981" y="169605"/>
                    </a:lnTo>
                    <a:lnTo>
                      <a:pt x="1578618" y="169605"/>
                    </a:lnTo>
                    <a:cubicBezTo>
                      <a:pt x="1622890" y="169605"/>
                      <a:pt x="1644289" y="163887"/>
                      <a:pt x="1664027" y="153372"/>
                    </a:cubicBezTo>
                    <a:cubicBezTo>
                      <a:pt x="1683950" y="142673"/>
                      <a:pt x="1699445" y="127177"/>
                      <a:pt x="1709960" y="107439"/>
                    </a:cubicBezTo>
                    <a:cubicBezTo>
                      <a:pt x="1719552" y="89361"/>
                      <a:pt x="1725086" y="69992"/>
                      <a:pt x="1726193" y="33282"/>
                    </a:cubicBezTo>
                    <a:cubicBezTo>
                      <a:pt x="1726747" y="15020"/>
                      <a:pt x="1741135" y="78"/>
                      <a:pt x="1759398" y="78"/>
                    </a:cubicBezTo>
                    <a:lnTo>
                      <a:pt x="1759398" y="78"/>
                    </a:lnTo>
                    <a:lnTo>
                      <a:pt x="2013965" y="78"/>
                    </a:lnTo>
                    <a:cubicBezTo>
                      <a:pt x="2110258" y="78"/>
                      <a:pt x="2145123" y="10039"/>
                      <a:pt x="2180172" y="28855"/>
                    </a:cubicBezTo>
                    <a:cubicBezTo>
                      <a:pt x="2215221" y="47671"/>
                      <a:pt x="2242892" y="75341"/>
                      <a:pt x="2261708" y="110391"/>
                    </a:cubicBezTo>
                    <a:cubicBezTo>
                      <a:pt x="2280524" y="145624"/>
                      <a:pt x="2290485" y="180489"/>
                      <a:pt x="2290485" y="276597"/>
                    </a:cubicBezTo>
                    <a:lnTo>
                      <a:pt x="2290485" y="4681725"/>
                    </a:lnTo>
                    <a:cubicBezTo>
                      <a:pt x="2290485" y="4778018"/>
                      <a:pt x="2280524" y="4812883"/>
                      <a:pt x="2261708" y="4847932"/>
                    </a:cubicBezTo>
                    <a:cubicBezTo>
                      <a:pt x="2242892" y="4883165"/>
                      <a:pt x="2215221" y="4910651"/>
                      <a:pt x="2180172" y="4929467"/>
                    </a:cubicBezTo>
                    <a:cubicBezTo>
                      <a:pt x="2144939" y="4948283"/>
                      <a:pt x="2110074" y="4958244"/>
                      <a:pt x="2013965" y="4958244"/>
                    </a:cubicBezTo>
                    <a:lnTo>
                      <a:pt x="276633" y="4958244"/>
                    </a:lnTo>
                    <a:cubicBezTo>
                      <a:pt x="180341" y="4958244"/>
                      <a:pt x="145476" y="4948283"/>
                      <a:pt x="110427" y="4929467"/>
                    </a:cubicBezTo>
                    <a:cubicBezTo>
                      <a:pt x="75193" y="4910651"/>
                      <a:pt x="47707" y="4882981"/>
                      <a:pt x="28891" y="4847932"/>
                    </a:cubicBezTo>
                    <a:cubicBezTo>
                      <a:pt x="10075" y="4812883"/>
                      <a:pt x="114" y="4777833"/>
                      <a:pt x="114" y="4681725"/>
                    </a:cubicBezTo>
                    <a:lnTo>
                      <a:pt x="114" y="276782"/>
                    </a:lnTo>
                    <a:cubicBezTo>
                      <a:pt x="114" y="180489"/>
                      <a:pt x="10075" y="145624"/>
                      <a:pt x="28891" y="110575"/>
                    </a:cubicBezTo>
                    <a:cubicBezTo>
                      <a:pt x="47707" y="75526"/>
                      <a:pt x="75377" y="47856"/>
                      <a:pt x="110427" y="29040"/>
                    </a:cubicBezTo>
                    <a:cubicBezTo>
                      <a:pt x="145476" y="10224"/>
                      <a:pt x="180341" y="78"/>
                      <a:pt x="276633" y="78"/>
                    </a:cubicBezTo>
                    <a:lnTo>
                      <a:pt x="531201" y="78"/>
                    </a:lnTo>
                    <a:close/>
                  </a:path>
                </a:pathLst>
              </a:custGeom>
              <a:blipFill rotWithShape="0">
                <a:blip r:embed="rId3"/>
                <a:srcRect/>
                <a:stretch>
                  <a:fillRect l="-209350" r="-20935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78D50AB-A9FC-421E-BE0B-AFCEA942FD29}"/>
                </a:ext>
              </a:extLst>
            </p:cNvPr>
            <p:cNvGrpSpPr/>
            <p:nvPr/>
          </p:nvGrpSpPr>
          <p:grpSpPr>
            <a:xfrm>
              <a:off x="4148757" y="1887488"/>
              <a:ext cx="2001232" cy="1349663"/>
              <a:chOff x="4425744" y="1962755"/>
              <a:chExt cx="2001232" cy="1349663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4B47FC-552B-4E58-B0FC-E8514C09F091}"/>
                  </a:ext>
                </a:extLst>
              </p:cNvPr>
              <p:cNvSpPr txBox="1"/>
              <p:nvPr/>
            </p:nvSpPr>
            <p:spPr>
              <a:xfrm>
                <a:off x="4425744" y="2543650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长青基本盘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B62876-0EF4-4A8A-9BDF-2637F7962C00}"/>
                  </a:ext>
                </a:extLst>
              </p:cNvPr>
              <p:cNvSpPr txBox="1"/>
              <p:nvPr/>
            </p:nvSpPr>
            <p:spPr>
              <a:xfrm>
                <a:off x="4447763" y="2795995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本地信息撮合需求长期稳定存在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6BC2D56-0D0B-4BD0-BABB-D4DAABE0E6D6}"/>
                  </a:ext>
                </a:extLst>
              </p:cNvPr>
              <p:cNvGrpSpPr/>
              <p:nvPr/>
            </p:nvGrpSpPr>
            <p:grpSpPr>
              <a:xfrm>
                <a:off x="4535874" y="1962755"/>
                <a:ext cx="410200" cy="410198"/>
                <a:chOff x="3526795" y="4024421"/>
                <a:chExt cx="410200" cy="410198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25EB9CC-5F89-4E30-B23E-18135552EE4D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6A00C2CC-9985-4D8C-A248-1E2523D9DC1E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BBBB039-D1B4-496D-8E6E-682998A218A0}"/>
                </a:ext>
              </a:extLst>
            </p:cNvPr>
            <p:cNvGrpSpPr/>
            <p:nvPr/>
          </p:nvGrpSpPr>
          <p:grpSpPr>
            <a:xfrm>
              <a:off x="6835238" y="1889350"/>
              <a:ext cx="2001232" cy="1567540"/>
              <a:chOff x="6971706" y="1964617"/>
              <a:chExt cx="2001232" cy="1567540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4417E9D-CD48-43D5-A3E3-43635721DC0A}"/>
                  </a:ext>
                </a:extLst>
              </p:cNvPr>
              <p:cNvGrpSpPr/>
              <p:nvPr/>
            </p:nvGrpSpPr>
            <p:grpSpPr>
              <a:xfrm>
                <a:off x="7092912" y="1964617"/>
                <a:ext cx="410200" cy="410198"/>
                <a:chOff x="4471992" y="4024421"/>
                <a:chExt cx="410200" cy="41019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E2154ED-6480-49E9-A7E6-509E844F4797}"/>
                    </a:ext>
                  </a:extLst>
                </p:cNvPr>
                <p:cNvSpPr/>
                <p:nvPr/>
              </p:nvSpPr>
              <p:spPr>
                <a:xfrm>
                  <a:off x="4471992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18079B30-A7D1-49A9-8421-0681C82FE30F}"/>
                    </a:ext>
                  </a:extLst>
                </p:cNvPr>
                <p:cNvSpPr/>
                <p:nvPr/>
              </p:nvSpPr>
              <p:spPr>
                <a:xfrm>
                  <a:off x="4595899" y="4146869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84379D-ED87-4118-880C-F8E5BAB7EE37}"/>
                  </a:ext>
                </a:extLst>
              </p:cNvPr>
              <p:cNvSpPr txBox="1"/>
              <p:nvPr/>
            </p:nvSpPr>
            <p:spPr>
              <a:xfrm>
                <a:off x="6971706" y="2541789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5km 心智已验证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F18548-79A0-4720-AFC8-BD955F6DD4B4}"/>
                  </a:ext>
                </a:extLst>
              </p:cNvPr>
              <p:cNvSpPr txBox="1"/>
              <p:nvPr/>
            </p:nvSpPr>
            <p:spPr>
              <a:xfrm>
                <a:off x="6993725" y="2794134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社区团购与即时配送均扎根 5 公里，用户对「就近」的心智已经成熟。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625B1BF-7B2F-4C29-A676-2A507DFA2211}"/>
                </a:ext>
              </a:extLst>
            </p:cNvPr>
            <p:cNvGrpSpPr/>
            <p:nvPr/>
          </p:nvGrpSpPr>
          <p:grpSpPr>
            <a:xfrm>
              <a:off x="9517668" y="1891211"/>
              <a:ext cx="2001232" cy="1563817"/>
              <a:chOff x="9517668" y="1966478"/>
              <a:chExt cx="2001232" cy="156381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181401E-6106-4F4E-A742-B4D4FDD035B3}"/>
                  </a:ext>
                </a:extLst>
              </p:cNvPr>
              <p:cNvGrpSpPr/>
              <p:nvPr/>
            </p:nvGrpSpPr>
            <p:grpSpPr>
              <a:xfrm>
                <a:off x="9639767" y="1966478"/>
                <a:ext cx="410200" cy="410198"/>
                <a:chOff x="5417189" y="4024421"/>
                <a:chExt cx="410200" cy="410198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78748C9B-FF66-4C79-A184-D444CC9DBC72}"/>
                    </a:ext>
                  </a:extLst>
                </p:cNvPr>
                <p:cNvSpPr/>
                <p:nvPr/>
              </p:nvSpPr>
              <p:spPr>
                <a:xfrm>
                  <a:off x="5417189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E1F291E-169D-4A43-B88D-B8F1EA86BA6A}"/>
                    </a:ext>
                  </a:extLst>
                </p:cNvPr>
                <p:cNvSpPr/>
                <p:nvPr/>
              </p:nvSpPr>
              <p:spPr>
                <a:xfrm>
                  <a:off x="5533289" y="415860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F5803FD-8768-40B3-BF11-75A563F99CB9}"/>
                  </a:ext>
                </a:extLst>
              </p:cNvPr>
              <p:cNvSpPr txBox="1"/>
              <p:nvPr/>
            </p:nvSpPr>
            <p:spPr>
              <a:xfrm>
                <a:off x="9517668" y="2539927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缝隙市场机会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5FEC3F-5C9F-42EF-BD94-001FC2EFE4F5}"/>
                  </a:ext>
                </a:extLst>
              </p:cNvPr>
              <p:cNvSpPr txBox="1"/>
              <p:nvPr/>
            </p:nvSpPr>
            <p:spPr>
              <a:xfrm>
                <a:off x="9539687" y="2792272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双向发布是未被满足的缝隙市场，本品有机会成为细分定义者。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1212BBF-0806-4EC6-9FFA-78A28326BAB7}"/>
                </a:ext>
              </a:extLst>
            </p:cNvPr>
            <p:cNvGrpSpPr/>
            <p:nvPr/>
          </p:nvGrpSpPr>
          <p:grpSpPr>
            <a:xfrm>
              <a:off x="4148757" y="4282825"/>
              <a:ext cx="7291258" cy="776592"/>
              <a:chOff x="4148757" y="4282825"/>
              <a:chExt cx="7291258" cy="776592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AFDB6-B6FA-4D5B-959B-D3A48B7F015F}"/>
                  </a:ext>
                </a:extLst>
              </p:cNvPr>
              <p:cNvSpPr txBox="1"/>
              <p:nvPr/>
            </p:nvSpPr>
            <p:spPr>
              <a:xfrm>
                <a:off x="4148757" y="4282825"/>
                <a:ext cx="725721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市场规模判断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D214761-8A8E-42C4-B5AE-7D85CFF7F959}"/>
                  </a:ext>
                </a:extLst>
              </p:cNvPr>
              <p:cNvSpPr txBox="1"/>
              <p:nvPr/>
            </p:nvSpPr>
            <p:spPr>
              <a:xfrm>
                <a:off x="4182798" y="4764593"/>
                <a:ext cx="7257217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同城生活服务是长青基本盘，不依赖单一风口。</a:t>
                </a:r>
              </a:p>
            </p:txBody>
          </p:sp>
        </p:grpSp>
      </p:grpSp>
      <p:sp>
        <p:nvSpPr>
          <p:cNvPr id="103" name="Title 10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市场规模与机会判断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386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îSľíḑê"/>
          <p:cNvGrpSpPr/>
          <p:nvPr/>
        </p:nvGrpSpPr>
        <p:grpSpPr>
          <a:xfrm>
            <a:off x="911092" y="1318696"/>
            <a:ext cx="10606121" cy="4230181"/>
            <a:chOff x="911092" y="1318696"/>
            <a:chExt cx="10606121" cy="4230181"/>
          </a:xfrm>
        </p:grpSpPr>
        <p:sp>
          <p:nvSpPr>
            <p:cNvPr id="5" name="ïš1iḓê">
              <a:extLst>
                <a:ext uri="{FF2B5EF4-FFF2-40B4-BE49-F238E27FC236}">
                  <a16:creationId xmlns:a16="http://schemas.microsoft.com/office/drawing/2014/main" id="{253C882E-161E-4D4A-B0F6-5263477A987F}"/>
                </a:ext>
              </a:extLst>
            </p:cNvPr>
            <p:cNvSpPr/>
            <p:nvPr/>
          </p:nvSpPr>
          <p:spPr>
            <a:xfrm>
              <a:off x="911092" y="1654227"/>
              <a:ext cx="3549546" cy="3549546"/>
            </a:xfrm>
            <a:prstGeom prst="ellipse">
              <a:avLst/>
            </a:prstGeom>
            <a:blipFill rotWithShape="0">
              <a:blip r:embed="rId3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26" name="îṣliḑé">
              <a:extLst>
                <a:ext uri="{FF2B5EF4-FFF2-40B4-BE49-F238E27FC236}">
                  <a16:creationId xmlns:a16="http://schemas.microsoft.com/office/drawing/2014/main" id="{190E993A-32AE-4748-822B-ED443D0DD249}"/>
                </a:ext>
              </a:extLst>
            </p:cNvPr>
            <p:cNvGrpSpPr/>
            <p:nvPr/>
          </p:nvGrpSpPr>
          <p:grpSpPr>
            <a:xfrm>
              <a:off x="5648902" y="3082435"/>
              <a:ext cx="410200" cy="410198"/>
              <a:chOff x="6844265" y="4734713"/>
              <a:chExt cx="410200" cy="410198"/>
            </a:xfrm>
          </p:grpSpPr>
          <p:sp>
            <p:nvSpPr>
              <p:cNvPr id="27" name="ïśḻïḋè">
                <a:extLst>
                  <a:ext uri="{FF2B5EF4-FFF2-40B4-BE49-F238E27FC236}">
                    <a16:creationId xmlns:a16="http://schemas.microsoft.com/office/drawing/2014/main" id="{62207146-74F7-4C12-B1BA-BB40DD3BCB44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ïšľiḑé">
                <a:extLst>
                  <a:ext uri="{FF2B5EF4-FFF2-40B4-BE49-F238E27FC236}">
                    <a16:creationId xmlns:a16="http://schemas.microsoft.com/office/drawing/2014/main" id="{58FE8B58-6B95-40ED-BF43-E2133A2CF1F1}"/>
                  </a:ext>
                </a:extLst>
              </p:cNvPr>
              <p:cNvSpPr/>
              <p:nvPr/>
            </p:nvSpPr>
            <p:spPr>
              <a:xfrm>
                <a:off x="6960365" y="4868892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išḷiḑê">
              <a:extLst>
                <a:ext uri="{FF2B5EF4-FFF2-40B4-BE49-F238E27FC236}">
                  <a16:creationId xmlns:a16="http://schemas.microsoft.com/office/drawing/2014/main" id="{E06BD52C-CF37-4754-B19A-969D5B9AD9FC}"/>
                </a:ext>
              </a:extLst>
            </p:cNvPr>
            <p:cNvGrpSpPr/>
            <p:nvPr/>
          </p:nvGrpSpPr>
          <p:grpSpPr>
            <a:xfrm>
              <a:off x="5648902" y="4520821"/>
              <a:ext cx="410200" cy="410198"/>
              <a:chOff x="6844265" y="4734713"/>
              <a:chExt cx="410200" cy="410198"/>
            </a:xfrm>
          </p:grpSpPr>
          <p:sp>
            <p:nvSpPr>
              <p:cNvPr id="30" name="íṥlïḋé">
                <a:extLst>
                  <a:ext uri="{FF2B5EF4-FFF2-40B4-BE49-F238E27FC236}">
                    <a16:creationId xmlns:a16="http://schemas.microsoft.com/office/drawing/2014/main" id="{70CD2065-F949-43E6-B421-6B4A8B1C2C68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ïşļîḓe">
                <a:extLst>
                  <a:ext uri="{FF2B5EF4-FFF2-40B4-BE49-F238E27FC236}">
                    <a16:creationId xmlns:a16="http://schemas.microsoft.com/office/drawing/2014/main" id="{D2EC9E46-05AA-4A70-B8F1-803B5BE9013C}"/>
                  </a:ext>
                </a:extLst>
              </p:cNvPr>
              <p:cNvSpPr/>
              <p:nvPr/>
            </p:nvSpPr>
            <p:spPr>
              <a:xfrm>
                <a:off x="6960365" y="4875291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" name="iṥlîḑé">
              <a:extLst>
                <a:ext uri="{FF2B5EF4-FFF2-40B4-BE49-F238E27FC236}">
                  <a16:creationId xmlns:a16="http://schemas.microsoft.com/office/drawing/2014/main" id="{FD167308-E241-41B2-88E9-717A0F088F19}"/>
                </a:ext>
              </a:extLst>
            </p:cNvPr>
            <p:cNvGrpSpPr/>
            <p:nvPr/>
          </p:nvGrpSpPr>
          <p:grpSpPr>
            <a:xfrm>
              <a:off x="8850018" y="3082435"/>
              <a:ext cx="410200" cy="410198"/>
              <a:chOff x="6844265" y="4734713"/>
              <a:chExt cx="410200" cy="410198"/>
            </a:xfrm>
          </p:grpSpPr>
          <p:sp>
            <p:nvSpPr>
              <p:cNvPr id="33" name="ïşľide">
                <a:extLst>
                  <a:ext uri="{FF2B5EF4-FFF2-40B4-BE49-F238E27FC236}">
                    <a16:creationId xmlns:a16="http://schemas.microsoft.com/office/drawing/2014/main" id="{9C64E9BE-5E20-4F27-B4D8-84B19D8694EC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ïṡľîḍê">
                <a:extLst>
                  <a:ext uri="{FF2B5EF4-FFF2-40B4-BE49-F238E27FC236}">
                    <a16:creationId xmlns:a16="http://schemas.microsoft.com/office/drawing/2014/main" id="{F85A7931-B1D5-407E-B989-49639C5D3841}"/>
                  </a:ext>
                </a:extLst>
              </p:cNvPr>
              <p:cNvSpPr/>
              <p:nvPr/>
            </p:nvSpPr>
            <p:spPr>
              <a:xfrm>
                <a:off x="6960364" y="4855575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íṩļíḍe">
              <a:extLst>
                <a:ext uri="{FF2B5EF4-FFF2-40B4-BE49-F238E27FC236}">
                  <a16:creationId xmlns:a16="http://schemas.microsoft.com/office/drawing/2014/main" id="{C22CA046-B32F-44EC-8E2A-60327D417977}"/>
                </a:ext>
              </a:extLst>
            </p:cNvPr>
            <p:cNvGrpSpPr/>
            <p:nvPr/>
          </p:nvGrpSpPr>
          <p:grpSpPr>
            <a:xfrm>
              <a:off x="8850018" y="4520821"/>
              <a:ext cx="410200" cy="410198"/>
              <a:chOff x="6844265" y="4734713"/>
              <a:chExt cx="410200" cy="410198"/>
            </a:xfrm>
          </p:grpSpPr>
          <p:sp>
            <p:nvSpPr>
              <p:cNvPr id="36" name="íśḻiḍê">
                <a:extLst>
                  <a:ext uri="{FF2B5EF4-FFF2-40B4-BE49-F238E27FC236}">
                    <a16:creationId xmlns:a16="http://schemas.microsoft.com/office/drawing/2014/main" id="{BA32A21E-1F21-4CA9-B835-59AAF90D771A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ïṣļiḓe">
                <a:extLst>
                  <a:ext uri="{FF2B5EF4-FFF2-40B4-BE49-F238E27FC236}">
                    <a16:creationId xmlns:a16="http://schemas.microsoft.com/office/drawing/2014/main" id="{585A46FF-8F1E-4C0D-8EC6-207632EF86A5}"/>
                  </a:ext>
                </a:extLst>
              </p:cNvPr>
              <p:cNvSpPr/>
              <p:nvPr/>
            </p:nvSpPr>
            <p:spPr>
              <a:xfrm>
                <a:off x="6960365" y="4855582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ïsľïḋê">
              <a:extLst>
                <a:ext uri="{FF2B5EF4-FFF2-40B4-BE49-F238E27FC236}">
                  <a16:creationId xmlns:a16="http://schemas.microsoft.com/office/drawing/2014/main" id="{B6C4F9D5-92E5-4F4E-8AF3-67AD59F536A4}"/>
                </a:ext>
              </a:extLst>
            </p:cNvPr>
            <p:cNvSpPr txBox="1"/>
            <p:nvPr/>
          </p:nvSpPr>
          <p:spPr>
            <a:xfrm>
              <a:off x="6106962" y="3033914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地图心智成熟</a:t>
              </a:r>
            </a:p>
          </p:txBody>
        </p:sp>
        <p:sp>
          <p:nvSpPr>
            <p:cNvPr id="41" name="ísḷïďe">
              <a:extLst>
                <a:ext uri="{FF2B5EF4-FFF2-40B4-BE49-F238E27FC236}">
                  <a16:creationId xmlns:a16="http://schemas.microsoft.com/office/drawing/2014/main" id="{34A3F051-E186-4F06-83EF-22C1E5D583DE}"/>
                </a:ext>
              </a:extLst>
            </p:cNvPr>
            <p:cNvSpPr txBox="1"/>
            <p:nvPr/>
          </p:nvSpPr>
          <p:spPr>
            <a:xfrm>
              <a:off x="6106962" y="3372468"/>
              <a:ext cx="2063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地图交互成为本地产品标配，模板化填表被广泛接受。</a:t>
              </a:r>
            </a:p>
          </p:txBody>
        </p:sp>
        <p:sp>
          <p:nvSpPr>
            <p:cNvPr id="45" name="íSļîḍé">
              <a:extLst>
                <a:ext uri="{FF2B5EF4-FFF2-40B4-BE49-F238E27FC236}">
                  <a16:creationId xmlns:a16="http://schemas.microsoft.com/office/drawing/2014/main" id="{18697D99-E004-4340-A797-6D66C79C77AA}"/>
                </a:ext>
              </a:extLst>
            </p:cNvPr>
            <p:cNvSpPr txBox="1"/>
            <p:nvPr/>
          </p:nvSpPr>
          <p:spPr>
            <a:xfrm>
              <a:off x="9308078" y="3033914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信任成为预期</a:t>
              </a:r>
            </a:p>
          </p:txBody>
        </p:sp>
        <p:sp>
          <p:nvSpPr>
            <p:cNvPr id="46" name="íśļiḋè">
              <a:extLst>
                <a:ext uri="{FF2B5EF4-FFF2-40B4-BE49-F238E27FC236}">
                  <a16:creationId xmlns:a16="http://schemas.microsoft.com/office/drawing/2014/main" id="{2C5FD786-1876-4632-ADE7-5C72952B953C}"/>
                </a:ext>
              </a:extLst>
            </p:cNvPr>
            <p:cNvSpPr txBox="1"/>
            <p:nvPr/>
          </p:nvSpPr>
          <p:spPr>
            <a:xfrm>
              <a:off x="9308078" y="3372468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隐私与信任意识提升，实名认证已成为基本预期而非加分项。</a:t>
              </a:r>
            </a:p>
          </p:txBody>
        </p:sp>
        <p:sp>
          <p:nvSpPr>
            <p:cNvPr id="53" name="ïsļïḓê">
              <a:extLst>
                <a:ext uri="{FF2B5EF4-FFF2-40B4-BE49-F238E27FC236}">
                  <a16:creationId xmlns:a16="http://schemas.microsoft.com/office/drawing/2014/main" id="{0409D96F-FAB1-4EE7-9072-585FD80602B9}"/>
                </a:ext>
              </a:extLst>
            </p:cNvPr>
            <p:cNvSpPr txBox="1"/>
            <p:nvPr/>
          </p:nvSpPr>
          <p:spPr>
            <a:xfrm>
              <a:off x="6106962" y="4472300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即时性升级</a:t>
              </a:r>
            </a:p>
          </p:txBody>
        </p:sp>
        <p:sp>
          <p:nvSpPr>
            <p:cNvPr id="54" name="íṣ1ïḑè">
              <a:extLst>
                <a:ext uri="{FF2B5EF4-FFF2-40B4-BE49-F238E27FC236}">
                  <a16:creationId xmlns:a16="http://schemas.microsoft.com/office/drawing/2014/main" id="{D350C740-E3F7-4AD6-91F5-0040670B866E}"/>
                </a:ext>
              </a:extLst>
            </p:cNvPr>
            <p:cNvSpPr txBox="1"/>
            <p:nvPr/>
          </p:nvSpPr>
          <p:spPr>
            <a:xfrm>
              <a:off x="6106962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用户对响应即时性要求提升，近场撮合天然满足即时需求。</a:t>
              </a:r>
            </a:p>
          </p:txBody>
        </p:sp>
        <p:sp>
          <p:nvSpPr>
            <p:cNvPr id="55" name="íṣļîďê">
              <a:extLst>
                <a:ext uri="{FF2B5EF4-FFF2-40B4-BE49-F238E27FC236}">
                  <a16:creationId xmlns:a16="http://schemas.microsoft.com/office/drawing/2014/main" id="{EEFD889E-8639-42C6-9EC7-18DB8963EDD2}"/>
                </a:ext>
              </a:extLst>
            </p:cNvPr>
            <p:cNvSpPr txBox="1"/>
            <p:nvPr/>
          </p:nvSpPr>
          <p:spPr>
            <a:xfrm>
              <a:off x="9308078" y="4472300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从多到准</a:t>
              </a:r>
            </a:p>
          </p:txBody>
        </p:sp>
        <p:sp>
          <p:nvSpPr>
            <p:cNvPr id="56" name="iṡļîďê">
              <a:extLst>
                <a:ext uri="{FF2B5EF4-FFF2-40B4-BE49-F238E27FC236}">
                  <a16:creationId xmlns:a16="http://schemas.microsoft.com/office/drawing/2014/main" id="{056966B8-2C1A-476D-8121-F33EC491B39B}"/>
                </a:ext>
              </a:extLst>
            </p:cNvPr>
            <p:cNvSpPr txBox="1"/>
            <p:nvPr/>
          </p:nvSpPr>
          <p:spPr>
            <a:xfrm>
              <a:off x="9308078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用户对信息密度过高产生反噬，转而倾向「少而准」的精准供需。</a:t>
              </a:r>
            </a:p>
          </p:txBody>
        </p:sp>
        <p:sp>
          <p:nvSpPr>
            <p:cNvPr id="58" name="i$ḷîďè">
              <a:extLst>
                <a:ext uri="{FF2B5EF4-FFF2-40B4-BE49-F238E27FC236}">
                  <a16:creationId xmlns:a16="http://schemas.microsoft.com/office/drawing/2014/main" id="{20448B84-7D7C-4E40-AC29-C5DCA8FCC648}"/>
                </a:ext>
              </a:extLst>
            </p:cNvPr>
            <p:cNvSpPr txBox="1"/>
            <p:nvPr/>
          </p:nvSpPr>
          <p:spPr>
            <a:xfrm>
              <a:off x="5618841" y="1318696"/>
              <a:ext cx="5898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i="1" dirty="0">
                  <a:solidFill>
                    <a:schemeClr val="tx1"/>
                  </a:solidFill>
                </a:rPr>
                <a:t>五大市场趋势</a:t>
              </a:r>
            </a:p>
          </p:txBody>
        </p:sp>
      </p:grpSp>
      <p:sp>
        <p:nvSpPr>
          <p:cNvPr id="60" name="Title 5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五大市场趋势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7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61486" y="1214657"/>
            <a:ext cx="10436310" cy="4591523"/>
            <a:chOff x="961486" y="1214657"/>
            <a:chExt cx="10436310" cy="4591523"/>
          </a:xfrm>
        </p:grpSpPr>
        <p:grpSp>
          <p:nvGrpSpPr>
            <p:cNvPr id="72" name="Group 7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3B77891C-421F-4A4E-AD0D-05812F3C77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72358" y="2281228"/>
              <a:ext cx="3529534" cy="3524952"/>
              <a:chOff x="3648075" y="992188"/>
              <a:chExt cx="4891088" cy="4884738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72AF539-12AB-4CE0-A587-90408283441C}"/>
                  </a:ext>
                </a:extLst>
              </p:cNvPr>
              <p:cNvSpPr/>
              <p:nvPr/>
            </p:nvSpPr>
            <p:spPr bwMode="auto">
              <a:xfrm>
                <a:off x="5545926" y="2982913"/>
                <a:ext cx="1260475" cy="1260475"/>
              </a:xfrm>
              <a:custGeom>
                <a:avLst/>
                <a:gdLst>
                  <a:gd name="T0" fmla="*/ 366 w 732"/>
                  <a:gd name="T1" fmla="*/ 0 h 733"/>
                  <a:gd name="T2" fmla="*/ 0 w 732"/>
                  <a:gd name="T3" fmla="*/ 367 h 733"/>
                  <a:gd name="T4" fmla="*/ 366 w 732"/>
                  <a:gd name="T5" fmla="*/ 733 h 733"/>
                  <a:gd name="T6" fmla="*/ 732 w 732"/>
                  <a:gd name="T7" fmla="*/ 367 h 733"/>
                  <a:gd name="T8" fmla="*/ 366 w 732"/>
                  <a:gd name="T9" fmla="*/ 0 h 733"/>
                  <a:gd name="T10" fmla="*/ 623 w 732"/>
                  <a:gd name="T11" fmla="*/ 516 h 733"/>
                  <a:gd name="T12" fmla="*/ 533 w 732"/>
                  <a:gd name="T13" fmla="*/ 516 h 733"/>
                  <a:gd name="T14" fmla="*/ 547 w 732"/>
                  <a:gd name="T15" fmla="*/ 401 h 733"/>
                  <a:gd name="T16" fmla="*/ 661 w 732"/>
                  <a:gd name="T17" fmla="*/ 401 h 733"/>
                  <a:gd name="T18" fmla="*/ 623 w 732"/>
                  <a:gd name="T19" fmla="*/ 516 h 733"/>
                  <a:gd name="T20" fmla="*/ 109 w 732"/>
                  <a:gd name="T21" fmla="*/ 217 h 733"/>
                  <a:gd name="T22" fmla="*/ 199 w 732"/>
                  <a:gd name="T23" fmla="*/ 217 h 733"/>
                  <a:gd name="T24" fmla="*/ 185 w 732"/>
                  <a:gd name="T25" fmla="*/ 332 h 733"/>
                  <a:gd name="T26" fmla="*/ 71 w 732"/>
                  <a:gd name="T27" fmla="*/ 332 h 733"/>
                  <a:gd name="T28" fmla="*/ 109 w 732"/>
                  <a:gd name="T29" fmla="*/ 217 h 733"/>
                  <a:gd name="T30" fmla="*/ 440 w 732"/>
                  <a:gd name="T31" fmla="*/ 148 h 733"/>
                  <a:gd name="T32" fmla="*/ 292 w 732"/>
                  <a:gd name="T33" fmla="*/ 148 h 733"/>
                  <a:gd name="T34" fmla="*/ 366 w 732"/>
                  <a:gd name="T35" fmla="*/ 69 h 733"/>
                  <a:gd name="T36" fmla="*/ 440 w 732"/>
                  <a:gd name="T37" fmla="*/ 148 h 733"/>
                  <a:gd name="T38" fmla="*/ 492 w 732"/>
                  <a:gd name="T39" fmla="*/ 97 h 733"/>
                  <a:gd name="T40" fmla="*/ 567 w 732"/>
                  <a:gd name="T41" fmla="*/ 148 h 733"/>
                  <a:gd name="T42" fmla="*/ 514 w 732"/>
                  <a:gd name="T43" fmla="*/ 148 h 733"/>
                  <a:gd name="T44" fmla="*/ 492 w 732"/>
                  <a:gd name="T45" fmla="*/ 97 h 733"/>
                  <a:gd name="T46" fmla="*/ 254 w 732"/>
                  <a:gd name="T47" fmla="*/ 332 h 733"/>
                  <a:gd name="T48" fmla="*/ 270 w 732"/>
                  <a:gd name="T49" fmla="*/ 217 h 733"/>
                  <a:gd name="T50" fmla="*/ 462 w 732"/>
                  <a:gd name="T51" fmla="*/ 217 h 733"/>
                  <a:gd name="T52" fmla="*/ 478 w 732"/>
                  <a:gd name="T53" fmla="*/ 332 h 733"/>
                  <a:gd name="T54" fmla="*/ 254 w 732"/>
                  <a:gd name="T55" fmla="*/ 332 h 733"/>
                  <a:gd name="T56" fmla="*/ 478 w 732"/>
                  <a:gd name="T57" fmla="*/ 401 h 733"/>
                  <a:gd name="T58" fmla="*/ 462 w 732"/>
                  <a:gd name="T59" fmla="*/ 516 h 733"/>
                  <a:gd name="T60" fmla="*/ 270 w 732"/>
                  <a:gd name="T61" fmla="*/ 516 h 733"/>
                  <a:gd name="T62" fmla="*/ 254 w 732"/>
                  <a:gd name="T63" fmla="*/ 401 h 733"/>
                  <a:gd name="T64" fmla="*/ 478 w 732"/>
                  <a:gd name="T65" fmla="*/ 401 h 733"/>
                  <a:gd name="T66" fmla="*/ 218 w 732"/>
                  <a:gd name="T67" fmla="*/ 148 h 733"/>
                  <a:gd name="T68" fmla="*/ 165 w 732"/>
                  <a:gd name="T69" fmla="*/ 148 h 733"/>
                  <a:gd name="T70" fmla="*/ 240 w 732"/>
                  <a:gd name="T71" fmla="*/ 97 h 733"/>
                  <a:gd name="T72" fmla="*/ 218 w 732"/>
                  <a:gd name="T73" fmla="*/ 148 h 733"/>
                  <a:gd name="T74" fmla="*/ 185 w 732"/>
                  <a:gd name="T75" fmla="*/ 401 h 733"/>
                  <a:gd name="T76" fmla="*/ 199 w 732"/>
                  <a:gd name="T77" fmla="*/ 516 h 733"/>
                  <a:gd name="T78" fmla="*/ 109 w 732"/>
                  <a:gd name="T79" fmla="*/ 516 h 733"/>
                  <a:gd name="T80" fmla="*/ 71 w 732"/>
                  <a:gd name="T81" fmla="*/ 401 h 733"/>
                  <a:gd name="T82" fmla="*/ 185 w 732"/>
                  <a:gd name="T83" fmla="*/ 401 h 733"/>
                  <a:gd name="T84" fmla="*/ 218 w 732"/>
                  <a:gd name="T85" fmla="*/ 586 h 733"/>
                  <a:gd name="T86" fmla="*/ 240 w 732"/>
                  <a:gd name="T87" fmla="*/ 636 h 733"/>
                  <a:gd name="T88" fmla="*/ 165 w 732"/>
                  <a:gd name="T89" fmla="*/ 586 h 733"/>
                  <a:gd name="T90" fmla="*/ 218 w 732"/>
                  <a:gd name="T91" fmla="*/ 586 h 733"/>
                  <a:gd name="T92" fmla="*/ 292 w 732"/>
                  <a:gd name="T93" fmla="*/ 586 h 733"/>
                  <a:gd name="T94" fmla="*/ 440 w 732"/>
                  <a:gd name="T95" fmla="*/ 586 h 733"/>
                  <a:gd name="T96" fmla="*/ 366 w 732"/>
                  <a:gd name="T97" fmla="*/ 664 h 733"/>
                  <a:gd name="T98" fmla="*/ 292 w 732"/>
                  <a:gd name="T99" fmla="*/ 586 h 733"/>
                  <a:gd name="T100" fmla="*/ 514 w 732"/>
                  <a:gd name="T101" fmla="*/ 586 h 733"/>
                  <a:gd name="T102" fmla="*/ 567 w 732"/>
                  <a:gd name="T103" fmla="*/ 586 h 733"/>
                  <a:gd name="T104" fmla="*/ 492 w 732"/>
                  <a:gd name="T105" fmla="*/ 636 h 733"/>
                  <a:gd name="T106" fmla="*/ 514 w 732"/>
                  <a:gd name="T107" fmla="*/ 586 h 733"/>
                  <a:gd name="T108" fmla="*/ 547 w 732"/>
                  <a:gd name="T109" fmla="*/ 332 h 733"/>
                  <a:gd name="T110" fmla="*/ 533 w 732"/>
                  <a:gd name="T111" fmla="*/ 217 h 733"/>
                  <a:gd name="T112" fmla="*/ 623 w 732"/>
                  <a:gd name="T113" fmla="*/ 217 h 733"/>
                  <a:gd name="T114" fmla="*/ 661 w 732"/>
                  <a:gd name="T115" fmla="*/ 332 h 733"/>
                  <a:gd name="T116" fmla="*/ 547 w 732"/>
                  <a:gd name="T117" fmla="*/ 332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32" h="733">
                    <a:moveTo>
                      <a:pt x="366" y="0"/>
                    </a:moveTo>
                    <a:cubicBezTo>
                      <a:pt x="164" y="0"/>
                      <a:pt x="0" y="165"/>
                      <a:pt x="0" y="367"/>
                    </a:cubicBezTo>
                    <a:cubicBezTo>
                      <a:pt x="0" y="569"/>
                      <a:pt x="164" y="733"/>
                      <a:pt x="366" y="733"/>
                    </a:cubicBezTo>
                    <a:cubicBezTo>
                      <a:pt x="568" y="733"/>
                      <a:pt x="732" y="569"/>
                      <a:pt x="732" y="367"/>
                    </a:cubicBezTo>
                    <a:cubicBezTo>
                      <a:pt x="732" y="165"/>
                      <a:pt x="568" y="0"/>
                      <a:pt x="366" y="0"/>
                    </a:cubicBezTo>
                    <a:close/>
                    <a:moveTo>
                      <a:pt x="623" y="516"/>
                    </a:moveTo>
                    <a:cubicBezTo>
                      <a:pt x="533" y="516"/>
                      <a:pt x="533" y="516"/>
                      <a:pt x="533" y="516"/>
                    </a:cubicBezTo>
                    <a:cubicBezTo>
                      <a:pt x="541" y="481"/>
                      <a:pt x="546" y="442"/>
                      <a:pt x="547" y="401"/>
                    </a:cubicBezTo>
                    <a:cubicBezTo>
                      <a:pt x="661" y="401"/>
                      <a:pt x="661" y="401"/>
                      <a:pt x="661" y="401"/>
                    </a:cubicBezTo>
                    <a:cubicBezTo>
                      <a:pt x="656" y="443"/>
                      <a:pt x="643" y="482"/>
                      <a:pt x="623" y="516"/>
                    </a:cubicBezTo>
                    <a:close/>
                    <a:moveTo>
                      <a:pt x="109" y="217"/>
                    </a:moveTo>
                    <a:cubicBezTo>
                      <a:pt x="199" y="217"/>
                      <a:pt x="199" y="217"/>
                      <a:pt x="199" y="217"/>
                    </a:cubicBezTo>
                    <a:cubicBezTo>
                      <a:pt x="191" y="252"/>
                      <a:pt x="186" y="291"/>
                      <a:pt x="185" y="332"/>
                    </a:cubicBezTo>
                    <a:cubicBezTo>
                      <a:pt x="71" y="332"/>
                      <a:pt x="71" y="332"/>
                      <a:pt x="71" y="332"/>
                    </a:cubicBezTo>
                    <a:cubicBezTo>
                      <a:pt x="76" y="290"/>
                      <a:pt x="89" y="251"/>
                      <a:pt x="109" y="217"/>
                    </a:cubicBezTo>
                    <a:close/>
                    <a:moveTo>
                      <a:pt x="440" y="148"/>
                    </a:moveTo>
                    <a:cubicBezTo>
                      <a:pt x="292" y="148"/>
                      <a:pt x="292" y="148"/>
                      <a:pt x="292" y="148"/>
                    </a:cubicBezTo>
                    <a:cubicBezTo>
                      <a:pt x="315" y="97"/>
                      <a:pt x="343" y="69"/>
                      <a:pt x="366" y="69"/>
                    </a:cubicBezTo>
                    <a:cubicBezTo>
                      <a:pt x="389" y="69"/>
                      <a:pt x="417" y="97"/>
                      <a:pt x="440" y="148"/>
                    </a:cubicBezTo>
                    <a:close/>
                    <a:moveTo>
                      <a:pt x="492" y="97"/>
                    </a:moveTo>
                    <a:cubicBezTo>
                      <a:pt x="519" y="110"/>
                      <a:pt x="545" y="127"/>
                      <a:pt x="567" y="148"/>
                    </a:cubicBezTo>
                    <a:cubicBezTo>
                      <a:pt x="514" y="148"/>
                      <a:pt x="514" y="148"/>
                      <a:pt x="514" y="148"/>
                    </a:cubicBezTo>
                    <a:cubicBezTo>
                      <a:pt x="507" y="130"/>
                      <a:pt x="500" y="113"/>
                      <a:pt x="492" y="97"/>
                    </a:cubicBezTo>
                    <a:close/>
                    <a:moveTo>
                      <a:pt x="254" y="332"/>
                    </a:moveTo>
                    <a:cubicBezTo>
                      <a:pt x="256" y="289"/>
                      <a:pt x="262" y="250"/>
                      <a:pt x="270" y="217"/>
                    </a:cubicBezTo>
                    <a:cubicBezTo>
                      <a:pt x="462" y="217"/>
                      <a:pt x="462" y="217"/>
                      <a:pt x="462" y="217"/>
                    </a:cubicBezTo>
                    <a:cubicBezTo>
                      <a:pt x="470" y="250"/>
                      <a:pt x="476" y="289"/>
                      <a:pt x="478" y="332"/>
                    </a:cubicBezTo>
                    <a:lnTo>
                      <a:pt x="254" y="332"/>
                    </a:lnTo>
                    <a:close/>
                    <a:moveTo>
                      <a:pt x="478" y="401"/>
                    </a:moveTo>
                    <a:cubicBezTo>
                      <a:pt x="476" y="444"/>
                      <a:pt x="470" y="483"/>
                      <a:pt x="462" y="516"/>
                    </a:cubicBezTo>
                    <a:cubicBezTo>
                      <a:pt x="270" y="516"/>
                      <a:pt x="270" y="516"/>
                      <a:pt x="270" y="516"/>
                    </a:cubicBezTo>
                    <a:cubicBezTo>
                      <a:pt x="262" y="483"/>
                      <a:pt x="256" y="444"/>
                      <a:pt x="254" y="401"/>
                    </a:cubicBezTo>
                    <a:cubicBezTo>
                      <a:pt x="478" y="401"/>
                      <a:pt x="478" y="401"/>
                      <a:pt x="478" y="401"/>
                    </a:cubicBezTo>
                    <a:close/>
                    <a:moveTo>
                      <a:pt x="218" y="148"/>
                    </a:moveTo>
                    <a:cubicBezTo>
                      <a:pt x="165" y="148"/>
                      <a:pt x="165" y="148"/>
                      <a:pt x="165" y="148"/>
                    </a:cubicBezTo>
                    <a:cubicBezTo>
                      <a:pt x="187" y="127"/>
                      <a:pt x="213" y="110"/>
                      <a:pt x="240" y="97"/>
                    </a:cubicBezTo>
                    <a:cubicBezTo>
                      <a:pt x="232" y="113"/>
                      <a:pt x="225" y="130"/>
                      <a:pt x="218" y="148"/>
                    </a:cubicBezTo>
                    <a:close/>
                    <a:moveTo>
                      <a:pt x="185" y="401"/>
                    </a:moveTo>
                    <a:cubicBezTo>
                      <a:pt x="186" y="442"/>
                      <a:pt x="191" y="481"/>
                      <a:pt x="199" y="516"/>
                    </a:cubicBezTo>
                    <a:cubicBezTo>
                      <a:pt x="109" y="516"/>
                      <a:pt x="109" y="516"/>
                      <a:pt x="109" y="516"/>
                    </a:cubicBezTo>
                    <a:cubicBezTo>
                      <a:pt x="89" y="482"/>
                      <a:pt x="76" y="443"/>
                      <a:pt x="71" y="401"/>
                    </a:cubicBezTo>
                    <a:cubicBezTo>
                      <a:pt x="185" y="401"/>
                      <a:pt x="185" y="401"/>
                      <a:pt x="185" y="401"/>
                    </a:cubicBezTo>
                    <a:close/>
                    <a:moveTo>
                      <a:pt x="218" y="586"/>
                    </a:moveTo>
                    <a:cubicBezTo>
                      <a:pt x="225" y="604"/>
                      <a:pt x="232" y="621"/>
                      <a:pt x="240" y="636"/>
                    </a:cubicBezTo>
                    <a:cubicBezTo>
                      <a:pt x="213" y="623"/>
                      <a:pt x="187" y="606"/>
                      <a:pt x="165" y="586"/>
                    </a:cubicBezTo>
                    <a:lnTo>
                      <a:pt x="218" y="586"/>
                    </a:lnTo>
                    <a:close/>
                    <a:moveTo>
                      <a:pt x="292" y="586"/>
                    </a:moveTo>
                    <a:cubicBezTo>
                      <a:pt x="440" y="586"/>
                      <a:pt x="440" y="586"/>
                      <a:pt x="440" y="586"/>
                    </a:cubicBezTo>
                    <a:cubicBezTo>
                      <a:pt x="417" y="636"/>
                      <a:pt x="389" y="664"/>
                      <a:pt x="366" y="664"/>
                    </a:cubicBezTo>
                    <a:cubicBezTo>
                      <a:pt x="343" y="664"/>
                      <a:pt x="315" y="636"/>
                      <a:pt x="292" y="586"/>
                    </a:cubicBezTo>
                    <a:close/>
                    <a:moveTo>
                      <a:pt x="514" y="586"/>
                    </a:moveTo>
                    <a:cubicBezTo>
                      <a:pt x="567" y="586"/>
                      <a:pt x="567" y="586"/>
                      <a:pt x="567" y="586"/>
                    </a:cubicBezTo>
                    <a:cubicBezTo>
                      <a:pt x="545" y="606"/>
                      <a:pt x="519" y="623"/>
                      <a:pt x="492" y="636"/>
                    </a:cubicBezTo>
                    <a:cubicBezTo>
                      <a:pt x="500" y="621"/>
                      <a:pt x="507" y="604"/>
                      <a:pt x="514" y="586"/>
                    </a:cubicBezTo>
                    <a:close/>
                    <a:moveTo>
                      <a:pt x="547" y="332"/>
                    </a:moveTo>
                    <a:cubicBezTo>
                      <a:pt x="546" y="291"/>
                      <a:pt x="541" y="252"/>
                      <a:pt x="533" y="217"/>
                    </a:cubicBezTo>
                    <a:cubicBezTo>
                      <a:pt x="623" y="217"/>
                      <a:pt x="623" y="217"/>
                      <a:pt x="623" y="217"/>
                    </a:cubicBezTo>
                    <a:cubicBezTo>
                      <a:pt x="643" y="251"/>
                      <a:pt x="656" y="290"/>
                      <a:pt x="661" y="332"/>
                    </a:cubicBezTo>
                    <a:lnTo>
                      <a:pt x="547" y="332"/>
                    </a:lnTo>
                    <a:close/>
                  </a:path>
                </a:pathLst>
              </a:custGeom>
              <a:solidFill>
                <a:srgbClr val="11BB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3BC7A21-6813-4497-9D5E-82CE1F07BD7B}"/>
                  </a:ext>
                </a:extLst>
              </p:cNvPr>
              <p:cNvSpPr/>
              <p:nvPr/>
            </p:nvSpPr>
            <p:spPr bwMode="auto">
              <a:xfrm>
                <a:off x="3649663" y="3468688"/>
                <a:ext cx="1631950" cy="1260475"/>
              </a:xfrm>
              <a:custGeom>
                <a:avLst/>
                <a:gdLst>
                  <a:gd name="T0" fmla="*/ 732 w 738"/>
                  <a:gd name="T1" fmla="*/ 413 h 571"/>
                  <a:gd name="T2" fmla="*/ 574 w 738"/>
                  <a:gd name="T3" fmla="*/ 23 h 571"/>
                  <a:gd name="T4" fmla="*/ 537 w 738"/>
                  <a:gd name="T5" fmla="*/ 2 h 571"/>
                  <a:gd name="T6" fmla="*/ 121 w 738"/>
                  <a:gd name="T7" fmla="*/ 59 h 571"/>
                  <a:gd name="T8" fmla="*/ 92 w 738"/>
                  <a:gd name="T9" fmla="*/ 86 h 571"/>
                  <a:gd name="T10" fmla="*/ 108 w 738"/>
                  <a:gd name="T11" fmla="*/ 124 h 571"/>
                  <a:gd name="T12" fmla="*/ 195 w 738"/>
                  <a:gd name="T13" fmla="*/ 174 h 571"/>
                  <a:gd name="T14" fmla="*/ 6 w 738"/>
                  <a:gd name="T15" fmla="*/ 520 h 571"/>
                  <a:gd name="T16" fmla="*/ 7 w 738"/>
                  <a:gd name="T17" fmla="*/ 554 h 571"/>
                  <a:gd name="T18" fmla="*/ 37 w 738"/>
                  <a:gd name="T19" fmla="*/ 571 h 571"/>
                  <a:gd name="T20" fmla="*/ 479 w 738"/>
                  <a:gd name="T21" fmla="*/ 571 h 571"/>
                  <a:gd name="T22" fmla="*/ 509 w 738"/>
                  <a:gd name="T23" fmla="*/ 554 h 571"/>
                  <a:gd name="T24" fmla="*/ 597 w 738"/>
                  <a:gd name="T25" fmla="*/ 406 h 571"/>
                  <a:gd name="T26" fmla="*/ 683 w 738"/>
                  <a:gd name="T27" fmla="*/ 456 h 571"/>
                  <a:gd name="T28" fmla="*/ 723 w 738"/>
                  <a:gd name="T29" fmla="*/ 452 h 571"/>
                  <a:gd name="T30" fmla="*/ 732 w 738"/>
                  <a:gd name="T31" fmla="*/ 413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38" h="571">
                    <a:moveTo>
                      <a:pt x="732" y="413"/>
                    </a:moveTo>
                    <a:cubicBezTo>
                      <a:pt x="574" y="23"/>
                      <a:pt x="574" y="23"/>
                      <a:pt x="574" y="23"/>
                    </a:cubicBezTo>
                    <a:cubicBezTo>
                      <a:pt x="568" y="8"/>
                      <a:pt x="553" y="0"/>
                      <a:pt x="537" y="2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07" y="61"/>
                      <a:pt x="95" y="72"/>
                      <a:pt x="92" y="86"/>
                    </a:cubicBezTo>
                    <a:cubicBezTo>
                      <a:pt x="88" y="100"/>
                      <a:pt x="95" y="116"/>
                      <a:pt x="108" y="124"/>
                    </a:cubicBezTo>
                    <a:cubicBezTo>
                      <a:pt x="195" y="174"/>
                      <a:pt x="195" y="174"/>
                      <a:pt x="195" y="174"/>
                    </a:cubicBezTo>
                    <a:cubicBezTo>
                      <a:pt x="6" y="520"/>
                      <a:pt x="6" y="520"/>
                      <a:pt x="6" y="520"/>
                    </a:cubicBezTo>
                    <a:cubicBezTo>
                      <a:pt x="0" y="530"/>
                      <a:pt x="1" y="543"/>
                      <a:pt x="7" y="554"/>
                    </a:cubicBezTo>
                    <a:cubicBezTo>
                      <a:pt x="13" y="564"/>
                      <a:pt x="24" y="571"/>
                      <a:pt x="37" y="571"/>
                    </a:cubicBezTo>
                    <a:cubicBezTo>
                      <a:pt x="479" y="571"/>
                      <a:pt x="479" y="571"/>
                      <a:pt x="479" y="571"/>
                    </a:cubicBezTo>
                    <a:cubicBezTo>
                      <a:pt x="491" y="571"/>
                      <a:pt x="502" y="564"/>
                      <a:pt x="509" y="554"/>
                    </a:cubicBezTo>
                    <a:cubicBezTo>
                      <a:pt x="597" y="406"/>
                      <a:pt x="597" y="406"/>
                      <a:pt x="597" y="406"/>
                    </a:cubicBezTo>
                    <a:cubicBezTo>
                      <a:pt x="683" y="456"/>
                      <a:pt x="683" y="456"/>
                      <a:pt x="683" y="456"/>
                    </a:cubicBezTo>
                    <a:cubicBezTo>
                      <a:pt x="696" y="463"/>
                      <a:pt x="712" y="461"/>
                      <a:pt x="723" y="452"/>
                    </a:cubicBezTo>
                    <a:cubicBezTo>
                      <a:pt x="734" y="442"/>
                      <a:pt x="738" y="426"/>
                      <a:pt x="732" y="41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2441B49-C046-4972-8545-329C122D1145}"/>
                  </a:ext>
                </a:extLst>
              </p:cNvPr>
              <p:cNvSpPr/>
              <p:nvPr/>
            </p:nvSpPr>
            <p:spPr bwMode="auto">
              <a:xfrm>
                <a:off x="3648075" y="4576763"/>
                <a:ext cx="1790700" cy="968375"/>
              </a:xfrm>
              <a:custGeom>
                <a:avLst/>
                <a:gdLst>
                  <a:gd name="T0" fmla="*/ 775 w 810"/>
                  <a:gd name="T1" fmla="*/ 0 h 438"/>
                  <a:gd name="T2" fmla="*/ 38 w 810"/>
                  <a:gd name="T3" fmla="*/ 0 h 438"/>
                  <a:gd name="T4" fmla="*/ 6 w 810"/>
                  <a:gd name="T5" fmla="*/ 20 h 438"/>
                  <a:gd name="T6" fmla="*/ 12 w 810"/>
                  <a:gd name="T7" fmla="*/ 57 h 438"/>
                  <a:gd name="T8" fmla="*/ 344 w 810"/>
                  <a:gd name="T9" fmla="*/ 426 h 438"/>
                  <a:gd name="T10" fmla="*/ 369 w 810"/>
                  <a:gd name="T11" fmla="*/ 438 h 438"/>
                  <a:gd name="T12" fmla="*/ 775 w 810"/>
                  <a:gd name="T13" fmla="*/ 438 h 438"/>
                  <a:gd name="T14" fmla="*/ 810 w 810"/>
                  <a:gd name="T15" fmla="*/ 403 h 438"/>
                  <a:gd name="T16" fmla="*/ 810 w 810"/>
                  <a:gd name="T17" fmla="*/ 34 h 438"/>
                  <a:gd name="T18" fmla="*/ 775 w 810"/>
                  <a:gd name="T19" fmla="*/ 0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10" h="438">
                    <a:moveTo>
                      <a:pt x="775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24" y="0"/>
                      <a:pt x="12" y="8"/>
                      <a:pt x="6" y="20"/>
                    </a:cubicBezTo>
                    <a:cubicBezTo>
                      <a:pt x="0" y="33"/>
                      <a:pt x="3" y="47"/>
                      <a:pt x="12" y="57"/>
                    </a:cubicBezTo>
                    <a:cubicBezTo>
                      <a:pt x="344" y="426"/>
                      <a:pt x="344" y="426"/>
                      <a:pt x="344" y="426"/>
                    </a:cubicBezTo>
                    <a:cubicBezTo>
                      <a:pt x="350" y="433"/>
                      <a:pt x="360" y="438"/>
                      <a:pt x="369" y="438"/>
                    </a:cubicBezTo>
                    <a:cubicBezTo>
                      <a:pt x="775" y="438"/>
                      <a:pt x="775" y="438"/>
                      <a:pt x="775" y="438"/>
                    </a:cubicBezTo>
                    <a:cubicBezTo>
                      <a:pt x="794" y="438"/>
                      <a:pt x="810" y="422"/>
                      <a:pt x="810" y="403"/>
                    </a:cubicBezTo>
                    <a:cubicBezTo>
                      <a:pt x="810" y="34"/>
                      <a:pt x="810" y="34"/>
                      <a:pt x="810" y="34"/>
                    </a:cubicBezTo>
                    <a:cubicBezTo>
                      <a:pt x="810" y="15"/>
                      <a:pt x="794" y="0"/>
                      <a:pt x="7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A06FB3B-A686-4232-B5DC-0AD0424FBCA4}"/>
                  </a:ext>
                </a:extLst>
              </p:cNvPr>
              <p:cNvSpPr/>
              <p:nvPr/>
            </p:nvSpPr>
            <p:spPr bwMode="auto">
              <a:xfrm>
                <a:off x="5768975" y="1000125"/>
                <a:ext cx="1558925" cy="1730375"/>
              </a:xfrm>
              <a:custGeom>
                <a:avLst/>
                <a:gdLst>
                  <a:gd name="T0" fmla="*/ 696 w 705"/>
                  <a:gd name="T1" fmla="*/ 380 h 784"/>
                  <a:gd name="T2" fmla="*/ 658 w 705"/>
                  <a:gd name="T3" fmla="*/ 368 h 784"/>
                  <a:gd name="T4" fmla="*/ 562 w 705"/>
                  <a:gd name="T5" fmla="*/ 398 h 784"/>
                  <a:gd name="T6" fmla="*/ 435 w 705"/>
                  <a:gd name="T7" fmla="*/ 25 h 784"/>
                  <a:gd name="T8" fmla="*/ 409 w 705"/>
                  <a:gd name="T9" fmla="*/ 2 h 784"/>
                  <a:gd name="T10" fmla="*/ 376 w 705"/>
                  <a:gd name="T11" fmla="*/ 13 h 784"/>
                  <a:gd name="T12" fmla="*/ 77 w 705"/>
                  <a:gd name="T13" fmla="*/ 339 h 784"/>
                  <a:gd name="T14" fmla="*/ 70 w 705"/>
                  <a:gd name="T15" fmla="*/ 372 h 784"/>
                  <a:gd name="T16" fmla="*/ 119 w 705"/>
                  <a:gd name="T17" fmla="*/ 538 h 784"/>
                  <a:gd name="T18" fmla="*/ 25 w 705"/>
                  <a:gd name="T19" fmla="*/ 567 h 784"/>
                  <a:gd name="T20" fmla="*/ 0 w 705"/>
                  <a:gd name="T21" fmla="*/ 599 h 784"/>
                  <a:gd name="T22" fmla="*/ 23 w 705"/>
                  <a:gd name="T23" fmla="*/ 633 h 784"/>
                  <a:gd name="T24" fmla="*/ 417 w 705"/>
                  <a:gd name="T25" fmla="*/ 779 h 784"/>
                  <a:gd name="T26" fmla="*/ 458 w 705"/>
                  <a:gd name="T27" fmla="*/ 766 h 784"/>
                  <a:gd name="T28" fmla="*/ 697 w 705"/>
                  <a:gd name="T29" fmla="*/ 420 h 784"/>
                  <a:gd name="T30" fmla="*/ 696 w 705"/>
                  <a:gd name="T31" fmla="*/ 38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05" h="784">
                    <a:moveTo>
                      <a:pt x="696" y="380"/>
                    </a:moveTo>
                    <a:cubicBezTo>
                      <a:pt x="687" y="368"/>
                      <a:pt x="672" y="363"/>
                      <a:pt x="658" y="368"/>
                    </a:cubicBezTo>
                    <a:cubicBezTo>
                      <a:pt x="562" y="398"/>
                      <a:pt x="562" y="398"/>
                      <a:pt x="562" y="398"/>
                    </a:cubicBezTo>
                    <a:cubicBezTo>
                      <a:pt x="435" y="25"/>
                      <a:pt x="435" y="25"/>
                      <a:pt x="435" y="25"/>
                    </a:cubicBezTo>
                    <a:cubicBezTo>
                      <a:pt x="431" y="13"/>
                      <a:pt x="421" y="5"/>
                      <a:pt x="409" y="2"/>
                    </a:cubicBezTo>
                    <a:cubicBezTo>
                      <a:pt x="397" y="0"/>
                      <a:pt x="385" y="4"/>
                      <a:pt x="376" y="13"/>
                    </a:cubicBezTo>
                    <a:cubicBezTo>
                      <a:pt x="77" y="339"/>
                      <a:pt x="77" y="339"/>
                      <a:pt x="77" y="339"/>
                    </a:cubicBezTo>
                    <a:cubicBezTo>
                      <a:pt x="69" y="348"/>
                      <a:pt x="66" y="361"/>
                      <a:pt x="70" y="372"/>
                    </a:cubicBezTo>
                    <a:cubicBezTo>
                      <a:pt x="119" y="538"/>
                      <a:pt x="119" y="538"/>
                      <a:pt x="119" y="538"/>
                    </a:cubicBezTo>
                    <a:cubicBezTo>
                      <a:pt x="25" y="567"/>
                      <a:pt x="25" y="567"/>
                      <a:pt x="25" y="567"/>
                    </a:cubicBezTo>
                    <a:cubicBezTo>
                      <a:pt x="11" y="572"/>
                      <a:pt x="1" y="584"/>
                      <a:pt x="0" y="599"/>
                    </a:cubicBezTo>
                    <a:cubicBezTo>
                      <a:pt x="0" y="614"/>
                      <a:pt x="9" y="627"/>
                      <a:pt x="23" y="633"/>
                    </a:cubicBezTo>
                    <a:cubicBezTo>
                      <a:pt x="417" y="779"/>
                      <a:pt x="417" y="779"/>
                      <a:pt x="417" y="779"/>
                    </a:cubicBezTo>
                    <a:cubicBezTo>
                      <a:pt x="432" y="784"/>
                      <a:pt x="449" y="779"/>
                      <a:pt x="458" y="766"/>
                    </a:cubicBezTo>
                    <a:cubicBezTo>
                      <a:pt x="697" y="420"/>
                      <a:pt x="697" y="420"/>
                      <a:pt x="697" y="420"/>
                    </a:cubicBezTo>
                    <a:cubicBezTo>
                      <a:pt x="705" y="408"/>
                      <a:pt x="705" y="392"/>
                      <a:pt x="696" y="38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961A634-544F-4C61-91C5-DFCF529A6808}"/>
                  </a:ext>
                </a:extLst>
              </p:cNvPr>
              <p:cNvSpPr/>
              <p:nvPr/>
            </p:nvSpPr>
            <p:spPr bwMode="auto">
              <a:xfrm>
                <a:off x="4870450" y="992188"/>
                <a:ext cx="1868488" cy="1371600"/>
              </a:xfrm>
              <a:custGeom>
                <a:avLst/>
                <a:gdLst>
                  <a:gd name="T0" fmla="*/ 840 w 845"/>
                  <a:gd name="T1" fmla="*/ 25 h 621"/>
                  <a:gd name="T2" fmla="*/ 808 w 845"/>
                  <a:gd name="T3" fmla="*/ 4 h 621"/>
                  <a:gd name="T4" fmla="*/ 312 w 845"/>
                  <a:gd name="T5" fmla="*/ 0 h 621"/>
                  <a:gd name="T6" fmla="*/ 286 w 845"/>
                  <a:gd name="T7" fmla="*/ 11 h 621"/>
                  <a:gd name="T8" fmla="*/ 12 w 845"/>
                  <a:gd name="T9" fmla="*/ 310 h 621"/>
                  <a:gd name="T10" fmla="*/ 14 w 845"/>
                  <a:gd name="T11" fmla="*/ 359 h 621"/>
                  <a:gd name="T12" fmla="*/ 286 w 845"/>
                  <a:gd name="T13" fmla="*/ 608 h 621"/>
                  <a:gd name="T14" fmla="*/ 335 w 845"/>
                  <a:gd name="T15" fmla="*/ 606 h 621"/>
                  <a:gd name="T16" fmla="*/ 833 w 845"/>
                  <a:gd name="T17" fmla="*/ 62 h 621"/>
                  <a:gd name="T18" fmla="*/ 840 w 845"/>
                  <a:gd name="T19" fmla="*/ 25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5" h="621">
                    <a:moveTo>
                      <a:pt x="840" y="25"/>
                    </a:moveTo>
                    <a:cubicBezTo>
                      <a:pt x="834" y="13"/>
                      <a:pt x="822" y="5"/>
                      <a:pt x="808" y="4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02" y="0"/>
                      <a:pt x="293" y="4"/>
                      <a:pt x="286" y="11"/>
                    </a:cubicBezTo>
                    <a:cubicBezTo>
                      <a:pt x="12" y="310"/>
                      <a:pt x="12" y="310"/>
                      <a:pt x="12" y="310"/>
                    </a:cubicBezTo>
                    <a:cubicBezTo>
                      <a:pt x="0" y="324"/>
                      <a:pt x="0" y="346"/>
                      <a:pt x="14" y="359"/>
                    </a:cubicBezTo>
                    <a:cubicBezTo>
                      <a:pt x="286" y="608"/>
                      <a:pt x="286" y="608"/>
                      <a:pt x="286" y="608"/>
                    </a:cubicBezTo>
                    <a:cubicBezTo>
                      <a:pt x="300" y="621"/>
                      <a:pt x="322" y="620"/>
                      <a:pt x="335" y="606"/>
                    </a:cubicBezTo>
                    <a:cubicBezTo>
                      <a:pt x="833" y="62"/>
                      <a:pt x="833" y="62"/>
                      <a:pt x="833" y="62"/>
                    </a:cubicBezTo>
                    <a:cubicBezTo>
                      <a:pt x="843" y="52"/>
                      <a:pt x="845" y="38"/>
                      <a:pt x="840" y="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67AAB38-ABD7-4B86-8413-874339753911}"/>
                  </a:ext>
                </a:extLst>
              </p:cNvPr>
              <p:cNvSpPr/>
              <p:nvPr/>
            </p:nvSpPr>
            <p:spPr bwMode="auto">
              <a:xfrm>
                <a:off x="6523038" y="4243388"/>
                <a:ext cx="1677988" cy="1633538"/>
              </a:xfrm>
              <a:custGeom>
                <a:avLst/>
                <a:gdLst>
                  <a:gd name="T0" fmla="*/ 753 w 759"/>
                  <a:gd name="T1" fmla="*/ 540 h 739"/>
                  <a:gd name="T2" fmla="*/ 532 w 759"/>
                  <a:gd name="T3" fmla="*/ 157 h 739"/>
                  <a:gd name="T4" fmla="*/ 502 w 759"/>
                  <a:gd name="T5" fmla="*/ 139 h 739"/>
                  <a:gd name="T6" fmla="*/ 330 w 759"/>
                  <a:gd name="T7" fmla="*/ 137 h 739"/>
                  <a:gd name="T8" fmla="*/ 330 w 759"/>
                  <a:gd name="T9" fmla="*/ 38 h 739"/>
                  <a:gd name="T10" fmla="*/ 308 w 759"/>
                  <a:gd name="T11" fmla="*/ 5 h 739"/>
                  <a:gd name="T12" fmla="*/ 268 w 759"/>
                  <a:gd name="T13" fmla="*/ 16 h 739"/>
                  <a:gd name="T14" fmla="*/ 10 w 759"/>
                  <a:gd name="T15" fmla="*/ 348 h 739"/>
                  <a:gd name="T16" fmla="*/ 10 w 759"/>
                  <a:gd name="T17" fmla="*/ 391 h 739"/>
                  <a:gd name="T18" fmla="*/ 268 w 759"/>
                  <a:gd name="T19" fmla="*/ 723 h 739"/>
                  <a:gd name="T20" fmla="*/ 306 w 759"/>
                  <a:gd name="T21" fmla="*/ 734 h 739"/>
                  <a:gd name="T22" fmla="*/ 330 w 759"/>
                  <a:gd name="T23" fmla="*/ 701 h 739"/>
                  <a:gd name="T24" fmla="*/ 330 w 759"/>
                  <a:gd name="T25" fmla="*/ 601 h 739"/>
                  <a:gd name="T26" fmla="*/ 724 w 759"/>
                  <a:gd name="T27" fmla="*/ 592 h 739"/>
                  <a:gd name="T28" fmla="*/ 753 w 759"/>
                  <a:gd name="T29" fmla="*/ 574 h 739"/>
                  <a:gd name="T30" fmla="*/ 753 w 759"/>
                  <a:gd name="T31" fmla="*/ 540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59" h="739">
                    <a:moveTo>
                      <a:pt x="753" y="540"/>
                    </a:moveTo>
                    <a:cubicBezTo>
                      <a:pt x="532" y="157"/>
                      <a:pt x="532" y="157"/>
                      <a:pt x="532" y="157"/>
                    </a:cubicBezTo>
                    <a:cubicBezTo>
                      <a:pt x="526" y="146"/>
                      <a:pt x="514" y="140"/>
                      <a:pt x="502" y="139"/>
                    </a:cubicBezTo>
                    <a:cubicBezTo>
                      <a:pt x="330" y="137"/>
                      <a:pt x="330" y="137"/>
                      <a:pt x="330" y="137"/>
                    </a:cubicBezTo>
                    <a:cubicBezTo>
                      <a:pt x="330" y="38"/>
                      <a:pt x="330" y="38"/>
                      <a:pt x="330" y="38"/>
                    </a:cubicBezTo>
                    <a:cubicBezTo>
                      <a:pt x="330" y="24"/>
                      <a:pt x="321" y="11"/>
                      <a:pt x="308" y="5"/>
                    </a:cubicBezTo>
                    <a:cubicBezTo>
                      <a:pt x="294" y="0"/>
                      <a:pt x="277" y="5"/>
                      <a:pt x="268" y="16"/>
                    </a:cubicBezTo>
                    <a:cubicBezTo>
                      <a:pt x="10" y="348"/>
                      <a:pt x="10" y="348"/>
                      <a:pt x="10" y="348"/>
                    </a:cubicBezTo>
                    <a:cubicBezTo>
                      <a:pt x="0" y="361"/>
                      <a:pt x="0" y="378"/>
                      <a:pt x="10" y="391"/>
                    </a:cubicBezTo>
                    <a:cubicBezTo>
                      <a:pt x="268" y="723"/>
                      <a:pt x="268" y="723"/>
                      <a:pt x="268" y="723"/>
                    </a:cubicBezTo>
                    <a:cubicBezTo>
                      <a:pt x="277" y="734"/>
                      <a:pt x="293" y="739"/>
                      <a:pt x="306" y="734"/>
                    </a:cubicBezTo>
                    <a:cubicBezTo>
                      <a:pt x="320" y="730"/>
                      <a:pt x="330" y="716"/>
                      <a:pt x="330" y="701"/>
                    </a:cubicBezTo>
                    <a:cubicBezTo>
                      <a:pt x="330" y="601"/>
                      <a:pt x="330" y="601"/>
                      <a:pt x="330" y="601"/>
                    </a:cubicBezTo>
                    <a:cubicBezTo>
                      <a:pt x="724" y="592"/>
                      <a:pt x="724" y="592"/>
                      <a:pt x="724" y="592"/>
                    </a:cubicBezTo>
                    <a:cubicBezTo>
                      <a:pt x="736" y="591"/>
                      <a:pt x="747" y="585"/>
                      <a:pt x="753" y="574"/>
                    </a:cubicBezTo>
                    <a:cubicBezTo>
                      <a:pt x="759" y="564"/>
                      <a:pt x="759" y="551"/>
                      <a:pt x="753" y="54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9C8A262-5B4C-452B-AC99-73D0388D73F2}"/>
                  </a:ext>
                </a:extLst>
              </p:cNvPr>
              <p:cNvSpPr/>
              <p:nvPr/>
            </p:nvSpPr>
            <p:spPr bwMode="auto">
              <a:xfrm>
                <a:off x="7219950" y="3570288"/>
                <a:ext cx="1319213" cy="1981200"/>
              </a:xfrm>
              <a:custGeom>
                <a:avLst/>
                <a:gdLst>
                  <a:gd name="T0" fmla="*/ 591 w 597"/>
                  <a:gd name="T1" fmla="*/ 373 h 897"/>
                  <a:gd name="T2" fmla="*/ 389 w 597"/>
                  <a:gd name="T3" fmla="*/ 22 h 897"/>
                  <a:gd name="T4" fmla="*/ 341 w 597"/>
                  <a:gd name="T5" fmla="*/ 9 h 897"/>
                  <a:gd name="T6" fmla="*/ 22 w 597"/>
                  <a:gd name="T7" fmla="*/ 194 h 897"/>
                  <a:gd name="T8" fmla="*/ 9 w 597"/>
                  <a:gd name="T9" fmla="*/ 241 h 897"/>
                  <a:gd name="T10" fmla="*/ 378 w 597"/>
                  <a:gd name="T11" fmla="*/ 880 h 897"/>
                  <a:gd name="T12" fmla="*/ 408 w 597"/>
                  <a:gd name="T13" fmla="*/ 897 h 897"/>
                  <a:gd name="T14" fmla="*/ 412 w 597"/>
                  <a:gd name="T15" fmla="*/ 897 h 897"/>
                  <a:gd name="T16" fmla="*/ 441 w 597"/>
                  <a:gd name="T17" fmla="*/ 873 h 897"/>
                  <a:gd name="T18" fmla="*/ 594 w 597"/>
                  <a:gd name="T19" fmla="*/ 401 h 897"/>
                  <a:gd name="T20" fmla="*/ 591 w 597"/>
                  <a:gd name="T21" fmla="*/ 373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7" h="897">
                    <a:moveTo>
                      <a:pt x="591" y="373"/>
                    </a:moveTo>
                    <a:cubicBezTo>
                      <a:pt x="389" y="22"/>
                      <a:pt x="389" y="22"/>
                      <a:pt x="389" y="22"/>
                    </a:cubicBezTo>
                    <a:cubicBezTo>
                      <a:pt x="379" y="5"/>
                      <a:pt x="358" y="0"/>
                      <a:pt x="341" y="9"/>
                    </a:cubicBezTo>
                    <a:cubicBezTo>
                      <a:pt x="22" y="194"/>
                      <a:pt x="22" y="194"/>
                      <a:pt x="22" y="194"/>
                    </a:cubicBezTo>
                    <a:cubicBezTo>
                      <a:pt x="6" y="203"/>
                      <a:pt x="0" y="224"/>
                      <a:pt x="9" y="241"/>
                    </a:cubicBezTo>
                    <a:cubicBezTo>
                      <a:pt x="378" y="880"/>
                      <a:pt x="378" y="880"/>
                      <a:pt x="378" y="880"/>
                    </a:cubicBezTo>
                    <a:cubicBezTo>
                      <a:pt x="384" y="890"/>
                      <a:pt x="396" y="897"/>
                      <a:pt x="408" y="897"/>
                    </a:cubicBezTo>
                    <a:cubicBezTo>
                      <a:pt x="409" y="897"/>
                      <a:pt x="410" y="897"/>
                      <a:pt x="412" y="897"/>
                    </a:cubicBezTo>
                    <a:cubicBezTo>
                      <a:pt x="425" y="895"/>
                      <a:pt x="437" y="886"/>
                      <a:pt x="441" y="873"/>
                    </a:cubicBezTo>
                    <a:cubicBezTo>
                      <a:pt x="594" y="401"/>
                      <a:pt x="594" y="401"/>
                      <a:pt x="594" y="401"/>
                    </a:cubicBezTo>
                    <a:cubicBezTo>
                      <a:pt x="597" y="392"/>
                      <a:pt x="596" y="382"/>
                      <a:pt x="591" y="37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48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67C3D1F-FB8E-4340-8126-31F39FE47266}"/>
                </a:ext>
              </a:extLst>
            </p:cNvPr>
            <p:cNvGrpSpPr/>
            <p:nvPr/>
          </p:nvGrpSpPr>
          <p:grpSpPr>
            <a:xfrm>
              <a:off x="8555264" y="2638681"/>
              <a:ext cx="2842532" cy="664156"/>
              <a:chOff x="844173" y="2422024"/>
              <a:chExt cx="2842532" cy="66415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38994EB-9587-4783-9E5B-5D99485C6446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F7A8EB51-1F54-4420-B911-4377B0CE91C0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全品类但信息淹没、弱地图</a:t>
                  </a: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0002F91-8B71-4181-AAE0-64972436E2A6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58 同城</a:t>
                  </a: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E3B8515-8FF4-4987-A18E-916CCB77E8B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EAAF13A-3B9E-4D50-924C-9AB4A7A89E12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3D8451F7-2EFA-437E-8967-CA3D0E9AD732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D791370-8587-4FF4-8AB8-30CE6C7A88C5}"/>
                </a:ext>
              </a:extLst>
            </p:cNvPr>
            <p:cNvGrpSpPr/>
            <p:nvPr/>
          </p:nvGrpSpPr>
          <p:grpSpPr>
            <a:xfrm>
              <a:off x="8555264" y="4751774"/>
              <a:ext cx="2842532" cy="664156"/>
              <a:chOff x="844173" y="3314604"/>
              <a:chExt cx="2842532" cy="664156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C6DB24A9-F138-4F68-B4B3-BAD5F28A9FA0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03D74FB6-18F1-4021-99DE-85B42ECE8391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99DD9D38-1864-4753-9F0F-DF5986D89993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F3ABB885-AEA5-4BBF-8420-1564ACB08A2B}"/>
                  </a:ext>
                </a:extLst>
              </p:cNvPr>
              <p:cNvGrpSpPr/>
              <p:nvPr/>
            </p:nvGrpSpPr>
            <p:grpSpPr>
              <a:xfrm>
                <a:off x="1428758" y="331460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E5E380A-675E-4518-B23B-1BAAE8723716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信用强但弱本地即时性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39AA90E-390D-46F6-9349-9F92315298E1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闲鱼</a:t>
                  </a:r>
                </a:p>
              </p:txBody>
            </p: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290892BA-3AC4-427E-9362-0B1AF1F6D0D4}"/>
                </a:ext>
              </a:extLst>
            </p:cNvPr>
            <p:cNvGrpSpPr/>
            <p:nvPr/>
          </p:nvGrpSpPr>
          <p:grpSpPr>
            <a:xfrm>
              <a:off x="961486" y="2638681"/>
              <a:ext cx="2603486" cy="664156"/>
              <a:chOff x="2682676" y="4413419"/>
              <a:chExt cx="2603486" cy="664156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9595BDF-7900-4983-929C-9E97176B5E3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ABFB5156-1FF2-4AE5-AFD6-2ADAB1B6381D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4A72F118-AA9C-4175-AC3E-B6E7957D772B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EFB70C84-4A90-43FA-93CA-EA94A97A8660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8260FDCD-0ACA-48DA-A273-201956FCBA9F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供给丰富但抽成高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A6A55BE-F84A-461F-BA2A-8880AC7E2BF8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58 到家 / 美团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8627C2-A07F-4ED1-AB98-C5ECF9986BA3}"/>
                </a:ext>
              </a:extLst>
            </p:cNvPr>
            <p:cNvGrpSpPr/>
            <p:nvPr/>
          </p:nvGrpSpPr>
          <p:grpSpPr>
            <a:xfrm>
              <a:off x="961486" y="4751774"/>
              <a:ext cx="2603486" cy="664156"/>
              <a:chOff x="2682676" y="4413419"/>
              <a:chExt cx="2603486" cy="66415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0459D31-32F7-44CA-B21A-5B4612673B7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C9D16003-98D7-4D45-8E5E-DF5C7A829E9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68B5D21-C4DE-4F22-B40C-E0C7061466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6F434DD-240E-4B4E-BE60-BF9BD7865BFC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47CD2E-E081-4CEC-8A5D-F42A5E761249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信任强但撮合效率弱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6FC9C0A-B570-412B-9FBE-A5921EEEDD1E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邻里社区类</a:t>
                  </a:r>
                </a:p>
              </p:txBody>
            </p:sp>
          </p:grp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EA342B-A1CC-4AA2-AEB4-2D8BBC5789C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竞品格局与借鉴</a:t>
              </a:r>
            </a:p>
          </p:txBody>
        </p:sp>
      </p:grpSp>
      <p:sp>
        <p:nvSpPr>
          <p:cNvPr id="136" name="Title 13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竞品深度分析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37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A453D7-2F9D-4572-A6BF-0F2EB714D942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落在「即时性强 + 交易履约弱」的右下象限，无直接竞品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2C46198-3B06-457F-AA57-9522EA006A4E}"/>
                </a:ext>
              </a:extLst>
            </p:cNvPr>
            <p:cNvGrpSpPr/>
            <p:nvPr/>
          </p:nvGrpSpPr>
          <p:grpSpPr>
            <a:xfrm>
              <a:off x="660400" y="5009945"/>
              <a:ext cx="3543300" cy="1079500"/>
              <a:chOff x="660400" y="1524000"/>
              <a:chExt cx="3543300" cy="10795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CD2267D-860D-4567-8173-67A6C7C477C3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82FFDAF-7D4D-48A7-BF3B-B868A9A1FD4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A55CF4-0295-4349-BA50-9AA4C0539579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4"/>
                    </a:solidFill>
                  </a:rPr>
                  <a:t>地图优先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0E6089-4902-46BD-92CE-068DFC771F11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分类图层分色呈现供需 Pin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ACAF12-F614-4F63-93BF-E973D04F1CC1}"/>
                </a:ext>
              </a:extLst>
            </p:cNvPr>
            <p:cNvGrpSpPr/>
            <p:nvPr/>
          </p:nvGrpSpPr>
          <p:grpSpPr>
            <a:xfrm>
              <a:off x="7975600" y="5009945"/>
              <a:ext cx="3543300" cy="1079500"/>
              <a:chOff x="660400" y="1524000"/>
              <a:chExt cx="3543300" cy="107950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B515AA9-F305-4DB8-AA97-2ABA8677182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AEC9966-49D1-41B9-BB85-02EB2025D854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2474AD-3733-410D-B032-1E67573B0ECF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3"/>
                    </a:solidFill>
                  </a:rPr>
                  <a:t>模板化提效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40E391-153C-4E94-BE38-5530DA0FE58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3 秒发布，短路径低门槛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E76F056-0DB1-4D93-B1F1-76F7B71DDA8D}"/>
                </a:ext>
              </a:extLst>
            </p:cNvPr>
            <p:cNvGrpSpPr/>
            <p:nvPr/>
          </p:nvGrpSpPr>
          <p:grpSpPr>
            <a:xfrm>
              <a:off x="4318000" y="5009945"/>
              <a:ext cx="3543300" cy="1079500"/>
              <a:chOff x="660400" y="1524000"/>
              <a:chExt cx="3543300" cy="107950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AE545D8-EB63-43D7-91BF-FF41CD22FF57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26E6B0C-1EE7-458D-906D-F1139991AD0B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5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1702F-7356-4C5F-9C2D-806F27CAD4D6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</a:rPr>
                  <a:t>纯线下成交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13CF46-466E-42E1-BB8A-97246E0E6A98}"/>
                  </a:ext>
                </a:extLst>
              </p:cNvPr>
              <p:cNvSpPr txBox="1"/>
              <p:nvPr/>
            </p:nvSpPr>
            <p:spPr>
              <a:xfrm>
                <a:off x="1616075" y="1757813"/>
                <a:ext cx="2324100" cy="294824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不做线上支付与平台抽成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本品差异化定位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85EDA7-7D5D-4A8C-8F8E-F396EA29154E}"/>
                </a:ext>
              </a:extLst>
            </p:cNvPr>
            <p:cNvGrpSpPr/>
            <p:nvPr/>
          </p:nvGrpSpPr>
          <p:grpSpPr>
            <a:xfrm>
              <a:off x="660400" y="3758006"/>
              <a:ext cx="3543300" cy="1079500"/>
              <a:chOff x="660400" y="1524000"/>
              <a:chExt cx="3543300" cy="107950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E1856748-743A-430F-98B0-7C058EE855A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54B26C7-E50D-4A69-9263-0A30E145D85A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1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85FFE9-ED86-43E4-8D44-5ED030DE9A62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6"/>
                    </a:solidFill>
                  </a:rPr>
                  <a:t>5km 默认范围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1DBFE7-6F9A-45C0-BB96-19ACA3EFF25B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把「近」做成第一差异化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3EE849-3341-4793-BD77-903935CC649F}"/>
                </a:ext>
              </a:extLst>
            </p:cNvPr>
            <p:cNvGrpSpPr/>
            <p:nvPr/>
          </p:nvGrpSpPr>
          <p:grpSpPr>
            <a:xfrm>
              <a:off x="7975600" y="3758006"/>
              <a:ext cx="3543300" cy="1079500"/>
              <a:chOff x="660400" y="1524000"/>
              <a:chExt cx="3543300" cy="1079500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53582BF1-EA06-478B-8361-8C853003740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9C4F112-58CF-486E-BE1B-D7B82584FF2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3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0CE6A88-BB9E-45B9-92B9-9AB192EFFA60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1"/>
                    </a:solidFill>
                  </a:rPr>
                  <a:t>本地实名信任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4212D84-081A-4C16-8593-E87D3785DAD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实名与资质认证替代信誉体系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CCB1B6-A2E9-424C-87E6-202D9D9FDBD8}"/>
                </a:ext>
              </a:extLst>
            </p:cNvPr>
            <p:cNvGrpSpPr/>
            <p:nvPr/>
          </p:nvGrpSpPr>
          <p:grpSpPr>
            <a:xfrm>
              <a:off x="4318000" y="3758006"/>
              <a:ext cx="3543300" cy="1079500"/>
              <a:chOff x="660400" y="1524000"/>
              <a:chExt cx="3543300" cy="10795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EAE1E49-A766-4999-A476-A7515B3932E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7A66B2C-0A83-4DEE-8CB8-6E75C1CD6322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2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DA9044-C838-4574-9DE6-55862005101C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5"/>
                    </a:solidFill>
                  </a:rPr>
                  <a:t>双向发布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86C3E5-70C2-4969-AC85-F6AFE32B3FB3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资源与需求同池双向流动</a:t>
                </a:r>
              </a:p>
            </p:txBody>
          </p:sp>
        </p:grpSp>
      </p:grpSp>
      <p:sp>
        <p:nvSpPr>
          <p:cNvPr id="55" name="Title 5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差异化定位六要素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010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02.目标用户与画像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四层用户分层与三目标使用倾向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085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5943" y="1214657"/>
            <a:ext cx="9260114" cy="4469843"/>
            <a:chOff x="1465943" y="1214657"/>
            <a:chExt cx="9260114" cy="446984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18146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5711975" y="2393794"/>
              <a:ext cx="3851125" cy="663964"/>
              <a:chOff x="844173" y="2422023"/>
              <a:chExt cx="3851125" cy="663964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7" y="2422023"/>
                <a:ext cx="3266541" cy="663964"/>
                <a:chOff x="6873245" y="3437950"/>
                <a:chExt cx="3266541" cy="61932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1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借物拼车二手求助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3266539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本地居民 60%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5711975" y="3707165"/>
              <a:ext cx="3851126" cy="663964"/>
              <a:chOff x="844173" y="3314603"/>
              <a:chExt cx="3851126" cy="663964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7" y="3314603"/>
                <a:ext cx="3266542" cy="663964"/>
                <a:chOff x="6873245" y="3437950"/>
                <a:chExt cx="3266542" cy="619328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2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家政维修就近接单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6" y="3437950"/>
                  <a:ext cx="32665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本地服务者 25%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5711975" y="5020536"/>
              <a:ext cx="3749524" cy="663964"/>
              <a:chOff x="2366799" y="4413418"/>
              <a:chExt cx="3749524" cy="663964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2366799" y="4413421"/>
                <a:ext cx="444222" cy="444220"/>
                <a:chOff x="7792978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7792978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7912309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951382" y="4413418"/>
                <a:ext cx="3164941" cy="663964"/>
                <a:chOff x="8395870" y="3437950"/>
                <a:chExt cx="3164941" cy="6193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395870" y="3782453"/>
                  <a:ext cx="3164940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房东车商小店批量发布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395871" y="3437950"/>
                  <a:ext cx="31649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商家与机构 15%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四层用户分层总览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目标用户分层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81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32712DF-4F9B-10AF-AF2F-51C56A47CE59}"/>
              </a:ext>
            </a:extLst>
          </p:cNvPr>
          <p:cNvGrpSpPr/>
          <p:nvPr/>
        </p:nvGrpSpPr>
        <p:grpSpPr>
          <a:xfrm>
            <a:off x="660400" y="1191855"/>
            <a:ext cx="10858500" cy="4283147"/>
            <a:chOff x="660400" y="1191855"/>
            <a:chExt cx="10858500" cy="428314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0B2AE0-E556-40FC-9D99-881CADAB9C3F}"/>
                </a:ext>
              </a:extLst>
            </p:cNvPr>
            <p:cNvSpPr/>
            <p:nvPr/>
          </p:nvSpPr>
          <p:spPr>
            <a:xfrm>
              <a:off x="660400" y="1191855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核心用户画像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5D54D6-70BD-0669-8EC2-24F6FEEB12F4}"/>
                </a:ext>
              </a:extLst>
            </p:cNvPr>
            <p:cNvCxnSpPr>
              <a:cxnSpLocks/>
            </p:cNvCxnSpPr>
            <p:nvPr/>
          </p:nvCxnSpPr>
          <p:spPr>
            <a:xfrm>
              <a:off x="45588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7F2126-BD10-94E2-9BEC-94341519830B}"/>
                </a:ext>
              </a:extLst>
            </p:cNvPr>
            <p:cNvSpPr/>
            <p:nvPr/>
          </p:nvSpPr>
          <p:spPr>
            <a:xfrm>
              <a:off x="873018" y="5180178"/>
              <a:ext cx="10445964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三个画像覆盖需求方、供给方与 B 端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CD23C6-A71E-AF25-B695-5A9823E9EA5E}"/>
                </a:ext>
              </a:extLst>
            </p:cNvPr>
            <p:cNvGrpSpPr/>
            <p:nvPr/>
          </p:nvGrpSpPr>
          <p:grpSpPr>
            <a:xfrm>
              <a:off x="1047190" y="2697470"/>
              <a:ext cx="3323769" cy="1886857"/>
              <a:chOff x="2314125" y="2773388"/>
              <a:chExt cx="3323769" cy="1886857"/>
            </a:xfrm>
          </p:grpSpPr>
          <p:sp>
            <p:nvSpPr>
              <p:cNvPr id="22" name="Arrow: Pentagon 21">
                <a:extLst>
                  <a:ext uri="{FF2B5EF4-FFF2-40B4-BE49-F238E27FC236}">
                    <a16:creationId xmlns:a16="http://schemas.microsoft.com/office/drawing/2014/main" id="{D41A4022-A464-33EA-B038-D06AF7B7F5C1}"/>
                  </a:ext>
                </a:extLst>
              </p:cNvPr>
              <p:cNvSpPr/>
              <p:nvPr/>
            </p:nvSpPr>
            <p:spPr>
              <a:xfrm flipH="1">
                <a:off x="2314125" y="2773388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7C9FC8-C6D6-F358-9134-8536C6C8025A}"/>
                  </a:ext>
                </a:extLst>
              </p:cNvPr>
              <p:cNvGrpSpPr/>
              <p:nvPr/>
            </p:nvGrpSpPr>
            <p:grpSpPr>
              <a:xfrm>
                <a:off x="4942232" y="2905780"/>
                <a:ext cx="523220" cy="523220"/>
                <a:chOff x="4942232" y="2905780"/>
                <a:chExt cx="523220" cy="523220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58F34C23-E03B-5765-E7C6-A150A6E4BC5B}"/>
                    </a:ext>
                  </a:extLst>
                </p:cNvPr>
                <p:cNvSpPr/>
                <p:nvPr/>
              </p:nvSpPr>
              <p:spPr>
                <a:xfrm>
                  <a:off x="4942232" y="2905780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Arrow: Down 27">
                  <a:extLst>
                    <a:ext uri="{FF2B5EF4-FFF2-40B4-BE49-F238E27FC236}">
                      <a16:creationId xmlns:a16="http://schemas.microsoft.com/office/drawing/2014/main" id="{918FDB9D-1F2E-FA8A-3718-4DEB8C2A1D15}"/>
                    </a:ext>
                  </a:extLst>
                </p:cNvPr>
                <p:cNvSpPr/>
                <p:nvPr/>
              </p:nvSpPr>
              <p:spPr>
                <a:xfrm rot="10800000">
                  <a:off x="5100429" y="3014990"/>
                  <a:ext cx="206827" cy="304800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3F9B7D1-68D0-F940-D64F-E2019F189EBB}"/>
                  </a:ext>
                </a:extLst>
              </p:cNvPr>
              <p:cNvGrpSpPr/>
              <p:nvPr/>
            </p:nvGrpSpPr>
            <p:grpSpPr>
              <a:xfrm>
                <a:off x="3128004" y="3081335"/>
                <a:ext cx="2298811" cy="883997"/>
                <a:chOff x="3128004" y="3150513"/>
                <a:chExt cx="2298811" cy="883997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93B654A-AF68-4A3B-4764-C887F92D0B4A}"/>
                    </a:ext>
                  </a:extLst>
                </p:cNvPr>
                <p:cNvSpPr/>
                <p:nvPr/>
              </p:nvSpPr>
              <p:spPr>
                <a:xfrm>
                  <a:off x="3128004" y="3150513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李明 · 需求方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E2478AC-C6A0-D55E-7D56-974DCB42AE65}"/>
                    </a:ext>
                  </a:extLst>
                </p:cNvPr>
                <p:cNvSpPr/>
                <p:nvPr/>
              </p:nvSpPr>
              <p:spPr>
                <a:xfrm>
                  <a:off x="3128004" y="3518087"/>
                  <a:ext cx="2298811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就近、能找到、能联系上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B5928-1FB5-93FB-9304-8AC66DE17B43}"/>
                </a:ext>
              </a:extLst>
            </p:cNvPr>
            <p:cNvGrpSpPr/>
            <p:nvPr/>
          </p:nvGrpSpPr>
          <p:grpSpPr>
            <a:xfrm>
              <a:off x="7733956" y="2697470"/>
              <a:ext cx="3323769" cy="1886857"/>
              <a:chOff x="7733956" y="2697470"/>
              <a:chExt cx="3323769" cy="1886857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C3755335-6FF6-5E69-25E6-F2FC4914B229}"/>
                  </a:ext>
                </a:extLst>
              </p:cNvPr>
              <p:cNvSpPr/>
              <p:nvPr/>
            </p:nvSpPr>
            <p:spPr>
              <a:xfrm>
                <a:off x="7733956" y="2697470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A9C154A-1D8D-CFEB-BC3C-021D89C561F3}"/>
                  </a:ext>
                </a:extLst>
              </p:cNvPr>
              <p:cNvGrpSpPr/>
              <p:nvPr/>
            </p:nvGrpSpPr>
            <p:grpSpPr>
              <a:xfrm>
                <a:off x="7878541" y="2829862"/>
                <a:ext cx="2371381" cy="837953"/>
                <a:chOff x="7878541" y="2829862"/>
                <a:chExt cx="2371381" cy="837953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770082E-D6DD-4BF4-E0D9-98BACD24C7EC}"/>
                    </a:ext>
                  </a:extLst>
                </p:cNvPr>
                <p:cNvSpPr/>
                <p:nvPr/>
              </p:nvSpPr>
              <p:spPr>
                <a:xfrm>
                  <a:off x="78785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Arrow: Down 18">
                  <a:extLst>
                    <a:ext uri="{FF2B5EF4-FFF2-40B4-BE49-F238E27FC236}">
                      <a16:creationId xmlns:a16="http://schemas.microsoft.com/office/drawing/2014/main" id="{B51C496C-A7E3-ECCF-47C2-865CEA1D19A6}"/>
                    </a:ext>
                  </a:extLst>
                </p:cNvPr>
                <p:cNvSpPr/>
                <p:nvPr/>
              </p:nvSpPr>
              <p:spPr>
                <a:xfrm>
                  <a:off x="8036738" y="2939072"/>
                  <a:ext cx="206827" cy="3048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1D89EBD-BB45-FA6C-5A1D-609A811BA181}"/>
                    </a:ext>
                  </a:extLst>
                </p:cNvPr>
                <p:cNvSpPr/>
                <p:nvPr/>
              </p:nvSpPr>
              <p:spPr>
                <a:xfrm>
                  <a:off x="90784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王师傅 · 供给方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8D5EF30-9A38-CA91-87A0-46843E4C6AFF}"/>
                    </a:ext>
                  </a:extLst>
                </p:cNvPr>
                <p:cNvSpPr/>
                <p:nvPr/>
              </p:nvSpPr>
              <p:spPr>
                <a:xfrm>
                  <a:off x="79511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就近接单、不被抽成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EF66B73-4FF2-E676-9892-24514D8A0017}"/>
                </a:ext>
              </a:extLst>
            </p:cNvPr>
            <p:cNvGrpSpPr/>
            <p:nvPr/>
          </p:nvGrpSpPr>
          <p:grpSpPr>
            <a:xfrm>
              <a:off x="4757569" y="2697470"/>
              <a:ext cx="2589776" cy="1886857"/>
              <a:chOff x="4757569" y="2697470"/>
              <a:chExt cx="2589776" cy="188685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8EDFE66-B5EA-2714-ECC0-A44ACD8E590D}"/>
                  </a:ext>
                </a:extLst>
              </p:cNvPr>
              <p:cNvSpPr/>
              <p:nvPr/>
            </p:nvSpPr>
            <p:spPr>
              <a:xfrm>
                <a:off x="4757569" y="2697470"/>
                <a:ext cx="2589776" cy="1886857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EE80081-695B-DFD1-741B-FDF90E6E5216}"/>
                  </a:ext>
                </a:extLst>
              </p:cNvPr>
              <p:cNvGrpSpPr/>
              <p:nvPr/>
            </p:nvGrpSpPr>
            <p:grpSpPr>
              <a:xfrm>
                <a:off x="4881341" y="2829862"/>
                <a:ext cx="2371381" cy="837953"/>
                <a:chOff x="4881341" y="2829862"/>
                <a:chExt cx="2371381" cy="837953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06A575E-5100-E557-1850-DBBCE24C395F}"/>
                    </a:ext>
                  </a:extLst>
                </p:cNvPr>
                <p:cNvSpPr/>
                <p:nvPr/>
              </p:nvSpPr>
              <p:spPr>
                <a:xfrm>
                  <a:off x="48813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Arrow: Down 12">
                  <a:extLst>
                    <a:ext uri="{FF2B5EF4-FFF2-40B4-BE49-F238E27FC236}">
                      <a16:creationId xmlns:a16="http://schemas.microsoft.com/office/drawing/2014/main" id="{38E05C78-9555-3358-0DB4-AB95E823D02B}"/>
                    </a:ext>
                  </a:extLst>
                </p:cNvPr>
                <p:cNvSpPr/>
                <p:nvPr/>
              </p:nvSpPr>
              <p:spPr>
                <a:xfrm>
                  <a:off x="5039538" y="2939072"/>
                  <a:ext cx="206827" cy="304800"/>
                </a:xfrm>
                <a:prstGeom prst="downArrow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A10A7B5-D9FB-4AE5-AE80-46E575536146}"/>
                    </a:ext>
                  </a:extLst>
                </p:cNvPr>
                <p:cNvSpPr/>
                <p:nvPr/>
              </p:nvSpPr>
              <p:spPr>
                <a:xfrm>
                  <a:off x="60812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张房东 · B 端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5064D5A-4D40-4B29-17AB-943DF6F6E45D}"/>
                    </a:ext>
                  </a:extLst>
                </p:cNvPr>
                <p:cNvSpPr/>
                <p:nvPr/>
              </p:nvSpPr>
              <p:spPr>
                <a:xfrm>
                  <a:off x="49539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近、真实租客、直接联系</a:t>
                  </a:r>
                </a:p>
              </p:txBody>
            </p: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3FFC8F-6144-111F-358B-52DECF2DEB50}"/>
                </a:ext>
              </a:extLst>
            </p:cNvPr>
            <p:cNvCxnSpPr>
              <a:cxnSpLocks/>
            </p:cNvCxnSpPr>
            <p:nvPr/>
          </p:nvCxnSpPr>
          <p:spPr>
            <a:xfrm>
              <a:off x="75306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核心用户画像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34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01751" y="2114550"/>
            <a:ext cx="9119752" cy="2628900"/>
            <a:chOff x="1301751" y="2114550"/>
            <a:chExt cx="9119752" cy="26289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481AAA2-6795-43F4-A21D-48A4D323D1A4}"/>
                </a:ext>
              </a:extLst>
            </p:cNvPr>
            <p:cNvSpPr/>
            <p:nvPr/>
          </p:nvSpPr>
          <p:spPr>
            <a:xfrm>
              <a:off x="3632290" y="2114550"/>
              <a:ext cx="2628900" cy="2628900"/>
            </a:xfrm>
            <a:prstGeom prst="roundRect">
              <a:avLst/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9D9A50B-AB93-4998-A1F6-879E6E19B1D5}"/>
                </a:ext>
              </a:extLst>
            </p:cNvPr>
            <p:cNvSpPr/>
            <p:nvPr/>
          </p:nvSpPr>
          <p:spPr>
            <a:xfrm>
              <a:off x="1301751" y="2114550"/>
              <a:ext cx="2628900" cy="2628900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400" b="1">
                <a:solidFill>
                  <a:srgbClr val="FFFFF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8404FC-668B-46E4-B857-C5BBC550B427}"/>
                </a:ext>
              </a:extLst>
            </p:cNvPr>
            <p:cNvSpPr txBox="1"/>
            <p:nvPr/>
          </p:nvSpPr>
          <p:spPr>
            <a:xfrm>
              <a:off x="1770497" y="2927908"/>
              <a:ext cx="1691408" cy="394210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地图发现型 40%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9AA53B-B7CF-4A51-AA75-680AD24DD920}"/>
                </a:ext>
              </a:extLst>
            </p:cNvPr>
            <p:cNvSpPr txBox="1"/>
            <p:nvPr/>
          </p:nvSpPr>
          <p:spPr>
            <a:xfrm>
              <a:off x="1770497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FFFFFF"/>
                  </a:solidFill>
                </a:rPr>
                <a:t>看地图找 Pin，依赖图层筛选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E4FD9A-6F34-435F-BEEB-F1EF6A1B6F56}"/>
                </a:ext>
              </a:extLst>
            </p:cNvPr>
            <p:cNvSpPr txBox="1"/>
            <p:nvPr/>
          </p:nvSpPr>
          <p:spPr>
            <a:xfrm>
              <a:off x="4101036" y="2927908"/>
              <a:ext cx="1691408" cy="394210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AI 匹配型 35%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E0FC52-904B-4197-B7F2-9CD2EF975D3E}"/>
                </a:ext>
              </a:extLst>
            </p:cNvPr>
            <p:cNvSpPr txBox="1"/>
            <p:nvPr/>
          </p:nvSpPr>
          <p:spPr>
            <a:xfrm>
              <a:off x="4101036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高频发需求找资源，依赖推送与智能匹配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41A13B-53DC-422C-AB2B-5979164242DE}"/>
                </a:ext>
              </a:extLst>
            </p:cNvPr>
            <p:cNvSpPr txBox="1"/>
            <p:nvPr/>
          </p:nvSpPr>
          <p:spPr>
            <a:xfrm>
              <a:off x="7162800" y="3560760"/>
              <a:ext cx="3258703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在角色分层之上引入交叉维度，用于 GTM 节奏与北极星分轴归因。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229E84-5E1D-4E03-A3ED-FCE74F328601}"/>
                </a:ext>
              </a:extLst>
            </p:cNvPr>
            <p:cNvSpPr txBox="1"/>
            <p:nvPr/>
          </p:nvSpPr>
          <p:spPr>
            <a:xfrm>
              <a:off x="7162800" y="2927908"/>
              <a:ext cx="3258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三目标使用倾向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776AA02-5057-4985-BBD0-D211A5A3EC28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52" y="2525486"/>
              <a:ext cx="1028519" cy="0"/>
            </a:xfrm>
            <a:prstGeom prst="straightConnector1">
              <a:avLst/>
            </a:prstGeom>
            <a:noFill/>
            <a:ln>
              <a:solidFill>
                <a:schemeClr val="accent2"/>
              </a:soli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三目标使用倾向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52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63328" y="2015096"/>
            <a:ext cx="10852644" cy="3327883"/>
            <a:chOff x="663328" y="2015096"/>
            <a:chExt cx="10852644" cy="332788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1EFCBCB-5CCB-43F0-8BBE-E5DBECBBCEB9}"/>
                </a:ext>
              </a:extLst>
            </p:cNvPr>
            <p:cNvGrpSpPr/>
            <p:nvPr/>
          </p:nvGrpSpPr>
          <p:grpSpPr>
            <a:xfrm>
              <a:off x="663328" y="3773577"/>
              <a:ext cx="7061533" cy="1569402"/>
              <a:chOff x="663328" y="3773577"/>
              <a:chExt cx="7061533" cy="156940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540FCE-7F8C-4D81-9FD3-1ABF5AA43B21}"/>
                  </a:ext>
                </a:extLst>
              </p:cNvPr>
              <p:cNvGrpSpPr/>
              <p:nvPr/>
            </p:nvGrpSpPr>
            <p:grpSpPr>
              <a:xfrm>
                <a:off x="663328" y="3773577"/>
                <a:ext cx="2001232" cy="1349663"/>
                <a:chOff x="845487" y="3087638"/>
                <a:chExt cx="2001232" cy="134966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5DBE138-EF9D-4C4C-8379-4C6C06A0B025}"/>
                    </a:ext>
                  </a:extLst>
                </p:cNvPr>
                <p:cNvSpPr txBox="1"/>
                <p:nvPr/>
              </p:nvSpPr>
              <p:spPr>
                <a:xfrm>
                  <a:off x="845487" y="3668533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C 端需求方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CE31247-CA3D-46B0-9095-D0D3E37263A1}"/>
                    </a:ext>
                  </a:extLst>
                </p:cNvPr>
                <p:cNvSpPr txBox="1"/>
                <p:nvPr/>
              </p:nvSpPr>
              <p:spPr>
                <a:xfrm>
                  <a:off x="867506" y="3920878"/>
                  <a:ext cx="1979213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首页地图、列表、详情、联系为主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9141138C-6B1F-4441-9A1F-7ABAE00E62D9}"/>
                    </a:ext>
                  </a:extLst>
                </p:cNvPr>
                <p:cNvSpPr/>
                <p:nvPr/>
              </p:nvSpPr>
              <p:spPr>
                <a:xfrm>
                  <a:off x="955617" y="3087638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C62691F-7E16-4ABE-B9B7-D8537E5CE4DC}"/>
                    </a:ext>
                  </a:extLst>
                </p:cNvPr>
                <p:cNvSpPr/>
                <p:nvPr/>
              </p:nvSpPr>
              <p:spPr>
                <a:xfrm>
                  <a:off x="1071717" y="3225987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C4E6931-A47C-41D9-984A-4E58419394E4}"/>
                  </a:ext>
                </a:extLst>
              </p:cNvPr>
              <p:cNvGrpSpPr/>
              <p:nvPr/>
            </p:nvGrpSpPr>
            <p:grpSpPr>
              <a:xfrm>
                <a:off x="3193479" y="3775439"/>
                <a:ext cx="2001232" cy="1567540"/>
                <a:chOff x="3531968" y="3089500"/>
                <a:chExt cx="2001232" cy="1567540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BA9E3F0-7C1D-4EBD-84F0-39C81F25909E}"/>
                    </a:ext>
                  </a:extLst>
                </p:cNvPr>
                <p:cNvSpPr/>
                <p:nvPr/>
              </p:nvSpPr>
              <p:spPr>
                <a:xfrm>
                  <a:off x="3653174" y="3089500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6D2E4CFE-A646-4442-A392-48577A8EAA3E}"/>
                    </a:ext>
                  </a:extLst>
                </p:cNvPr>
                <p:cNvSpPr/>
                <p:nvPr/>
              </p:nvSpPr>
              <p:spPr>
                <a:xfrm>
                  <a:off x="3777081" y="3211948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797AE-8A61-4F92-B7DD-75818C41C1D8}"/>
                    </a:ext>
                  </a:extLst>
                </p:cNvPr>
                <p:cNvSpPr txBox="1"/>
                <p:nvPr/>
              </p:nvSpPr>
              <p:spPr>
                <a:xfrm>
                  <a:off x="3531968" y="3666672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C 端资源方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653175-7CCB-4E38-8E66-E782419BF189}"/>
                    </a:ext>
                  </a:extLst>
                </p:cNvPr>
                <p:cNvSpPr txBox="1"/>
                <p:nvPr/>
              </p:nvSpPr>
              <p:spPr>
                <a:xfrm>
                  <a:off x="3553987" y="3919017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发布资源、我的发布、实名认证为主，详情曝光与收藏为辅。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88F0C04-30CB-4C13-861B-A2440553D935}"/>
                  </a:ext>
                </a:extLst>
              </p:cNvPr>
              <p:cNvGrpSpPr/>
              <p:nvPr/>
            </p:nvGrpSpPr>
            <p:grpSpPr>
              <a:xfrm>
                <a:off x="5723629" y="3777300"/>
                <a:ext cx="2001232" cy="1563817"/>
                <a:chOff x="6214398" y="3091361"/>
                <a:chExt cx="2001232" cy="1563817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E8051927-163B-49B1-8B1A-A62D6523A6E8}"/>
                    </a:ext>
                  </a:extLst>
                </p:cNvPr>
                <p:cNvSpPr/>
                <p:nvPr/>
              </p:nvSpPr>
              <p:spPr>
                <a:xfrm>
                  <a:off x="6336497" y="3091361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7611222-9BCA-4F97-AFEF-965C7B0019EF}"/>
                    </a:ext>
                  </a:extLst>
                </p:cNvPr>
                <p:cNvSpPr/>
                <p:nvPr/>
              </p:nvSpPr>
              <p:spPr>
                <a:xfrm>
                  <a:off x="6452597" y="322554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EA83C2-3EC6-49DB-9116-EEC8C2C62937}"/>
                    </a:ext>
                  </a:extLst>
                </p:cNvPr>
                <p:cNvSpPr txBox="1"/>
                <p:nvPr/>
              </p:nvSpPr>
              <p:spPr>
                <a:xfrm>
                  <a:off x="6214398" y="3664810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B 端资源方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A92D0C-4392-49AA-BFFA-1657567D4872}"/>
                    </a:ext>
                  </a:extLst>
                </p:cNvPr>
                <p:cNvSpPr txBox="1"/>
                <p:nvPr/>
              </p:nvSpPr>
              <p:spPr>
                <a:xfrm>
                  <a:off x="6236417" y="3917155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资质认证、批量发布、我的发布为主，详情展示资质标为辅。</a:t>
                  </a:r>
                </a:p>
              </p:txBody>
            </p: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EF1F595-A9BA-47BF-BE18-F50DB5EFE5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160" y="4059667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3604050-0DE9-46FC-8C09-1594488DC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311" y="4045426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D146EDC-BB7C-4333-981A-C1659AD0E670}"/>
                </a:ext>
              </a:extLst>
            </p:cNvPr>
            <p:cNvSpPr/>
            <p:nvPr/>
          </p:nvSpPr>
          <p:spPr>
            <a:xfrm>
              <a:off x="8142330" y="2015096"/>
              <a:ext cx="3233942" cy="3173897"/>
            </a:xfrm>
            <a:prstGeom prst="roundRect">
              <a:avLst>
                <a:gd name="adj" fmla="val 6000"/>
              </a:avLst>
            </a:prstGeom>
            <a:blipFill rotWithShape="0">
              <a:blip r:embed="rId3"/>
              <a:srcRect/>
              <a:stretch>
                <a:fillRect l="-28580" r="-2858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3CED08F-4446-462C-837F-9C9124953C3B}"/>
                </a:ext>
              </a:extLst>
            </p:cNvPr>
            <p:cNvSpPr/>
            <p:nvPr/>
          </p:nvSpPr>
          <p:spPr>
            <a:xfrm>
              <a:off x="10943950" y="4748911"/>
              <a:ext cx="572022" cy="57201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EE07A1-7D79-487B-B551-E2F5DBF92D2C}"/>
                </a:ext>
              </a:extLst>
            </p:cNvPr>
            <p:cNvSpPr txBox="1"/>
            <p:nvPr/>
          </p:nvSpPr>
          <p:spPr>
            <a:xfrm>
              <a:off x="663328" y="2251246"/>
              <a:ext cx="33499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角色与功能映射</a:t>
              </a:r>
            </a:p>
          </p:txBody>
        </p: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角色与功能映射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27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03.用户场景与需求优先级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十大核心场景与 P0 需求清单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77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A459F2-924A-9191-E6C0-2469BA394D2C}"/>
              </a:ext>
            </a:extLst>
          </p:cNvPr>
          <p:cNvGrpSpPr/>
          <p:nvPr/>
        </p:nvGrpSpPr>
        <p:grpSpPr>
          <a:xfrm>
            <a:off x="660400" y="1150680"/>
            <a:ext cx="10853737" cy="4123240"/>
            <a:chOff x="660400" y="1150680"/>
            <a:chExt cx="10853737" cy="41232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14BB3F-F223-2F47-EA50-EBFB56B876E7}"/>
                </a:ext>
              </a:extLst>
            </p:cNvPr>
            <p:cNvSpPr txBox="1"/>
            <p:nvPr/>
          </p:nvSpPr>
          <p:spPr>
            <a:xfrm>
              <a:off x="665163" y="1150680"/>
              <a:ext cx="108489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基础核心场景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C698B0A-9A33-8ECF-CCAB-59629F1670D2}"/>
                </a:ext>
              </a:extLst>
            </p:cNvPr>
            <p:cNvGrpSpPr/>
            <p:nvPr/>
          </p:nvGrpSpPr>
          <p:grpSpPr>
            <a:xfrm>
              <a:off x="4449958" y="2792161"/>
              <a:ext cx="2560196" cy="2481759"/>
              <a:chOff x="4449958" y="2792161"/>
              <a:chExt cx="2560196" cy="248175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303F8AC-5649-34C5-B32C-4F7903762C4A}"/>
                  </a:ext>
                </a:extLst>
              </p:cNvPr>
              <p:cNvSpPr/>
              <p:nvPr/>
            </p:nvSpPr>
            <p:spPr bwMode="auto">
              <a:xfrm>
                <a:off x="5172056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2259BA-BFC9-3E59-C4E6-C928DD19EC00}"/>
                  </a:ext>
                </a:extLst>
              </p:cNvPr>
              <p:cNvSpPr/>
              <p:nvPr/>
            </p:nvSpPr>
            <p:spPr>
              <a:xfrm>
                <a:off x="4730414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二手就近自取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119895-7705-ED26-DBA3-AA7AA9136A3E}"/>
                  </a:ext>
                </a:extLst>
              </p:cNvPr>
              <p:cNvSpPr/>
              <p:nvPr/>
            </p:nvSpPr>
            <p:spPr>
              <a:xfrm>
                <a:off x="4449958" y="4757497"/>
                <a:ext cx="2560196" cy="5164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5km 内看到、联系、当面交易，省去快递环节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FF5B3B9-DEB3-78CB-E13A-F694A8249C40}"/>
                  </a:ext>
                </a:extLst>
              </p:cNvPr>
              <p:cNvSpPr/>
              <p:nvPr/>
            </p:nvSpPr>
            <p:spPr>
              <a:xfrm>
                <a:off x="5466202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5221F08-204E-AED0-10B2-E265991BDD72}"/>
                </a:ext>
              </a:extLst>
            </p:cNvPr>
            <p:cNvGrpSpPr/>
            <p:nvPr/>
          </p:nvGrpSpPr>
          <p:grpSpPr>
            <a:xfrm>
              <a:off x="660400" y="2792161"/>
              <a:ext cx="2560196" cy="2260160"/>
              <a:chOff x="660400" y="2792161"/>
              <a:chExt cx="2560196" cy="226016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09E0C64-61D7-64AA-0A36-82E0C816D3E5}"/>
                  </a:ext>
                </a:extLst>
              </p:cNvPr>
              <p:cNvSpPr/>
              <p:nvPr/>
            </p:nvSpPr>
            <p:spPr bwMode="auto">
              <a:xfrm>
                <a:off x="1382498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ACDEF6F-9D83-0CCB-14AB-E06CE421B79A}"/>
                  </a:ext>
                </a:extLst>
              </p:cNvPr>
              <p:cNvSpPr/>
              <p:nvPr/>
            </p:nvSpPr>
            <p:spPr>
              <a:xfrm>
                <a:off x="940856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就近借物与拼车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FFEAC7-1FE6-2790-15D9-5647919914C9}"/>
                  </a:ext>
                </a:extLst>
              </p:cNvPr>
              <p:cNvSpPr/>
              <p:nvPr/>
            </p:nvSpPr>
            <p:spPr>
              <a:xfrm>
                <a:off x="660400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发需求 30 分钟内收到附近响应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E57710C-FABD-BB94-A773-8BAE7C53201C}"/>
                  </a:ext>
                </a:extLst>
              </p:cNvPr>
              <p:cNvSpPr/>
              <p:nvPr/>
            </p:nvSpPr>
            <p:spPr>
              <a:xfrm>
                <a:off x="1676644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32DF5BD-D701-3EA6-096D-08E3D9E20AB8}"/>
                </a:ext>
              </a:extLst>
            </p:cNvPr>
            <p:cNvGrpSpPr/>
            <p:nvPr/>
          </p:nvGrpSpPr>
          <p:grpSpPr>
            <a:xfrm>
              <a:off x="8239517" y="2792161"/>
              <a:ext cx="2560196" cy="2260160"/>
              <a:chOff x="8239517" y="2792161"/>
              <a:chExt cx="2560196" cy="226016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5ED2798-9971-4FBF-DB08-17C6CE93ED57}"/>
                  </a:ext>
                </a:extLst>
              </p:cNvPr>
              <p:cNvSpPr/>
              <p:nvPr/>
            </p:nvSpPr>
            <p:spPr bwMode="auto">
              <a:xfrm>
                <a:off x="8961615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AD447BA-0A23-4989-1050-58DFF20D189F}"/>
                  </a:ext>
                </a:extLst>
              </p:cNvPr>
              <p:cNvSpPr/>
              <p:nvPr/>
            </p:nvSpPr>
            <p:spPr>
              <a:xfrm>
                <a:off x="8519973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服务接单与招聘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9092417-77D3-A490-76F0-F1F84C8DC341}"/>
                  </a:ext>
                </a:extLst>
              </p:cNvPr>
              <p:cNvSpPr/>
              <p:nvPr/>
            </p:nvSpPr>
            <p:spPr>
              <a:xfrm>
                <a:off x="8239517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资质认证后就近曝光，联系方式直接跳转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181F335-E7AB-F8BE-52CF-BD3F9AD85A4D}"/>
                  </a:ext>
                </a:extLst>
              </p:cNvPr>
              <p:cNvSpPr/>
              <p:nvPr/>
            </p:nvSpPr>
            <p:spPr>
              <a:xfrm>
                <a:off x="9255761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</p:grpSp>
      <p:sp>
        <p:nvSpPr>
          <p:cNvPr id="48" name="Title 4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基础核心场景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562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2B789F-3B6E-4608-88FB-E8117596A1D7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五个新增场景把 AI 匹配、AI 发布、图层加载与分级管理串成闭环。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AI 与地图新增场景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771038-D3BC-4B61-95EB-3F9F5BC010A9}"/>
                </a:ext>
              </a:extLst>
            </p:cNvPr>
            <p:cNvGrpSpPr/>
            <p:nvPr/>
          </p:nvGrpSpPr>
          <p:grpSpPr>
            <a:xfrm>
              <a:off x="660400" y="3758006"/>
              <a:ext cx="10858500" cy="2331439"/>
              <a:chOff x="660400" y="3758006"/>
              <a:chExt cx="10858500" cy="2331439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E574882-FA2F-463D-8663-904E61E00A0F}"/>
                  </a:ext>
                </a:extLst>
              </p:cNvPr>
              <p:cNvGrpSpPr/>
              <p:nvPr/>
            </p:nvGrpSpPr>
            <p:grpSpPr>
              <a:xfrm>
                <a:off x="660400" y="5009945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2C46198-3B06-457F-AA57-9522EA006A4E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DCD2267D-860D-4567-8173-67A6C7C477C3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D82FFDAF-7D4D-48A7-BF3B-B868A9A1FD40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A55CF4-0295-4349-BA50-9AA4C0539579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4"/>
                        </a:solidFill>
                      </a:rPr>
                      <a:t>图层快加载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F0E6089-4902-46BD-92CE-068DFC771F1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勾选三级分类，P95 ≤300ms 秒级筛选</a:t>
                    </a: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E76F056-0DB1-4D93-B1F1-76F7B71DDA8D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9AE545D8-EB63-43D7-91BF-FF41CD22FF57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E26E6B0C-1EE7-458D-906D-F1139991AD0B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4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3C1702F-7356-4C5F-9C2D-806F27CAD4D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6"/>
                        </a:solidFill>
                      </a:rPr>
                      <a:t>完整度升级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213CF46-466E-42E1-BB8A-97246E0E6A98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三档自动判定并引导补全，绿档优先曝光</a:t>
                    </a:r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1F1DD26-B391-4462-A25A-0D0C50D39E84}"/>
                  </a:ext>
                </a:extLst>
              </p:cNvPr>
              <p:cNvGrpSpPr/>
              <p:nvPr/>
            </p:nvGrpSpPr>
            <p:grpSpPr>
              <a:xfrm>
                <a:off x="660400" y="3758006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1580E36E-10AC-4C55-998F-65AFE6418CAB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4" name="Rectangle: Rounded Corners 63">
                    <a:extLst>
                      <a:ext uri="{FF2B5EF4-FFF2-40B4-BE49-F238E27FC236}">
                        <a16:creationId xmlns:a16="http://schemas.microsoft.com/office/drawing/2014/main" id="{4A7D2338-B135-4B08-AFDE-E06B8D6E9C42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23B21957-8A83-491B-A874-2D78DB225A0D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60000">
                        <a:schemeClr val="accent5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5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1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4D68808-4820-4C5C-BD24-60BD2F75F1FC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5"/>
                        </a:solidFill>
                      </a:rPr>
                      <a:t>AI 帮我发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E0E47A25-BB20-4A9C-9DFC-5633300FC70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拍照加一句话，7 秒上架</a:t>
                    </a: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1FA30F9-F098-44AA-9FFA-4CBB34794C0C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0" name="Rectangle: Rounded Corners 59">
                    <a:extLst>
                      <a:ext uri="{FF2B5EF4-FFF2-40B4-BE49-F238E27FC236}">
                        <a16:creationId xmlns:a16="http://schemas.microsoft.com/office/drawing/2014/main" id="{D1F501C3-450F-418E-8303-0D7551220C69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FEF0A828-DF10-4172-97F8-1481A1E0E3BC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93B903A0-0429-4912-BF26-D2297F242D90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2"/>
                        </a:solidFill>
                      </a:rPr>
                      <a:t>双向推送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5B5DFF2-77CE-455C-AC97-E91C3EBC16FA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1 分钟内推给 Top30 匹配方</a:t>
                    </a:r>
                  </a:p>
                </p:txBody>
              </p:sp>
            </p:grpSp>
          </p:grpSp>
        </p:grpSp>
      </p:grpSp>
      <p:sp>
        <p:nvSpPr>
          <p:cNvPr id="73" name="Title 7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AI 与地图新增场景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89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758B62-2A27-A84B-AAFD-F872BD80414C}"/>
              </a:ext>
            </a:extLst>
          </p:cNvPr>
          <p:cNvGrpSpPr/>
          <p:nvPr/>
        </p:nvGrpSpPr>
        <p:grpSpPr>
          <a:xfrm>
            <a:off x="660400" y="1457907"/>
            <a:ext cx="10858500" cy="4242212"/>
            <a:chOff x="660400" y="1457907"/>
            <a:chExt cx="10858500" cy="4242212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D56B7D8-F62C-A77F-1EA9-ABAEEBAF8C2B}"/>
                </a:ext>
              </a:extLst>
            </p:cNvPr>
            <p:cNvGrpSpPr/>
            <p:nvPr/>
          </p:nvGrpSpPr>
          <p:grpSpPr>
            <a:xfrm>
              <a:off x="660400" y="1457907"/>
              <a:ext cx="3507161" cy="4242212"/>
              <a:chOff x="670197" y="1452722"/>
              <a:chExt cx="3507161" cy="4242212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68507FF-3ACF-8D1A-512F-5B3B59B58A3D}"/>
                  </a:ext>
                </a:extLst>
              </p:cNvPr>
              <p:cNvGrpSpPr/>
              <p:nvPr/>
            </p:nvGrpSpPr>
            <p:grpSpPr>
              <a:xfrm>
                <a:off x="67019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0234FAD-20DD-31C1-E819-BFD6048019C9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8000">
                      <a:schemeClr val="accent1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01</a:t>
                  </a:r>
                  <a:endParaRPr lang="zh-CN" altLang="en-US" sz="2000" b="1" dirty="0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EE1B33D-CE9D-E300-F614-D7418C549406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基础闭环需求</a:t>
                  </a: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A53FCCC-EB80-77C4-ECFF-BA1BE7CC9589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5km 发现、双向发布、联系跳转</a:t>
                  </a: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32D5F67B-27CA-27AA-C78F-327A8BCADC67}"/>
                  </a:ext>
                </a:extLst>
              </p:cNvPr>
              <p:cNvGrpSpPr/>
              <p:nvPr/>
            </p:nvGrpSpPr>
            <p:grpSpPr>
              <a:xfrm>
                <a:off x="67019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3E31DC5F-CBE8-B4C8-9237-EFACCD1B4907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69000">
                      <a:schemeClr val="accent5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03</a:t>
                  </a:r>
                  <a:endParaRPr lang="zh-CN" altLang="en-US" sz="2000" b="1" dirty="0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7EE0D45A-2506-DEF3-33E5-275EC5600D68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地图类需求</a:t>
                  </a: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7FD7B1CE-DFA1-C749-C180-5051C770518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三级分类图层、差异化聚合阈值</a:t>
                  </a:r>
                </a:p>
              </p:txBody>
            </p:sp>
          </p:grp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67138357-E876-2DD2-FB7C-FF1E8C5861CF}"/>
                </a:ext>
              </a:extLst>
            </p:cNvPr>
            <p:cNvGrpSpPr/>
            <p:nvPr/>
          </p:nvGrpSpPr>
          <p:grpSpPr>
            <a:xfrm>
              <a:off x="8011739" y="1457907"/>
              <a:ext cx="3507161" cy="4242212"/>
              <a:chOff x="8436967" y="1452722"/>
              <a:chExt cx="3507161" cy="4242212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FA121F9-9BD1-4DE7-E543-F80CF5F2AA85}"/>
                  </a:ext>
                </a:extLst>
              </p:cNvPr>
              <p:cNvGrpSpPr/>
              <p:nvPr/>
            </p:nvGrpSpPr>
            <p:grpSpPr>
              <a:xfrm flipH="1">
                <a:off x="843696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4" name="Rectangle: Rounded Corners 153">
                  <a:extLst>
                    <a:ext uri="{FF2B5EF4-FFF2-40B4-BE49-F238E27FC236}">
                      <a16:creationId xmlns:a16="http://schemas.microsoft.com/office/drawing/2014/main" id="{E329FFE0-02C4-0E11-98DE-C51A3DDA687A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8000">
                      <a:schemeClr val="accent4"/>
                    </a:gs>
                  </a:gsLst>
                  <a:lin ang="2700000" scaled="1"/>
                  <a:tileRect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02</a:t>
                  </a:r>
                  <a:endParaRPr lang="zh-CN" altLang="en-US" sz="2000" b="1" dirty="0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92FE23C4-B626-9181-95D7-C6E9F5087D65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AI 类需求</a:t>
                  </a: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E16170D1-F290-C4F8-7AD6-9110A14F4E21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冷启动三阶段匹配、智能发布、推送</a:t>
                  </a: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C6BA37E-A20C-3567-731A-700C06FA4753}"/>
                  </a:ext>
                </a:extLst>
              </p:cNvPr>
              <p:cNvGrpSpPr/>
              <p:nvPr/>
            </p:nvGrpSpPr>
            <p:grpSpPr>
              <a:xfrm flipH="1">
                <a:off x="843696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40D350F5-FD66-B008-E35D-8EDE6E1133C8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9000">
                      <a:schemeClr val="accent6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04</a:t>
                  </a:r>
                  <a:endParaRPr lang="zh-CN" altLang="en-US" sz="2000" b="1" dirty="0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A427A9C3-17B0-9E9C-656E-9BF66EB9599F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分级治理需求</a:t>
                  </a: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20932E18-E6CD-1907-ED27-A9BEE0FB48D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完整度三档、有效期与预审举报</a:t>
                  </a:r>
                </a:p>
              </p:txBody>
            </p:sp>
          </p:grp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41C44A8-999B-28BC-7039-48E49CD67832}"/>
                </a:ext>
              </a:extLst>
            </p:cNvPr>
            <p:cNvGrpSpPr/>
            <p:nvPr/>
          </p:nvGrpSpPr>
          <p:grpSpPr>
            <a:xfrm>
              <a:off x="4742720" y="2023568"/>
              <a:ext cx="2693860" cy="3217264"/>
              <a:chOff x="4619676" y="1679225"/>
              <a:chExt cx="3439593" cy="4107889"/>
            </a:xfrm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A3FF0141-F50C-ACA1-D7B0-FB1486B53AA0}"/>
                  </a:ext>
                </a:extLst>
              </p:cNvPr>
              <p:cNvSpPr/>
              <p:nvPr/>
            </p:nvSpPr>
            <p:spPr>
              <a:xfrm>
                <a:off x="4710336" y="3449861"/>
                <a:ext cx="1880334" cy="1480234"/>
              </a:xfrm>
              <a:custGeom>
                <a:avLst/>
                <a:gdLst>
                  <a:gd name="connsiteX0" fmla="*/ 1549061 w 1549061"/>
                  <a:gd name="connsiteY0" fmla="*/ 0 h 1219450"/>
                  <a:gd name="connsiteX1" fmla="*/ 1549061 w 1549061"/>
                  <a:gd name="connsiteY1" fmla="*/ 324016 h 1219450"/>
                  <a:gd name="connsiteX2" fmla="*/ 0 w 1549061"/>
                  <a:gd name="connsiteY2" fmla="*/ 1219451 h 1219450"/>
                  <a:gd name="connsiteX3" fmla="*/ 0 w 1549061"/>
                  <a:gd name="connsiteY3" fmla="*/ 895434 h 1219450"/>
                  <a:gd name="connsiteX4" fmla="*/ 1549061 w 1549061"/>
                  <a:gd name="connsiteY4" fmla="*/ 0 h 1219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9061" h="1219450">
                    <a:moveTo>
                      <a:pt x="1549061" y="0"/>
                    </a:moveTo>
                    <a:lnTo>
                      <a:pt x="1549061" y="324016"/>
                    </a:lnTo>
                    <a:lnTo>
                      <a:pt x="0" y="1219451"/>
                    </a:lnTo>
                    <a:lnTo>
                      <a:pt x="0" y="895434"/>
                    </a:lnTo>
                    <a:lnTo>
                      <a:pt x="1549061" y="0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8272532-6AB2-7FAF-240F-6EE92CF98D06}"/>
                  </a:ext>
                </a:extLst>
              </p:cNvPr>
              <p:cNvSpPr/>
              <p:nvPr/>
            </p:nvSpPr>
            <p:spPr>
              <a:xfrm>
                <a:off x="4619676" y="3421857"/>
                <a:ext cx="1974072" cy="1146724"/>
              </a:xfrm>
              <a:custGeom>
                <a:avLst/>
                <a:gdLst>
                  <a:gd name="connsiteX0" fmla="*/ 1625958 w 1626285"/>
                  <a:gd name="connsiteY0" fmla="*/ 47026 h 944697"/>
                  <a:gd name="connsiteX1" fmla="*/ 81248 w 1626285"/>
                  <a:gd name="connsiteY1" fmla="*/ 944637 h 944697"/>
                  <a:gd name="connsiteX2" fmla="*/ 8520 w 1626285"/>
                  <a:gd name="connsiteY2" fmla="*/ 902677 h 944697"/>
                  <a:gd name="connsiteX3" fmla="*/ 377 w 1626285"/>
                  <a:gd name="connsiteY3" fmla="*/ 886112 h 944697"/>
                  <a:gd name="connsiteX4" fmla="*/ 8520 w 1626285"/>
                  <a:gd name="connsiteY4" fmla="*/ 877968 h 944697"/>
                  <a:gd name="connsiteX5" fmla="*/ 1510494 w 1626285"/>
                  <a:gd name="connsiteY5" fmla="*/ 5067 h 944697"/>
                  <a:gd name="connsiteX6" fmla="*/ 1553385 w 1626285"/>
                  <a:gd name="connsiteY6" fmla="*/ 5067 h 94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6285" h="944697">
                    <a:moveTo>
                      <a:pt x="1625958" y="47026"/>
                    </a:moveTo>
                    <a:lnTo>
                      <a:pt x="81248" y="944637"/>
                    </a:lnTo>
                    <a:lnTo>
                      <a:pt x="8520" y="902677"/>
                    </a:lnTo>
                    <a:cubicBezTo>
                      <a:pt x="1698" y="900346"/>
                      <a:pt x="-1955" y="892934"/>
                      <a:pt x="377" y="886112"/>
                    </a:cubicBezTo>
                    <a:cubicBezTo>
                      <a:pt x="1682" y="882273"/>
                      <a:pt x="4697" y="879274"/>
                      <a:pt x="8520" y="877968"/>
                    </a:cubicBezTo>
                    <a:lnTo>
                      <a:pt x="1510494" y="5067"/>
                    </a:lnTo>
                    <a:cubicBezTo>
                      <a:pt x="1523967" y="-1770"/>
                      <a:pt x="1539912" y="-1770"/>
                      <a:pt x="1553385" y="5067"/>
                    </a:cubicBez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2803586-4B88-68E9-A493-ECE5161128C7}"/>
                  </a:ext>
                </a:extLst>
              </p:cNvPr>
              <p:cNvSpPr/>
              <p:nvPr/>
            </p:nvSpPr>
            <p:spPr>
              <a:xfrm>
                <a:off x="6165166" y="4627892"/>
                <a:ext cx="1894103" cy="1159222"/>
              </a:xfrm>
              <a:custGeom>
                <a:avLst/>
                <a:gdLst>
                  <a:gd name="connsiteX0" fmla="*/ 1544694 w 1560405"/>
                  <a:gd name="connsiteY0" fmla="*/ 20919 h 954993"/>
                  <a:gd name="connsiteX1" fmla="*/ 73023 w 1560405"/>
                  <a:gd name="connsiteY1" fmla="*/ 875637 h 954993"/>
                  <a:gd name="connsiteX2" fmla="*/ -327 w 1560405"/>
                  <a:gd name="connsiteY2" fmla="*/ 875637 h 954993"/>
                  <a:gd name="connsiteX3" fmla="*/ -327 w 1560405"/>
                  <a:gd name="connsiteY3" fmla="*/ 875637 h 954993"/>
                  <a:gd name="connsiteX4" fmla="*/ -327 w 1560405"/>
                  <a:gd name="connsiteY4" fmla="*/ 946191 h 954993"/>
                  <a:gd name="connsiteX5" fmla="*/ 73023 w 1560405"/>
                  <a:gd name="connsiteY5" fmla="*/ 946191 h 954993"/>
                  <a:gd name="connsiteX6" fmla="*/ 1544538 w 1560405"/>
                  <a:gd name="connsiteY6" fmla="*/ 91472 h 954993"/>
                  <a:gd name="connsiteX7" fmla="*/ 1560079 w 1560405"/>
                  <a:gd name="connsiteY7" fmla="*/ 70337 h 954993"/>
                  <a:gd name="connsiteX8" fmla="*/ 1560079 w 1560405"/>
                  <a:gd name="connsiteY8" fmla="*/ -61 h 954993"/>
                  <a:gd name="connsiteX9" fmla="*/ 1544694 w 1560405"/>
                  <a:gd name="connsiteY9" fmla="*/ 20919 h 954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0405" h="954993">
                    <a:moveTo>
                      <a:pt x="1544694" y="20919"/>
                    </a:moveTo>
                    <a:lnTo>
                      <a:pt x="73023" y="875637"/>
                    </a:lnTo>
                    <a:cubicBezTo>
                      <a:pt x="49993" y="887448"/>
                      <a:pt x="22704" y="887448"/>
                      <a:pt x="-327" y="875637"/>
                    </a:cubicBezTo>
                    <a:lnTo>
                      <a:pt x="-327" y="875637"/>
                    </a:lnTo>
                    <a:lnTo>
                      <a:pt x="-327" y="946191"/>
                    </a:lnTo>
                    <a:cubicBezTo>
                      <a:pt x="22735" y="957846"/>
                      <a:pt x="49962" y="957846"/>
                      <a:pt x="73023" y="946191"/>
                    </a:cubicBezTo>
                    <a:lnTo>
                      <a:pt x="1544538" y="91472"/>
                    </a:lnTo>
                    <a:cubicBezTo>
                      <a:pt x="1553164" y="87757"/>
                      <a:pt x="1559100" y="79676"/>
                      <a:pt x="1560079" y="70337"/>
                    </a:cubicBezTo>
                    <a:lnTo>
                      <a:pt x="1560079" y="-61"/>
                    </a:lnTo>
                    <a:cubicBezTo>
                      <a:pt x="1559116" y="9201"/>
                      <a:pt x="1553226" y="17220"/>
                      <a:pt x="1544694" y="2091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68256050-AC2F-976A-9021-B08184F2B45E}"/>
                  </a:ext>
                </a:extLst>
              </p:cNvPr>
              <p:cNvSpPr/>
              <p:nvPr/>
            </p:nvSpPr>
            <p:spPr>
              <a:xfrm>
                <a:off x="4717754" y="3771979"/>
                <a:ext cx="3341067" cy="1935415"/>
              </a:xfrm>
              <a:custGeom>
                <a:avLst/>
                <a:gdLst>
                  <a:gd name="connsiteX0" fmla="*/ 2736793 w 2752446"/>
                  <a:gd name="connsiteY0" fmla="*/ 688221 h 1594438"/>
                  <a:gd name="connsiteX1" fmla="*/ 2736793 w 2752446"/>
                  <a:gd name="connsiteY1" fmla="*/ 730801 h 1594438"/>
                  <a:gd name="connsiteX2" fmla="*/ 1265123 w 2752446"/>
                  <a:gd name="connsiteY2" fmla="*/ 1585520 h 1594438"/>
                  <a:gd name="connsiteX3" fmla="*/ 1191773 w 2752446"/>
                  <a:gd name="connsiteY3" fmla="*/ 1585520 h 1594438"/>
                  <a:gd name="connsiteX4" fmla="*/ -327 w 2752446"/>
                  <a:gd name="connsiteY4" fmla="*/ 897238 h 1594438"/>
                  <a:gd name="connsiteX5" fmla="*/ 1544383 w 2752446"/>
                  <a:gd name="connsiteY5" fmla="*/ -61 h 1594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446" h="1594438">
                    <a:moveTo>
                      <a:pt x="2736793" y="688221"/>
                    </a:moveTo>
                    <a:cubicBezTo>
                      <a:pt x="2757151" y="699876"/>
                      <a:pt x="2757306" y="719301"/>
                      <a:pt x="2736793" y="730801"/>
                    </a:cubicBezTo>
                    <a:lnTo>
                      <a:pt x="1265123" y="1585520"/>
                    </a:lnTo>
                    <a:cubicBezTo>
                      <a:pt x="1242092" y="1597331"/>
                      <a:pt x="1214803" y="1597331"/>
                      <a:pt x="1191773" y="1585520"/>
                    </a:cubicBezTo>
                    <a:lnTo>
                      <a:pt x="-327" y="897238"/>
                    </a:lnTo>
                    <a:lnTo>
                      <a:pt x="1544383" y="-61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62C1B75F-A3E1-042A-A2FD-AD52492A0082}"/>
                  </a:ext>
                </a:extLst>
              </p:cNvPr>
              <p:cNvGrpSpPr/>
              <p:nvPr/>
            </p:nvGrpSpPr>
            <p:grpSpPr>
              <a:xfrm>
                <a:off x="4766988" y="3748642"/>
                <a:ext cx="3195322" cy="1937490"/>
                <a:chOff x="4787036" y="3555955"/>
                <a:chExt cx="2632378" cy="1596148"/>
              </a:xfrm>
            </p:grpSpPr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EE8AD5F8-08BB-56E8-72F7-58DA79C1D3F5}"/>
                    </a:ext>
                  </a:extLst>
                </p:cNvPr>
                <p:cNvSpPr/>
                <p:nvPr/>
              </p:nvSpPr>
              <p:spPr>
                <a:xfrm>
                  <a:off x="4787036" y="4213623"/>
                  <a:ext cx="1182309" cy="938481"/>
                </a:xfrm>
                <a:custGeom>
                  <a:avLst/>
                  <a:gdLst>
                    <a:gd name="connsiteX0" fmla="*/ 1182309 w 1182309"/>
                    <a:gd name="connsiteY0" fmla="*/ 691856 h 938481"/>
                    <a:gd name="connsiteX1" fmla="*/ 1182309 w 1182309"/>
                    <a:gd name="connsiteY1" fmla="*/ 938481 h 938481"/>
                    <a:gd name="connsiteX2" fmla="*/ 0 w 1182309"/>
                    <a:gd name="connsiteY2" fmla="*/ 246625 h 938481"/>
                    <a:gd name="connsiteX3" fmla="*/ 0 w 1182309"/>
                    <a:gd name="connsiteY3" fmla="*/ 0 h 938481"/>
                    <a:gd name="connsiteX4" fmla="*/ 1182309 w 1182309"/>
                    <a:gd name="connsiteY4" fmla="*/ 691856 h 93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2309" h="938481">
                      <a:moveTo>
                        <a:pt x="1182309" y="691856"/>
                      </a:moveTo>
                      <a:lnTo>
                        <a:pt x="1182309" y="938481"/>
                      </a:lnTo>
                      <a:lnTo>
                        <a:pt x="0" y="246625"/>
                      </a:lnTo>
                      <a:lnTo>
                        <a:pt x="0" y="0"/>
                      </a:lnTo>
                      <a:lnTo>
                        <a:pt x="1182309" y="6918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A5DA3B31-A979-0E95-4542-29E4A7F20589}"/>
                    </a:ext>
                  </a:extLst>
                </p:cNvPr>
                <p:cNvSpPr/>
                <p:nvPr/>
              </p:nvSpPr>
              <p:spPr>
                <a:xfrm>
                  <a:off x="5969345" y="4091631"/>
                  <a:ext cx="1450069" cy="1060473"/>
                </a:xfrm>
                <a:custGeom>
                  <a:avLst/>
                  <a:gdLst>
                    <a:gd name="connsiteX0" fmla="*/ 1450069 w 1450069"/>
                    <a:gd name="connsiteY0" fmla="*/ 0 h 1060473"/>
                    <a:gd name="connsiteX1" fmla="*/ 1450069 w 1450069"/>
                    <a:gd name="connsiteY1" fmla="*/ 221450 h 1060473"/>
                    <a:gd name="connsiteX2" fmla="*/ 0 w 1450069"/>
                    <a:gd name="connsiteY2" fmla="*/ 1060473 h 1060473"/>
                    <a:gd name="connsiteX3" fmla="*/ 0 w 1450069"/>
                    <a:gd name="connsiteY3" fmla="*/ 813848 h 1060473"/>
                    <a:gd name="connsiteX4" fmla="*/ 1450069 w 1450069"/>
                    <a:gd name="connsiteY4" fmla="*/ 0 h 106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0069" h="1060473">
                      <a:moveTo>
                        <a:pt x="1450069" y="0"/>
                      </a:moveTo>
                      <a:lnTo>
                        <a:pt x="1450069" y="221450"/>
                      </a:lnTo>
                      <a:lnTo>
                        <a:pt x="0" y="1060473"/>
                      </a:lnTo>
                      <a:lnTo>
                        <a:pt x="0" y="813848"/>
                      </a:lnTo>
                      <a:lnTo>
                        <a:pt x="145006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6D88A37A-A857-1C6F-6D50-0C4041DF6CC9}"/>
                    </a:ext>
                  </a:extLst>
                </p:cNvPr>
                <p:cNvSpPr/>
                <p:nvPr/>
              </p:nvSpPr>
              <p:spPr>
                <a:xfrm>
                  <a:off x="4821225" y="3555955"/>
                  <a:ext cx="2339442" cy="1337712"/>
                </a:xfrm>
                <a:custGeom>
                  <a:avLst/>
                  <a:gdLst>
                    <a:gd name="connsiteX0" fmla="*/ 1136154 w 2339442"/>
                    <a:gd name="connsiteY0" fmla="*/ 1337713 h 1337712"/>
                    <a:gd name="connsiteX1" fmla="*/ 0 w 2339442"/>
                    <a:gd name="connsiteY1" fmla="*/ 668079 h 1337712"/>
                    <a:gd name="connsiteX2" fmla="*/ 1169100 w 2339442"/>
                    <a:gd name="connsiteY2" fmla="*/ 0 h 1337712"/>
                    <a:gd name="connsiteX3" fmla="*/ 2339443 w 2339442"/>
                    <a:gd name="connsiteY3" fmla="*/ 671809 h 1337712"/>
                    <a:gd name="connsiteX4" fmla="*/ 1136154 w 2339442"/>
                    <a:gd name="connsiteY4" fmla="*/ 1337713 h 1337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39442" h="1337712">
                      <a:moveTo>
                        <a:pt x="1136154" y="1337713"/>
                      </a:moveTo>
                      <a:lnTo>
                        <a:pt x="0" y="668079"/>
                      </a:lnTo>
                      <a:lnTo>
                        <a:pt x="1169100" y="0"/>
                      </a:lnTo>
                      <a:lnTo>
                        <a:pt x="2339443" y="671809"/>
                      </a:lnTo>
                      <a:lnTo>
                        <a:pt x="1136154" y="1337713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06AD0912-F8D1-4ADA-49C2-07F5256FBBFB}"/>
                  </a:ext>
                </a:extLst>
              </p:cNvPr>
              <p:cNvSpPr/>
              <p:nvPr/>
            </p:nvSpPr>
            <p:spPr>
              <a:xfrm>
                <a:off x="4629849" y="4500116"/>
                <a:ext cx="1535694" cy="1282732"/>
              </a:xfrm>
              <a:custGeom>
                <a:avLst/>
                <a:gdLst>
                  <a:gd name="connsiteX0" fmla="*/ 72402 w 1265139"/>
                  <a:gd name="connsiteY0" fmla="*/ 132032 h 1056743"/>
                  <a:gd name="connsiteX1" fmla="*/ 83979 w 1265139"/>
                  <a:gd name="connsiteY1" fmla="*/ 120921 h 1056743"/>
                  <a:gd name="connsiteX2" fmla="*/ 89341 w 1265139"/>
                  <a:gd name="connsiteY2" fmla="*/ 122397 h 1056743"/>
                  <a:gd name="connsiteX3" fmla="*/ 1264501 w 1265139"/>
                  <a:gd name="connsiteY3" fmla="*/ 800888 h 1056743"/>
                  <a:gd name="connsiteX4" fmla="*/ 1264501 w 1265139"/>
                  <a:gd name="connsiteY4" fmla="*/ 730335 h 1056743"/>
                  <a:gd name="connsiteX5" fmla="*/ -327 w 1265139"/>
                  <a:gd name="connsiteY5" fmla="*/ -61 h 1056743"/>
                  <a:gd name="connsiteX6" fmla="*/ -327 w 1265139"/>
                  <a:gd name="connsiteY6" fmla="*/ 326286 h 1056743"/>
                  <a:gd name="connsiteX7" fmla="*/ 1264812 w 1265139"/>
                  <a:gd name="connsiteY7" fmla="*/ 1056683 h 1056743"/>
                  <a:gd name="connsiteX8" fmla="*/ 1264812 w 1265139"/>
                  <a:gd name="connsiteY8" fmla="*/ 986129 h 1056743"/>
                  <a:gd name="connsiteX9" fmla="*/ 82192 w 1265139"/>
                  <a:gd name="connsiteY9" fmla="*/ 303597 h 1056743"/>
                  <a:gd name="connsiteX10" fmla="*/ 72713 w 1265139"/>
                  <a:gd name="connsiteY10" fmla="*/ 288057 h 10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5139" h="1056743">
                    <a:moveTo>
                      <a:pt x="72402" y="132032"/>
                    </a:moveTo>
                    <a:cubicBezTo>
                      <a:pt x="72526" y="125769"/>
                      <a:pt x="77717" y="120796"/>
                      <a:pt x="83979" y="120921"/>
                    </a:cubicBezTo>
                    <a:cubicBezTo>
                      <a:pt x="85860" y="120967"/>
                      <a:pt x="87709" y="121465"/>
                      <a:pt x="89341" y="122397"/>
                    </a:cubicBezTo>
                    <a:lnTo>
                      <a:pt x="1264501" y="800888"/>
                    </a:lnTo>
                    <a:lnTo>
                      <a:pt x="1264501" y="730335"/>
                    </a:lnTo>
                    <a:lnTo>
                      <a:pt x="-327" y="-61"/>
                    </a:lnTo>
                    <a:lnTo>
                      <a:pt x="-327" y="326286"/>
                    </a:lnTo>
                    <a:lnTo>
                      <a:pt x="1264812" y="1056683"/>
                    </a:lnTo>
                    <a:lnTo>
                      <a:pt x="1264812" y="986129"/>
                    </a:lnTo>
                    <a:lnTo>
                      <a:pt x="82192" y="303597"/>
                    </a:lnTo>
                    <a:cubicBezTo>
                      <a:pt x="76629" y="300334"/>
                      <a:pt x="73070" y="294491"/>
                      <a:pt x="72713" y="288057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82F2458-3915-A1D7-67A8-C40C2E725C55}"/>
                  </a:ext>
                </a:extLst>
              </p:cNvPr>
              <p:cNvSpPr/>
              <p:nvPr/>
            </p:nvSpPr>
            <p:spPr>
              <a:xfrm>
                <a:off x="6159385" y="4319908"/>
                <a:ext cx="1893727" cy="1159268"/>
              </a:xfrm>
              <a:custGeom>
                <a:avLst/>
                <a:gdLst>
                  <a:gd name="connsiteX0" fmla="*/ 1544694 w 1560095"/>
                  <a:gd name="connsiteY0" fmla="*/ 21229 h 955031"/>
                  <a:gd name="connsiteX1" fmla="*/ 73023 w 1560095"/>
                  <a:gd name="connsiteY1" fmla="*/ 875948 h 955031"/>
                  <a:gd name="connsiteX2" fmla="*/ 73023 w 1560095"/>
                  <a:gd name="connsiteY2" fmla="*/ 875948 h 955031"/>
                  <a:gd name="connsiteX3" fmla="*/ 73023 w 1560095"/>
                  <a:gd name="connsiteY3" fmla="*/ 875948 h 955031"/>
                  <a:gd name="connsiteX4" fmla="*/ -327 w 1560095"/>
                  <a:gd name="connsiteY4" fmla="*/ 875948 h 955031"/>
                  <a:gd name="connsiteX5" fmla="*/ -327 w 1560095"/>
                  <a:gd name="connsiteY5" fmla="*/ 946346 h 955031"/>
                  <a:gd name="connsiteX6" fmla="*/ 72713 w 1560095"/>
                  <a:gd name="connsiteY6" fmla="*/ 946346 h 955031"/>
                  <a:gd name="connsiteX7" fmla="*/ 72713 w 1560095"/>
                  <a:gd name="connsiteY7" fmla="*/ 946346 h 955031"/>
                  <a:gd name="connsiteX8" fmla="*/ 1544228 w 1560095"/>
                  <a:gd name="connsiteY8" fmla="*/ 91627 h 955031"/>
                  <a:gd name="connsiteX9" fmla="*/ 1559768 w 1560095"/>
                  <a:gd name="connsiteY9" fmla="*/ 70492 h 955031"/>
                  <a:gd name="connsiteX10" fmla="*/ 1559768 w 1560095"/>
                  <a:gd name="connsiteY10" fmla="*/ -61 h 955031"/>
                  <a:gd name="connsiteX11" fmla="*/ 1544694 w 1560095"/>
                  <a:gd name="connsiteY11" fmla="*/ 21229 h 955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60095" h="955031">
                    <a:moveTo>
                      <a:pt x="1544694" y="21229"/>
                    </a:moveTo>
                    <a:lnTo>
                      <a:pt x="73023" y="875948"/>
                    </a:lnTo>
                    <a:lnTo>
                      <a:pt x="73023" y="875948"/>
                    </a:lnTo>
                    <a:lnTo>
                      <a:pt x="73023" y="875948"/>
                    </a:lnTo>
                    <a:cubicBezTo>
                      <a:pt x="49962" y="887604"/>
                      <a:pt x="22735" y="887604"/>
                      <a:pt x="-327" y="875948"/>
                    </a:cubicBezTo>
                    <a:lnTo>
                      <a:pt x="-327" y="946346"/>
                    </a:lnTo>
                    <a:cubicBezTo>
                      <a:pt x="22657" y="957846"/>
                      <a:pt x="49729" y="957846"/>
                      <a:pt x="72713" y="946346"/>
                    </a:cubicBezTo>
                    <a:lnTo>
                      <a:pt x="72713" y="946346"/>
                    </a:lnTo>
                    <a:lnTo>
                      <a:pt x="1544228" y="91627"/>
                    </a:lnTo>
                    <a:cubicBezTo>
                      <a:pt x="1552853" y="87913"/>
                      <a:pt x="1558789" y="79832"/>
                      <a:pt x="1559768" y="70492"/>
                    </a:cubicBezTo>
                    <a:lnTo>
                      <a:pt x="1559768" y="-61"/>
                    </a:lnTo>
                    <a:cubicBezTo>
                      <a:pt x="1559038" y="9263"/>
                      <a:pt x="1553241" y="17437"/>
                      <a:pt x="1544694" y="2122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97C35E7-1188-1056-20D0-63EC05E85629}"/>
                  </a:ext>
                </a:extLst>
              </p:cNvPr>
              <p:cNvSpPr/>
              <p:nvPr/>
            </p:nvSpPr>
            <p:spPr>
              <a:xfrm>
                <a:off x="4717942" y="3473232"/>
                <a:ext cx="3340926" cy="1935227"/>
              </a:xfrm>
              <a:custGeom>
                <a:avLst/>
                <a:gdLst>
                  <a:gd name="connsiteX0" fmla="*/ 2736793 w 2752330"/>
                  <a:gd name="connsiteY0" fmla="*/ 688221 h 1594283"/>
                  <a:gd name="connsiteX1" fmla="*/ 2736793 w 2752330"/>
                  <a:gd name="connsiteY1" fmla="*/ 730646 h 1594283"/>
                  <a:gd name="connsiteX2" fmla="*/ 1265278 w 2752330"/>
                  <a:gd name="connsiteY2" fmla="*/ 1585365 h 1594283"/>
                  <a:gd name="connsiteX3" fmla="*/ 1191928 w 2752330"/>
                  <a:gd name="connsiteY3" fmla="*/ 1585365 h 1594283"/>
                  <a:gd name="connsiteX4" fmla="*/ -327 w 2752330"/>
                  <a:gd name="connsiteY4" fmla="*/ 897083 h 1594283"/>
                  <a:gd name="connsiteX5" fmla="*/ 1544228 w 2752330"/>
                  <a:gd name="connsiteY5" fmla="*/ -61 h 1594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330" h="1594283">
                    <a:moveTo>
                      <a:pt x="2736793" y="688221"/>
                    </a:moveTo>
                    <a:cubicBezTo>
                      <a:pt x="2756996" y="699876"/>
                      <a:pt x="2757151" y="719302"/>
                      <a:pt x="2736793" y="730646"/>
                    </a:cubicBezTo>
                    <a:lnTo>
                      <a:pt x="1265278" y="1585365"/>
                    </a:lnTo>
                    <a:cubicBezTo>
                      <a:pt x="1242248" y="1597175"/>
                      <a:pt x="1214959" y="1597175"/>
                      <a:pt x="1191928" y="1585365"/>
                    </a:cubicBezTo>
                    <a:lnTo>
                      <a:pt x="-327" y="897083"/>
                    </a:lnTo>
                    <a:lnTo>
                      <a:pt x="1544228" y="-61"/>
                    </a:ln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35455CC5-00CE-CB5B-450A-55AECF1BA98E}"/>
                  </a:ext>
                </a:extLst>
              </p:cNvPr>
              <p:cNvSpPr/>
              <p:nvPr/>
            </p:nvSpPr>
            <p:spPr>
              <a:xfrm>
                <a:off x="4780334" y="3718649"/>
                <a:ext cx="3027507" cy="1469789"/>
              </a:xfrm>
              <a:custGeom>
                <a:avLst/>
                <a:gdLst>
                  <a:gd name="connsiteX0" fmla="*/ 7637 w 2494128"/>
                  <a:gd name="connsiteY0" fmla="*/ 554107 h 1210845"/>
                  <a:gd name="connsiteX1" fmla="*/ 15267 w 2494128"/>
                  <a:gd name="connsiteY1" fmla="*/ 609183 h 1210845"/>
                  <a:gd name="connsiteX2" fmla="*/ 19137 w 2494128"/>
                  <a:gd name="connsiteY2" fmla="*/ 611762 h 1210845"/>
                  <a:gd name="connsiteX3" fmla="*/ 1037806 w 2494128"/>
                  <a:gd name="connsiteY3" fmla="*/ 1200586 h 1210845"/>
                  <a:gd name="connsiteX4" fmla="*/ 1114109 w 2494128"/>
                  <a:gd name="connsiteY4" fmla="*/ 1200586 h 1210845"/>
                  <a:gd name="connsiteX5" fmla="*/ 2481659 w 2494128"/>
                  <a:gd name="connsiteY5" fmla="*/ 406474 h 1210845"/>
                  <a:gd name="connsiteX6" fmla="*/ 2490750 w 2494128"/>
                  <a:gd name="connsiteY6" fmla="*/ 374104 h 1210845"/>
                  <a:gd name="connsiteX7" fmla="*/ 2480727 w 2494128"/>
                  <a:gd name="connsiteY7" fmla="*/ 364515 h 1210845"/>
                  <a:gd name="connsiteX8" fmla="*/ 1839222 w 2494128"/>
                  <a:gd name="connsiteY8" fmla="*/ -61 h 1210845"/>
                  <a:gd name="connsiteX9" fmla="*/ 27684 w 2494128"/>
                  <a:gd name="connsiteY9" fmla="*/ 527223 h 121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94128" h="1210845">
                    <a:moveTo>
                      <a:pt x="7637" y="554107"/>
                    </a:moveTo>
                    <a:cubicBezTo>
                      <a:pt x="-5463" y="571420"/>
                      <a:pt x="-2045" y="596082"/>
                      <a:pt x="15267" y="609183"/>
                    </a:cubicBezTo>
                    <a:cubicBezTo>
                      <a:pt x="16511" y="610115"/>
                      <a:pt x="17801" y="610985"/>
                      <a:pt x="19137" y="611762"/>
                    </a:cubicBezTo>
                    <a:lnTo>
                      <a:pt x="1037806" y="1200586"/>
                    </a:lnTo>
                    <a:cubicBezTo>
                      <a:pt x="1061427" y="1214184"/>
                      <a:pt x="1090488" y="1214184"/>
                      <a:pt x="1114109" y="1200586"/>
                    </a:cubicBezTo>
                    <a:lnTo>
                      <a:pt x="2481659" y="406474"/>
                    </a:lnTo>
                    <a:cubicBezTo>
                      <a:pt x="2493113" y="400041"/>
                      <a:pt x="2497184" y="385557"/>
                      <a:pt x="2490750" y="374104"/>
                    </a:cubicBezTo>
                    <a:cubicBezTo>
                      <a:pt x="2488435" y="369986"/>
                      <a:pt x="2484938" y="366644"/>
                      <a:pt x="2480727" y="364515"/>
                    </a:cubicBezTo>
                    <a:lnTo>
                      <a:pt x="1839222" y="-61"/>
                    </a:lnTo>
                    <a:lnTo>
                      <a:pt x="27684" y="527223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80358773-9962-EE1B-99EC-517E5D2035F1}"/>
                  </a:ext>
                </a:extLst>
              </p:cNvPr>
              <p:cNvSpPr/>
              <p:nvPr/>
            </p:nvSpPr>
            <p:spPr>
              <a:xfrm>
                <a:off x="4786229" y="2971647"/>
                <a:ext cx="1624918" cy="1423265"/>
              </a:xfrm>
              <a:custGeom>
                <a:avLst/>
                <a:gdLst>
                  <a:gd name="connsiteX0" fmla="*/ 1338645 w 1338644"/>
                  <a:gd name="connsiteY0" fmla="*/ 0 h 1172518"/>
                  <a:gd name="connsiteX1" fmla="*/ 1338645 w 1338644"/>
                  <a:gd name="connsiteY1" fmla="*/ 280037 h 1172518"/>
                  <a:gd name="connsiteX2" fmla="*/ 0 w 1338644"/>
                  <a:gd name="connsiteY2" fmla="*/ 1172519 h 1172518"/>
                  <a:gd name="connsiteX3" fmla="*/ 0 w 1338644"/>
                  <a:gd name="connsiteY3" fmla="*/ 773754 h 1172518"/>
                  <a:gd name="connsiteX4" fmla="*/ 1338645 w 1338644"/>
                  <a:gd name="connsiteY4" fmla="*/ 0 h 117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8644" h="1172518">
                    <a:moveTo>
                      <a:pt x="1338645" y="0"/>
                    </a:moveTo>
                    <a:lnTo>
                      <a:pt x="1338645" y="280037"/>
                    </a:lnTo>
                    <a:lnTo>
                      <a:pt x="0" y="1172519"/>
                    </a:lnTo>
                    <a:lnTo>
                      <a:pt x="0" y="773754"/>
                    </a:lnTo>
                    <a:lnTo>
                      <a:pt x="1338645" y="0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9D4E901-834C-6CFF-42A3-524E45F9C24D}"/>
                  </a:ext>
                </a:extLst>
              </p:cNvPr>
              <p:cNvSpPr/>
              <p:nvPr/>
            </p:nvSpPr>
            <p:spPr>
              <a:xfrm>
                <a:off x="4713790" y="2923781"/>
                <a:ext cx="1705065" cy="990943"/>
              </a:xfrm>
              <a:custGeom>
                <a:avLst/>
                <a:gdLst>
                  <a:gd name="connsiteX0" fmla="*/ 1404345 w 1404671"/>
                  <a:gd name="connsiteY0" fmla="*/ 40526 h 816361"/>
                  <a:gd name="connsiteX1" fmla="*/ 69585 w 1404671"/>
                  <a:gd name="connsiteY1" fmla="*/ 816300 h 816361"/>
                  <a:gd name="connsiteX2" fmla="*/ 7424 w 1404671"/>
                  <a:gd name="connsiteY2" fmla="*/ 780091 h 816361"/>
                  <a:gd name="connsiteX3" fmla="*/ 7424 w 1404671"/>
                  <a:gd name="connsiteY3" fmla="*/ 758646 h 816361"/>
                  <a:gd name="connsiteX4" fmla="*/ 1305353 w 1404671"/>
                  <a:gd name="connsiteY4" fmla="*/ 4473 h 816361"/>
                  <a:gd name="connsiteX5" fmla="*/ 1342339 w 1404671"/>
                  <a:gd name="connsiteY5" fmla="*/ 4473 h 81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4671" h="816361">
                    <a:moveTo>
                      <a:pt x="1404345" y="40526"/>
                    </a:moveTo>
                    <a:lnTo>
                      <a:pt x="69585" y="816300"/>
                    </a:lnTo>
                    <a:lnTo>
                      <a:pt x="7424" y="780091"/>
                    </a:lnTo>
                    <a:cubicBezTo>
                      <a:pt x="-2833" y="774186"/>
                      <a:pt x="-2988" y="764551"/>
                      <a:pt x="7424" y="758646"/>
                    </a:cubicBezTo>
                    <a:lnTo>
                      <a:pt x="1305353" y="4473"/>
                    </a:lnTo>
                    <a:cubicBezTo>
                      <a:pt x="1316946" y="-1572"/>
                      <a:pt x="1330746" y="-1572"/>
                      <a:pt x="1342339" y="4473"/>
                    </a:cubicBez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EA345552-399D-6040-577A-2EDA8987B4B3}"/>
                  </a:ext>
                </a:extLst>
              </p:cNvPr>
              <p:cNvSpPr/>
              <p:nvPr/>
            </p:nvSpPr>
            <p:spPr>
              <a:xfrm>
                <a:off x="6041043" y="4122252"/>
                <a:ext cx="1636425" cy="1002181"/>
              </a:xfrm>
              <a:custGeom>
                <a:avLst/>
                <a:gdLst>
                  <a:gd name="connsiteX0" fmla="*/ 1334588 w 1348124"/>
                  <a:gd name="connsiteY0" fmla="*/ 18121 h 825619"/>
                  <a:gd name="connsiteX1" fmla="*/ 63077 w 1348124"/>
                  <a:gd name="connsiteY1" fmla="*/ 757065 h 825619"/>
                  <a:gd name="connsiteX2" fmla="*/ -327 w 1348124"/>
                  <a:gd name="connsiteY2" fmla="*/ 757065 h 825619"/>
                  <a:gd name="connsiteX3" fmla="*/ -327 w 1348124"/>
                  <a:gd name="connsiteY3" fmla="*/ 757065 h 825619"/>
                  <a:gd name="connsiteX4" fmla="*/ -327 w 1348124"/>
                  <a:gd name="connsiteY4" fmla="*/ 817983 h 825619"/>
                  <a:gd name="connsiteX5" fmla="*/ 62922 w 1348124"/>
                  <a:gd name="connsiteY5" fmla="*/ 817983 h 825619"/>
                  <a:gd name="connsiteX6" fmla="*/ 1334588 w 1348124"/>
                  <a:gd name="connsiteY6" fmla="*/ 79040 h 825619"/>
                  <a:gd name="connsiteX7" fmla="*/ 1347798 w 1348124"/>
                  <a:gd name="connsiteY7" fmla="*/ 60702 h 825619"/>
                  <a:gd name="connsiteX8" fmla="*/ 1347798 w 1348124"/>
                  <a:gd name="connsiteY8" fmla="*/ -61 h 825619"/>
                  <a:gd name="connsiteX9" fmla="*/ 1334588 w 1348124"/>
                  <a:gd name="connsiteY9" fmla="*/ 18121 h 825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8124" h="825619">
                    <a:moveTo>
                      <a:pt x="1334588" y="18121"/>
                    </a:moveTo>
                    <a:lnTo>
                      <a:pt x="63077" y="757065"/>
                    </a:lnTo>
                    <a:cubicBezTo>
                      <a:pt x="43171" y="767228"/>
                      <a:pt x="19580" y="767228"/>
                      <a:pt x="-327" y="757065"/>
                    </a:cubicBezTo>
                    <a:lnTo>
                      <a:pt x="-327" y="757065"/>
                    </a:lnTo>
                    <a:lnTo>
                      <a:pt x="-327" y="817983"/>
                    </a:lnTo>
                    <a:cubicBezTo>
                      <a:pt x="19549" y="828084"/>
                      <a:pt x="43046" y="828084"/>
                      <a:pt x="62922" y="817983"/>
                    </a:cubicBezTo>
                    <a:lnTo>
                      <a:pt x="1334588" y="79040"/>
                    </a:lnTo>
                    <a:cubicBezTo>
                      <a:pt x="1341954" y="75729"/>
                      <a:pt x="1347005" y="68736"/>
                      <a:pt x="1347798" y="60702"/>
                    </a:cubicBezTo>
                    <a:lnTo>
                      <a:pt x="1347798" y="-61"/>
                    </a:lnTo>
                    <a:cubicBezTo>
                      <a:pt x="1347036" y="7958"/>
                      <a:pt x="1341986" y="14920"/>
                      <a:pt x="1334588" y="1812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974D32C-4EFE-AA0B-86A0-57A2D7666E17}"/>
                  </a:ext>
                </a:extLst>
              </p:cNvPr>
              <p:cNvSpPr/>
              <p:nvPr/>
            </p:nvSpPr>
            <p:spPr>
              <a:xfrm>
                <a:off x="4790379" y="3237436"/>
                <a:ext cx="2886674" cy="1816905"/>
              </a:xfrm>
              <a:custGeom>
                <a:avLst/>
                <a:gdLst>
                  <a:gd name="connsiteX0" fmla="*/ 2364758 w 2378107"/>
                  <a:gd name="connsiteY0" fmla="*/ 713552 h 1496807"/>
                  <a:gd name="connsiteX1" fmla="*/ 2376692 w 2378107"/>
                  <a:gd name="connsiteY1" fmla="*/ 738292 h 1496807"/>
                  <a:gd name="connsiteX2" fmla="*/ 2364758 w 2378107"/>
                  <a:gd name="connsiteY2" fmla="*/ 750227 h 1496807"/>
                  <a:gd name="connsiteX3" fmla="*/ 1093247 w 2378107"/>
                  <a:gd name="connsiteY3" fmla="*/ 1489170 h 1496807"/>
                  <a:gd name="connsiteX4" fmla="*/ 1029842 w 2378107"/>
                  <a:gd name="connsiteY4" fmla="*/ 1489170 h 1496807"/>
                  <a:gd name="connsiteX5" fmla="*/ -327 w 2378107"/>
                  <a:gd name="connsiteY5" fmla="*/ 894441 h 1496807"/>
                  <a:gd name="connsiteX6" fmla="*/ 1334433 w 2378107"/>
                  <a:gd name="connsiteY6" fmla="*/ -61 h 149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107" h="1496807">
                    <a:moveTo>
                      <a:pt x="2364758" y="713552"/>
                    </a:moveTo>
                    <a:cubicBezTo>
                      <a:pt x="2374890" y="717095"/>
                      <a:pt x="2380220" y="728175"/>
                      <a:pt x="2376692" y="738292"/>
                    </a:cubicBezTo>
                    <a:cubicBezTo>
                      <a:pt x="2374735" y="743886"/>
                      <a:pt x="2370336" y="748269"/>
                      <a:pt x="2364758" y="750227"/>
                    </a:cubicBezTo>
                    <a:lnTo>
                      <a:pt x="1093247" y="1489170"/>
                    </a:lnTo>
                    <a:cubicBezTo>
                      <a:pt x="1073324" y="1499271"/>
                      <a:pt x="1049765" y="1499271"/>
                      <a:pt x="1029842" y="1489170"/>
                    </a:cubicBezTo>
                    <a:lnTo>
                      <a:pt x="-327" y="894441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C370C120-87C4-96FA-8DC8-D5B54D028895}"/>
                  </a:ext>
                </a:extLst>
              </p:cNvPr>
              <p:cNvGrpSpPr/>
              <p:nvPr/>
            </p:nvGrpSpPr>
            <p:grpSpPr>
              <a:xfrm>
                <a:off x="4832823" y="3207255"/>
                <a:ext cx="2761079" cy="1818460"/>
                <a:chOff x="4841272" y="3109948"/>
                <a:chExt cx="2274639" cy="1498088"/>
              </a:xfrm>
            </p:grpSpPr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D521ADD7-8B4F-E691-825B-0872949E8CFB}"/>
                    </a:ext>
                  </a:extLst>
                </p:cNvPr>
                <p:cNvSpPr/>
                <p:nvPr/>
              </p:nvSpPr>
              <p:spPr>
                <a:xfrm>
                  <a:off x="4841272" y="3678258"/>
                  <a:ext cx="1021621" cy="929778"/>
                </a:xfrm>
                <a:custGeom>
                  <a:avLst/>
                  <a:gdLst>
                    <a:gd name="connsiteX0" fmla="*/ 1021622 w 1021621"/>
                    <a:gd name="connsiteY0" fmla="*/ 597837 h 929778"/>
                    <a:gd name="connsiteX1" fmla="*/ 1021622 w 1021621"/>
                    <a:gd name="connsiteY1" fmla="*/ 929779 h 929778"/>
                    <a:gd name="connsiteX2" fmla="*/ 0 w 1021621"/>
                    <a:gd name="connsiteY2" fmla="*/ 331942 h 929778"/>
                    <a:gd name="connsiteX3" fmla="*/ 0 w 1021621"/>
                    <a:gd name="connsiteY3" fmla="*/ 0 h 929778"/>
                    <a:gd name="connsiteX4" fmla="*/ 1021622 w 1021621"/>
                    <a:gd name="connsiteY4" fmla="*/ 597837 h 929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1621" h="929778">
                      <a:moveTo>
                        <a:pt x="1021622" y="597837"/>
                      </a:moveTo>
                      <a:lnTo>
                        <a:pt x="1021622" y="929779"/>
                      </a:lnTo>
                      <a:lnTo>
                        <a:pt x="0" y="331942"/>
                      </a:lnTo>
                      <a:lnTo>
                        <a:pt x="0" y="0"/>
                      </a:lnTo>
                      <a:lnTo>
                        <a:pt x="1021622" y="5978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1A0CAD94-6439-C56E-7052-F8CAA4526920}"/>
                    </a:ext>
                  </a:extLst>
                </p:cNvPr>
                <p:cNvSpPr/>
                <p:nvPr/>
              </p:nvSpPr>
              <p:spPr>
                <a:xfrm>
                  <a:off x="5862894" y="3572894"/>
                  <a:ext cx="1253017" cy="1035142"/>
                </a:xfrm>
                <a:custGeom>
                  <a:avLst/>
                  <a:gdLst>
                    <a:gd name="connsiteX0" fmla="*/ 1253018 w 1253017"/>
                    <a:gd name="connsiteY0" fmla="*/ 0 h 1035142"/>
                    <a:gd name="connsiteX1" fmla="*/ 1253018 w 1253017"/>
                    <a:gd name="connsiteY1" fmla="*/ 310030 h 1035142"/>
                    <a:gd name="connsiteX2" fmla="*/ 0 w 1253017"/>
                    <a:gd name="connsiteY2" fmla="*/ 1035142 h 1035142"/>
                    <a:gd name="connsiteX3" fmla="*/ 0 w 1253017"/>
                    <a:gd name="connsiteY3" fmla="*/ 703201 h 1035142"/>
                    <a:gd name="connsiteX4" fmla="*/ 1253018 w 1253017"/>
                    <a:gd name="connsiteY4" fmla="*/ 0 h 1035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3017" h="1035142">
                      <a:moveTo>
                        <a:pt x="1253018" y="0"/>
                      </a:moveTo>
                      <a:lnTo>
                        <a:pt x="1253018" y="310030"/>
                      </a:lnTo>
                      <a:lnTo>
                        <a:pt x="0" y="1035142"/>
                      </a:lnTo>
                      <a:lnTo>
                        <a:pt x="0" y="703201"/>
                      </a:lnTo>
                      <a:lnTo>
                        <a:pt x="125301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246F62F8-0587-0A16-679A-5502CF963BEB}"/>
                    </a:ext>
                  </a:extLst>
                </p:cNvPr>
                <p:cNvSpPr/>
                <p:nvPr/>
              </p:nvSpPr>
              <p:spPr>
                <a:xfrm>
                  <a:off x="4870799" y="3109948"/>
                  <a:ext cx="2021487" cy="1156045"/>
                </a:xfrm>
                <a:custGeom>
                  <a:avLst/>
                  <a:gdLst>
                    <a:gd name="connsiteX0" fmla="*/ 981683 w 2021487"/>
                    <a:gd name="connsiteY0" fmla="*/ 1156046 h 1156045"/>
                    <a:gd name="connsiteX1" fmla="*/ 0 w 2021487"/>
                    <a:gd name="connsiteY1" fmla="*/ 577324 h 1156045"/>
                    <a:gd name="connsiteX2" fmla="*/ 1010278 w 2021487"/>
                    <a:gd name="connsiteY2" fmla="*/ 0 h 1156045"/>
                    <a:gd name="connsiteX3" fmla="*/ 2021488 w 2021487"/>
                    <a:gd name="connsiteY3" fmla="*/ 580432 h 1156045"/>
                    <a:gd name="connsiteX4" fmla="*/ 981683 w 2021487"/>
                    <a:gd name="connsiteY4" fmla="*/ 1156046 h 1156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21487" h="1156045">
                      <a:moveTo>
                        <a:pt x="981683" y="1156046"/>
                      </a:moveTo>
                      <a:lnTo>
                        <a:pt x="0" y="577324"/>
                      </a:lnTo>
                      <a:lnTo>
                        <a:pt x="1010278" y="0"/>
                      </a:lnTo>
                      <a:lnTo>
                        <a:pt x="2021488" y="580432"/>
                      </a:lnTo>
                      <a:lnTo>
                        <a:pt x="981683" y="1156046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5B225B3E-63A2-E8CB-658F-F7A1F5FB7B1B}"/>
                  </a:ext>
                </a:extLst>
              </p:cNvPr>
              <p:cNvSpPr/>
              <p:nvPr/>
            </p:nvSpPr>
            <p:spPr>
              <a:xfrm>
                <a:off x="4718213" y="3867107"/>
                <a:ext cx="1327060" cy="1252927"/>
              </a:xfrm>
              <a:custGeom>
                <a:avLst/>
                <a:gdLst>
                  <a:gd name="connsiteX0" fmla="*/ 62456 w 1093262"/>
                  <a:gd name="connsiteY0" fmla="*/ 113850 h 1032189"/>
                  <a:gd name="connsiteX1" fmla="*/ 72215 w 1093262"/>
                  <a:gd name="connsiteY1" fmla="*/ 104028 h 1032189"/>
                  <a:gd name="connsiteX2" fmla="*/ 77064 w 1093262"/>
                  <a:gd name="connsiteY2" fmla="*/ 105302 h 1032189"/>
                  <a:gd name="connsiteX3" fmla="*/ 1092470 w 1093262"/>
                  <a:gd name="connsiteY3" fmla="*/ 691640 h 1032189"/>
                  <a:gd name="connsiteX4" fmla="*/ 1092470 w 1093262"/>
                  <a:gd name="connsiteY4" fmla="*/ 630721 h 1032189"/>
                  <a:gd name="connsiteX5" fmla="*/ -327 w 1093262"/>
                  <a:gd name="connsiteY5" fmla="*/ -61 h 1032189"/>
                  <a:gd name="connsiteX6" fmla="*/ -327 w 1093262"/>
                  <a:gd name="connsiteY6" fmla="*/ 401191 h 1032189"/>
                  <a:gd name="connsiteX7" fmla="*/ 1092936 w 1093262"/>
                  <a:gd name="connsiteY7" fmla="*/ 1032129 h 1032189"/>
                  <a:gd name="connsiteX8" fmla="*/ 1092936 w 1093262"/>
                  <a:gd name="connsiteY8" fmla="*/ 971210 h 1032189"/>
                  <a:gd name="connsiteX9" fmla="*/ 70848 w 1093262"/>
                  <a:gd name="connsiteY9" fmla="*/ 380677 h 1032189"/>
                  <a:gd name="connsiteX10" fmla="*/ 62767 w 1093262"/>
                  <a:gd name="connsiteY10" fmla="*/ 366691 h 1032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3262" h="1032189">
                    <a:moveTo>
                      <a:pt x="62456" y="113850"/>
                    </a:moveTo>
                    <a:cubicBezTo>
                      <a:pt x="62441" y="108442"/>
                      <a:pt x="66823" y="104044"/>
                      <a:pt x="72215" y="104028"/>
                    </a:cubicBezTo>
                    <a:cubicBezTo>
                      <a:pt x="73925" y="104028"/>
                      <a:pt x="75587" y="104463"/>
                      <a:pt x="77064" y="105302"/>
                    </a:cubicBezTo>
                    <a:lnTo>
                      <a:pt x="1092470" y="691640"/>
                    </a:lnTo>
                    <a:lnTo>
                      <a:pt x="1092470" y="630721"/>
                    </a:lnTo>
                    <a:lnTo>
                      <a:pt x="-327" y="-61"/>
                    </a:lnTo>
                    <a:lnTo>
                      <a:pt x="-327" y="401191"/>
                    </a:lnTo>
                    <a:lnTo>
                      <a:pt x="1092936" y="1032129"/>
                    </a:lnTo>
                    <a:lnTo>
                      <a:pt x="1092936" y="971210"/>
                    </a:lnTo>
                    <a:lnTo>
                      <a:pt x="70848" y="380677"/>
                    </a:lnTo>
                    <a:cubicBezTo>
                      <a:pt x="65750" y="377896"/>
                      <a:pt x="62642" y="372503"/>
                      <a:pt x="62767" y="36669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C0680DA5-9181-596A-144F-E445B4003F1B}"/>
                  </a:ext>
                </a:extLst>
              </p:cNvPr>
              <p:cNvSpPr/>
              <p:nvPr/>
            </p:nvSpPr>
            <p:spPr>
              <a:xfrm>
                <a:off x="6041043" y="3714499"/>
                <a:ext cx="1636236" cy="1000727"/>
              </a:xfrm>
              <a:custGeom>
                <a:avLst/>
                <a:gdLst>
                  <a:gd name="connsiteX0" fmla="*/ 1334588 w 1347968"/>
                  <a:gd name="connsiteY0" fmla="*/ 16878 h 824421"/>
                  <a:gd name="connsiteX1" fmla="*/ 63077 w 1347968"/>
                  <a:gd name="connsiteY1" fmla="*/ 755821 h 824421"/>
                  <a:gd name="connsiteX2" fmla="*/ 63077 w 1347968"/>
                  <a:gd name="connsiteY2" fmla="*/ 755821 h 824421"/>
                  <a:gd name="connsiteX3" fmla="*/ 63077 w 1347968"/>
                  <a:gd name="connsiteY3" fmla="*/ 755821 h 824421"/>
                  <a:gd name="connsiteX4" fmla="*/ -327 w 1347968"/>
                  <a:gd name="connsiteY4" fmla="*/ 755821 h 824421"/>
                  <a:gd name="connsiteX5" fmla="*/ -327 w 1347968"/>
                  <a:gd name="connsiteY5" fmla="*/ 816739 h 824421"/>
                  <a:gd name="connsiteX6" fmla="*/ 30754 w 1347968"/>
                  <a:gd name="connsiteY6" fmla="*/ 824354 h 824421"/>
                  <a:gd name="connsiteX7" fmla="*/ 61834 w 1347968"/>
                  <a:gd name="connsiteY7" fmla="*/ 816895 h 824421"/>
                  <a:gd name="connsiteX8" fmla="*/ 61834 w 1347968"/>
                  <a:gd name="connsiteY8" fmla="*/ 816895 h 824421"/>
                  <a:gd name="connsiteX9" fmla="*/ 1334433 w 1347968"/>
                  <a:gd name="connsiteY9" fmla="*/ 79039 h 824421"/>
                  <a:gd name="connsiteX10" fmla="*/ 1347642 w 1347968"/>
                  <a:gd name="connsiteY10" fmla="*/ 60857 h 824421"/>
                  <a:gd name="connsiteX11" fmla="*/ 1347642 w 1347968"/>
                  <a:gd name="connsiteY11" fmla="*/ -61 h 824421"/>
                  <a:gd name="connsiteX12" fmla="*/ 1334588 w 1347968"/>
                  <a:gd name="connsiteY12" fmla="*/ 16878 h 82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47968" h="824421">
                    <a:moveTo>
                      <a:pt x="1334588" y="16878"/>
                    </a:moveTo>
                    <a:lnTo>
                      <a:pt x="63077" y="755821"/>
                    </a:lnTo>
                    <a:lnTo>
                      <a:pt x="63077" y="755821"/>
                    </a:lnTo>
                    <a:lnTo>
                      <a:pt x="63077" y="755821"/>
                    </a:lnTo>
                    <a:cubicBezTo>
                      <a:pt x="43155" y="765922"/>
                      <a:pt x="19596" y="765922"/>
                      <a:pt x="-327" y="755821"/>
                    </a:cubicBezTo>
                    <a:lnTo>
                      <a:pt x="-327" y="816739"/>
                    </a:lnTo>
                    <a:cubicBezTo>
                      <a:pt x="9246" y="821806"/>
                      <a:pt x="19922" y="824416"/>
                      <a:pt x="30754" y="824354"/>
                    </a:cubicBezTo>
                    <a:cubicBezTo>
                      <a:pt x="41570" y="824510"/>
                      <a:pt x="52262" y="821945"/>
                      <a:pt x="61834" y="816895"/>
                    </a:cubicBezTo>
                    <a:lnTo>
                      <a:pt x="61834" y="816895"/>
                    </a:lnTo>
                    <a:lnTo>
                      <a:pt x="1334433" y="79039"/>
                    </a:lnTo>
                    <a:cubicBezTo>
                      <a:pt x="1341752" y="75760"/>
                      <a:pt x="1346788" y="68845"/>
                      <a:pt x="1347642" y="60857"/>
                    </a:cubicBezTo>
                    <a:lnTo>
                      <a:pt x="1347642" y="-61"/>
                    </a:lnTo>
                    <a:cubicBezTo>
                      <a:pt x="1346508" y="7460"/>
                      <a:pt x="1341566" y="13863"/>
                      <a:pt x="1334588" y="16878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4253E22-DD59-937B-3E37-097E5892DBC9}"/>
                  </a:ext>
                </a:extLst>
              </p:cNvPr>
              <p:cNvSpPr/>
              <p:nvPr/>
            </p:nvSpPr>
            <p:spPr>
              <a:xfrm>
                <a:off x="4794045" y="2969194"/>
                <a:ext cx="2886862" cy="1672785"/>
              </a:xfrm>
              <a:custGeom>
                <a:avLst/>
                <a:gdLst>
                  <a:gd name="connsiteX0" fmla="*/ 2364913 w 2378262"/>
                  <a:gd name="connsiteY0" fmla="*/ 594823 h 1378078"/>
                  <a:gd name="connsiteX1" fmla="*/ 2376848 w 2378262"/>
                  <a:gd name="connsiteY1" fmla="*/ 619564 h 1378078"/>
                  <a:gd name="connsiteX2" fmla="*/ 2364913 w 2378262"/>
                  <a:gd name="connsiteY2" fmla="*/ 631499 h 1378078"/>
                  <a:gd name="connsiteX3" fmla="*/ 1093247 w 2378262"/>
                  <a:gd name="connsiteY3" fmla="*/ 1370442 h 1378078"/>
                  <a:gd name="connsiteX4" fmla="*/ 1029842 w 2378262"/>
                  <a:gd name="connsiteY4" fmla="*/ 1370442 h 1378078"/>
                  <a:gd name="connsiteX5" fmla="*/ -327 w 2378262"/>
                  <a:gd name="connsiteY5" fmla="*/ 775713 h 1378078"/>
                  <a:gd name="connsiteX6" fmla="*/ 1334433 w 2378262"/>
                  <a:gd name="connsiteY6" fmla="*/ -61 h 137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262" h="1378078">
                    <a:moveTo>
                      <a:pt x="2364913" y="594823"/>
                    </a:moveTo>
                    <a:cubicBezTo>
                      <a:pt x="2375045" y="598367"/>
                      <a:pt x="2380376" y="609447"/>
                      <a:pt x="2376848" y="619564"/>
                    </a:cubicBezTo>
                    <a:cubicBezTo>
                      <a:pt x="2374890" y="625158"/>
                      <a:pt x="2370492" y="629541"/>
                      <a:pt x="2364913" y="631499"/>
                    </a:cubicBezTo>
                    <a:lnTo>
                      <a:pt x="1093247" y="1370442"/>
                    </a:lnTo>
                    <a:cubicBezTo>
                      <a:pt x="1073324" y="1380543"/>
                      <a:pt x="1049765" y="1380543"/>
                      <a:pt x="1029842" y="1370442"/>
                    </a:cubicBezTo>
                    <a:lnTo>
                      <a:pt x="-327" y="775713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3E864884-78EF-7D62-E2D6-8A0370315CC9}"/>
                  </a:ext>
                </a:extLst>
              </p:cNvPr>
              <p:cNvSpPr/>
              <p:nvPr/>
            </p:nvSpPr>
            <p:spPr>
              <a:xfrm>
                <a:off x="5479848" y="3345148"/>
                <a:ext cx="1471368" cy="874143"/>
              </a:xfrm>
              <a:custGeom>
                <a:avLst/>
                <a:gdLst>
                  <a:gd name="connsiteX0" fmla="*/ 1211820 w 1212146"/>
                  <a:gd name="connsiteY0" fmla="*/ 360009 h 720139"/>
                  <a:gd name="connsiteX1" fmla="*/ 605746 w 1212146"/>
                  <a:gd name="connsiteY1" fmla="*/ 720078 h 720139"/>
                  <a:gd name="connsiteX2" fmla="*/ -327 w 1212146"/>
                  <a:gd name="connsiteY2" fmla="*/ 360009 h 720139"/>
                  <a:gd name="connsiteX3" fmla="*/ 605746 w 1212146"/>
                  <a:gd name="connsiteY3" fmla="*/ -61 h 720139"/>
                  <a:gd name="connsiteX4" fmla="*/ 1211820 w 1212146"/>
                  <a:gd name="connsiteY4" fmla="*/ 360009 h 720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146" h="720139">
                    <a:moveTo>
                      <a:pt x="1211820" y="360009"/>
                    </a:moveTo>
                    <a:cubicBezTo>
                      <a:pt x="1211820" y="558770"/>
                      <a:pt x="940796" y="720078"/>
                      <a:pt x="605746" y="720078"/>
                    </a:cubicBezTo>
                    <a:cubicBezTo>
                      <a:pt x="270697" y="720078"/>
                      <a:pt x="-327" y="558770"/>
                      <a:pt x="-327" y="360009"/>
                    </a:cubicBezTo>
                    <a:cubicBezTo>
                      <a:pt x="-327" y="161248"/>
                      <a:pt x="270697" y="-61"/>
                      <a:pt x="605746" y="-61"/>
                    </a:cubicBezTo>
                    <a:cubicBezTo>
                      <a:pt x="940796" y="-61"/>
                      <a:pt x="1211820" y="161248"/>
                      <a:pt x="1211820" y="360009"/>
                    </a:cubicBezTo>
                    <a:close/>
                  </a:path>
                </a:pathLst>
              </a:custGeom>
              <a:solidFill>
                <a:srgbClr val="DDB00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D6644276-158C-3981-973C-CAE5BECE9007}"/>
                  </a:ext>
                </a:extLst>
              </p:cNvPr>
              <p:cNvSpPr/>
              <p:nvPr/>
            </p:nvSpPr>
            <p:spPr>
              <a:xfrm>
                <a:off x="5959219" y="1679880"/>
                <a:ext cx="527591" cy="350951"/>
              </a:xfrm>
              <a:custGeom>
                <a:avLst/>
                <a:gdLst>
                  <a:gd name="connsiteX0" fmla="*/ 433678 w 434641"/>
                  <a:gd name="connsiteY0" fmla="*/ 154548 h 289121"/>
                  <a:gd name="connsiteX1" fmla="*/ 128310 w 434641"/>
                  <a:gd name="connsiteY1" fmla="*/ 12043 h 289121"/>
                  <a:gd name="connsiteX2" fmla="*/ 49676 w 434641"/>
                  <a:gd name="connsiteY2" fmla="*/ 237689 h 289121"/>
                  <a:gd name="connsiteX3" fmla="*/ 426995 w 434641"/>
                  <a:gd name="connsiteY3" fmla="*/ 182987 h 289121"/>
                  <a:gd name="connsiteX4" fmla="*/ 433522 w 434641"/>
                  <a:gd name="connsiteY4" fmla="*/ 155170 h 289121"/>
                  <a:gd name="connsiteX5" fmla="*/ 433678 w 434641"/>
                  <a:gd name="connsiteY5" fmla="*/ 154548 h 289121"/>
                  <a:gd name="connsiteX6" fmla="*/ 337328 w 434641"/>
                  <a:gd name="connsiteY6" fmla="*/ 252608 h 289121"/>
                  <a:gd name="connsiteX7" fmla="*/ 93189 w 434641"/>
                  <a:gd name="connsiteY7" fmla="*/ 250122 h 289121"/>
                  <a:gd name="connsiteX8" fmla="*/ 96608 w 434641"/>
                  <a:gd name="connsiteY8" fmla="*/ 108860 h 289121"/>
                  <a:gd name="connsiteX9" fmla="*/ 340746 w 434641"/>
                  <a:gd name="connsiteY9" fmla="*/ 111346 h 289121"/>
                  <a:gd name="connsiteX10" fmla="*/ 337328 w 434641"/>
                  <a:gd name="connsiteY10" fmla="*/ 253074 h 28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34641" h="289121">
                    <a:moveTo>
                      <a:pt x="433678" y="154548"/>
                    </a:moveTo>
                    <a:cubicBezTo>
                      <a:pt x="446576" y="32712"/>
                      <a:pt x="260869" y="-27584"/>
                      <a:pt x="128310" y="12043"/>
                    </a:cubicBezTo>
                    <a:cubicBezTo>
                      <a:pt x="-11553" y="51205"/>
                      <a:pt x="-36728" y="169001"/>
                      <a:pt x="49676" y="237689"/>
                    </a:cubicBezTo>
                    <a:cubicBezTo>
                      <a:pt x="161722" y="327668"/>
                      <a:pt x="388300" y="293168"/>
                      <a:pt x="426995" y="182987"/>
                    </a:cubicBezTo>
                    <a:cubicBezTo>
                      <a:pt x="430228" y="173997"/>
                      <a:pt x="432419" y="164662"/>
                      <a:pt x="433522" y="155170"/>
                    </a:cubicBezTo>
                    <a:cubicBezTo>
                      <a:pt x="433522" y="155170"/>
                      <a:pt x="433678" y="155325"/>
                      <a:pt x="433678" y="154548"/>
                    </a:cubicBezTo>
                    <a:close/>
                    <a:moveTo>
                      <a:pt x="337328" y="252608"/>
                    </a:moveTo>
                    <a:cubicBezTo>
                      <a:pt x="268950" y="290993"/>
                      <a:pt x="159701" y="289905"/>
                      <a:pt x="93189" y="250122"/>
                    </a:cubicBezTo>
                    <a:cubicBezTo>
                      <a:pt x="26676" y="210338"/>
                      <a:pt x="28230" y="147244"/>
                      <a:pt x="96608" y="108860"/>
                    </a:cubicBezTo>
                    <a:cubicBezTo>
                      <a:pt x="164985" y="70475"/>
                      <a:pt x="274234" y="71563"/>
                      <a:pt x="340746" y="111346"/>
                    </a:cubicBezTo>
                    <a:cubicBezTo>
                      <a:pt x="407259" y="151130"/>
                      <a:pt x="405705" y="214690"/>
                      <a:pt x="337328" y="253074"/>
                    </a:cubicBezTo>
                    <a:close/>
                  </a:path>
                </a:pathLst>
              </a:custGeom>
              <a:solidFill>
                <a:srgbClr val="A9F3FF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F136D120-6F01-FDAD-FDA7-A3C7DCF7E0D4}"/>
                  </a:ext>
                </a:extLst>
              </p:cNvPr>
              <p:cNvSpPr/>
              <p:nvPr/>
            </p:nvSpPr>
            <p:spPr>
              <a:xfrm>
                <a:off x="6084428" y="1899622"/>
                <a:ext cx="275788" cy="552416"/>
              </a:xfrm>
              <a:custGeom>
                <a:avLst/>
                <a:gdLst>
                  <a:gd name="connsiteX0" fmla="*/ 192529 w 227200"/>
                  <a:gd name="connsiteY0" fmla="*/ 47337 h 455093"/>
                  <a:gd name="connsiteX1" fmla="*/ 32774 w 227200"/>
                  <a:gd name="connsiteY1" fmla="*/ 45628 h 455093"/>
                  <a:gd name="connsiteX2" fmla="*/ 761 w 227200"/>
                  <a:gd name="connsiteY2" fmla="*/ -61 h 455093"/>
                  <a:gd name="connsiteX3" fmla="*/ -327 w 227200"/>
                  <a:gd name="connsiteY3" fmla="*/ 388448 h 455093"/>
                  <a:gd name="connsiteX4" fmla="*/ 31686 w 227200"/>
                  <a:gd name="connsiteY4" fmla="*/ 435069 h 455093"/>
                  <a:gd name="connsiteX5" fmla="*/ 191441 w 227200"/>
                  <a:gd name="connsiteY5" fmla="*/ 436623 h 455093"/>
                  <a:gd name="connsiteX6" fmla="*/ 225785 w 227200"/>
                  <a:gd name="connsiteY6" fmla="*/ 390002 h 455093"/>
                  <a:gd name="connsiteX7" fmla="*/ 226873 w 227200"/>
                  <a:gd name="connsiteY7" fmla="*/ 1493 h 455093"/>
                  <a:gd name="connsiteX8" fmla="*/ 192529 w 227200"/>
                  <a:gd name="connsiteY8" fmla="*/ 47337 h 4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00" h="455093">
                    <a:moveTo>
                      <a:pt x="192529" y="47337"/>
                    </a:moveTo>
                    <a:cubicBezTo>
                      <a:pt x="142070" y="72376"/>
                      <a:pt x="82674" y="71740"/>
                      <a:pt x="32774" y="45628"/>
                    </a:cubicBezTo>
                    <a:cubicBezTo>
                      <a:pt x="14685" y="37236"/>
                      <a:pt x="2471" y="19804"/>
                      <a:pt x="761" y="-61"/>
                    </a:cubicBezTo>
                    <a:lnTo>
                      <a:pt x="-327" y="388448"/>
                    </a:lnTo>
                    <a:cubicBezTo>
                      <a:pt x="1165" y="408624"/>
                      <a:pt x="13396" y="426444"/>
                      <a:pt x="31686" y="435069"/>
                    </a:cubicBezTo>
                    <a:cubicBezTo>
                      <a:pt x="81617" y="461130"/>
                      <a:pt x="141012" y="461705"/>
                      <a:pt x="191441" y="436623"/>
                    </a:cubicBezTo>
                    <a:cubicBezTo>
                      <a:pt x="210540" y="428511"/>
                      <a:pt x="223703" y="410642"/>
                      <a:pt x="225785" y="390002"/>
                    </a:cubicBezTo>
                    <a:lnTo>
                      <a:pt x="226873" y="1493"/>
                    </a:lnTo>
                    <a:cubicBezTo>
                      <a:pt x="224449" y="21820"/>
                      <a:pt x="211364" y="39304"/>
                      <a:pt x="192529" y="47337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D3576F7-CC27-BA52-B586-16FCC277BB97}"/>
                  </a:ext>
                </a:extLst>
              </p:cNvPr>
              <p:cNvGrpSpPr/>
              <p:nvPr/>
            </p:nvGrpSpPr>
            <p:grpSpPr>
              <a:xfrm>
                <a:off x="6013644" y="1690545"/>
                <a:ext cx="419051" cy="242790"/>
                <a:chOff x="5814059" y="1860449"/>
                <a:chExt cx="345224" cy="200016"/>
              </a:xfrm>
            </p:grpSpPr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289AD53F-72F7-4E25-B3FD-19E801E73A24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4F5F9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AD054CB8-6F13-A88F-34F9-1D037BC9DB10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BE7F3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A5F101F-A43B-2E89-5B82-8DD845FD300A}"/>
                  </a:ext>
                </a:extLst>
              </p:cNvPr>
              <p:cNvSpPr/>
              <p:nvPr/>
            </p:nvSpPr>
            <p:spPr>
              <a:xfrm>
                <a:off x="5958806" y="1679225"/>
                <a:ext cx="527656" cy="352656"/>
              </a:xfrm>
              <a:custGeom>
                <a:avLst/>
                <a:gdLst>
                  <a:gd name="connsiteX0" fmla="*/ 414903 w 434695"/>
                  <a:gd name="connsiteY0" fmla="*/ 84225 h 290526"/>
                  <a:gd name="connsiteX1" fmla="*/ 414903 w 434695"/>
                  <a:gd name="connsiteY1" fmla="*/ 84225 h 290526"/>
                  <a:gd name="connsiteX2" fmla="*/ 413660 w 434695"/>
                  <a:gd name="connsiteY2" fmla="*/ 82515 h 290526"/>
                  <a:gd name="connsiteX3" fmla="*/ 3084 w 434695"/>
                  <a:gd name="connsiteY3" fmla="*/ 122143 h 290526"/>
                  <a:gd name="connsiteX4" fmla="*/ 2308 w 434695"/>
                  <a:gd name="connsiteY4" fmla="*/ 125562 h 290526"/>
                  <a:gd name="connsiteX5" fmla="*/ 388951 w 434695"/>
                  <a:gd name="connsiteY5" fmla="*/ 236054 h 290526"/>
                  <a:gd name="connsiteX6" fmla="*/ 389728 w 434695"/>
                  <a:gd name="connsiteY6" fmla="*/ 236054 h 290526"/>
                  <a:gd name="connsiteX7" fmla="*/ 420032 w 434695"/>
                  <a:gd name="connsiteY7" fmla="*/ 200311 h 290526"/>
                  <a:gd name="connsiteX8" fmla="*/ 414903 w 434695"/>
                  <a:gd name="connsiteY8" fmla="*/ 84225 h 290526"/>
                  <a:gd name="connsiteX9" fmla="*/ 337202 w 434695"/>
                  <a:gd name="connsiteY9" fmla="*/ 181196 h 290526"/>
                  <a:gd name="connsiteX10" fmla="*/ 93063 w 434695"/>
                  <a:gd name="connsiteY10" fmla="*/ 178710 h 290526"/>
                  <a:gd name="connsiteX11" fmla="*/ 96482 w 434695"/>
                  <a:gd name="connsiteY11" fmla="*/ 37293 h 290526"/>
                  <a:gd name="connsiteX12" fmla="*/ 340621 w 434695"/>
                  <a:gd name="connsiteY12" fmla="*/ 39779 h 290526"/>
                  <a:gd name="connsiteX13" fmla="*/ 337823 w 434695"/>
                  <a:gd name="connsiteY13" fmla="*/ 181196 h 2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4695" h="290526">
                    <a:moveTo>
                      <a:pt x="414903" y="84225"/>
                    </a:moveTo>
                    <a:lnTo>
                      <a:pt x="414903" y="84225"/>
                    </a:lnTo>
                    <a:cubicBezTo>
                      <a:pt x="414546" y="83619"/>
                      <a:pt x="414127" y="83047"/>
                      <a:pt x="413660" y="82515"/>
                    </a:cubicBezTo>
                    <a:cubicBezTo>
                      <a:pt x="326634" y="-43672"/>
                      <a:pt x="36963" y="-21139"/>
                      <a:pt x="3084" y="122143"/>
                    </a:cubicBezTo>
                    <a:cubicBezTo>
                      <a:pt x="2758" y="123265"/>
                      <a:pt x="2494" y="124407"/>
                      <a:pt x="2308" y="125562"/>
                    </a:cubicBezTo>
                    <a:cubicBezTo>
                      <a:pt x="-31104" y="280965"/>
                      <a:pt x="261986" y="345147"/>
                      <a:pt x="388951" y="236054"/>
                    </a:cubicBezTo>
                    <a:lnTo>
                      <a:pt x="389728" y="236054"/>
                    </a:lnTo>
                    <a:cubicBezTo>
                      <a:pt x="401834" y="225991"/>
                      <a:pt x="412091" y="213896"/>
                      <a:pt x="420032" y="200311"/>
                    </a:cubicBezTo>
                    <a:cubicBezTo>
                      <a:pt x="440856" y="163867"/>
                      <a:pt x="438867" y="118690"/>
                      <a:pt x="414903" y="84225"/>
                    </a:cubicBezTo>
                    <a:close/>
                    <a:moveTo>
                      <a:pt x="337202" y="181196"/>
                    </a:moveTo>
                    <a:cubicBezTo>
                      <a:pt x="268824" y="219581"/>
                      <a:pt x="159576" y="218493"/>
                      <a:pt x="93063" y="178710"/>
                    </a:cubicBezTo>
                    <a:cubicBezTo>
                      <a:pt x="26550" y="138927"/>
                      <a:pt x="28260" y="75677"/>
                      <a:pt x="96482" y="37293"/>
                    </a:cubicBezTo>
                    <a:cubicBezTo>
                      <a:pt x="164704" y="-1092"/>
                      <a:pt x="274263" y="151"/>
                      <a:pt x="340621" y="39779"/>
                    </a:cubicBezTo>
                    <a:cubicBezTo>
                      <a:pt x="406978" y="79407"/>
                      <a:pt x="406201" y="142812"/>
                      <a:pt x="337823" y="181196"/>
                    </a:cubicBezTo>
                    <a:close/>
                  </a:path>
                </a:pathLst>
              </a:custGeom>
              <a:solidFill>
                <a:srgbClr val="D0DFF0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0E4181A8-8BC0-B7E5-B7A7-D1E520B6D47F}"/>
                  </a:ext>
                </a:extLst>
              </p:cNvPr>
              <p:cNvSpPr/>
              <p:nvPr/>
            </p:nvSpPr>
            <p:spPr>
              <a:xfrm>
                <a:off x="5449159" y="2348200"/>
                <a:ext cx="1536321" cy="1799951"/>
              </a:xfrm>
              <a:custGeom>
                <a:avLst/>
                <a:gdLst>
                  <a:gd name="connsiteX0" fmla="*/ 1224824 w 1265656"/>
                  <a:gd name="connsiteY0" fmla="*/ 893819 h 1482840"/>
                  <a:gd name="connsiteX1" fmla="*/ 1224824 w 1265656"/>
                  <a:gd name="connsiteY1" fmla="*/ 893819 h 1482840"/>
                  <a:gd name="connsiteX2" fmla="*/ 768094 w 1265656"/>
                  <a:gd name="connsiteY2" fmla="*/ 45317 h 1482840"/>
                  <a:gd name="connsiteX3" fmla="*/ 744162 w 1265656"/>
                  <a:gd name="connsiteY3" fmla="*/ 560 h 1482840"/>
                  <a:gd name="connsiteX4" fmla="*/ 714946 w 1265656"/>
                  <a:gd name="connsiteY4" fmla="*/ 67073 h 1482840"/>
                  <a:gd name="connsiteX5" fmla="*/ 555191 w 1265656"/>
                  <a:gd name="connsiteY5" fmla="*/ 65519 h 1482840"/>
                  <a:gd name="connsiteX6" fmla="*/ 528462 w 1265656"/>
                  <a:gd name="connsiteY6" fmla="*/ -61 h 1482840"/>
                  <a:gd name="connsiteX7" fmla="*/ 42671 w 1265656"/>
                  <a:gd name="connsiteY7" fmla="*/ 890556 h 1482840"/>
                  <a:gd name="connsiteX8" fmla="*/ 715101 w 1265656"/>
                  <a:gd name="connsiteY8" fmla="*/ 1478913 h 1482840"/>
                  <a:gd name="connsiteX9" fmla="*/ 1224824 w 1265656"/>
                  <a:gd name="connsiteY9" fmla="*/ 893819 h 1482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65656" h="1482840">
                    <a:moveTo>
                      <a:pt x="1224824" y="893819"/>
                    </a:moveTo>
                    <a:lnTo>
                      <a:pt x="1224824" y="893819"/>
                    </a:lnTo>
                    <a:lnTo>
                      <a:pt x="768094" y="45317"/>
                    </a:lnTo>
                    <a:lnTo>
                      <a:pt x="744162" y="560"/>
                    </a:lnTo>
                    <a:cubicBezTo>
                      <a:pt x="756439" y="23405"/>
                      <a:pt x="746493" y="49357"/>
                      <a:pt x="714946" y="67073"/>
                    </a:cubicBezTo>
                    <a:cubicBezTo>
                      <a:pt x="664517" y="92155"/>
                      <a:pt x="605122" y="91580"/>
                      <a:pt x="555191" y="65519"/>
                    </a:cubicBezTo>
                    <a:cubicBezTo>
                      <a:pt x="525198" y="47492"/>
                      <a:pt x="516340" y="22162"/>
                      <a:pt x="528462" y="-61"/>
                    </a:cubicBezTo>
                    <a:lnTo>
                      <a:pt x="42671" y="890556"/>
                    </a:lnTo>
                    <a:cubicBezTo>
                      <a:pt x="-124699" y="1192971"/>
                      <a:pt x="216878" y="1522271"/>
                      <a:pt x="715101" y="1478913"/>
                    </a:cubicBezTo>
                    <a:cubicBezTo>
                      <a:pt x="1068022" y="1449853"/>
                      <a:pt x="1378985" y="1211930"/>
                      <a:pt x="1224824" y="893819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0855D7A-3579-C835-CFC7-D089BAE6FF69}"/>
                  </a:ext>
                </a:extLst>
              </p:cNvPr>
              <p:cNvSpPr/>
              <p:nvPr/>
            </p:nvSpPr>
            <p:spPr>
              <a:xfrm>
                <a:off x="5552100" y="2896709"/>
                <a:ext cx="1331212" cy="1176879"/>
              </a:xfrm>
              <a:custGeom>
                <a:avLst/>
                <a:gdLst>
                  <a:gd name="connsiteX0" fmla="*/ 1061230 w 1096682"/>
                  <a:gd name="connsiteY0" fmla="*/ 458574 h 969539"/>
                  <a:gd name="connsiteX1" fmla="*/ 1061230 w 1096682"/>
                  <a:gd name="connsiteY1" fmla="*/ 458574 h 969539"/>
                  <a:gd name="connsiteX2" fmla="*/ 890287 w 1096682"/>
                  <a:gd name="connsiteY2" fmla="*/ 125078 h 969539"/>
                  <a:gd name="connsiteX3" fmla="*/ 220498 w 1096682"/>
                  <a:gd name="connsiteY3" fmla="*/ 114355 h 969539"/>
                  <a:gd name="connsiteX4" fmla="*/ 36966 w 1096682"/>
                  <a:gd name="connsiteY4" fmla="*/ 456243 h 969539"/>
                  <a:gd name="connsiteX5" fmla="*/ 619574 w 1096682"/>
                  <a:gd name="connsiteY5" fmla="*/ 966122 h 969539"/>
                  <a:gd name="connsiteX6" fmla="*/ 1061230 w 1096682"/>
                  <a:gd name="connsiteY6" fmla="*/ 458574 h 969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6682" h="969539">
                    <a:moveTo>
                      <a:pt x="1061230" y="458574"/>
                    </a:moveTo>
                    <a:lnTo>
                      <a:pt x="1061230" y="458574"/>
                    </a:lnTo>
                    <a:cubicBezTo>
                      <a:pt x="1013055" y="369217"/>
                      <a:pt x="938306" y="214591"/>
                      <a:pt x="890287" y="125078"/>
                    </a:cubicBezTo>
                    <a:cubicBezTo>
                      <a:pt x="806524" y="-30325"/>
                      <a:pt x="309699" y="-48974"/>
                      <a:pt x="220498" y="114355"/>
                    </a:cubicBezTo>
                    <a:cubicBezTo>
                      <a:pt x="169370" y="207597"/>
                      <a:pt x="88094" y="361913"/>
                      <a:pt x="36966" y="456243"/>
                    </a:cubicBezTo>
                    <a:cubicBezTo>
                      <a:pt x="-108180" y="718408"/>
                      <a:pt x="188019" y="1003729"/>
                      <a:pt x="619574" y="966122"/>
                    </a:cubicBezTo>
                    <a:cubicBezTo>
                      <a:pt x="925407" y="940635"/>
                      <a:pt x="1194877" y="734415"/>
                      <a:pt x="1061230" y="458574"/>
                    </a:cubicBezTo>
                    <a:close/>
                  </a:path>
                </a:pathLst>
              </a:custGeom>
              <a:solidFill>
                <a:srgbClr val="42D0B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2A941FD-A463-DA04-98EF-47743D321934}"/>
                  </a:ext>
                </a:extLst>
              </p:cNvPr>
              <p:cNvSpPr/>
              <p:nvPr/>
            </p:nvSpPr>
            <p:spPr>
              <a:xfrm>
                <a:off x="5803171" y="2879026"/>
                <a:ext cx="840188" cy="434997"/>
              </a:xfrm>
              <a:custGeom>
                <a:avLst/>
                <a:gdLst>
                  <a:gd name="connsiteX0" fmla="*/ 691840 w 692166"/>
                  <a:gd name="connsiteY0" fmla="*/ 179119 h 358360"/>
                  <a:gd name="connsiteX1" fmla="*/ 345756 w 692166"/>
                  <a:gd name="connsiteY1" fmla="*/ 358299 h 358360"/>
                  <a:gd name="connsiteX2" fmla="*/ -327 w 692166"/>
                  <a:gd name="connsiteY2" fmla="*/ 179119 h 358360"/>
                  <a:gd name="connsiteX3" fmla="*/ 345756 w 692166"/>
                  <a:gd name="connsiteY3" fmla="*/ -61 h 358360"/>
                  <a:gd name="connsiteX4" fmla="*/ 691840 w 692166"/>
                  <a:gd name="connsiteY4" fmla="*/ 179119 h 358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2166" h="358360">
                    <a:moveTo>
                      <a:pt x="691840" y="179119"/>
                    </a:moveTo>
                    <a:cubicBezTo>
                      <a:pt x="691840" y="278111"/>
                      <a:pt x="536436" y="358299"/>
                      <a:pt x="345756" y="358299"/>
                    </a:cubicBezTo>
                    <a:cubicBezTo>
                      <a:pt x="155076" y="358299"/>
                      <a:pt x="-327" y="278111"/>
                      <a:pt x="-327" y="179119"/>
                    </a:cubicBezTo>
                    <a:cubicBezTo>
                      <a:pt x="-327" y="80127"/>
                      <a:pt x="155076" y="-61"/>
                      <a:pt x="345756" y="-61"/>
                    </a:cubicBezTo>
                    <a:cubicBezTo>
                      <a:pt x="536436" y="-61"/>
                      <a:pt x="691840" y="80127"/>
                      <a:pt x="691840" y="179119"/>
                    </a:cubicBezTo>
                    <a:close/>
                  </a:path>
                </a:pathLst>
              </a:custGeom>
              <a:solidFill>
                <a:srgbClr val="6BEDD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9E2D721-6711-7E59-9FDD-BCE9B7B939C7}"/>
                  </a:ext>
                </a:extLst>
              </p:cNvPr>
              <p:cNvSpPr/>
              <p:nvPr/>
            </p:nvSpPr>
            <p:spPr>
              <a:xfrm>
                <a:off x="5843672" y="2949301"/>
                <a:ext cx="459576" cy="318493"/>
              </a:xfrm>
              <a:custGeom>
                <a:avLst/>
                <a:gdLst>
                  <a:gd name="connsiteX0" fmla="*/ 124975 w 378609"/>
                  <a:gd name="connsiteY0" fmla="*/ 1720 h 262382"/>
                  <a:gd name="connsiteX1" fmla="*/ 222413 w 378609"/>
                  <a:gd name="connsiteY1" fmla="*/ 51604 h 262382"/>
                  <a:gd name="connsiteX2" fmla="*/ 160252 w 378609"/>
                  <a:gd name="connsiteY2" fmla="*/ 111745 h 262382"/>
                  <a:gd name="connsiteX3" fmla="*/ 158232 w 378609"/>
                  <a:gd name="connsiteY3" fmla="*/ 206230 h 262382"/>
                  <a:gd name="connsiteX4" fmla="*/ 378283 w 378609"/>
                  <a:gd name="connsiteY4" fmla="*/ 260311 h 262382"/>
                  <a:gd name="connsiteX5" fmla="*/ 114097 w 378609"/>
                  <a:gd name="connsiteY5" fmla="*/ 237156 h 262382"/>
                  <a:gd name="connsiteX6" fmla="*/ -125 w 378609"/>
                  <a:gd name="connsiteY6" fmla="*/ 121225 h 262382"/>
                  <a:gd name="connsiteX7" fmla="*/ 124975 w 378609"/>
                  <a:gd name="connsiteY7" fmla="*/ 1720 h 262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609" h="262382">
                    <a:moveTo>
                      <a:pt x="124975" y="1720"/>
                    </a:moveTo>
                    <a:cubicBezTo>
                      <a:pt x="202677" y="-6983"/>
                      <a:pt x="216974" y="17260"/>
                      <a:pt x="222413" y="51604"/>
                    </a:cubicBezTo>
                    <a:cubicBezTo>
                      <a:pt x="228474" y="88590"/>
                      <a:pt x="193353" y="104286"/>
                      <a:pt x="160252" y="111745"/>
                    </a:cubicBezTo>
                    <a:cubicBezTo>
                      <a:pt x="127151" y="119205"/>
                      <a:pt x="112543" y="179346"/>
                      <a:pt x="158232" y="206230"/>
                    </a:cubicBezTo>
                    <a:cubicBezTo>
                      <a:pt x="203920" y="233115"/>
                      <a:pt x="378283" y="260311"/>
                      <a:pt x="378283" y="260311"/>
                    </a:cubicBezTo>
                    <a:cubicBezTo>
                      <a:pt x="378283" y="260311"/>
                      <a:pt x="205319" y="272432"/>
                      <a:pt x="114097" y="237156"/>
                    </a:cubicBezTo>
                    <a:cubicBezTo>
                      <a:pt x="36395" y="207163"/>
                      <a:pt x="4072" y="170799"/>
                      <a:pt x="-125" y="121225"/>
                    </a:cubicBezTo>
                    <a:cubicBezTo>
                      <a:pt x="-4320" y="71651"/>
                      <a:pt x="57375" y="9179"/>
                      <a:pt x="124975" y="1720"/>
                    </a:cubicBez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5" name="Title 23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P0 需求优先级清单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00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F16B62-FC88-2B0D-0E1A-E39DE6B4287F}"/>
              </a:ext>
            </a:extLst>
          </p:cNvPr>
          <p:cNvGrpSpPr/>
          <p:nvPr/>
        </p:nvGrpSpPr>
        <p:grpSpPr>
          <a:xfrm>
            <a:off x="-1" y="875413"/>
            <a:ext cx="10066632" cy="4423557"/>
            <a:chOff x="-1" y="875413"/>
            <a:chExt cx="10066632" cy="44235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651A5D-505B-3135-AE91-08D29931645A}"/>
                </a:ext>
              </a:extLst>
            </p:cNvPr>
            <p:cNvGrpSpPr/>
            <p:nvPr/>
          </p:nvGrpSpPr>
          <p:grpSpPr>
            <a:xfrm>
              <a:off x="2125370" y="2736546"/>
              <a:ext cx="2111657" cy="2562424"/>
              <a:chOff x="2126439" y="2627341"/>
              <a:chExt cx="2111657" cy="2562424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C1B6332-71F6-1583-1038-89EAD72F436D}"/>
                  </a:ext>
                </a:extLst>
              </p:cNvPr>
              <p:cNvSpPr/>
              <p:nvPr/>
            </p:nvSpPr>
            <p:spPr>
              <a:xfrm>
                <a:off x="2281781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9920DC5-8587-4F68-678A-A8C8A6137B07}"/>
                  </a:ext>
                </a:extLst>
              </p:cNvPr>
              <p:cNvSpPr/>
              <p:nvPr/>
            </p:nvSpPr>
            <p:spPr>
              <a:xfrm>
                <a:off x="2126439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D31980-6549-B1B1-C235-5842A7CAE404}"/>
                  </a:ext>
                </a:extLst>
              </p:cNvPr>
              <p:cNvSpPr txBox="1"/>
              <p:nvPr/>
            </p:nvSpPr>
            <p:spPr>
              <a:xfrm>
                <a:off x="2398323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不做线上交易</a:t>
                </a:r>
                <a:endParaRPr lang="zh-CN" altLang="en-US" sz="2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BE33D9E-1302-E328-3B07-CA6BEE0374FC}"/>
                  </a:ext>
                </a:extLst>
              </p:cNvPr>
              <p:cNvSpPr/>
              <p:nvPr/>
            </p:nvSpPr>
            <p:spPr>
              <a:xfrm>
                <a:off x="2398323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支付结算、订单、信誉评价均不做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C27E2FA-0720-9B1A-3451-DEB169A0EA6A}"/>
                </a:ext>
              </a:extLst>
            </p:cNvPr>
            <p:cNvGrpSpPr/>
            <p:nvPr/>
          </p:nvGrpSpPr>
          <p:grpSpPr>
            <a:xfrm>
              <a:off x="5040172" y="2736546"/>
              <a:ext cx="2111657" cy="2562424"/>
              <a:chOff x="5041241" y="2627341"/>
              <a:chExt cx="2111657" cy="25624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0D93ECA-9A2C-CF71-6593-6C58FB36011B}"/>
                  </a:ext>
                </a:extLst>
              </p:cNvPr>
              <p:cNvSpPr/>
              <p:nvPr/>
            </p:nvSpPr>
            <p:spPr>
              <a:xfrm>
                <a:off x="5196583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6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CFBFA84-D395-6186-5BD4-7486B98367C8}"/>
                  </a:ext>
                </a:extLst>
              </p:cNvPr>
              <p:cNvSpPr/>
              <p:nvPr/>
            </p:nvSpPr>
            <p:spPr>
              <a:xfrm>
                <a:off x="5041241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2CF5A7-CAD2-8880-68BA-CB4178DBCB08}"/>
                  </a:ext>
                </a:extLst>
              </p:cNvPr>
              <p:cNvSpPr txBox="1"/>
              <p:nvPr/>
            </p:nvSpPr>
            <p:spPr>
              <a:xfrm>
                <a:off x="5313125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6">
                          <a:alpha val="20000"/>
                        </a:schemeClr>
                      </a:outerShdw>
                    </a:effectLst>
                  </a:rPr>
                  <a:t>不追踪撮合结果</a:t>
                </a:r>
                <a:endParaRPr lang="zh-CN" altLang="en-US" sz="2000" b="1" dirty="0"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639BCE-391E-FC45-EE7E-3F39D38B30F0}"/>
                  </a:ext>
                </a:extLst>
              </p:cNvPr>
              <p:cNvSpPr/>
              <p:nvPr/>
            </p:nvSpPr>
            <p:spPr>
              <a:xfrm>
                <a:off x="5313125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不做站内 IM，只埋一级联系漏斗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D71F03-A00D-11D5-94D4-EB3837ACB4E1}"/>
                </a:ext>
              </a:extLst>
            </p:cNvPr>
            <p:cNvGrpSpPr/>
            <p:nvPr/>
          </p:nvGrpSpPr>
          <p:grpSpPr>
            <a:xfrm>
              <a:off x="7954974" y="2736546"/>
              <a:ext cx="2111657" cy="2562424"/>
              <a:chOff x="7956043" y="2627341"/>
              <a:chExt cx="2111657" cy="256242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2531A8C-3929-0066-15B2-62EEC268F3C8}"/>
                  </a:ext>
                </a:extLst>
              </p:cNvPr>
              <p:cNvSpPr/>
              <p:nvPr/>
            </p:nvSpPr>
            <p:spPr>
              <a:xfrm>
                <a:off x="8111385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565B1090-6963-8712-83C7-B37B444FA30A}"/>
                  </a:ext>
                </a:extLst>
              </p:cNvPr>
              <p:cNvSpPr/>
              <p:nvPr/>
            </p:nvSpPr>
            <p:spPr>
              <a:xfrm>
                <a:off x="7956043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A8735-51E4-B73A-E0DC-40DD98A5C453}"/>
                  </a:ext>
                </a:extLst>
              </p:cNvPr>
              <p:cNvSpPr txBox="1"/>
              <p:nvPr/>
            </p:nvSpPr>
            <p:spPr>
              <a:xfrm>
                <a:off x="8227927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不做全自动 AI</a:t>
                </a:r>
                <a:endParaRPr lang="zh-CN" altLang="en-US" sz="2000" b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2A70B3-EA20-B37C-196C-9D1E04F7FD1B}"/>
                  </a:ext>
                </a:extLst>
              </p:cNvPr>
              <p:cNvSpPr/>
              <p:nvPr/>
            </p:nvSpPr>
            <p:spPr>
              <a:xfrm>
                <a:off x="8227927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AI 预审加人工边界，不做全自动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A5A856-1556-6061-0E47-5050FD2FBD12}"/>
                </a:ext>
              </a:extLst>
            </p:cNvPr>
            <p:cNvGrpSpPr/>
            <p:nvPr/>
          </p:nvGrpSpPr>
          <p:grpSpPr>
            <a:xfrm>
              <a:off x="-1" y="875413"/>
              <a:ext cx="5744206" cy="782356"/>
              <a:chOff x="-1" y="875413"/>
              <a:chExt cx="5744206" cy="782356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3E1783FE-E159-CA83-32AC-471359361B97}"/>
                  </a:ext>
                </a:extLst>
              </p:cNvPr>
              <p:cNvSpPr/>
              <p:nvPr/>
            </p:nvSpPr>
            <p:spPr>
              <a:xfrm rot="5400000">
                <a:off x="837505" y="580747"/>
                <a:ext cx="239516" cy="1914528"/>
              </a:xfrm>
              <a:prstGeom prst="round2SameRect">
                <a:avLst>
                  <a:gd name="adj1" fmla="val 30271"/>
                  <a:gd name="adj2" fmla="val 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FF2E404-EF90-8415-EB96-461B59C8F4D9}"/>
                  </a:ext>
                </a:extLst>
              </p:cNvPr>
              <p:cNvSpPr/>
              <p:nvPr/>
            </p:nvSpPr>
            <p:spPr>
              <a:xfrm>
                <a:off x="5039031" y="1391902"/>
                <a:ext cx="661682" cy="163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89B52B-BA7B-5137-F7E3-23E6270740A3}"/>
                  </a:ext>
                </a:extLst>
              </p:cNvPr>
              <p:cNvSpPr/>
              <p:nvPr/>
            </p:nvSpPr>
            <p:spPr>
              <a:xfrm>
                <a:off x="655392" y="875413"/>
                <a:ext cx="5088813" cy="744229"/>
              </a:xfrm>
              <a:prstGeom prst="rect">
                <a:avLst/>
              </a:prstGeom>
            </p:spPr>
            <p:txBody>
              <a:bodyPr wrap="square" anchor="b" anchorCtr="0">
                <a:no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明确不做的需求</a:t>
                </a:r>
                <a:endParaRPr lang="en-US" altLang="zh-CN" sz="3600" b="1" dirty="0"/>
              </a:p>
            </p:txBody>
          </p:sp>
        </p:grp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需求范围与排除项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205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AC9612-B4DA-08CA-CB0A-734D7EFE170D}"/>
              </a:ext>
            </a:extLst>
          </p:cNvPr>
          <p:cNvGrpSpPr/>
          <p:nvPr/>
        </p:nvGrpSpPr>
        <p:grpSpPr>
          <a:xfrm>
            <a:off x="660399" y="1028700"/>
            <a:ext cx="10858501" cy="4647852"/>
            <a:chOff x="660399" y="1028700"/>
            <a:chExt cx="10858501" cy="464785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53CAB9-9DA5-6A5D-8AF6-FA04283DB0D1}"/>
                </a:ext>
              </a:extLst>
            </p:cNvPr>
            <p:cNvGrpSpPr/>
            <p:nvPr/>
          </p:nvGrpSpPr>
          <p:grpSpPr>
            <a:xfrm>
              <a:off x="660400" y="3813174"/>
              <a:ext cx="10800420" cy="1863378"/>
              <a:chOff x="660400" y="3813174"/>
              <a:chExt cx="10800420" cy="186337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193B839-11C0-10E1-2E09-0BEC4CFF9657}"/>
                  </a:ext>
                </a:extLst>
              </p:cNvPr>
              <p:cNvGrpSpPr/>
              <p:nvPr/>
            </p:nvGrpSpPr>
            <p:grpSpPr>
              <a:xfrm>
                <a:off x="660400" y="3813175"/>
                <a:ext cx="3333162" cy="1641779"/>
                <a:chOff x="660400" y="3708400"/>
                <a:chExt cx="3333162" cy="1641779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56E3883D-60EF-BA9F-8AF3-24EE67A05D10}"/>
                    </a:ext>
                  </a:extLst>
                </p:cNvPr>
                <p:cNvSpPr/>
                <p:nvPr/>
              </p:nvSpPr>
              <p:spPr>
                <a:xfrm>
                  <a:off x="660400" y="3708400"/>
                  <a:ext cx="1468800" cy="1468840"/>
                </a:xfrm>
                <a:prstGeom prst="ellipse">
                  <a:avLst/>
                </a:prstGeom>
                <a:blipFill rotWithShape="0">
                  <a:blip r:embed="rId3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BBD00A-C7DE-61F9-1DAB-7994A5D1CCB8}"/>
                    </a:ext>
                  </a:extLst>
                </p:cNvPr>
                <p:cNvSpPr/>
                <p:nvPr/>
              </p:nvSpPr>
              <p:spPr>
                <a:xfrm>
                  <a:off x="2524761" y="4028553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工作类 3 条聚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E9A361B-181E-7F17-58E2-0BDABB2A7383}"/>
                    </a:ext>
                  </a:extLst>
                </p:cNvPr>
                <p:cNvSpPr/>
                <p:nvPr/>
              </p:nvSpPr>
              <p:spPr>
                <a:xfrm>
                  <a:off x="2524761" y="4612156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招聘参照，3km 均值 12 条，高密度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B867B9-2ACD-1C87-BE6C-EB5475B1BD4E}"/>
                    </a:ext>
                  </a:extLst>
                </p:cNvPr>
                <p:cNvSpPr txBox="1"/>
                <p:nvPr/>
              </p:nvSpPr>
              <p:spPr>
                <a:xfrm>
                  <a:off x="1857761" y="4172819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01</a:t>
                  </a:r>
                  <a:endParaRPr lang="zh-CN" altLang="en-US" dirty="0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02D0037-B2AA-C93D-9FC7-5A272796A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7761" y="4442820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761F155-EB85-576E-C9DA-C672716ED188}"/>
                  </a:ext>
                </a:extLst>
              </p:cNvPr>
              <p:cNvGrpSpPr/>
              <p:nvPr/>
            </p:nvGrpSpPr>
            <p:grpSpPr>
              <a:xfrm>
                <a:off x="4394029" y="3813174"/>
                <a:ext cx="3333162" cy="1863378"/>
                <a:chOff x="4394029" y="3708399"/>
                <a:chExt cx="3333162" cy="186337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839B981-6D2C-AE72-1FEC-B3314D618184}"/>
                    </a:ext>
                  </a:extLst>
                </p:cNvPr>
                <p:cNvSpPr/>
                <p:nvPr/>
              </p:nvSpPr>
              <p:spPr>
                <a:xfrm>
                  <a:off x="4394029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4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AA1FF6D-9957-CA47-085A-2FF11353A939}"/>
                    </a:ext>
                  </a:extLst>
                </p:cNvPr>
                <p:cNvSpPr/>
                <p:nvPr/>
              </p:nvSpPr>
              <p:spPr>
                <a:xfrm>
                  <a:off x="6258390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房屋类 5 条聚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28F7BD-0D40-B7A6-3158-7FF1045830A9}"/>
                    </a:ext>
                  </a:extLst>
                </p:cNvPr>
                <p:cNvSpPr/>
                <p:nvPr/>
              </p:nvSpPr>
              <p:spPr>
                <a:xfrm>
                  <a:off x="6258390" y="4612155"/>
                  <a:ext cx="1468801" cy="9596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房产参照，3km 均值 8 条，中密度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6EA659-58D0-2F2B-5D99-205087329EBF}"/>
                    </a:ext>
                  </a:extLst>
                </p:cNvPr>
                <p:cNvSpPr txBox="1"/>
                <p:nvPr/>
              </p:nvSpPr>
              <p:spPr>
                <a:xfrm>
                  <a:off x="5591390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02</a:t>
                  </a:r>
                  <a:endParaRPr lang="zh-CN" altLang="en-US" dirty="0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A34FBB5-7E67-A44F-61CB-18F0FFB2F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1390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80671DA-74AA-D93A-98D6-FD8A9C132AAF}"/>
                  </a:ext>
                </a:extLst>
              </p:cNvPr>
              <p:cNvGrpSpPr/>
              <p:nvPr/>
            </p:nvGrpSpPr>
            <p:grpSpPr>
              <a:xfrm>
                <a:off x="8127658" y="3813174"/>
                <a:ext cx="3333162" cy="1641779"/>
                <a:chOff x="8127658" y="3708399"/>
                <a:chExt cx="3333162" cy="1641779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3B8D5CE-6865-5C6E-C6E8-82B8D89D997E}"/>
                    </a:ext>
                  </a:extLst>
                </p:cNvPr>
                <p:cNvSpPr/>
                <p:nvPr/>
              </p:nvSpPr>
              <p:spPr>
                <a:xfrm>
                  <a:off x="8127658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5"/>
                  <a:srcRect/>
                  <a:stretch>
                    <a:fillRect l="-24910" r="-2491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24FBE7C-EBA4-8F28-91DA-A1F8C8E6FD53}"/>
                    </a:ext>
                  </a:extLst>
                </p:cNvPr>
                <p:cNvSpPr/>
                <p:nvPr/>
              </p:nvSpPr>
              <p:spPr>
                <a:xfrm>
                  <a:off x="9992019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生活类 8 条聚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9997973-5A76-0290-869F-480D41336D4B}"/>
                    </a:ext>
                  </a:extLst>
                </p:cNvPr>
                <p:cNvSpPr/>
                <p:nvPr/>
              </p:nvSpPr>
              <p:spPr>
                <a:xfrm>
                  <a:off x="9992019" y="4612155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二手参照，3km 均值 5 条，车服同档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BA9F0D4-F5D3-7290-7942-A5E7A7AD89C1}"/>
                    </a:ext>
                  </a:extLst>
                </p:cNvPr>
                <p:cNvSpPr txBox="1"/>
                <p:nvPr/>
              </p:nvSpPr>
              <p:spPr>
                <a:xfrm>
                  <a:off x="9325019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03</a:t>
                  </a:r>
                  <a:endParaRPr lang="zh-CN" altLang="en-US" dirty="0"/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C0DADBD-0F12-25A7-52CE-614FEC9DB3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65019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7B125E-CC2B-E45B-2495-2AC26AACBE32}"/>
                </a:ext>
              </a:extLst>
            </p:cNvPr>
            <p:cNvSpPr/>
            <p:nvPr/>
          </p:nvSpPr>
          <p:spPr>
            <a:xfrm>
              <a:off x="660399" y="1028700"/>
              <a:ext cx="10858501" cy="640677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分类聚合阈值溯源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FF36DF-A12C-D16B-A1DA-D905EE6D3FEA}"/>
                </a:ext>
              </a:extLst>
            </p:cNvPr>
            <p:cNvSpPr/>
            <p:nvPr/>
          </p:nvSpPr>
          <p:spPr>
            <a:xfrm>
              <a:off x="3991166" y="1764244"/>
              <a:ext cx="4164241" cy="420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各类目按真实数据密度设定差异化阈值。</a:t>
              </a:r>
            </a:p>
          </p:txBody>
        </p: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分类聚合阈值溯源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6133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04.Go-to-Market 策略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单城试点与三批 GTM 节奏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060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60400" y="1168970"/>
            <a:ext cx="10867209" cy="4390233"/>
            <a:chOff x="660400" y="1168970"/>
            <a:chExt cx="10867209" cy="43902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4DE8A9-93A3-4FCC-82B5-0CF78045966D}"/>
                </a:ext>
              </a:extLst>
            </p:cNvPr>
            <p:cNvSpPr txBox="1"/>
            <p:nvPr/>
          </p:nvSpPr>
          <p:spPr>
            <a:xfrm>
              <a:off x="660400" y="1168970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单城试点策略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4A1DB3-1E9E-4FAF-9E7E-7D4E7E656E8D}"/>
                </a:ext>
              </a:extLst>
            </p:cNvPr>
            <p:cNvSpPr txBox="1"/>
            <p:nvPr/>
          </p:nvSpPr>
          <p:spPr>
            <a:xfrm>
              <a:off x="669109" y="1755201"/>
              <a:ext cx="1085850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/>
                <a:t>先选一个一二线城市社区密集区做单城 5km 密度试点，跑通后再复制。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097943-5C5C-469E-898A-21B837347967}"/>
                </a:ext>
              </a:extLst>
            </p:cNvPr>
            <p:cNvSpPr/>
            <p:nvPr/>
          </p:nvSpPr>
          <p:spPr>
            <a:xfrm>
              <a:off x="923636" y="2347773"/>
              <a:ext cx="10344728" cy="1856254"/>
            </a:xfrm>
            <a:prstGeom prst="roundRect">
              <a:avLst>
                <a:gd name="adj" fmla="val 0"/>
              </a:avLst>
            </a:prstGeom>
            <a:blipFill rotWithShape="0">
              <a:blip r:embed="rId3"/>
              <a:srcRect/>
              <a:stretch>
                <a:fillRect t="-136830" b="-136830"/>
              </a:stretch>
            </a:blipFill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707A98-9CD0-4A34-A4E2-19249535FB7E}"/>
                </a:ext>
              </a:extLst>
            </p:cNvPr>
            <p:cNvGrpSpPr/>
            <p:nvPr/>
          </p:nvGrpSpPr>
          <p:grpSpPr>
            <a:xfrm>
              <a:off x="923636" y="4510891"/>
              <a:ext cx="2655587" cy="835754"/>
              <a:chOff x="923636" y="4510891"/>
              <a:chExt cx="2655587" cy="8357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7755DC-41D5-458B-9095-6CCA5A741147}"/>
                  </a:ext>
                </a:extLst>
              </p:cNvPr>
              <p:cNvSpPr txBox="1"/>
              <p:nvPr/>
            </p:nvSpPr>
            <p:spPr>
              <a:xfrm>
                <a:off x="1529742" y="4510891"/>
                <a:ext cx="2049481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/>
                  <a:t>试点城市选择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9C1B08-3524-4BEB-B7CD-04F7084BDC0C}"/>
                  </a:ext>
                </a:extLst>
              </p:cNvPr>
              <p:cNvSpPr txBox="1"/>
              <p:nvPr/>
            </p:nvSpPr>
            <p:spPr>
              <a:xfrm>
                <a:off x="1529742" y="4821180"/>
                <a:ext cx="2049481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选社区密集区，做单城 5km 供给密度试点。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983178C-1A86-4613-9297-5820C5E02498}"/>
                  </a:ext>
                </a:extLst>
              </p:cNvPr>
              <p:cNvGrpSpPr/>
              <p:nvPr/>
            </p:nvGrpSpPr>
            <p:grpSpPr>
              <a:xfrm>
                <a:off x="923636" y="4584047"/>
                <a:ext cx="410200" cy="410198"/>
                <a:chOff x="3526795" y="4024421"/>
                <a:chExt cx="410200" cy="410198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72B26A-47A1-4812-9360-544D00E06BCE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A22E301-65CF-493A-8113-031055E29BFC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FEF06B-C13C-4FB6-8035-0165CC62890E}"/>
                </a:ext>
              </a:extLst>
            </p:cNvPr>
            <p:cNvSpPr txBox="1"/>
            <p:nvPr/>
          </p:nvSpPr>
          <p:spPr>
            <a:xfrm>
              <a:off x="5374313" y="4510891"/>
              <a:ext cx="2049481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种子资源导入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343E83-1A17-4689-8C43-51AC7FA946B8}"/>
                </a:ext>
              </a:extLst>
            </p:cNvPr>
            <p:cNvSpPr txBox="1"/>
            <p:nvPr/>
          </p:nvSpPr>
          <p:spPr>
            <a:xfrm>
              <a:off x="537431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人工导入本地优质资源与需求，避免冷启动撮合空转。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C1DC54-DE31-4C96-A5A9-78DEF20B7897}"/>
                </a:ext>
              </a:extLst>
            </p:cNvPr>
            <p:cNvSpPr txBox="1"/>
            <p:nvPr/>
          </p:nvSpPr>
          <p:spPr>
            <a:xfrm>
              <a:off x="9218883" y="4510891"/>
              <a:ext cx="2049481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种子用户招募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BAB1BA-CFA3-42A2-A1A8-C6247397AFC2}"/>
                </a:ext>
              </a:extLst>
            </p:cNvPr>
            <p:cNvSpPr txBox="1"/>
            <p:nvPr/>
          </p:nvSpPr>
          <p:spPr>
            <a:xfrm>
              <a:off x="921888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通过社区社群、物业合作与本地微信群定向邀请首批用户。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6C1F13-B66B-40E5-A2C3-96CDA207652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68207" y="4584047"/>
              <a:ext cx="410200" cy="410198"/>
              <a:chOff x="4471992" y="4024421"/>
              <a:chExt cx="410200" cy="410198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67ADF15-4604-447A-8536-3771AF9353CC}"/>
                  </a:ext>
                </a:extLst>
              </p:cNvPr>
              <p:cNvSpPr/>
              <p:nvPr/>
            </p:nvSpPr>
            <p:spPr>
              <a:xfrm>
                <a:off x="4471992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A6F5020-986E-4EEB-84A8-4BB5FCF1DECC}"/>
                  </a:ext>
                </a:extLst>
              </p:cNvPr>
              <p:cNvSpPr/>
              <p:nvPr/>
            </p:nvSpPr>
            <p:spPr>
              <a:xfrm>
                <a:off x="4595899" y="4146869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7E4ED76-8BC2-4529-9217-FEEA93CBA7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12777" y="4584047"/>
              <a:ext cx="410200" cy="410198"/>
              <a:chOff x="5417189" y="4024421"/>
              <a:chExt cx="410200" cy="410198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B038E73-F81B-446F-9B01-92AE01D740B9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8C202CA-3A8D-4875-88C8-9FB4D367EF54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4" name="Title 8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单城试点与种子导入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1099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72677" y="1214657"/>
            <a:ext cx="9953710" cy="4428686"/>
            <a:chOff x="872677" y="1214657"/>
            <a:chExt cx="9953710" cy="4428686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45324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7983855" y="2635454"/>
              <a:ext cx="2842532" cy="664156"/>
              <a:chOff x="844173" y="2422024"/>
              <a:chExt cx="2842532" cy="66415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种子配方导入，未实名先发后审保供给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第一批 GTM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7983855" y="4748546"/>
              <a:ext cx="2842532" cy="894797"/>
              <a:chOff x="844173" y="3314603"/>
              <a:chExt cx="2842532" cy="89479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8" y="3314603"/>
                <a:ext cx="2257947" cy="894797"/>
                <a:chOff x="6873246" y="3437950"/>
                <a:chExt cx="2257947" cy="834643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双向推送 + AI 发布钩子，样本达标后开灰度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第二批 GTM</a:t>
                  </a: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D969229-E916-4224-B360-8F14B0E8864C}"/>
                </a:ext>
              </a:extLst>
            </p:cNvPr>
            <p:cNvGrpSpPr/>
            <p:nvPr/>
          </p:nvGrpSpPr>
          <p:grpSpPr>
            <a:xfrm>
              <a:off x="872677" y="2635453"/>
              <a:ext cx="2603486" cy="894797"/>
              <a:chOff x="2682676" y="4413418"/>
              <a:chExt cx="2603486" cy="894797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9A720012-207D-4CA0-8EE7-5ECFF8B448AE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E47D3709-A986-4A45-9A96-C6B64928BCD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442A5976-B13F-4316-8CCA-EE81E1C5128A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B79BF63C-89E7-4B5E-B67B-314792116533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87EF02B-E7E3-494D-96A5-0E5A005BFE38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动态蜂窝半径，随密度自适应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C714B7B-C146-47F9-980B-726B5F59A9A5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第三批 GTM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872677" y="4748546"/>
              <a:ext cx="2603486" cy="894797"/>
              <a:chOff x="2682676" y="4413418"/>
              <a:chExt cx="2603486" cy="89479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三目标 Tab 同屏，任选其一进入撮合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三目标联动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三批 GTM 节奏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三批 GTM 节奏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83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914785" y="1338573"/>
            <a:ext cx="10604115" cy="4792042"/>
            <a:chOff x="914785" y="1338573"/>
            <a:chExt cx="10604115" cy="479204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146D1FA-79D0-4029-870E-16CE59ED6954}"/>
                </a:ext>
              </a:extLst>
            </p:cNvPr>
            <p:cNvSpPr/>
            <p:nvPr/>
          </p:nvSpPr>
          <p:spPr>
            <a:xfrm>
              <a:off x="5543869" y="2325929"/>
              <a:ext cx="3469387" cy="3467782"/>
            </a:xfrm>
            <a:prstGeom prst="roundRect">
              <a:avLst>
                <a:gd name="adj" fmla="val 7022"/>
              </a:avLst>
            </a:prstGeom>
            <a:blipFill rotWithShape="0">
              <a:blip r:embed="rId3"/>
              <a:srcRect/>
              <a:stretch>
                <a:fillRect l="-86990" r="-8699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FFE572-EFD1-4DF1-8482-D87A5704F231}"/>
                </a:ext>
              </a:extLst>
            </p:cNvPr>
            <p:cNvSpPr/>
            <p:nvPr/>
          </p:nvSpPr>
          <p:spPr>
            <a:xfrm>
              <a:off x="9154623" y="1653723"/>
              <a:ext cx="1946191" cy="1945290"/>
            </a:xfrm>
            <a:prstGeom prst="roundRect">
              <a:avLst>
                <a:gd name="adj" fmla="val 7022"/>
              </a:avLst>
            </a:prstGeom>
            <a:blipFill rotWithShape="0">
              <a:blip r:embed="rId4"/>
              <a:srcRect/>
              <a:stretch>
                <a:fillRect l="-37340" r="-3734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62C02E2-99DB-488D-96B9-109679F7DDD7}"/>
                </a:ext>
              </a:extLst>
            </p:cNvPr>
            <p:cNvSpPr/>
            <p:nvPr/>
          </p:nvSpPr>
          <p:spPr>
            <a:xfrm>
              <a:off x="9154623" y="3767433"/>
              <a:ext cx="2364277" cy="2363182"/>
            </a:xfrm>
            <a:prstGeom prst="roundRect">
              <a:avLst>
                <a:gd name="adj" fmla="val 7022"/>
              </a:avLst>
            </a:prstGeom>
            <a:blipFill rotWithShape="0">
              <a:blip r:embed="rId5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B09892-55BF-44C4-841D-5770201D3772}"/>
                </a:ext>
              </a:extLst>
            </p:cNvPr>
            <p:cNvGrpSpPr/>
            <p:nvPr/>
          </p:nvGrpSpPr>
          <p:grpSpPr>
            <a:xfrm>
              <a:off x="914785" y="5136408"/>
              <a:ext cx="3838543" cy="705906"/>
              <a:chOff x="788068" y="3924911"/>
              <a:chExt cx="3838543" cy="70590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A0D66B-5BCA-4556-A8CA-8F24DE36C968}"/>
                  </a:ext>
                </a:extLst>
              </p:cNvPr>
              <p:cNvSpPr txBox="1"/>
              <p:nvPr/>
            </p:nvSpPr>
            <p:spPr>
              <a:xfrm>
                <a:off x="1384430" y="4032633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差异化标签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D93D84-3817-4CCC-B4A2-9D87A9E3982E}"/>
                  </a:ext>
                </a:extLst>
              </p:cNvPr>
              <p:cNvSpPr/>
              <p:nvPr/>
            </p:nvSpPr>
            <p:spPr>
              <a:xfrm flipH="1">
                <a:off x="1384429" y="4335993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双向发布 / 5km / 实名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E5470E-143C-490B-8829-40484E875B69}"/>
                  </a:ext>
                </a:extLst>
              </p:cNvPr>
              <p:cNvSpPr txBox="1"/>
              <p:nvPr/>
            </p:nvSpPr>
            <p:spPr>
              <a:xfrm>
                <a:off x="788068" y="39249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03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82E951-3FEA-4DDE-9B8F-4EFB952A1717}"/>
                </a:ext>
              </a:extLst>
            </p:cNvPr>
            <p:cNvGrpSpPr/>
            <p:nvPr/>
          </p:nvGrpSpPr>
          <p:grpSpPr>
            <a:xfrm>
              <a:off x="914785" y="3086864"/>
              <a:ext cx="3804544" cy="705906"/>
              <a:chOff x="783209" y="1377896"/>
              <a:chExt cx="3804544" cy="70590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313C7-67A8-43B7-82FC-3EAD34B6DE8E}"/>
                  </a:ext>
                </a:extLst>
              </p:cNvPr>
              <p:cNvSpPr txBox="1"/>
              <p:nvPr/>
            </p:nvSpPr>
            <p:spPr>
              <a:xfrm>
                <a:off x="1345572" y="148561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核心口号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0C3298-36AB-4473-9136-6C8B7B1E7B77}"/>
                  </a:ext>
                </a:extLst>
              </p:cNvPr>
              <p:cNvSpPr/>
              <p:nvPr/>
            </p:nvSpPr>
            <p:spPr>
              <a:xfrm flipH="1">
                <a:off x="1345571" y="178897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用就近的资源解决本地的需求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C99F8C-C6B7-4C13-BA2F-C8E864E5542B}"/>
                  </a:ext>
                </a:extLst>
              </p:cNvPr>
              <p:cNvSpPr txBox="1"/>
              <p:nvPr/>
            </p:nvSpPr>
            <p:spPr>
              <a:xfrm>
                <a:off x="783209" y="137789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931B3B9-8623-4133-9731-7AAB6C430F76}"/>
                </a:ext>
              </a:extLst>
            </p:cNvPr>
            <p:cNvGrpSpPr/>
            <p:nvPr/>
          </p:nvGrpSpPr>
          <p:grpSpPr>
            <a:xfrm>
              <a:off x="914785" y="4109946"/>
              <a:ext cx="3804544" cy="709286"/>
              <a:chOff x="783209" y="2916036"/>
              <a:chExt cx="3804544" cy="7092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C395D-A72E-4382-AB94-9621E59A0215}"/>
                  </a:ext>
                </a:extLst>
              </p:cNvPr>
              <p:cNvSpPr txBox="1"/>
              <p:nvPr/>
            </p:nvSpPr>
            <p:spPr>
              <a:xfrm>
                <a:off x="1345572" y="302713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传播钩子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6532031-A540-4505-AFA9-5868A79F5723}"/>
                  </a:ext>
                </a:extLst>
              </p:cNvPr>
              <p:cNvSpPr/>
              <p:nvPr/>
            </p:nvSpPr>
            <p:spPr>
              <a:xfrm flipH="1">
                <a:off x="1345571" y="333049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你身边 5 公里，缺什么发什么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72C2F6-2A7B-4355-B178-56DB35BEC5CC}"/>
                  </a:ext>
                </a:extLst>
              </p:cNvPr>
              <p:cNvSpPr txBox="1"/>
              <p:nvPr/>
            </p:nvSpPr>
            <p:spPr>
              <a:xfrm>
                <a:off x="783209" y="291603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4">
                            <a:lumMod val="60000"/>
                            <a:lumOff val="40000"/>
                          </a:schemeClr>
                        </a:gs>
                        <a:gs pos="60000">
                          <a:schemeClr val="accent4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4">
                          <a:alpha val="20000"/>
                        </a:schemeClr>
                      </a:outerShdw>
                    </a:effectLst>
                  </a:rPr>
                  <a:t>02</a:t>
                </a:r>
                <a:endParaRPr lang="zh-CN" altLang="en-US" sz="3200" b="1" i="1" dirty="0"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9C0B03-52F2-495A-84F1-FD5D17ADCCAD}"/>
                </a:ext>
              </a:extLst>
            </p:cNvPr>
            <p:cNvSpPr txBox="1"/>
            <p:nvPr/>
          </p:nvSpPr>
          <p:spPr>
            <a:xfrm>
              <a:off x="914786" y="1338573"/>
              <a:ext cx="3976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关键传播点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EF4CD6-B9D6-4A38-8881-FB1E12D20AFB}"/>
                </a:ext>
              </a:extLst>
            </p:cNvPr>
            <p:cNvSpPr/>
            <p:nvPr/>
          </p:nvSpPr>
          <p:spPr>
            <a:xfrm flipH="1">
              <a:off x="914785" y="1891704"/>
              <a:ext cx="3976529" cy="523220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lang="zh-CN" altLang="en-US" sz="1200" dirty="0"/>
                <a:t>以就近、双向、实名三个标签构成对外统一话术。</a:t>
              </a: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关键传播点与话术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15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05.成功指标与关键假设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三乘积北极星与九条待验证假设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833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872198" y="1300580"/>
            <a:ext cx="10470454" cy="3480441"/>
            <a:chOff x="872198" y="1300580"/>
            <a:chExt cx="10470454" cy="348044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A07337-CB03-4A52-B5C9-1A70C46D00E5}"/>
                </a:ext>
              </a:extLst>
            </p:cNvPr>
            <p:cNvSpPr/>
            <p:nvPr/>
          </p:nvSpPr>
          <p:spPr>
            <a:xfrm>
              <a:off x="1055078" y="1300580"/>
              <a:ext cx="5245914" cy="461665"/>
            </a:xfrm>
            <a:prstGeom prst="rect">
              <a:avLst/>
            </a:prstGeom>
            <a:ln>
              <a:noFill/>
            </a:ln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三乘积北极星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B23D20-A31C-4A46-8FE1-4C04E10C94EA}"/>
                </a:ext>
              </a:extLst>
            </p:cNvPr>
            <p:cNvGrpSpPr/>
            <p:nvPr/>
          </p:nvGrpSpPr>
          <p:grpSpPr>
            <a:xfrm>
              <a:off x="872198" y="3078140"/>
              <a:ext cx="3348110" cy="1702881"/>
              <a:chOff x="872198" y="3078140"/>
              <a:chExt cx="3348110" cy="170288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A9E02CF-2F66-49A9-BE12-7441FBAD6AA4}"/>
                  </a:ext>
                </a:extLst>
              </p:cNvPr>
              <p:cNvSpPr/>
              <p:nvPr/>
            </p:nvSpPr>
            <p:spPr>
              <a:xfrm>
                <a:off x="872198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3609568-9E32-49DE-8CCC-4230BC154107}"/>
                  </a:ext>
                </a:extLst>
              </p:cNvPr>
              <p:cNvGrpSpPr/>
              <p:nvPr/>
            </p:nvGrpSpPr>
            <p:grpSpPr>
              <a:xfrm>
                <a:off x="1439335" y="3078140"/>
                <a:ext cx="468104" cy="468102"/>
                <a:chOff x="3526795" y="2235779"/>
                <a:chExt cx="410200" cy="410198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A1E3CB0-50FA-4FAA-8B30-038A01B529B6}"/>
                    </a:ext>
                  </a:extLst>
                </p:cNvPr>
                <p:cNvSpPr/>
                <p:nvPr/>
              </p:nvSpPr>
              <p:spPr>
                <a:xfrm>
                  <a:off x="3526795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D6DD3A0A-ADCB-4378-9E09-4668A50BDEAC}"/>
                    </a:ext>
                  </a:extLst>
                </p:cNvPr>
                <p:cNvSpPr/>
                <p:nvPr/>
              </p:nvSpPr>
              <p:spPr>
                <a:xfrm>
                  <a:off x="3642895" y="2374128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C0CA768-4D7B-40A0-97B6-861E88134FFA}"/>
                  </a:ext>
                </a:extLst>
              </p:cNvPr>
              <p:cNvGrpSpPr/>
              <p:nvPr/>
            </p:nvGrpSpPr>
            <p:grpSpPr>
              <a:xfrm>
                <a:off x="2011661" y="3514095"/>
                <a:ext cx="1817487" cy="822633"/>
                <a:chOff x="1713496" y="2587855"/>
                <a:chExt cx="1817487" cy="82263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0F3FDE-C54A-471E-9D59-4F6397924E63}"/>
                    </a:ext>
                  </a:extLst>
                </p:cNvPr>
                <p:cNvSpPr txBox="1"/>
                <p:nvPr/>
              </p:nvSpPr>
              <p:spPr>
                <a:xfrm>
                  <a:off x="1713496" y="2587855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AI 匹配召回率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B0D4ADC-DEA5-4B53-9746-40497E49C6EF}"/>
                    </a:ext>
                  </a:extLst>
                </p:cNvPr>
                <p:cNvSpPr txBox="1"/>
                <p:nvPr/>
              </p:nvSpPr>
              <p:spPr>
                <a:xfrm>
                  <a:off x="1713497" y="2894065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5 分钟内被推送方点击占比，同类目 ≥20 条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DF4BE7-EF51-4B44-9ED9-D203A887DF11}"/>
                </a:ext>
              </a:extLst>
            </p:cNvPr>
            <p:cNvGrpSpPr/>
            <p:nvPr/>
          </p:nvGrpSpPr>
          <p:grpSpPr>
            <a:xfrm>
              <a:off x="4433370" y="3078140"/>
              <a:ext cx="3348110" cy="1702881"/>
              <a:chOff x="4433370" y="3078140"/>
              <a:chExt cx="3348110" cy="170288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3D49132-3E82-4D9F-B2C1-B62687D5F540}"/>
                  </a:ext>
                </a:extLst>
              </p:cNvPr>
              <p:cNvSpPr/>
              <p:nvPr/>
            </p:nvSpPr>
            <p:spPr>
              <a:xfrm>
                <a:off x="4433370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541747-86E2-4E61-91EC-2DBB70FCEA37}"/>
                  </a:ext>
                </a:extLst>
              </p:cNvPr>
              <p:cNvGrpSpPr/>
              <p:nvPr/>
            </p:nvGrpSpPr>
            <p:grpSpPr>
              <a:xfrm>
                <a:off x="5025305" y="3078140"/>
                <a:ext cx="468104" cy="468102"/>
                <a:chOff x="4471992" y="2235779"/>
                <a:chExt cx="410200" cy="410198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66FBF85-AC11-433B-9923-B72F880B5B08}"/>
                    </a:ext>
                  </a:extLst>
                </p:cNvPr>
                <p:cNvSpPr/>
                <p:nvPr/>
              </p:nvSpPr>
              <p:spPr>
                <a:xfrm>
                  <a:off x="4471992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3FBB0CC-B1FE-443B-92B0-446D487D7493}"/>
                    </a:ext>
                  </a:extLst>
                </p:cNvPr>
                <p:cNvSpPr/>
                <p:nvPr/>
              </p:nvSpPr>
              <p:spPr>
                <a:xfrm>
                  <a:off x="4595899" y="2358227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3505648-5FE0-4CC1-9353-09AD4A93C12A}"/>
                  </a:ext>
                </a:extLst>
              </p:cNvPr>
              <p:cNvGrpSpPr/>
              <p:nvPr/>
            </p:nvGrpSpPr>
            <p:grpSpPr>
              <a:xfrm>
                <a:off x="5643231" y="3514095"/>
                <a:ext cx="1817487" cy="822633"/>
                <a:chOff x="5345066" y="2650728"/>
                <a:chExt cx="1817487" cy="822633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CF440B-3ABE-493E-BC93-5B9CE138B64E}"/>
                    </a:ext>
                  </a:extLst>
                </p:cNvPr>
                <p:cNvSpPr txBox="1"/>
                <p:nvPr/>
              </p:nvSpPr>
              <p:spPr>
                <a:xfrm>
                  <a:off x="5345066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图层加载成功率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D99C10-5542-473B-B89C-8AE514502E01}"/>
                    </a:ext>
                  </a:extLst>
                </p:cNvPr>
                <p:cNvSpPr txBox="1"/>
                <p:nvPr/>
              </p:nvSpPr>
              <p:spPr>
                <a:xfrm>
                  <a:off x="5345067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图层切换 P95 ≤300 毫秒，POC 通过后承诺</a:t>
                  </a: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7059CA-DBD2-41BB-A982-7B556C241149}"/>
                </a:ext>
              </a:extLst>
            </p:cNvPr>
            <p:cNvGrpSpPr/>
            <p:nvPr/>
          </p:nvGrpSpPr>
          <p:grpSpPr>
            <a:xfrm>
              <a:off x="7994542" y="3078140"/>
              <a:ext cx="3348110" cy="1702881"/>
              <a:chOff x="7994542" y="3078140"/>
              <a:chExt cx="3348110" cy="1702881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3CDB50F-A675-4B26-B18F-5C064D303346}"/>
                  </a:ext>
                </a:extLst>
              </p:cNvPr>
              <p:cNvSpPr/>
              <p:nvPr/>
            </p:nvSpPr>
            <p:spPr>
              <a:xfrm>
                <a:off x="7994542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B5BA95F-2D69-426A-B826-4D0A986F0D22}"/>
                  </a:ext>
                </a:extLst>
              </p:cNvPr>
              <p:cNvGrpSpPr/>
              <p:nvPr/>
            </p:nvGrpSpPr>
            <p:grpSpPr>
              <a:xfrm>
                <a:off x="8589230" y="3078140"/>
                <a:ext cx="468104" cy="468102"/>
                <a:chOff x="5417189" y="2235779"/>
                <a:chExt cx="410200" cy="410198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3086ECFC-1893-4E78-8095-D69006A21A33}"/>
                    </a:ext>
                  </a:extLst>
                </p:cNvPr>
                <p:cNvSpPr/>
                <p:nvPr/>
              </p:nvSpPr>
              <p:spPr>
                <a:xfrm>
                  <a:off x="5417189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E879720-C59B-4805-8518-0B8677F86760}"/>
                    </a:ext>
                  </a:extLst>
                </p:cNvPr>
                <p:cNvSpPr/>
                <p:nvPr/>
              </p:nvSpPr>
              <p:spPr>
                <a:xfrm>
                  <a:off x="5533289" y="2369958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7802A0B-FE8E-4912-A1FB-4EE433BD3C32}"/>
                  </a:ext>
                </a:extLst>
              </p:cNvPr>
              <p:cNvGrpSpPr/>
              <p:nvPr/>
            </p:nvGrpSpPr>
            <p:grpSpPr>
              <a:xfrm>
                <a:off x="9207157" y="3514095"/>
                <a:ext cx="1817487" cy="822633"/>
                <a:chOff x="8908992" y="2650728"/>
                <a:chExt cx="1817487" cy="822633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B033F5-D5C4-4EFA-9F88-4B7C6F6413CB}"/>
                    </a:ext>
                  </a:extLst>
                </p:cNvPr>
                <p:cNvSpPr txBox="1"/>
                <p:nvPr/>
              </p:nvSpPr>
              <p:spPr>
                <a:xfrm>
                  <a:off x="8908992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完整发布率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8934C73-3346-4EA1-A97F-3091F29862FD}"/>
                    </a:ext>
                  </a:extLst>
                </p:cNvPr>
                <p:cNvSpPr txBox="1"/>
                <p:nvPr/>
              </p:nvSpPr>
              <p:spPr>
                <a:xfrm>
                  <a:off x="8908993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信息完整度判定为绿档的发布占比</a:t>
                  </a:r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FD8A7F-165E-4F38-B766-372DB089AABB}"/>
                </a:ext>
              </a:extLst>
            </p:cNvPr>
            <p:cNvSpPr txBox="1"/>
            <p:nvPr/>
          </p:nvSpPr>
          <p:spPr>
            <a:xfrm>
              <a:off x="1055078" y="1810575"/>
              <a:ext cx="5245914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三项指标相乘，基线 0.216 等权硬线，第 4 周依实测校准。</a:t>
              </a:r>
            </a:p>
          </p:txBody>
        </p:sp>
      </p:grpSp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三乘积北极星指标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445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529291"/>
            <a:ext cx="11359243" cy="4009411"/>
            <a:chOff x="0" y="1529291"/>
            <a:chExt cx="11359243" cy="400941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6563E5-9150-43FC-9A44-557F6EB5051F}"/>
                </a:ext>
              </a:extLst>
            </p:cNvPr>
            <p:cNvSpPr/>
            <p:nvPr/>
          </p:nvSpPr>
          <p:spPr>
            <a:xfrm>
              <a:off x="0" y="1529291"/>
              <a:ext cx="3164114" cy="4009411"/>
            </a:xfrm>
            <a:custGeom>
              <a:avLst/>
              <a:gdLst>
                <a:gd name="connsiteX0" fmla="*/ 1220133 w 3329836"/>
                <a:gd name="connsiteY0" fmla="*/ 0 h 4219406"/>
                <a:gd name="connsiteX1" fmla="*/ 3329836 w 3329836"/>
                <a:gd name="connsiteY1" fmla="*/ 2109703 h 4219406"/>
                <a:gd name="connsiteX2" fmla="*/ 1220133 w 3329836"/>
                <a:gd name="connsiteY2" fmla="*/ 4219406 h 4219406"/>
                <a:gd name="connsiteX3" fmla="*/ 40578 w 3329836"/>
                <a:gd name="connsiteY3" fmla="*/ 3859102 h 4219406"/>
                <a:gd name="connsiteX4" fmla="*/ 0 w 3329836"/>
                <a:gd name="connsiteY4" fmla="*/ 3828759 h 4219406"/>
                <a:gd name="connsiteX5" fmla="*/ 0 w 3329836"/>
                <a:gd name="connsiteY5" fmla="*/ 390648 h 4219406"/>
                <a:gd name="connsiteX6" fmla="*/ 40578 w 3329836"/>
                <a:gd name="connsiteY6" fmla="*/ 360304 h 4219406"/>
                <a:gd name="connsiteX7" fmla="*/ 1220133 w 3329836"/>
                <a:gd name="connsiteY7" fmla="*/ 0 h 4219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9836" h="4219406">
                  <a:moveTo>
                    <a:pt x="1220133" y="0"/>
                  </a:moveTo>
                  <a:cubicBezTo>
                    <a:pt x="2385290" y="0"/>
                    <a:pt x="3329836" y="944546"/>
                    <a:pt x="3329836" y="2109703"/>
                  </a:cubicBezTo>
                  <a:cubicBezTo>
                    <a:pt x="3329836" y="3274860"/>
                    <a:pt x="2385290" y="4219406"/>
                    <a:pt x="1220133" y="4219406"/>
                  </a:cubicBezTo>
                  <a:cubicBezTo>
                    <a:pt x="783199" y="4219406"/>
                    <a:pt x="377289" y="4086579"/>
                    <a:pt x="40578" y="3859102"/>
                  </a:cubicBezTo>
                  <a:lnTo>
                    <a:pt x="0" y="3828759"/>
                  </a:lnTo>
                  <a:lnTo>
                    <a:pt x="0" y="390648"/>
                  </a:lnTo>
                  <a:lnTo>
                    <a:pt x="40578" y="360304"/>
                  </a:lnTo>
                  <a:cubicBezTo>
                    <a:pt x="377289" y="132827"/>
                    <a:pt x="783199" y="0"/>
                    <a:pt x="1220133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>
                <a:fillRect l="-44940" r="-4494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6B230B-1133-4305-AE0A-5C79A1CF619D}"/>
                </a:ext>
              </a:extLst>
            </p:cNvPr>
            <p:cNvGrpSpPr/>
            <p:nvPr/>
          </p:nvGrpSpPr>
          <p:grpSpPr>
            <a:xfrm>
              <a:off x="3879191" y="1788831"/>
              <a:ext cx="7480052" cy="3519985"/>
              <a:chOff x="4038848" y="1788831"/>
              <a:chExt cx="7480052" cy="3519985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989B83-7276-48DC-847E-7167FC065BB4}"/>
                  </a:ext>
                </a:extLst>
              </p:cNvPr>
              <p:cNvSpPr/>
              <p:nvPr/>
            </p:nvSpPr>
            <p:spPr>
              <a:xfrm>
                <a:off x="4038848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gradFill>
                    <a:gsLst>
                      <a:gs pos="60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111D412-AC83-498A-BF55-8AE1BD58DBB4}"/>
                  </a:ext>
                </a:extLst>
              </p:cNvPr>
              <p:cNvSpPr/>
              <p:nvPr/>
            </p:nvSpPr>
            <p:spPr>
              <a:xfrm>
                <a:off x="6738504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85B34D9-82CE-43FE-A21F-BF3141DFA7F7}"/>
                  </a:ext>
                </a:extLst>
              </p:cNvPr>
              <p:cNvSpPr/>
              <p:nvPr/>
            </p:nvSpPr>
            <p:spPr>
              <a:xfrm>
                <a:off x="9438161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ACB8CC-0EC6-4C9F-A707-A714E1900C1F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065898" y="3632200"/>
                <a:ext cx="1672606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96FEAB7-DA7F-441E-AECF-AB6104887191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765554" y="3632200"/>
                <a:ext cx="1672607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D81673-058C-442A-A16A-239C9A393853}"/>
                  </a:ext>
                </a:extLst>
              </p:cNvPr>
              <p:cNvSpPr txBox="1"/>
              <p:nvPr/>
            </p:nvSpPr>
            <p:spPr>
              <a:xfrm>
                <a:off x="4232413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B2E386-431E-4BE5-8EEA-5A8E7151B4CC}"/>
                  </a:ext>
                </a:extLst>
              </p:cNvPr>
              <p:cNvSpPr txBox="1"/>
              <p:nvPr/>
            </p:nvSpPr>
            <p:spPr>
              <a:xfrm>
                <a:off x="6932069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2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02FA7B-2A12-4B1A-BDCE-B66B984499EE}"/>
                  </a:ext>
                </a:extLst>
              </p:cNvPr>
              <p:cNvSpPr txBox="1"/>
              <p:nvPr/>
            </p:nvSpPr>
            <p:spPr>
              <a:xfrm>
                <a:off x="9631726" y="33398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03</a:t>
                </a:r>
                <a:endParaRPr lang="zh-CN" alt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5CB4D05-0687-4B6C-B1A1-59225146A54A}"/>
                  </a:ext>
                </a:extLst>
              </p:cNvPr>
              <p:cNvGrpSpPr/>
              <p:nvPr/>
            </p:nvGrpSpPr>
            <p:grpSpPr>
              <a:xfrm>
                <a:off x="4038848" y="4366862"/>
                <a:ext cx="2138385" cy="720355"/>
                <a:chOff x="3885673" y="4163662"/>
                <a:chExt cx="1905527" cy="72035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B314262-3543-4F49-A344-19A94D0A0159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灰度组点击率高于基线，不追踪撮合结果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2D891DA-0C22-4CEE-8A4F-929A4013CEB5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AI 匹配组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9EFA46-BA6E-4A5D-8AA6-811E07B49104}"/>
                  </a:ext>
                </a:extLst>
              </p:cNvPr>
              <p:cNvGrpSpPr/>
              <p:nvPr/>
            </p:nvGrpSpPr>
            <p:grpSpPr>
              <a:xfrm>
                <a:off x="9380515" y="4366862"/>
                <a:ext cx="2138385" cy="941954"/>
                <a:chOff x="3885673" y="4163662"/>
                <a:chExt cx="1905527" cy="941954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5B61802-ABF2-4CEC-8432-5D8CAFBBDFFA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绿档完整发布率与预审拦截准确率双达标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64EE1C4-3FDC-4238-BA20-0B666ECC51A6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分级管理组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1A9A78-4EC2-4BE2-9CF5-63B656C5210E}"/>
                  </a:ext>
                </a:extLst>
              </p:cNvPr>
              <p:cNvGrpSpPr/>
              <p:nvPr/>
            </p:nvGrpSpPr>
            <p:grpSpPr>
              <a:xfrm>
                <a:off x="6738504" y="1788831"/>
                <a:ext cx="2158753" cy="720355"/>
                <a:chOff x="3885673" y="4163662"/>
                <a:chExt cx="1905527" cy="720355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57EFE4A-4061-41FB-8F2D-8787848D2B76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P95 ≤300ms，以前置 POC 结论为准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F19A79E-CEB4-499A-96A8-5996209A1BAD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地图加载组</a:t>
                  </a:r>
                </a:p>
              </p:txBody>
            </p:sp>
          </p:grpSp>
        </p:grp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三组关键指标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01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40288" y="1773716"/>
            <a:ext cx="10803748" cy="3437263"/>
            <a:chOff x="640288" y="1773716"/>
            <a:chExt cx="10803748" cy="34372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6398085-A137-43CB-A5DD-155C39B88D8C}"/>
                </a:ext>
              </a:extLst>
            </p:cNvPr>
            <p:cNvGrpSpPr/>
            <p:nvPr/>
          </p:nvGrpSpPr>
          <p:grpSpPr>
            <a:xfrm>
              <a:off x="5920752" y="1773716"/>
              <a:ext cx="2489812" cy="1399142"/>
              <a:chOff x="4796009" y="1784733"/>
              <a:chExt cx="2489812" cy="1399142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CB99E3C-0A40-43F4-B3B1-8835E7E46761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A080C6-22FC-49A9-97E3-E17356AFFE28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供给密度假设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656C28-76FD-4444-B1F0-68945D781855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5km 内存在足够供需密度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767E06-FD61-4D34-A12F-0C766E78D3A9}"/>
                </a:ext>
              </a:extLst>
            </p:cNvPr>
            <p:cNvSpPr/>
            <p:nvPr/>
          </p:nvSpPr>
          <p:spPr>
            <a:xfrm>
              <a:off x="5699236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E50B42-C398-4549-9319-4211757202EE}"/>
                </a:ext>
              </a:extLst>
            </p:cNvPr>
            <p:cNvGrpSpPr/>
            <p:nvPr/>
          </p:nvGrpSpPr>
          <p:grpSpPr>
            <a:xfrm>
              <a:off x="8954224" y="1773716"/>
              <a:ext cx="2489812" cy="1399142"/>
              <a:chOff x="4796009" y="1784733"/>
              <a:chExt cx="2489812" cy="13991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7D13B9F-C30F-4AD6-BD1C-FF585FC7E782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BE3432-59E1-4352-8DC3-B9DB038F3C16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用户接受度假设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CF05D8-1BAA-4B2E-9EAD-23D8DF36BF28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接受模板发布，未实名可先发后审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EE04FDE-4642-49A8-BAD4-FDF2B19F53FC}"/>
                </a:ext>
              </a:extLst>
            </p:cNvPr>
            <p:cNvSpPr/>
            <p:nvPr/>
          </p:nvSpPr>
          <p:spPr>
            <a:xfrm>
              <a:off x="8732708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4E8A81-8458-46B9-9DF0-55E62B07D566}"/>
                </a:ext>
              </a:extLst>
            </p:cNvPr>
            <p:cNvGrpSpPr/>
            <p:nvPr/>
          </p:nvGrpSpPr>
          <p:grpSpPr>
            <a:xfrm>
              <a:off x="5920752" y="3811837"/>
              <a:ext cx="2489812" cy="1399142"/>
              <a:chOff x="4796009" y="1784733"/>
              <a:chExt cx="2489812" cy="139914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BF09779-B467-4ADA-9E21-253BFE9E2696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BD1F7-905C-4C32-BF25-2FECABF234AE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技术可行性假设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64A0FD-0A2A-421D-BC05-958511886A62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小模型成本可控，聚合性能经 POC 实测达标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55C366A-6684-4788-B0EB-E2C8C56B7FF6}"/>
                </a:ext>
              </a:extLst>
            </p:cNvPr>
            <p:cNvSpPr/>
            <p:nvPr/>
          </p:nvSpPr>
          <p:spPr>
            <a:xfrm>
              <a:off x="5699236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0166176-9484-4B1B-923D-C2F48BBCF516}"/>
                </a:ext>
              </a:extLst>
            </p:cNvPr>
            <p:cNvGrpSpPr/>
            <p:nvPr/>
          </p:nvGrpSpPr>
          <p:grpSpPr>
            <a:xfrm>
              <a:off x="8954224" y="3811837"/>
              <a:ext cx="2489812" cy="1399142"/>
              <a:chOff x="4796009" y="1784733"/>
              <a:chExt cx="2489812" cy="1399142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786A01D-7B7E-4AB6-8570-6ED48B7F925D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6E525E-8FE3-4D2D-99F1-7FA9DD219892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反指标监控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1E1B78-AEDB-41BF-BDFA-941416895453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零联系率、跳失率、高风险内容占比均设阈值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572C740-F8CA-4717-A2CC-6431A7D75AE0}"/>
                </a:ext>
              </a:extLst>
            </p:cNvPr>
            <p:cNvSpPr/>
            <p:nvPr/>
          </p:nvSpPr>
          <p:spPr>
            <a:xfrm>
              <a:off x="8732708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60000">
                  <a:schemeClr val="accent4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E7D8A1-2F42-436B-8521-CE3F3965F227}"/>
                </a:ext>
              </a:extLst>
            </p:cNvPr>
            <p:cNvGrpSpPr/>
            <p:nvPr/>
          </p:nvGrpSpPr>
          <p:grpSpPr>
            <a:xfrm>
              <a:off x="640288" y="2473119"/>
              <a:ext cx="4130015" cy="1477345"/>
              <a:chOff x="640288" y="2473119"/>
              <a:chExt cx="4130015" cy="147734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3D923D-578D-407D-98B7-8CCAF94CF58B}"/>
                  </a:ext>
                </a:extLst>
              </p:cNvPr>
              <p:cNvSpPr txBox="1"/>
              <p:nvPr/>
            </p:nvSpPr>
            <p:spPr>
              <a:xfrm>
                <a:off x="640288" y="3655640"/>
                <a:ext cx="4130015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九条待验证假设配套四类反指标，持续监控风险信号。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455E96C-2DD5-46FC-B200-86DE6C08B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78" y="3525398"/>
                <a:ext cx="219519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93DA8C-5279-43A7-A156-9F0FE9EF3A07}"/>
                  </a:ext>
                </a:extLst>
              </p:cNvPr>
              <p:cNvSpPr txBox="1"/>
              <p:nvPr/>
            </p:nvSpPr>
            <p:spPr>
              <a:xfrm>
                <a:off x="658813" y="2473119"/>
                <a:ext cx="261673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关键假设与反指标</a:t>
                </a:r>
              </a:p>
            </p:txBody>
          </p:sp>
        </p:grp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关键假设与反指标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094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找丫找 APP · MRD v2.1 评审版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8970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1230_Outline/20231230/images_object_15001_16000/53810758-fa53-4d53-9a77-aadeddaef201-4.source.default.zh-Hans.jpg"/>
  <p:tag name="OFFICEPLUS.THEME" val="New_Batches_1230_Outline/20231230/images_object_15001_16000/53810758-fa53-4d53-9a77-aadeddaef201-4.source.default.zh-Hans-3.pptx"/>
  <p:tag name="OFFICEPLUS.OUTLINE" val="821581"/>
  <p:tag name="OFFICEPLUS.OUTLINEEXTERNAL" val="25c3d306-2e80-c794-5737-fa23a8a6ba7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96b9ae34-36f7-4b48-95be-77dbdbcf38eb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e529f402-906e-4773-ac18-b304cc3005de.pptx"/>
  <p:tag name="OFFICEPLUS.TAG" val="2beb2bf3-40ba-4876-8eff-8450af69fbd8"/>
  <p:tag name="OFFICEPLUS.OUTLINECONTENT" val="233166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3fcc3dd-28b3-4a13-9ab5-e3b91439dbb0.pptx"/>
  <p:tag name="OFFICEPLUS.TAG" val="2beb2bf3-40ba-4876-8eff-8450af69fbd8"/>
  <p:tag name="OFFICEPLUS.OUTLINECONTENT" val="2331660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74d289e-07e8-4dab-a7fe-b0f43b071e1f.pptx"/>
  <p:tag name="OFFICEPLUS.TAG" val="2beb2bf3-40ba-4876-8eff-8450af69fbd8"/>
  <p:tag name="OFFICEPLUS.OUTLINECONTENT" val="233166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bbb392aa-77cb-48b2-87f7-6f883c187b0c.pptx"/>
  <p:tag name="OFFICEPLUS.TAG" val="2beb2bf3-40ba-4876-8eff-8450af69fbd8"/>
  <p:tag name="OFFICEPLUS.OUTLINECONTENT" val="233166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ea6522c-622c-4349-bf98-37dfc83fad92.pptx"/>
  <p:tag name="OFFICEPLUS.TAG" val="2beb2bf3-40ba-4876-8eff-8450af69fbd8"/>
  <p:tag name="OFFICEPLUS.OUTLINECONTENT" val="233166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70471a2-5752-4055-9bfb-220941fcb7ff.pptx"/>
  <p:tag name="OFFICEPLUS.TAG" val="2beb2bf3-40ba-4876-8eff-8450af69fbd8"/>
  <p:tag name="OFFICEPLUS.OUTLINECONTENT" val="233166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9ff58e0-387e-4c70-9838-f2ed39e13191.pptx"/>
  <p:tag name="OFFICEPLUS.TAG" val="2beb2bf3-40ba-4876-8eff-8450af69fbd8"/>
  <p:tag name="OFFICEPLUS.OUTLINECONTENT" val="233166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182371b-bf3a-4c49-8b4f-7588ca0b0655.pptx"/>
  <p:tag name="OFFICEPLUS.TAG" val="2beb2bf3-40ba-4876-8eff-8450af69fbd8"/>
  <p:tag name="OFFICEPLUS.OUTLINECONTENT" val="233166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6d19cd5-d6c9-428c-84e1-5828ed4d0ffe.pptx"/>
  <p:tag name="OFFICEPLUS.TAG" val="2beb2bf3-40ba-4876-8eff-8450af69fbd8"/>
  <p:tag name="OFFICEPLUS.OUTLINECONTENT" val="233166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012c257-db67-4977-82a0-3287eaa62b9c.pptx"/>
  <p:tag name="OFFICEPLUS.TAG" val="2beb2bf3-40ba-4876-8eff-8450af69fbd8"/>
  <p:tag name="OFFICEPLUS.OUTLINECONTENT" val="233166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cf4ba2e-9c77-4338-bf5c-83ebdf301f41.pptx"/>
  <p:tag name="OFFICEPLUS.TAG" val="2beb2bf3-40ba-4876-8eff-8450af69fbd8"/>
  <p:tag name="OFFICEPLUS.OUTLINECONTENT" val="233166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3e43fd7-456f-4c49-82c0-6d20333923bc.pptx"/>
  <p:tag name="OFFICEPLUS.TAG" val="2beb2bf3-40ba-4876-8eff-8450af69fbd8"/>
  <p:tag name="OFFICEPLUS.OUTLINECONTENT" val="233166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2660bc8-9928-44c0-854b-916d04e394d1.pptx"/>
  <p:tag name="OFFICEPLUS.TAG" val="2beb2bf3-40ba-4876-8eff-8450af69fbd8"/>
  <p:tag name="OFFICEPLUS.OUTLINECONTENT" val="233166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1617a2c-61a3-4fc8-a072-eb42478320ac.pptx"/>
  <p:tag name="OFFICEPLUS.TAG" val="2beb2bf3-40ba-4876-8eff-8450af69fbd8"/>
  <p:tag name="OFFICEPLUS.OUTLINECONTENT" val="2331663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ed2b665-2921-4663-a8e3-366ab84316ed.pptx"/>
  <p:tag name="OFFICEPLUS.TAG" val="2beb2bf3-40ba-4876-8eff-8450af69fbd8"/>
  <p:tag name="OFFICEPLUS.OUTLINECONTENT" val="2331663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1363978-e7be-4b4a-81ed-b6b44a9b5b47.pptx"/>
  <p:tag name="OFFICEPLUS.TAG" val="2beb2bf3-40ba-4876-8eff-8450af69fbd8"/>
  <p:tag name="OFFICEPLUS.OUTLINECONTENT" val="2331663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a185f06-d028-4e42-8ae6-201525c2215f.pptx"/>
  <p:tag name="OFFICEPLUS.TAG" val="2beb2bf3-40ba-4876-8eff-8450af69fbd8"/>
  <p:tag name="OFFICEPLUS.OUTLINECONTENT" val="2331663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97a5fd2-2211-4333-a328-8cfffe92fe75.pptx"/>
  <p:tag name="OFFICEPLUS.TAG" val="2beb2bf3-40ba-4876-8eff-8450af69fbd8"/>
  <p:tag name="OFFICEPLUS.OUTLINECONTENT" val="233166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00b43d2-4a5c-4572-acaa-8f0962384cd4.pptx"/>
  <p:tag name="OFFICEPLUS.TAG" val="2beb2bf3-40ba-4876-8eff-8450af69fbd8"/>
  <p:tag name="OFFICEPLUS.OUTLINECONTENT" val="2331663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537a6114-4cee-41e2-95b0-a1075394d118.pptx"/>
  <p:tag name="OFFICEPLUS.TAG" val="2beb2bf3-40ba-4876-8eff-8450af69fbd8"/>
  <p:tag name="OFFICEPLUS.OUTLINECONTENT" val="233166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FA2"/>
      </a:accent1>
      <a:accent2>
        <a:srgbClr val="19ABF2"/>
      </a:accent2>
      <a:accent3>
        <a:srgbClr val="003A6E"/>
      </a:accent3>
      <a:accent4>
        <a:srgbClr val="42CAFF"/>
      </a:accent4>
      <a:accent5>
        <a:srgbClr val="008BD5"/>
      </a:accent5>
      <a:accent6>
        <a:srgbClr val="73D7F5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1269</Words>
  <Application>Microsoft Office PowerPoint</Application>
  <PresentationFormat>Widescreen</PresentationFormat>
  <Paragraphs>246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等线</vt:lpstr>
      <vt:lpstr>Arial</vt:lpstr>
      <vt:lpstr>Designed by OfficePLUS</vt:lpstr>
      <vt:lpstr>创新驱动的 市场领先</vt:lpstr>
      <vt:lpstr>PowerPoint Presentation</vt:lpstr>
      <vt:lpstr>01.公司市场竞争分析</vt:lpstr>
      <vt:lpstr>市场洞察，位置定位</vt:lpstr>
      <vt:lpstr>公司市场表现分析</vt:lpstr>
      <vt:lpstr>市场份额的变化</vt:lpstr>
      <vt:lpstr>战略之道，效果显著</vt:lpstr>
      <vt:lpstr>稳固地位的证明</vt:lpstr>
      <vt:lpstr>02.技术创新和产品研发</vt:lpstr>
      <vt:lpstr>近期技术创新进展</vt:lpstr>
      <vt:lpstr>产品研发的最新动态</vt:lpstr>
      <vt:lpstr>创新技术的应用价值</vt:lpstr>
      <vt:lpstr>技术创新的驱动力</vt:lpstr>
      <vt:lpstr>03.公司财务和市场动态</vt:lpstr>
      <vt:lpstr>资本市场的最新动态</vt:lpstr>
      <vt:lpstr>公司的财务表现</vt:lpstr>
      <vt:lpstr>财务透明，数据真实</vt:lpstr>
      <vt:lpstr>公司财务健康状况</vt:lpstr>
      <vt:lpstr>预计未来持续增长</vt:lpstr>
      <vt:lpstr>04.邀请投资者支持</vt:lpstr>
      <vt:lpstr>邀请投资者的发展支持</vt:lpstr>
      <vt:lpstr>分享公司的发展计划</vt:lpstr>
      <vt:lpstr>介绍公司的投资机会</vt:lpstr>
      <vt:lpstr>05.公司治理和风险管理</vt:lpstr>
      <vt:lpstr>公司治理的重要性</vt:lpstr>
      <vt:lpstr>风险管理策略重要性</vt:lpstr>
      <vt:lpstr>优秀治理与投资信心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admini</cp:lastModifiedBy>
  <cp:revision>2</cp:revision>
  <dcterms:created xsi:type="dcterms:W3CDTF">2023-07-20T03:04:31Z</dcterms:created>
  <dcterms:modified xsi:type="dcterms:W3CDTF">2024-02-06T11:11:46Z</dcterms:modified>
</cp:coreProperties>
</file>